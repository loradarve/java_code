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9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472ACB-D8D3-6519-A26C-5104DF6FF68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3CA1113-8742-F68F-79F2-A48B8317D7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D453848-9A52-2EA6-4BEC-3F1442653414}"/>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5" name="页脚占位符 4">
            <a:extLst>
              <a:ext uri="{FF2B5EF4-FFF2-40B4-BE49-F238E27FC236}">
                <a16:creationId xmlns:a16="http://schemas.microsoft.com/office/drawing/2014/main" id="{66073DD8-1DCF-3F15-40AD-FF4F42E596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275325-552D-11F6-ADA8-D4675406278B}"/>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4186605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389522-AEEF-40D9-1F65-8E82CD78886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A56CC1D-13E6-1EFC-C248-29307DC4463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94EC0D-7D88-E870-97D2-8B2B478D25CA}"/>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5" name="页脚占位符 4">
            <a:extLst>
              <a:ext uri="{FF2B5EF4-FFF2-40B4-BE49-F238E27FC236}">
                <a16:creationId xmlns:a16="http://schemas.microsoft.com/office/drawing/2014/main" id="{8C39F849-8DDE-CA8D-9972-4D05C2DFC7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174025-6EA2-00B5-C00A-7F31223B4106}"/>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877710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005554-D529-63D2-7A63-9527D73E4C9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BE37564-FAD6-DC14-69DB-16A727ACB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C450915-ED95-7774-F63B-E60E47F50952}"/>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5" name="页脚占位符 4">
            <a:extLst>
              <a:ext uri="{FF2B5EF4-FFF2-40B4-BE49-F238E27FC236}">
                <a16:creationId xmlns:a16="http://schemas.microsoft.com/office/drawing/2014/main" id="{4E5BBEF8-A4A4-A21C-0E11-25F74CE760F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566805-7A79-CACF-613D-63D5FDE93106}"/>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2350547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6E5474-DC5E-2475-8A13-898BCCDE47A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EC470BA-1B3F-AC88-5A63-2DE4A223DE6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E3D32D0-6550-5674-DC44-A339C5C0F2C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39E3A47-BBF7-11F8-1F16-DED2F25D883D}"/>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6" name="页脚占位符 5">
            <a:extLst>
              <a:ext uri="{FF2B5EF4-FFF2-40B4-BE49-F238E27FC236}">
                <a16:creationId xmlns:a16="http://schemas.microsoft.com/office/drawing/2014/main" id="{77095B56-5312-7A6E-FCA4-E7D922D2047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471588A-3F34-57F5-FF05-BFD6FB7E91D8}"/>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303103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9A8ED6-BE3C-39D5-22B8-2B943B08C7B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6244D23-5E79-74AC-EDBA-B20D1BEE3C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3BC102C-BF45-B56E-4C54-700370D04C4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55FEADC-4CCA-6DD0-C855-B9E686F2ED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6B87B62-11FA-FC2C-CF9B-43A206B802D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EA7DCD4-31F2-CB35-C857-D93D143764CD}"/>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8" name="页脚占位符 7">
            <a:extLst>
              <a:ext uri="{FF2B5EF4-FFF2-40B4-BE49-F238E27FC236}">
                <a16:creationId xmlns:a16="http://schemas.microsoft.com/office/drawing/2014/main" id="{68F779FF-817C-8809-09A7-28262D1E6C7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94B3F28-DC00-A361-3BF8-7BE753858056}"/>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2626161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C1B222-D51F-7A61-17E7-2AA0E631A35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15E62AA-4511-3CFE-C16A-58A57BE0B36E}"/>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4" name="页脚占位符 3">
            <a:extLst>
              <a:ext uri="{FF2B5EF4-FFF2-40B4-BE49-F238E27FC236}">
                <a16:creationId xmlns:a16="http://schemas.microsoft.com/office/drawing/2014/main" id="{6C40FB18-7285-0156-E141-B4339B27D94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59443B0-E48C-DE33-0F37-95090AFD7D4C}"/>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715318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C726785-EC74-FEA5-342C-68283CCD9B92}"/>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3" name="页脚占位符 2">
            <a:extLst>
              <a:ext uri="{FF2B5EF4-FFF2-40B4-BE49-F238E27FC236}">
                <a16:creationId xmlns:a16="http://schemas.microsoft.com/office/drawing/2014/main" id="{68BB784C-A5B2-7AF0-D0F8-CC0CA54A413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91B49E8-8E6B-4AE1-9CC3-9DE0C1362245}"/>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811586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C1B64F-DA8D-0990-5C12-6908FDEE1A8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4B6E8A1-EDA6-6333-DCA8-D09C5C2311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0FC38D2-F15F-317E-8115-4B3E8EB33D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1A56AD6-C470-907B-8513-A6DD589563AC}"/>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6" name="页脚占位符 5">
            <a:extLst>
              <a:ext uri="{FF2B5EF4-FFF2-40B4-BE49-F238E27FC236}">
                <a16:creationId xmlns:a16="http://schemas.microsoft.com/office/drawing/2014/main" id="{3FECEB82-8DBC-FDED-B0A7-5E50B49BC2F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973E9C3-A21A-E7AF-0DDF-4393419E9C1E}"/>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2232197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185F3A-0742-F743-C3A4-0D54EC79020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8A63E74-A1F5-B16A-813F-DFDC9F0835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330B187-8491-6509-AB66-5CD053BF2A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E9B69A-3205-3703-EDC7-42688F23B682}"/>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6" name="页脚占位符 5">
            <a:extLst>
              <a:ext uri="{FF2B5EF4-FFF2-40B4-BE49-F238E27FC236}">
                <a16:creationId xmlns:a16="http://schemas.microsoft.com/office/drawing/2014/main" id="{BB3D798E-EFF7-2B59-7FB8-FC3056B826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95C4F98-9DDC-6E4D-6803-23E372932F0B}"/>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3718903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28A7D1-BBC1-1765-EE79-0CA0BD8865D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CF9CAE0-E7CE-989A-1421-7EA538B08CE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D36D77-D5D1-FE26-7508-24F87D9FCE78}"/>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5" name="页脚占位符 4">
            <a:extLst>
              <a:ext uri="{FF2B5EF4-FFF2-40B4-BE49-F238E27FC236}">
                <a16:creationId xmlns:a16="http://schemas.microsoft.com/office/drawing/2014/main" id="{C737B2C6-CC49-501E-324C-F853E8EC56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0E4D490-2604-44EA-212A-BC11604A3C82}"/>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1564514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E1FCB73-DCEE-22BD-76EC-182B0B11AC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5BCB1A5-0F3B-C9E4-5218-E8896789F58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F802C2A-D70D-6F63-D7D7-63FBDEBD9CCE}"/>
              </a:ext>
            </a:extLst>
          </p:cNvPr>
          <p:cNvSpPr>
            <a:spLocks noGrp="1"/>
          </p:cNvSpPr>
          <p:nvPr>
            <p:ph type="dt" sz="half" idx="10"/>
          </p:nvPr>
        </p:nvSpPr>
        <p:spPr/>
        <p:txBody>
          <a:bodyPr/>
          <a:lstStyle/>
          <a:p>
            <a:fld id="{8A9D7707-4719-4687-BFA4-D25870AB8A68}" type="datetimeFigureOut">
              <a:rPr lang="zh-CN" altLang="en-US" smtClean="0"/>
              <a:t>2026/6/7</a:t>
            </a:fld>
            <a:endParaRPr lang="zh-CN" altLang="en-US"/>
          </a:p>
        </p:txBody>
      </p:sp>
      <p:sp>
        <p:nvSpPr>
          <p:cNvPr id="5" name="页脚占位符 4">
            <a:extLst>
              <a:ext uri="{FF2B5EF4-FFF2-40B4-BE49-F238E27FC236}">
                <a16:creationId xmlns:a16="http://schemas.microsoft.com/office/drawing/2014/main" id="{7FCFA2C6-053C-187A-131B-99D7250662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A05A24-98F1-C6B4-44FE-1F8C4C688AAB}"/>
              </a:ext>
            </a:extLst>
          </p:cNvPr>
          <p:cNvSpPr>
            <a:spLocks noGrp="1"/>
          </p:cNvSpPr>
          <p:nvPr>
            <p:ph type="sldNum" sz="quarter" idx="12"/>
          </p:nvPr>
        </p:nvSpPr>
        <p:spPr/>
        <p:txBody>
          <a:body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3980200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5C9189F-8BCC-ACFA-4074-883A182971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09CA6B9-62EB-29C5-2891-1CEB4CDC3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324F85-A41D-9BF5-09E0-2EA958BB97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9D7707-4719-4687-BFA4-D25870AB8A68}" type="datetimeFigureOut">
              <a:rPr lang="zh-CN" altLang="en-US" smtClean="0"/>
              <a:t>2026/6/7</a:t>
            </a:fld>
            <a:endParaRPr lang="zh-CN" altLang="en-US"/>
          </a:p>
        </p:txBody>
      </p:sp>
      <p:sp>
        <p:nvSpPr>
          <p:cNvPr id="5" name="页脚占位符 4">
            <a:extLst>
              <a:ext uri="{FF2B5EF4-FFF2-40B4-BE49-F238E27FC236}">
                <a16:creationId xmlns:a16="http://schemas.microsoft.com/office/drawing/2014/main" id="{407755D1-B7A0-DE14-BC63-E41A24294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BD96DED-A45B-FC73-1093-B3DB3B0E7A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405B73-F6AB-4882-8268-7DB2F3D2F202}" type="slidenum">
              <a:rPr lang="zh-CN" altLang="en-US" smtClean="0"/>
              <a:t>‹#›</a:t>
            </a:fld>
            <a:endParaRPr lang="zh-CN" altLang="en-US"/>
          </a:p>
        </p:txBody>
      </p:sp>
    </p:spTree>
    <p:extLst>
      <p:ext uri="{BB962C8B-B14F-4D97-AF65-F5344CB8AC3E}">
        <p14:creationId xmlns:p14="http://schemas.microsoft.com/office/powerpoint/2010/main" val="2498675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3.bin"/><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71F11D-375A-4EA9-3719-529717E251A7}"/>
              </a:ext>
            </a:extLst>
          </p:cNvPr>
          <p:cNvSpPr>
            <a:spLocks noGrp="1"/>
          </p:cNvSpPr>
          <p:nvPr>
            <p:ph type="ctrTitle"/>
          </p:nvPr>
        </p:nvSpPr>
        <p:spPr>
          <a:xfrm>
            <a:off x="341971" y="1122363"/>
            <a:ext cx="11731083" cy="1375510"/>
          </a:xfrm>
        </p:spPr>
        <p:txBody>
          <a:bodyPr>
            <a:normAutofit/>
          </a:bodyPr>
          <a:lstStyle/>
          <a:p>
            <a:r>
              <a:rPr lang="zh-CN" altLang="en-US" sz="5400" dirty="0">
                <a:latin typeface="黑体" panose="02010609060101010101" pitchFamily="49" charset="-122"/>
                <a:ea typeface="黑体" panose="02010609060101010101" pitchFamily="49" charset="-122"/>
              </a:rPr>
              <a:t>电感位移传感器的设计与实现</a:t>
            </a:r>
          </a:p>
        </p:txBody>
      </p:sp>
      <p:sp>
        <p:nvSpPr>
          <p:cNvPr id="5" name="副标题 4">
            <a:extLst>
              <a:ext uri="{FF2B5EF4-FFF2-40B4-BE49-F238E27FC236}">
                <a16:creationId xmlns:a16="http://schemas.microsoft.com/office/drawing/2014/main" id="{665E2397-EE5F-5C34-AE9C-95E91EE0F639}"/>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548325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79C62F-07C1-7211-5BB0-4E79F5F8A304}"/>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8BA60E4E-7A5E-6769-D9CC-ACCC3431C1FC}"/>
              </a:ext>
            </a:extLst>
          </p:cNvPr>
          <p:cNvSpPr>
            <a:spLocks noGrp="1"/>
          </p:cNvSpPr>
          <p:nvPr>
            <p:ph idx="1"/>
          </p:nvPr>
        </p:nvSpPr>
        <p:spPr/>
        <p:txBody>
          <a:bodyPr/>
          <a:lstStyle/>
          <a:p>
            <a:r>
              <a:rPr lang="zh-CN" altLang="en-US" dirty="0"/>
              <a:t>设计目的</a:t>
            </a:r>
          </a:p>
          <a:p>
            <a:r>
              <a:rPr lang="zh-CN" altLang="en-US" dirty="0"/>
              <a:t>硬件设计</a:t>
            </a:r>
            <a:endParaRPr lang="en-US" altLang="zh-CN" dirty="0"/>
          </a:p>
          <a:p>
            <a:r>
              <a:rPr lang="zh-CN" altLang="en-US" dirty="0"/>
              <a:t>软件设计</a:t>
            </a:r>
            <a:endParaRPr lang="en-US" altLang="zh-CN" dirty="0"/>
          </a:p>
          <a:p>
            <a:r>
              <a:rPr lang="zh-CN" altLang="en-US" dirty="0"/>
              <a:t>仿真分析</a:t>
            </a:r>
            <a:endParaRPr lang="en-US" altLang="zh-CN" dirty="0"/>
          </a:p>
          <a:p>
            <a:r>
              <a:rPr lang="zh-CN" altLang="en-US" dirty="0"/>
              <a:t>数据分析</a:t>
            </a:r>
            <a:endParaRPr lang="en-US" altLang="zh-CN" dirty="0"/>
          </a:p>
        </p:txBody>
      </p:sp>
    </p:spTree>
    <p:extLst>
      <p:ext uri="{BB962C8B-B14F-4D97-AF65-F5344CB8AC3E}">
        <p14:creationId xmlns:p14="http://schemas.microsoft.com/office/powerpoint/2010/main" val="4193356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0E8DDC-D259-4816-ADBF-4CCA68869EF4}"/>
              </a:ext>
            </a:extLst>
          </p:cNvPr>
          <p:cNvSpPr>
            <a:spLocks noGrp="1"/>
          </p:cNvSpPr>
          <p:nvPr>
            <p:ph type="title"/>
          </p:nvPr>
        </p:nvSpPr>
        <p:spPr/>
        <p:txBody>
          <a:bodyPr>
            <a:normAutofit/>
          </a:bodyPr>
          <a:lstStyle/>
          <a:p>
            <a:r>
              <a:rPr lang="zh-CN" altLang="en-US" sz="2400" dirty="0">
                <a:latin typeface="黑体" panose="02010609060101010101" pitchFamily="49" charset="-122"/>
                <a:ea typeface="黑体" panose="02010609060101010101" pitchFamily="49" charset="-122"/>
              </a:rPr>
              <a:t>设计目的</a:t>
            </a:r>
          </a:p>
        </p:txBody>
      </p:sp>
      <p:sp>
        <p:nvSpPr>
          <p:cNvPr id="3" name="内容占位符 2">
            <a:extLst>
              <a:ext uri="{FF2B5EF4-FFF2-40B4-BE49-F238E27FC236}">
                <a16:creationId xmlns:a16="http://schemas.microsoft.com/office/drawing/2014/main" id="{3752BEDC-C10A-4A85-826B-8B25584D032A}"/>
              </a:ext>
            </a:extLst>
          </p:cNvPr>
          <p:cNvSpPr>
            <a:spLocks noGrp="1"/>
          </p:cNvSpPr>
          <p:nvPr>
            <p:ph idx="1"/>
          </p:nvPr>
        </p:nvSpPr>
        <p:spPr/>
        <p:txBody>
          <a:bodyPr/>
          <a:lstStyle/>
          <a:p>
            <a:pPr marL="0" indent="0">
              <a:buNone/>
            </a:pPr>
            <a:r>
              <a:rPr lang="zh-CN" altLang="zh-CN" sz="1800" kern="100" dirty="0">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研究线性差动变压器</a:t>
            </a:r>
            <a:r>
              <a:rPr lang="en-US" altLang="zh-CN" sz="1800" kern="100" dirty="0">
                <a:solidFill>
                  <a:srgbClr val="000000"/>
                </a:solidFill>
                <a:effectLst/>
                <a:latin typeface="黑体" panose="02010609060101010101" pitchFamily="49" charset="-122"/>
                <a:ea typeface="黑体" panose="02010609060101010101" pitchFamily="49" charset="-122"/>
              </a:rPr>
              <a:t>LVDT(Linear Variable Differential Transformer)</a:t>
            </a:r>
            <a:r>
              <a:rPr lang="zh-CN" altLang="zh-CN" sz="1800" kern="100" dirty="0">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位移测量系统方案，旨在实现对小位移的准确测量。</a:t>
            </a:r>
            <a:endParaRPr lang="en-US" altLang="zh-CN" sz="1800" kern="100" dirty="0">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indent="0">
              <a:buNone/>
            </a:pPr>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pPr marL="0" indent="0">
              <a:buNone/>
            </a:pPr>
            <a:r>
              <a:rPr lang="en-US"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1800" kern="100" dirty="0">
                <a:effectLst/>
                <a:latin typeface="Times New Roman" panose="02020603050405020304" pitchFamily="18" charset="0"/>
                <a:ea typeface="楷体" panose="02010609060101010101" pitchFamily="49" charset="-122"/>
                <a:cs typeface="Times New Roman" panose="02020603050405020304" pitchFamily="18" charset="0"/>
              </a:rPr>
              <a:t>互感式位移传感器等效电路</a:t>
            </a:r>
            <a:endParaRPr lang="zh-CN" altLang="en-US" dirty="0">
              <a:latin typeface="黑体" panose="02010609060101010101" pitchFamily="49" charset="-122"/>
              <a:ea typeface="黑体" panose="02010609060101010101" pitchFamily="49" charset="-122"/>
            </a:endParaRPr>
          </a:p>
        </p:txBody>
      </p:sp>
      <p:pic>
        <p:nvPicPr>
          <p:cNvPr id="5" name="图片 4">
            <a:extLst>
              <a:ext uri="{FF2B5EF4-FFF2-40B4-BE49-F238E27FC236}">
                <a16:creationId xmlns:a16="http://schemas.microsoft.com/office/drawing/2014/main" id="{6A25F437-771F-00AC-3A04-111C93CF4FA1}"/>
              </a:ext>
            </a:extLst>
          </p:cNvPr>
          <p:cNvPicPr>
            <a:picLocks noChangeAspect="1"/>
          </p:cNvPicPr>
          <p:nvPr/>
        </p:nvPicPr>
        <p:blipFill>
          <a:blip r:embed="rId2"/>
          <a:stretch>
            <a:fillRect/>
          </a:stretch>
        </p:blipFill>
        <p:spPr>
          <a:xfrm>
            <a:off x="3605994" y="2806870"/>
            <a:ext cx="3418840" cy="2195830"/>
          </a:xfrm>
          <a:prstGeom prst="rect">
            <a:avLst/>
          </a:prstGeom>
          <a:noFill/>
          <a:ln>
            <a:noFill/>
          </a:ln>
        </p:spPr>
      </p:pic>
    </p:spTree>
    <p:extLst>
      <p:ext uri="{BB962C8B-B14F-4D97-AF65-F5344CB8AC3E}">
        <p14:creationId xmlns:p14="http://schemas.microsoft.com/office/powerpoint/2010/main" val="1345060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13BD69-1396-C04D-B554-F45394905EDF}"/>
              </a:ext>
            </a:extLst>
          </p:cNvPr>
          <p:cNvSpPr>
            <a:spLocks noGrp="1"/>
          </p:cNvSpPr>
          <p:nvPr>
            <p:ph type="title"/>
          </p:nvPr>
        </p:nvSpPr>
        <p:spPr/>
        <p:txBody>
          <a:bodyPr>
            <a:normAutofit/>
          </a:bodyPr>
          <a:lstStyle/>
          <a:p>
            <a:r>
              <a:rPr lang="zh-CN" altLang="en-US" sz="2400" dirty="0">
                <a:latin typeface="黑体" panose="02010609060101010101" pitchFamily="49" charset="-122"/>
                <a:ea typeface="黑体" panose="02010609060101010101" pitchFamily="49" charset="-122"/>
              </a:rPr>
              <a:t>硬件设计</a:t>
            </a:r>
          </a:p>
        </p:txBody>
      </p:sp>
      <p:sp>
        <p:nvSpPr>
          <p:cNvPr id="9" name="Rectangle 4">
            <a:extLst>
              <a:ext uri="{FF2B5EF4-FFF2-40B4-BE49-F238E27FC236}">
                <a16:creationId xmlns:a16="http://schemas.microsoft.com/office/drawing/2014/main" id="{468B9C6A-95EA-4D8D-F0F5-DB39686B9D9E}"/>
              </a:ext>
            </a:extLst>
          </p:cNvPr>
          <p:cNvSpPr>
            <a:spLocks noChangeArrowheads="1"/>
          </p:cNvSpPr>
          <p:nvPr/>
        </p:nvSpPr>
        <p:spPr bwMode="auto">
          <a:xfrm>
            <a:off x="1412487" y="1865970"/>
            <a:ext cx="1501883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0" name="对象 9">
            <a:extLst>
              <a:ext uri="{FF2B5EF4-FFF2-40B4-BE49-F238E27FC236}">
                <a16:creationId xmlns:a16="http://schemas.microsoft.com/office/drawing/2014/main" id="{EA3D0802-55D8-DAEE-8145-9827C5377D4D}"/>
              </a:ext>
            </a:extLst>
          </p:cNvPr>
          <p:cNvGraphicFramePr>
            <a:graphicFrameLocks noChangeAspect="1"/>
          </p:cNvGraphicFramePr>
          <p:nvPr>
            <p:extLst>
              <p:ext uri="{D42A27DB-BD31-4B8C-83A1-F6EECF244321}">
                <p14:modId xmlns:p14="http://schemas.microsoft.com/office/powerpoint/2010/main" val="981099490"/>
              </p:ext>
            </p:extLst>
          </p:nvPr>
        </p:nvGraphicFramePr>
        <p:xfrm>
          <a:off x="1412488" y="1865971"/>
          <a:ext cx="8544556" cy="3152078"/>
        </p:xfrm>
        <a:graphic>
          <a:graphicData uri="http://schemas.openxmlformats.org/presentationml/2006/ole">
            <mc:AlternateContent xmlns:mc="http://schemas.openxmlformats.org/markup-compatibility/2006">
              <mc:Choice xmlns:v="urn:schemas-microsoft-com:vml" Requires="v">
                <p:oleObj r:id="rId2" imgW="5592726" imgH="2064612" progId="Visio.Drawing.15">
                  <p:embed/>
                </p:oleObj>
              </mc:Choice>
              <mc:Fallback>
                <p:oleObj r:id="rId2" imgW="5592726" imgH="2064612" progId="Visio.Drawing.15">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2488" y="1865971"/>
                        <a:ext cx="8544556" cy="3152078"/>
                      </a:xfrm>
                      <a:prstGeom prst="rect">
                        <a:avLst/>
                      </a:prstGeom>
                      <a:noFill/>
                    </p:spPr>
                  </p:pic>
                </p:oleObj>
              </mc:Fallback>
            </mc:AlternateContent>
          </a:graphicData>
        </a:graphic>
      </p:graphicFrame>
      <p:sp>
        <p:nvSpPr>
          <p:cNvPr id="11" name="文本框 10">
            <a:extLst>
              <a:ext uri="{FF2B5EF4-FFF2-40B4-BE49-F238E27FC236}">
                <a16:creationId xmlns:a16="http://schemas.microsoft.com/office/drawing/2014/main" id="{7A120A32-9C5C-26F7-BCED-CB6A5CFA27AB}"/>
              </a:ext>
            </a:extLst>
          </p:cNvPr>
          <p:cNvSpPr txBox="1"/>
          <p:nvPr/>
        </p:nvSpPr>
        <p:spPr>
          <a:xfrm>
            <a:off x="3204117" y="5203902"/>
            <a:ext cx="5129561" cy="369332"/>
          </a:xfrm>
          <a:prstGeom prst="rect">
            <a:avLst/>
          </a:prstGeom>
          <a:noFill/>
        </p:spPr>
        <p:txBody>
          <a:bodyPr wrap="square" rtlCol="0">
            <a:spAutoFit/>
          </a:bodyPr>
          <a:lstStyle/>
          <a:p>
            <a:pPr algn="ctr"/>
            <a:r>
              <a:rPr lang="zh-CN" altLang="en-US" dirty="0">
                <a:latin typeface="黑体" panose="02010609060101010101" pitchFamily="49" charset="-122"/>
                <a:ea typeface="黑体" panose="02010609060101010101" pitchFamily="49" charset="-122"/>
              </a:rPr>
              <a:t>总体框架设计</a:t>
            </a:r>
          </a:p>
        </p:txBody>
      </p:sp>
    </p:spTree>
    <p:extLst>
      <p:ext uri="{BB962C8B-B14F-4D97-AF65-F5344CB8AC3E}">
        <p14:creationId xmlns:p14="http://schemas.microsoft.com/office/powerpoint/2010/main" val="413936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5458E1-DC2F-535D-6ECB-10D7B716FFED}"/>
              </a:ext>
            </a:extLst>
          </p:cNvPr>
          <p:cNvSpPr>
            <a:spLocks noGrp="1"/>
          </p:cNvSpPr>
          <p:nvPr>
            <p:ph type="title"/>
          </p:nvPr>
        </p:nvSpPr>
        <p:spPr/>
        <p:txBody>
          <a:bodyPr>
            <a:normAutofit/>
          </a:bodyPr>
          <a:lstStyle/>
          <a:p>
            <a:r>
              <a:rPr lang="zh-CN" altLang="en-US" sz="2400" dirty="0">
                <a:latin typeface="黑体" panose="02010609060101010101" pitchFamily="49" charset="-122"/>
                <a:ea typeface="黑体" panose="02010609060101010101" pitchFamily="49" charset="-122"/>
              </a:rPr>
              <a:t>波形发生放大模块</a:t>
            </a:r>
          </a:p>
        </p:txBody>
      </p:sp>
      <p:sp>
        <p:nvSpPr>
          <p:cNvPr id="3" name="内容占位符 2">
            <a:extLst>
              <a:ext uri="{FF2B5EF4-FFF2-40B4-BE49-F238E27FC236}">
                <a16:creationId xmlns:a16="http://schemas.microsoft.com/office/drawing/2014/main" id="{8889D1E1-AD14-2FDC-14B3-A48D369D65B7}"/>
              </a:ext>
            </a:extLst>
          </p:cNvPr>
          <p:cNvSpPr>
            <a:spLocks noGrp="1"/>
          </p:cNvSpPr>
          <p:nvPr>
            <p:ph idx="1"/>
          </p:nvPr>
        </p:nvSpPr>
        <p:spPr/>
        <p:txBody>
          <a:bodyPr>
            <a:normAutofit/>
          </a:bodyPr>
          <a:lstStyle/>
          <a:p>
            <a:r>
              <a:rPr lang="zh-CN" altLang="en-US" sz="2000" dirty="0">
                <a:latin typeface="黑体" panose="02010609060101010101" pitchFamily="49" charset="-122"/>
                <a:ea typeface="黑体" panose="02010609060101010101" pitchFamily="49" charset="-122"/>
              </a:rPr>
              <a:t>使用</a:t>
            </a:r>
            <a:r>
              <a:rPr lang="en-US" altLang="zh-CN" sz="2000" dirty="0">
                <a:latin typeface="黑体" panose="02010609060101010101" pitchFamily="49" charset="-122"/>
                <a:ea typeface="黑体" panose="02010609060101010101" pitchFamily="49" charset="-122"/>
              </a:rPr>
              <a:t>AD9833</a:t>
            </a:r>
            <a:r>
              <a:rPr lang="zh-CN" altLang="en-US" sz="2000" dirty="0">
                <a:latin typeface="黑体" panose="02010609060101010101" pitchFamily="49" charset="-122"/>
                <a:ea typeface="黑体" panose="02010609060101010101" pitchFamily="49" charset="-122"/>
              </a:rPr>
              <a:t>产生带偏置的正弦波，然后经过偏置电路和信号放大电路以及功率放大电路得到不带偏置的输入信号。</a:t>
            </a:r>
            <a:endParaRPr lang="en-US" altLang="zh-CN" sz="2000" dirty="0">
              <a:latin typeface="黑体" panose="02010609060101010101" pitchFamily="49" charset="-122"/>
              <a:ea typeface="黑体" panose="02010609060101010101" pitchFamily="49" charset="-122"/>
            </a:endParaRPr>
          </a:p>
          <a:p>
            <a:endParaRPr lang="en-US" altLang="zh-CN" sz="2000" dirty="0">
              <a:latin typeface="黑体" panose="02010609060101010101" pitchFamily="49" charset="-122"/>
              <a:ea typeface="黑体" panose="02010609060101010101" pitchFamily="49" charset="-122"/>
            </a:endParaRPr>
          </a:p>
          <a:p>
            <a:endParaRPr lang="en-US" altLang="zh-CN" sz="2000" dirty="0">
              <a:latin typeface="黑体" panose="02010609060101010101" pitchFamily="49" charset="-122"/>
              <a:ea typeface="黑体" panose="02010609060101010101" pitchFamily="49" charset="-122"/>
            </a:endParaRPr>
          </a:p>
          <a:p>
            <a:endParaRPr lang="en-US" altLang="zh-CN" sz="2000" dirty="0">
              <a:latin typeface="黑体" panose="02010609060101010101" pitchFamily="49" charset="-122"/>
              <a:ea typeface="黑体" panose="02010609060101010101" pitchFamily="49" charset="-122"/>
            </a:endParaRPr>
          </a:p>
          <a:p>
            <a:endParaRPr lang="en-US" altLang="zh-CN" sz="2000" dirty="0">
              <a:latin typeface="黑体" panose="02010609060101010101" pitchFamily="49" charset="-122"/>
              <a:ea typeface="黑体" panose="02010609060101010101" pitchFamily="49" charset="-122"/>
            </a:endParaRPr>
          </a:p>
          <a:p>
            <a:endParaRPr lang="en-US" altLang="zh-CN" sz="2000" dirty="0">
              <a:latin typeface="黑体" panose="02010609060101010101" pitchFamily="49" charset="-122"/>
              <a:ea typeface="黑体" panose="02010609060101010101" pitchFamily="49" charset="-122"/>
            </a:endParaRPr>
          </a:p>
          <a:p>
            <a:endParaRPr lang="en-US" altLang="zh-CN" sz="2000" dirty="0">
              <a:latin typeface="黑体" panose="02010609060101010101" pitchFamily="49" charset="-122"/>
              <a:ea typeface="黑体" panose="02010609060101010101" pitchFamily="49" charset="-122"/>
            </a:endParaRPr>
          </a:p>
          <a:p>
            <a:endParaRPr lang="en-US" altLang="zh-CN" sz="2000" dirty="0">
              <a:latin typeface="黑体" panose="02010609060101010101" pitchFamily="49" charset="-122"/>
              <a:ea typeface="黑体" panose="02010609060101010101" pitchFamily="49" charset="-122"/>
            </a:endParaRPr>
          </a:p>
          <a:p>
            <a:r>
              <a:rPr lang="zh-CN" altLang="en-US" sz="2000" dirty="0">
                <a:latin typeface="黑体" panose="02010609060101010101" pitchFamily="49" charset="-122"/>
                <a:ea typeface="黑体" panose="02010609060101010101" pitchFamily="49" charset="-122"/>
              </a:rPr>
              <a:t>            偏置电路                            同向比例放大电路</a:t>
            </a:r>
          </a:p>
        </p:txBody>
      </p:sp>
      <p:pic>
        <p:nvPicPr>
          <p:cNvPr id="4" name="图片 3">
            <a:extLst>
              <a:ext uri="{FF2B5EF4-FFF2-40B4-BE49-F238E27FC236}">
                <a16:creationId xmlns:a16="http://schemas.microsoft.com/office/drawing/2014/main" id="{D6E43CC9-991B-B498-4863-61BCE151E6F4}"/>
              </a:ext>
            </a:extLst>
          </p:cNvPr>
          <p:cNvPicPr>
            <a:picLocks noChangeAspect="1"/>
          </p:cNvPicPr>
          <p:nvPr/>
        </p:nvPicPr>
        <p:blipFill>
          <a:blip r:embed="rId2"/>
          <a:stretch>
            <a:fillRect/>
          </a:stretch>
        </p:blipFill>
        <p:spPr>
          <a:xfrm>
            <a:off x="1077069" y="3141619"/>
            <a:ext cx="4111966" cy="2091055"/>
          </a:xfrm>
          <a:prstGeom prst="rect">
            <a:avLst/>
          </a:prstGeom>
          <a:noFill/>
          <a:ln>
            <a:noFill/>
          </a:ln>
        </p:spPr>
      </p:pic>
      <p:pic>
        <p:nvPicPr>
          <p:cNvPr id="5" name="图片 4">
            <a:extLst>
              <a:ext uri="{FF2B5EF4-FFF2-40B4-BE49-F238E27FC236}">
                <a16:creationId xmlns:a16="http://schemas.microsoft.com/office/drawing/2014/main" id="{9701B896-1B58-7CD9-77E5-206EC2F01DED}"/>
              </a:ext>
            </a:extLst>
          </p:cNvPr>
          <p:cNvPicPr>
            <a:picLocks noChangeAspect="1"/>
          </p:cNvPicPr>
          <p:nvPr/>
        </p:nvPicPr>
        <p:blipFill>
          <a:blip r:embed="rId3"/>
          <a:stretch>
            <a:fillRect/>
          </a:stretch>
        </p:blipFill>
        <p:spPr>
          <a:xfrm>
            <a:off x="5831097" y="2955766"/>
            <a:ext cx="4246880" cy="2030095"/>
          </a:xfrm>
          <a:prstGeom prst="rect">
            <a:avLst/>
          </a:prstGeom>
          <a:noFill/>
          <a:ln>
            <a:noFill/>
          </a:ln>
        </p:spPr>
      </p:pic>
    </p:spTree>
    <p:extLst>
      <p:ext uri="{BB962C8B-B14F-4D97-AF65-F5344CB8AC3E}">
        <p14:creationId xmlns:p14="http://schemas.microsoft.com/office/powerpoint/2010/main" val="2745619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D5043-F542-9E26-E7CA-468187FFA23C}"/>
              </a:ext>
            </a:extLst>
          </p:cNvPr>
          <p:cNvSpPr>
            <a:spLocks noGrp="1"/>
          </p:cNvSpPr>
          <p:nvPr>
            <p:ph type="title"/>
          </p:nvPr>
        </p:nvSpPr>
        <p:spPr/>
        <p:txBody>
          <a:bodyPr>
            <a:normAutofit/>
          </a:bodyPr>
          <a:lstStyle/>
          <a:p>
            <a:r>
              <a:rPr lang="zh-CN" altLang="en-US" sz="2400" dirty="0">
                <a:latin typeface="黑体" panose="02010609060101010101" pitchFamily="49" charset="-122"/>
                <a:ea typeface="黑体" panose="02010609060101010101" pitchFamily="49" charset="-122"/>
              </a:rPr>
              <a:t>波形发生放大模块</a:t>
            </a:r>
            <a:endParaRPr lang="zh-CN" altLang="en-US" sz="2400" dirty="0"/>
          </a:p>
        </p:txBody>
      </p:sp>
      <p:pic>
        <p:nvPicPr>
          <p:cNvPr id="4" name="内容占位符 3">
            <a:extLst>
              <a:ext uri="{FF2B5EF4-FFF2-40B4-BE49-F238E27FC236}">
                <a16:creationId xmlns:a16="http://schemas.microsoft.com/office/drawing/2014/main" id="{7D89CB46-98D1-5386-BEFD-C8680EEA99F3}"/>
              </a:ext>
            </a:extLst>
          </p:cNvPr>
          <p:cNvPicPr>
            <a:picLocks noGrp="1" noChangeAspect="1"/>
          </p:cNvPicPr>
          <p:nvPr>
            <p:ph idx="1"/>
          </p:nvPr>
        </p:nvPicPr>
        <p:blipFill>
          <a:blip r:embed="rId2"/>
          <a:stretch>
            <a:fillRect/>
          </a:stretch>
        </p:blipFill>
        <p:spPr>
          <a:xfrm>
            <a:off x="1262855" y="1706803"/>
            <a:ext cx="4098829" cy="3444394"/>
          </a:xfrm>
          <a:prstGeom prst="rect">
            <a:avLst/>
          </a:prstGeom>
          <a:noFill/>
          <a:ln>
            <a:noFill/>
          </a:ln>
        </p:spPr>
      </p:pic>
      <p:sp>
        <p:nvSpPr>
          <p:cNvPr id="5" name="文本框 4">
            <a:extLst>
              <a:ext uri="{FF2B5EF4-FFF2-40B4-BE49-F238E27FC236}">
                <a16:creationId xmlns:a16="http://schemas.microsoft.com/office/drawing/2014/main" id="{389EE821-6FB7-9C70-D91E-6228B565C132}"/>
              </a:ext>
            </a:extLst>
          </p:cNvPr>
          <p:cNvSpPr txBox="1"/>
          <p:nvPr/>
        </p:nvSpPr>
        <p:spPr>
          <a:xfrm>
            <a:off x="2126166" y="1305341"/>
            <a:ext cx="11114048" cy="4247317"/>
          </a:xfrm>
          <a:prstGeom prst="rect">
            <a:avLst/>
          </a:prstGeom>
          <a:noFill/>
        </p:spPr>
        <p:txBody>
          <a:bodyPr wrap="square" rtlCol="0">
            <a:sp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甲乙类功率放大电路</a:t>
            </a:r>
            <a:endParaRPr lang="en-US" altLang="zh-CN" dirty="0">
              <a:latin typeface="黑体" panose="02010609060101010101" pitchFamily="49" charset="-122"/>
              <a:ea typeface="黑体" panose="02010609060101010101" pitchFamily="49" charset="-122"/>
            </a:endParaRPr>
          </a:p>
        </p:txBody>
      </p:sp>
      <p:pic>
        <p:nvPicPr>
          <p:cNvPr id="6" name="图片 5" descr="IMG_20240520_114008">
            <a:extLst>
              <a:ext uri="{FF2B5EF4-FFF2-40B4-BE49-F238E27FC236}">
                <a16:creationId xmlns:a16="http://schemas.microsoft.com/office/drawing/2014/main" id="{D9FF13ED-31EB-5291-243E-5CD13E24BE82}"/>
              </a:ext>
            </a:extLst>
          </p:cNvPr>
          <p:cNvPicPr>
            <a:picLocks noChangeAspect="1"/>
          </p:cNvPicPr>
          <p:nvPr/>
        </p:nvPicPr>
        <p:blipFill>
          <a:blip r:embed="rId3"/>
          <a:stretch>
            <a:fillRect/>
          </a:stretch>
        </p:blipFill>
        <p:spPr>
          <a:xfrm>
            <a:off x="5502533" y="3135282"/>
            <a:ext cx="2655570" cy="2520315"/>
          </a:xfrm>
          <a:prstGeom prst="rect">
            <a:avLst/>
          </a:prstGeom>
        </p:spPr>
      </p:pic>
      <p:pic>
        <p:nvPicPr>
          <p:cNvPr id="7" name="图片 6" descr="IMG_20240520_114005">
            <a:extLst>
              <a:ext uri="{FF2B5EF4-FFF2-40B4-BE49-F238E27FC236}">
                <a16:creationId xmlns:a16="http://schemas.microsoft.com/office/drawing/2014/main" id="{9756368C-3D88-EA0B-4E42-8F81ED951550}"/>
              </a:ext>
            </a:extLst>
          </p:cNvPr>
          <p:cNvPicPr>
            <a:picLocks noChangeAspect="1"/>
          </p:cNvPicPr>
          <p:nvPr/>
        </p:nvPicPr>
        <p:blipFill>
          <a:blip r:embed="rId4"/>
          <a:stretch>
            <a:fillRect/>
          </a:stretch>
        </p:blipFill>
        <p:spPr>
          <a:xfrm>
            <a:off x="8298952" y="3135282"/>
            <a:ext cx="2545080" cy="2606675"/>
          </a:xfrm>
          <a:prstGeom prst="rect">
            <a:avLst/>
          </a:prstGeom>
        </p:spPr>
      </p:pic>
    </p:spTree>
    <p:extLst>
      <p:ext uri="{BB962C8B-B14F-4D97-AF65-F5344CB8AC3E}">
        <p14:creationId xmlns:p14="http://schemas.microsoft.com/office/powerpoint/2010/main" val="4132333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542B77-2A30-1355-F0B2-C91ED6A52432}"/>
              </a:ext>
            </a:extLst>
          </p:cNvPr>
          <p:cNvSpPr>
            <a:spLocks noGrp="1"/>
          </p:cNvSpPr>
          <p:nvPr>
            <p:ph type="title"/>
          </p:nvPr>
        </p:nvSpPr>
        <p:spPr/>
        <p:txBody>
          <a:bodyPr>
            <a:normAutofit/>
          </a:bodyPr>
          <a:lstStyle/>
          <a:p>
            <a:r>
              <a:rPr lang="zh-CN" altLang="en-US" sz="2400" dirty="0">
                <a:latin typeface="黑体" panose="02010609060101010101" pitchFamily="49" charset="-122"/>
                <a:ea typeface="黑体" panose="02010609060101010101" pitchFamily="49" charset="-122"/>
              </a:rPr>
              <a:t>电感差动传感器</a:t>
            </a:r>
          </a:p>
        </p:txBody>
      </p:sp>
      <p:sp>
        <p:nvSpPr>
          <p:cNvPr id="3" name="内容占位符 2">
            <a:extLst>
              <a:ext uri="{FF2B5EF4-FFF2-40B4-BE49-F238E27FC236}">
                <a16:creationId xmlns:a16="http://schemas.microsoft.com/office/drawing/2014/main" id="{239E9DAE-43D5-0610-BA94-D447F990826B}"/>
              </a:ext>
            </a:extLst>
          </p:cNvPr>
          <p:cNvSpPr>
            <a:spLocks noGrp="1"/>
          </p:cNvSpPr>
          <p:nvPr>
            <p:ph idx="1"/>
          </p:nvPr>
        </p:nvSpPr>
        <p:spPr>
          <a:xfrm>
            <a:off x="356839" y="1462668"/>
            <a:ext cx="11835161" cy="5963232"/>
          </a:xfrm>
        </p:spPr>
        <p:txBody>
          <a:bodyPr>
            <a:normAutofit/>
          </a:bodyPr>
          <a:lstStyle/>
          <a:p>
            <a:r>
              <a:rPr lang="zh-CN" altLang="en-US" sz="1800" dirty="0">
                <a:latin typeface="黑体" panose="02010609060101010101" pitchFamily="49" charset="-122"/>
                <a:ea typeface="黑体" panose="02010609060101010101" pitchFamily="49" charset="-122"/>
              </a:rPr>
              <a:t>原理图如下</a:t>
            </a:r>
            <a:endParaRPr lang="en-US" altLang="zh-CN" sz="1800" dirty="0">
              <a:latin typeface="黑体" panose="02010609060101010101" pitchFamily="49" charset="-122"/>
              <a:ea typeface="黑体" panose="02010609060101010101" pitchFamily="49" charset="-122"/>
            </a:endParaRPr>
          </a:p>
          <a:p>
            <a:endParaRPr lang="zh-CN" altLang="en-US" sz="1800" dirty="0">
              <a:latin typeface="黑体" panose="02010609060101010101" pitchFamily="49" charset="-122"/>
              <a:ea typeface="黑体" panose="02010609060101010101" pitchFamily="49" charset="-122"/>
            </a:endParaRPr>
          </a:p>
        </p:txBody>
      </p:sp>
      <p:sp>
        <p:nvSpPr>
          <p:cNvPr id="5" name="Rectangle 2">
            <a:extLst>
              <a:ext uri="{FF2B5EF4-FFF2-40B4-BE49-F238E27FC236}">
                <a16:creationId xmlns:a16="http://schemas.microsoft.com/office/drawing/2014/main" id="{8852D93F-8A42-9D05-923C-5209137D8443}"/>
              </a:ext>
            </a:extLst>
          </p:cNvPr>
          <p:cNvSpPr>
            <a:spLocks noChangeArrowheads="1"/>
          </p:cNvSpPr>
          <p:nvPr/>
        </p:nvSpPr>
        <p:spPr bwMode="auto">
          <a:xfrm>
            <a:off x="838200" y="12489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46D7DB20-18FA-9764-95C6-DA7B8D0D2AA4}"/>
              </a:ext>
            </a:extLst>
          </p:cNvPr>
          <p:cNvGraphicFramePr>
            <a:graphicFrameLocks noChangeAspect="1"/>
          </p:cNvGraphicFramePr>
          <p:nvPr>
            <p:extLst>
              <p:ext uri="{D42A27DB-BD31-4B8C-83A1-F6EECF244321}">
                <p14:modId xmlns:p14="http://schemas.microsoft.com/office/powerpoint/2010/main" val="469615324"/>
              </p:ext>
            </p:extLst>
          </p:nvPr>
        </p:nvGraphicFramePr>
        <p:xfrm>
          <a:off x="228600" y="1904418"/>
          <a:ext cx="3663950" cy="2971800"/>
        </p:xfrm>
        <a:graphic>
          <a:graphicData uri="http://schemas.openxmlformats.org/presentationml/2006/ole">
            <mc:AlternateContent xmlns:mc="http://schemas.openxmlformats.org/markup-compatibility/2006">
              <mc:Choice xmlns:v="urn:schemas-microsoft-com:vml" Requires="v">
                <p:oleObj r:id="rId2" imgW="4990923" imgH="4053714" progId="Visio.Drawing.15">
                  <p:embed/>
                </p:oleObj>
              </mc:Choice>
              <mc:Fallback>
                <p:oleObj r:id="rId2" imgW="4990923" imgH="4053714" progId="Visio.Drawing.15">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04418"/>
                        <a:ext cx="3663950"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51" name="Picture 3">
            <a:extLst>
              <a:ext uri="{FF2B5EF4-FFF2-40B4-BE49-F238E27FC236}">
                <a16:creationId xmlns:a16="http://schemas.microsoft.com/office/drawing/2014/main" id="{90CC74FA-F76B-CCE1-361A-ADC4650B34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0789" y="1901243"/>
            <a:ext cx="3663950" cy="297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5">
            <a:extLst>
              <a:ext uri="{FF2B5EF4-FFF2-40B4-BE49-F238E27FC236}">
                <a16:creationId xmlns:a16="http://schemas.microsoft.com/office/drawing/2014/main" id="{7A78D106-F63E-438B-1EF6-7CC406623BAF}"/>
              </a:ext>
            </a:extLst>
          </p:cNvPr>
          <p:cNvSpPr>
            <a:spLocks noChangeArrowheads="1"/>
          </p:cNvSpPr>
          <p:nvPr/>
        </p:nvSpPr>
        <p:spPr bwMode="auto">
          <a:xfrm>
            <a:off x="7976839" y="1828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a:extLst>
              <a:ext uri="{FF2B5EF4-FFF2-40B4-BE49-F238E27FC236}">
                <a16:creationId xmlns:a16="http://schemas.microsoft.com/office/drawing/2014/main" id="{6569457C-5129-6AEF-1EC8-914DD92AB606}"/>
              </a:ext>
            </a:extLst>
          </p:cNvPr>
          <p:cNvGraphicFramePr>
            <a:graphicFrameLocks noChangeAspect="1"/>
          </p:cNvGraphicFramePr>
          <p:nvPr>
            <p:extLst>
              <p:ext uri="{D42A27DB-BD31-4B8C-83A1-F6EECF244321}">
                <p14:modId xmlns:p14="http://schemas.microsoft.com/office/powerpoint/2010/main" val="3649032713"/>
              </p:ext>
            </p:extLst>
          </p:nvPr>
        </p:nvGraphicFramePr>
        <p:xfrm>
          <a:off x="7976839" y="1828800"/>
          <a:ext cx="3663950" cy="2971800"/>
        </p:xfrm>
        <a:graphic>
          <a:graphicData uri="http://schemas.openxmlformats.org/presentationml/2006/ole">
            <mc:AlternateContent xmlns:mc="http://schemas.openxmlformats.org/markup-compatibility/2006">
              <mc:Choice xmlns:v="urn:schemas-microsoft-com:vml" Requires="v">
                <p:oleObj r:id="rId5" imgW="4990923" imgH="4053714" progId="Visio.Drawing.15">
                  <p:embed/>
                </p:oleObj>
              </mc:Choice>
              <mc:Fallback>
                <p:oleObj r:id="rId5" imgW="4990923" imgH="4053714" progId="Visio.Drawing.15">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6839" y="1828800"/>
                        <a:ext cx="3663950"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01767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F837F-127F-5762-717D-78C6FCF0E513}"/>
              </a:ext>
            </a:extLst>
          </p:cNvPr>
          <p:cNvSpPr>
            <a:spLocks noGrp="1"/>
          </p:cNvSpPr>
          <p:nvPr>
            <p:ph type="title"/>
          </p:nvPr>
        </p:nvSpPr>
        <p:spPr/>
        <p:txBody>
          <a:bodyPr>
            <a:normAutofit/>
          </a:bodyPr>
          <a:lstStyle/>
          <a:p>
            <a:r>
              <a:rPr lang="zh-CN" altLang="en-US" sz="2400" dirty="0">
                <a:latin typeface="黑体" panose="02010609060101010101" pitchFamily="49" charset="-122"/>
                <a:ea typeface="黑体" panose="02010609060101010101" pitchFamily="49" charset="-122"/>
              </a:rPr>
              <a:t>电感差动传感器</a:t>
            </a:r>
            <a:endParaRPr lang="zh-CN" altLang="en-US" sz="2400" dirty="0"/>
          </a:p>
        </p:txBody>
      </p:sp>
      <p:pic>
        <p:nvPicPr>
          <p:cNvPr id="4" name="内容占位符 3" descr="IMG_20240520_113913">
            <a:extLst>
              <a:ext uri="{FF2B5EF4-FFF2-40B4-BE49-F238E27FC236}">
                <a16:creationId xmlns:a16="http://schemas.microsoft.com/office/drawing/2014/main" id="{CD7F2F3E-27A8-B769-E53C-A5CD3A1A4A74}"/>
              </a:ext>
            </a:extLst>
          </p:cNvPr>
          <p:cNvPicPr>
            <a:picLocks noGrp="1" noChangeAspect="1"/>
          </p:cNvPicPr>
          <p:nvPr>
            <p:ph idx="1"/>
          </p:nvPr>
        </p:nvPicPr>
        <p:blipFill>
          <a:blip r:embed="rId2"/>
          <a:stretch>
            <a:fillRect/>
          </a:stretch>
        </p:blipFill>
        <p:spPr>
          <a:xfrm>
            <a:off x="1086680" y="1914983"/>
            <a:ext cx="4219538" cy="3163500"/>
          </a:xfrm>
          <a:prstGeom prst="rect">
            <a:avLst/>
          </a:prstGeom>
        </p:spPr>
      </p:pic>
    </p:spTree>
    <p:extLst>
      <p:ext uri="{BB962C8B-B14F-4D97-AF65-F5344CB8AC3E}">
        <p14:creationId xmlns:p14="http://schemas.microsoft.com/office/powerpoint/2010/main" val="2639272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5D900-01D3-6356-668D-1309226A1418}"/>
              </a:ext>
            </a:extLst>
          </p:cNvPr>
          <p:cNvSpPr>
            <a:spLocks noGrp="1"/>
          </p:cNvSpPr>
          <p:nvPr>
            <p:ph type="title"/>
          </p:nvPr>
        </p:nvSpPr>
        <p:spPr/>
        <p:txBody>
          <a:bodyPr>
            <a:normAutofit/>
          </a:bodyPr>
          <a:lstStyle/>
          <a:p>
            <a:r>
              <a:rPr lang="zh-CN" altLang="en-US" sz="2400" dirty="0">
                <a:latin typeface="黑体" panose="02010609060101010101" pitchFamily="49" charset="-122"/>
                <a:ea typeface="黑体" panose="02010609060101010101" pitchFamily="49" charset="-122"/>
              </a:rPr>
              <a:t>信号偏置放大电路</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、滤波电路</a:t>
            </a:r>
          </a:p>
        </p:txBody>
      </p:sp>
      <p:sp>
        <p:nvSpPr>
          <p:cNvPr id="3" name="内容占位符 2">
            <a:extLst>
              <a:ext uri="{FF2B5EF4-FFF2-40B4-BE49-F238E27FC236}">
                <a16:creationId xmlns:a16="http://schemas.microsoft.com/office/drawing/2014/main" id="{800A26BD-9FD8-C920-E280-A298EC8C392E}"/>
              </a:ext>
            </a:extLst>
          </p:cNvPr>
          <p:cNvSpPr>
            <a:spLocks noGrp="1"/>
          </p:cNvSpPr>
          <p:nvPr>
            <p:ph idx="1"/>
          </p:nvPr>
        </p:nvSpPr>
        <p:spPr/>
        <p:txBody>
          <a:bodyPr>
            <a:normAutofit/>
          </a:bodyPr>
          <a:lstStyle/>
          <a:p>
            <a:r>
              <a:rPr lang="zh-CN" altLang="en-US" sz="2000" dirty="0">
                <a:latin typeface="黑体" panose="02010609060101010101" pitchFamily="49" charset="-122"/>
                <a:ea typeface="黑体" panose="02010609060101010101" pitchFamily="49" charset="-122"/>
              </a:rPr>
              <a:t>此部分是为了方便</a:t>
            </a:r>
            <a:r>
              <a:rPr lang="en-US" altLang="zh-CN" sz="2000" dirty="0">
                <a:latin typeface="黑体" panose="02010609060101010101" pitchFamily="49" charset="-122"/>
                <a:ea typeface="黑体" panose="02010609060101010101" pitchFamily="49" charset="-122"/>
              </a:rPr>
              <a:t>STM32</a:t>
            </a:r>
            <a:r>
              <a:rPr lang="zh-CN" altLang="en-US" sz="2000" dirty="0">
                <a:latin typeface="黑体" panose="02010609060101010101" pitchFamily="49" charset="-122"/>
                <a:ea typeface="黑体" panose="02010609060101010101" pitchFamily="49" charset="-122"/>
              </a:rPr>
              <a:t>进行</a:t>
            </a:r>
            <a:r>
              <a:rPr lang="en-US" altLang="zh-CN" sz="2000" dirty="0">
                <a:latin typeface="黑体" panose="02010609060101010101" pitchFamily="49" charset="-122"/>
                <a:ea typeface="黑体" panose="02010609060101010101" pitchFamily="49" charset="-122"/>
              </a:rPr>
              <a:t>AD</a:t>
            </a:r>
            <a:r>
              <a:rPr lang="zh-CN" altLang="en-US" sz="2000" dirty="0">
                <a:latin typeface="黑体" panose="02010609060101010101" pitchFamily="49" charset="-122"/>
                <a:ea typeface="黑体" panose="02010609060101010101" pitchFamily="49" charset="-122"/>
              </a:rPr>
              <a:t>采样，所以添加放大偏置电路使正弦信号电压值全为正。</a:t>
            </a:r>
            <a:endParaRPr lang="en-US" altLang="zh-CN" sz="2000" dirty="0">
              <a:latin typeface="黑体" panose="02010609060101010101" pitchFamily="49" charset="-122"/>
              <a:ea typeface="黑体" panose="02010609060101010101" pitchFamily="49" charset="-122"/>
            </a:endParaRPr>
          </a:p>
          <a:p>
            <a:r>
              <a:rPr lang="zh-CN" altLang="en-US" sz="2000" dirty="0">
                <a:latin typeface="黑体" panose="02010609060101010101" pitchFamily="49" charset="-122"/>
                <a:ea typeface="黑体" panose="02010609060101010101" pitchFamily="49" charset="-122"/>
              </a:rPr>
              <a:t>滤波电路是为了过滤高频干扰</a:t>
            </a:r>
            <a:endParaRPr lang="en-US" altLang="zh-CN" sz="2000" dirty="0">
              <a:latin typeface="黑体" panose="02010609060101010101" pitchFamily="49" charset="-122"/>
              <a:ea typeface="黑体" panose="02010609060101010101" pitchFamily="49" charset="-122"/>
            </a:endParaRPr>
          </a:p>
          <a:p>
            <a:endParaRPr lang="zh-CN" altLang="en-US" sz="2000" dirty="0">
              <a:latin typeface="黑体" panose="02010609060101010101" pitchFamily="49" charset="-122"/>
              <a:ea typeface="黑体" panose="02010609060101010101" pitchFamily="49" charset="-122"/>
            </a:endParaRPr>
          </a:p>
        </p:txBody>
      </p:sp>
      <p:pic>
        <p:nvPicPr>
          <p:cNvPr id="6" name="图片 5">
            <a:extLst>
              <a:ext uri="{FF2B5EF4-FFF2-40B4-BE49-F238E27FC236}">
                <a16:creationId xmlns:a16="http://schemas.microsoft.com/office/drawing/2014/main" id="{36CBF9BE-5395-7964-4B66-1DE5BF622FE9}"/>
              </a:ext>
            </a:extLst>
          </p:cNvPr>
          <p:cNvPicPr>
            <a:picLocks noChangeAspect="1"/>
          </p:cNvPicPr>
          <p:nvPr/>
        </p:nvPicPr>
        <p:blipFill>
          <a:blip r:embed="rId2"/>
          <a:stretch>
            <a:fillRect/>
          </a:stretch>
        </p:blipFill>
        <p:spPr>
          <a:xfrm>
            <a:off x="2515023" y="2698001"/>
            <a:ext cx="6151890" cy="3794873"/>
          </a:xfrm>
          <a:prstGeom prst="rect">
            <a:avLst/>
          </a:prstGeom>
          <a:noFill/>
          <a:ln>
            <a:noFill/>
          </a:ln>
        </p:spPr>
      </p:pic>
      <p:pic>
        <p:nvPicPr>
          <p:cNvPr id="7" name="图片 6">
            <a:extLst>
              <a:ext uri="{FF2B5EF4-FFF2-40B4-BE49-F238E27FC236}">
                <a16:creationId xmlns:a16="http://schemas.microsoft.com/office/drawing/2014/main" id="{37734308-DC5D-04E8-8B33-4AC36166C5C6}"/>
              </a:ext>
            </a:extLst>
          </p:cNvPr>
          <p:cNvPicPr>
            <a:picLocks noChangeAspect="1"/>
          </p:cNvPicPr>
          <p:nvPr/>
        </p:nvPicPr>
        <p:blipFill>
          <a:blip r:embed="rId3"/>
          <a:stretch>
            <a:fillRect/>
          </a:stretch>
        </p:blipFill>
        <p:spPr>
          <a:xfrm>
            <a:off x="8666913" y="3219344"/>
            <a:ext cx="3213887" cy="1809856"/>
          </a:xfrm>
          <a:prstGeom prst="rect">
            <a:avLst/>
          </a:prstGeom>
          <a:noFill/>
          <a:ln>
            <a:noFill/>
          </a:ln>
        </p:spPr>
      </p:pic>
    </p:spTree>
    <p:extLst>
      <p:ext uri="{BB962C8B-B14F-4D97-AF65-F5344CB8AC3E}">
        <p14:creationId xmlns:p14="http://schemas.microsoft.com/office/powerpoint/2010/main" val="4205876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5CC549-1F1E-464A-5F23-2431DE4272CA}"/>
              </a:ext>
            </a:extLst>
          </p:cNvPr>
          <p:cNvSpPr>
            <a:spLocks noGrp="1"/>
          </p:cNvSpPr>
          <p:nvPr>
            <p:ph type="title"/>
          </p:nvPr>
        </p:nvSpPr>
        <p:spPr/>
        <p:txBody>
          <a:bodyPr>
            <a:normAutofit/>
          </a:bodyPr>
          <a:lstStyle/>
          <a:p>
            <a:r>
              <a:rPr lang="zh-CN" altLang="en-US" sz="2400" dirty="0">
                <a:latin typeface="黑体" panose="02010609060101010101" pitchFamily="49" charset="-122"/>
                <a:ea typeface="黑体" panose="02010609060101010101" pitchFamily="49" charset="-122"/>
              </a:rPr>
              <a:t>信号偏置放大电路</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、滤波电路</a:t>
            </a:r>
            <a:endParaRPr lang="zh-CN" altLang="en-US" sz="2400" dirty="0"/>
          </a:p>
        </p:txBody>
      </p:sp>
      <p:pic>
        <p:nvPicPr>
          <p:cNvPr id="4" name="内容占位符 3" descr="IMG_20240522_153349">
            <a:extLst>
              <a:ext uri="{FF2B5EF4-FFF2-40B4-BE49-F238E27FC236}">
                <a16:creationId xmlns:a16="http://schemas.microsoft.com/office/drawing/2014/main" id="{F84A8718-B0C8-AED1-CD52-16B99A3868D3}"/>
              </a:ext>
            </a:extLst>
          </p:cNvPr>
          <p:cNvPicPr>
            <a:picLocks noGrp="1" noChangeAspect="1"/>
          </p:cNvPicPr>
          <p:nvPr>
            <p:ph idx="1"/>
          </p:nvPr>
        </p:nvPicPr>
        <p:blipFill>
          <a:blip r:embed="rId2"/>
          <a:stretch>
            <a:fillRect/>
          </a:stretch>
        </p:blipFill>
        <p:spPr>
          <a:xfrm>
            <a:off x="1446260" y="2211595"/>
            <a:ext cx="5124631" cy="3842072"/>
          </a:xfrm>
          <a:prstGeom prst="rect">
            <a:avLst/>
          </a:prstGeom>
        </p:spPr>
      </p:pic>
    </p:spTree>
    <p:extLst>
      <p:ext uri="{BB962C8B-B14F-4D97-AF65-F5344CB8AC3E}">
        <p14:creationId xmlns:p14="http://schemas.microsoft.com/office/powerpoint/2010/main" val="559351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E84544-3BDE-56BD-8A79-C53A1778FA76}"/>
              </a:ext>
            </a:extLst>
          </p:cNvPr>
          <p:cNvSpPr>
            <a:spLocks noGrp="1"/>
          </p:cNvSpPr>
          <p:nvPr>
            <p:ph type="title"/>
          </p:nvPr>
        </p:nvSpPr>
        <p:spPr/>
        <p:txBody>
          <a:bodyPr>
            <a:normAutofit/>
          </a:bodyPr>
          <a:lstStyle/>
          <a:p>
            <a:r>
              <a:rPr lang="zh-CN" altLang="en-US" sz="2800" dirty="0">
                <a:latin typeface="黑体" panose="02010609060101010101" pitchFamily="49" charset="-122"/>
                <a:ea typeface="黑体" panose="02010609060101010101" pitchFamily="49" charset="-122"/>
              </a:rPr>
              <a:t>软件设计</a:t>
            </a:r>
          </a:p>
        </p:txBody>
      </p:sp>
      <p:pic>
        <p:nvPicPr>
          <p:cNvPr id="3074" name="Picture 2">
            <a:extLst>
              <a:ext uri="{FF2B5EF4-FFF2-40B4-BE49-F238E27FC236}">
                <a16:creationId xmlns:a16="http://schemas.microsoft.com/office/drawing/2014/main" id="{F239FA09-9319-25AF-19FA-04D1F3BB8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2149" y="793750"/>
            <a:ext cx="1664195" cy="5361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6F87AF4A-4624-33AA-3685-1B61F9464C74}"/>
              </a:ext>
            </a:extLst>
          </p:cNvPr>
          <p:cNvPicPr>
            <a:picLocks noChangeAspect="1"/>
          </p:cNvPicPr>
          <p:nvPr/>
        </p:nvPicPr>
        <p:blipFill>
          <a:blip r:embed="rId3"/>
          <a:stretch>
            <a:fillRect/>
          </a:stretch>
        </p:blipFill>
        <p:spPr>
          <a:xfrm>
            <a:off x="6843289" y="1153159"/>
            <a:ext cx="3242048" cy="4841241"/>
          </a:xfrm>
          <a:prstGeom prst="rect">
            <a:avLst/>
          </a:prstGeom>
          <a:noFill/>
          <a:ln>
            <a:noFill/>
          </a:ln>
        </p:spPr>
      </p:pic>
      <p:sp>
        <p:nvSpPr>
          <p:cNvPr id="8" name="文本框 7">
            <a:extLst>
              <a:ext uri="{FF2B5EF4-FFF2-40B4-BE49-F238E27FC236}">
                <a16:creationId xmlns:a16="http://schemas.microsoft.com/office/drawing/2014/main" id="{D6A617C0-25FB-A6D8-3152-17F8AD2C8CAD}"/>
              </a:ext>
            </a:extLst>
          </p:cNvPr>
          <p:cNvSpPr txBox="1"/>
          <p:nvPr/>
        </p:nvSpPr>
        <p:spPr>
          <a:xfrm>
            <a:off x="5765800" y="6054555"/>
            <a:ext cx="6096000" cy="455253"/>
          </a:xfrm>
          <a:prstGeom prst="rect">
            <a:avLst/>
          </a:prstGeom>
          <a:noFill/>
        </p:spPr>
        <p:txBody>
          <a:bodyPr wrap="square">
            <a:spAutoFit/>
          </a:bodyPr>
          <a:lstStyle/>
          <a:p>
            <a:pPr indent="266700" algn="ctr">
              <a:lnSpc>
                <a:spcPct val="150000"/>
              </a:lnSpc>
            </a:pPr>
            <a:r>
              <a:rPr lang="en-US" altLang="zh-CN" sz="1800" kern="100" dirty="0">
                <a:solidFill>
                  <a:srgbClr val="000000"/>
                </a:solidFill>
                <a:effectLst/>
                <a:latin typeface="Times New Roman" panose="02020603050405020304" pitchFamily="18" charset="0"/>
                <a:ea typeface="楷体" panose="02010609060101010101" pitchFamily="49" charset="-122"/>
              </a:rPr>
              <a:t> AD</a:t>
            </a:r>
            <a:r>
              <a:rPr lang="en-US" altLang="zh-CN" sz="1800" kern="0" dirty="0">
                <a:solidFill>
                  <a:srgbClr val="000000"/>
                </a:solidFill>
                <a:effectLst/>
                <a:latin typeface="Times New Roman" panose="02020603050405020304" pitchFamily="18" charset="0"/>
                <a:ea typeface="楷体" panose="02010609060101010101" pitchFamily="49" charset="-122"/>
              </a:rPr>
              <a:t> </a:t>
            </a:r>
            <a:r>
              <a:rPr lang="zh-CN" altLang="zh-CN" sz="1800" kern="0" dirty="0">
                <a:solidFill>
                  <a:srgbClr val="000000"/>
                </a:solidFill>
                <a:effectLst/>
                <a:latin typeface="Times New Roman" panose="02020603050405020304" pitchFamily="18" charset="0"/>
                <a:ea typeface="楷体" panose="02010609060101010101" pitchFamily="49" charset="-122"/>
              </a:rPr>
              <a:t>转换模块</a:t>
            </a:r>
            <a:endParaRPr lang="zh-CN" altLang="zh-CN" sz="1800" kern="100" dirty="0">
              <a:effectLst/>
              <a:latin typeface="Times New Roman" panose="02020603050405020304" pitchFamily="18" charset="0"/>
              <a:ea typeface="宋体" panose="02010600030101010101" pitchFamily="2" charset="-122"/>
            </a:endParaRPr>
          </a:p>
        </p:txBody>
      </p:sp>
      <p:sp>
        <p:nvSpPr>
          <p:cNvPr id="11" name="文本框 10">
            <a:extLst>
              <a:ext uri="{FF2B5EF4-FFF2-40B4-BE49-F238E27FC236}">
                <a16:creationId xmlns:a16="http://schemas.microsoft.com/office/drawing/2014/main" id="{2C1889D9-15AA-5370-9619-AA1CC84ABB43}"/>
              </a:ext>
            </a:extLst>
          </p:cNvPr>
          <p:cNvSpPr txBox="1"/>
          <p:nvPr/>
        </p:nvSpPr>
        <p:spPr>
          <a:xfrm>
            <a:off x="2218267" y="6282181"/>
            <a:ext cx="6096000" cy="369332"/>
          </a:xfrm>
          <a:prstGeom prst="rect">
            <a:avLst/>
          </a:prstGeom>
          <a:noFill/>
        </p:spPr>
        <p:txBody>
          <a:bodyPr wrap="square">
            <a:spAutoFit/>
          </a:bodyPr>
          <a:lstStyle/>
          <a:p>
            <a:r>
              <a:rPr lang="zh-CN" altLang="zh-CN" sz="1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正弦信号发生模块程序流程框图</a:t>
            </a:r>
            <a:endParaRPr lang="zh-CN" altLang="en-US" dirty="0"/>
          </a:p>
        </p:txBody>
      </p:sp>
    </p:spTree>
    <p:extLst>
      <p:ext uri="{BB962C8B-B14F-4D97-AF65-F5344CB8AC3E}">
        <p14:creationId xmlns:p14="http://schemas.microsoft.com/office/powerpoint/2010/main" val="2246600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18BD14-F918-838F-1A59-EEF50F568255}"/>
              </a:ext>
            </a:extLst>
          </p:cNvPr>
          <p:cNvSpPr>
            <a:spLocks noGrp="1"/>
          </p:cNvSpPr>
          <p:nvPr>
            <p:ph type="title"/>
          </p:nvPr>
        </p:nvSpPr>
        <p:spPr/>
        <p:txBody>
          <a:bodyPr>
            <a:normAutofit/>
          </a:bodyPr>
          <a:lstStyle/>
          <a:p>
            <a:r>
              <a:rPr lang="zh-CN" altLang="en-US" sz="2800" dirty="0">
                <a:latin typeface="黑体" panose="02010609060101010101" pitchFamily="49" charset="-122"/>
                <a:ea typeface="黑体" panose="02010609060101010101" pitchFamily="49" charset="-122"/>
              </a:rPr>
              <a:t>仿真分析</a:t>
            </a:r>
          </a:p>
        </p:txBody>
      </p:sp>
      <p:pic>
        <p:nvPicPr>
          <p:cNvPr id="4" name="内容占位符 3" descr="[@0](%E74XXD@SYOR(35CG4">
            <a:extLst>
              <a:ext uri="{FF2B5EF4-FFF2-40B4-BE49-F238E27FC236}">
                <a16:creationId xmlns:a16="http://schemas.microsoft.com/office/drawing/2014/main" id="{E52668E7-F79F-8496-5903-EDBE6A1C4644}"/>
              </a:ext>
            </a:extLst>
          </p:cNvPr>
          <p:cNvPicPr>
            <a:picLocks noGrp="1" noChangeAspect="1"/>
          </p:cNvPicPr>
          <p:nvPr>
            <p:ph idx="1"/>
          </p:nvPr>
        </p:nvPicPr>
        <p:blipFill>
          <a:blip r:embed="rId2"/>
          <a:stretch>
            <a:fillRect/>
          </a:stretch>
        </p:blipFill>
        <p:spPr>
          <a:xfrm>
            <a:off x="1149963" y="1571625"/>
            <a:ext cx="5861940" cy="4351338"/>
          </a:xfrm>
          <a:prstGeom prst="rect">
            <a:avLst/>
          </a:prstGeom>
        </p:spPr>
      </p:pic>
      <p:sp>
        <p:nvSpPr>
          <p:cNvPr id="5" name="文本框 4">
            <a:extLst>
              <a:ext uri="{FF2B5EF4-FFF2-40B4-BE49-F238E27FC236}">
                <a16:creationId xmlns:a16="http://schemas.microsoft.com/office/drawing/2014/main" id="{A666CC32-7D64-092F-41FD-AB46499C0C4D}"/>
              </a:ext>
            </a:extLst>
          </p:cNvPr>
          <p:cNvSpPr txBox="1"/>
          <p:nvPr/>
        </p:nvSpPr>
        <p:spPr>
          <a:xfrm>
            <a:off x="7633451" y="3437493"/>
            <a:ext cx="3098800"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放大电路</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仿真结果</a:t>
            </a:r>
          </a:p>
        </p:txBody>
      </p:sp>
    </p:spTree>
    <p:extLst>
      <p:ext uri="{BB962C8B-B14F-4D97-AF65-F5344CB8AC3E}">
        <p14:creationId xmlns:p14="http://schemas.microsoft.com/office/powerpoint/2010/main" val="3057548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D0132D-3F33-3C6E-0755-632F638857ED}"/>
              </a:ext>
            </a:extLst>
          </p:cNvPr>
          <p:cNvSpPr>
            <a:spLocks noGrp="1"/>
          </p:cNvSpPr>
          <p:nvPr>
            <p:ph type="title"/>
          </p:nvPr>
        </p:nvSpPr>
        <p:spPr/>
        <p:txBody>
          <a:bodyPr>
            <a:normAutofit/>
          </a:bodyPr>
          <a:lstStyle/>
          <a:p>
            <a:r>
              <a:rPr lang="zh-CN" altLang="en-US" sz="2400" dirty="0">
                <a:latin typeface="黑体" panose="02010609060101010101" pitchFamily="49" charset="-122"/>
                <a:ea typeface="黑体" panose="02010609060101010101" pitchFamily="49" charset="-122"/>
              </a:rPr>
              <a:t>仿真分析</a:t>
            </a:r>
          </a:p>
        </p:txBody>
      </p:sp>
      <p:pic>
        <p:nvPicPr>
          <p:cNvPr id="4" name="内容占位符 3" descr="OF`~6SKIGEG97L)(_13@KD5">
            <a:extLst>
              <a:ext uri="{FF2B5EF4-FFF2-40B4-BE49-F238E27FC236}">
                <a16:creationId xmlns:a16="http://schemas.microsoft.com/office/drawing/2014/main" id="{4B28ACF3-261F-634A-2DEC-1146B8ABB3F9}"/>
              </a:ext>
            </a:extLst>
          </p:cNvPr>
          <p:cNvPicPr>
            <a:picLocks noGrp="1" noChangeAspect="1"/>
          </p:cNvPicPr>
          <p:nvPr>
            <p:ph idx="1"/>
          </p:nvPr>
        </p:nvPicPr>
        <p:blipFill>
          <a:blip r:embed="rId2"/>
          <a:stretch>
            <a:fillRect/>
          </a:stretch>
        </p:blipFill>
        <p:spPr>
          <a:xfrm>
            <a:off x="735097" y="1690688"/>
            <a:ext cx="5250295" cy="3897312"/>
          </a:xfrm>
          <a:prstGeom prst="rect">
            <a:avLst/>
          </a:prstGeom>
        </p:spPr>
      </p:pic>
      <p:pic>
        <p:nvPicPr>
          <p:cNvPr id="5" name="图片 4" descr="_%DIFIFCTPZ{5G8KK93%_{F">
            <a:extLst>
              <a:ext uri="{FF2B5EF4-FFF2-40B4-BE49-F238E27FC236}">
                <a16:creationId xmlns:a16="http://schemas.microsoft.com/office/drawing/2014/main" id="{657308A1-6AD9-8F62-7C4C-DF1F89D007F9}"/>
              </a:ext>
            </a:extLst>
          </p:cNvPr>
          <p:cNvPicPr/>
          <p:nvPr/>
        </p:nvPicPr>
        <p:blipFill>
          <a:blip r:embed="rId3"/>
          <a:stretch>
            <a:fillRect/>
          </a:stretch>
        </p:blipFill>
        <p:spPr>
          <a:xfrm>
            <a:off x="6319095" y="1690688"/>
            <a:ext cx="4670638" cy="3794548"/>
          </a:xfrm>
          <a:prstGeom prst="rect">
            <a:avLst/>
          </a:prstGeom>
        </p:spPr>
      </p:pic>
    </p:spTree>
    <p:extLst>
      <p:ext uri="{BB962C8B-B14F-4D97-AF65-F5344CB8AC3E}">
        <p14:creationId xmlns:p14="http://schemas.microsoft.com/office/powerpoint/2010/main" val="3035524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D74EAA-9366-515B-659D-D81F49EDF36E}"/>
              </a:ext>
            </a:extLst>
          </p:cNvPr>
          <p:cNvSpPr>
            <a:spLocks noGrp="1"/>
          </p:cNvSpPr>
          <p:nvPr>
            <p:ph type="title"/>
          </p:nvPr>
        </p:nvSpPr>
        <p:spPr>
          <a:xfrm>
            <a:off x="838200" y="365126"/>
            <a:ext cx="10515600" cy="913342"/>
          </a:xfrm>
        </p:spPr>
        <p:txBody>
          <a:bodyPr/>
          <a:lstStyle/>
          <a:p>
            <a:r>
              <a:rPr lang="zh-CN" altLang="en-US" sz="2400" dirty="0">
                <a:latin typeface="黑体" panose="02010609060101010101" pitchFamily="49" charset="-122"/>
                <a:ea typeface="黑体" panose="02010609060101010101" pitchFamily="49" charset="-122"/>
              </a:rPr>
              <a:t>数据分析</a:t>
            </a:r>
            <a:endParaRPr lang="zh-CN" altLang="en-US" dirty="0"/>
          </a:p>
        </p:txBody>
      </p:sp>
      <p:pic>
        <p:nvPicPr>
          <p:cNvPr id="7" name="内容占位符 6">
            <a:extLst>
              <a:ext uri="{FF2B5EF4-FFF2-40B4-BE49-F238E27FC236}">
                <a16:creationId xmlns:a16="http://schemas.microsoft.com/office/drawing/2014/main" id="{E14244F7-65D3-B75A-AF90-42183099C4E9}"/>
              </a:ext>
            </a:extLst>
          </p:cNvPr>
          <p:cNvPicPr>
            <a:picLocks noGrp="1" noChangeAspect="1"/>
          </p:cNvPicPr>
          <p:nvPr>
            <p:ph idx="1"/>
          </p:nvPr>
        </p:nvPicPr>
        <p:blipFill>
          <a:blip r:embed="rId2"/>
          <a:stretch>
            <a:fillRect/>
          </a:stretch>
        </p:blipFill>
        <p:spPr>
          <a:xfrm>
            <a:off x="0" y="940064"/>
            <a:ext cx="8556009" cy="3674269"/>
          </a:xfrm>
          <a:prstGeom prst="rect">
            <a:avLst/>
          </a:prstGeom>
        </p:spPr>
      </p:pic>
      <p:pic>
        <p:nvPicPr>
          <p:cNvPr id="8" name="图片 7" descr="I$WOZ3X[X(MW{V$[5WP~F[B">
            <a:extLst>
              <a:ext uri="{FF2B5EF4-FFF2-40B4-BE49-F238E27FC236}">
                <a16:creationId xmlns:a16="http://schemas.microsoft.com/office/drawing/2014/main" id="{43FAE85B-5894-6E41-4450-F765225028F4}"/>
              </a:ext>
            </a:extLst>
          </p:cNvPr>
          <p:cNvPicPr>
            <a:picLocks noChangeAspect="1"/>
          </p:cNvPicPr>
          <p:nvPr/>
        </p:nvPicPr>
        <p:blipFill>
          <a:blip r:embed="rId3"/>
          <a:stretch>
            <a:fillRect/>
          </a:stretch>
        </p:blipFill>
        <p:spPr>
          <a:xfrm>
            <a:off x="7898902" y="1278468"/>
            <a:ext cx="4112006" cy="3488265"/>
          </a:xfrm>
          <a:prstGeom prst="rect">
            <a:avLst/>
          </a:prstGeom>
        </p:spPr>
      </p:pic>
    </p:spTree>
    <p:extLst>
      <p:ext uri="{BB962C8B-B14F-4D97-AF65-F5344CB8AC3E}">
        <p14:creationId xmlns:p14="http://schemas.microsoft.com/office/powerpoint/2010/main" val="3996520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EDD99B-71C4-A812-55BA-419BC51EEDAE}"/>
              </a:ext>
            </a:extLst>
          </p:cNvPr>
          <p:cNvSpPr>
            <a:spLocks noGrp="1"/>
          </p:cNvSpPr>
          <p:nvPr>
            <p:ph type="title"/>
          </p:nvPr>
        </p:nvSpPr>
        <p:spPr>
          <a:xfrm>
            <a:off x="330200" y="365125"/>
            <a:ext cx="11023600" cy="1325563"/>
          </a:xfrm>
        </p:spPr>
        <p:txBody>
          <a:bodyPr>
            <a:normAutofit/>
          </a:bodyPr>
          <a:lstStyle/>
          <a:p>
            <a:r>
              <a:rPr lang="zh-CN" altLang="en-US" sz="2400" dirty="0">
                <a:latin typeface="黑体" panose="02010609060101010101" pitchFamily="49" charset="-122"/>
                <a:ea typeface="黑体" panose="02010609060101010101" pitchFamily="49" charset="-122"/>
              </a:rPr>
              <a:t>数据分析</a:t>
            </a:r>
          </a:p>
        </p:txBody>
      </p:sp>
      <p:pic>
        <p:nvPicPr>
          <p:cNvPr id="4" name="内容占位符 3">
            <a:extLst>
              <a:ext uri="{FF2B5EF4-FFF2-40B4-BE49-F238E27FC236}">
                <a16:creationId xmlns:a16="http://schemas.microsoft.com/office/drawing/2014/main" id="{6D906E57-8342-93C9-82BF-09D9EA6C55E5}"/>
              </a:ext>
            </a:extLst>
          </p:cNvPr>
          <p:cNvPicPr>
            <a:picLocks noGrp="1" noChangeAspect="1"/>
          </p:cNvPicPr>
          <p:nvPr>
            <p:ph idx="1"/>
          </p:nvPr>
        </p:nvPicPr>
        <p:blipFill>
          <a:blip r:embed="rId2"/>
          <a:stretch>
            <a:fillRect/>
          </a:stretch>
        </p:blipFill>
        <p:spPr>
          <a:xfrm>
            <a:off x="113439" y="1690688"/>
            <a:ext cx="7580618" cy="3259666"/>
          </a:xfrm>
          <a:prstGeom prst="rect">
            <a:avLst/>
          </a:prstGeom>
        </p:spPr>
      </p:pic>
      <p:pic>
        <p:nvPicPr>
          <p:cNvPr id="5" name="图片 4" descr="[ES@C$AK3I(`}F_D2V3]VHQ">
            <a:extLst>
              <a:ext uri="{FF2B5EF4-FFF2-40B4-BE49-F238E27FC236}">
                <a16:creationId xmlns:a16="http://schemas.microsoft.com/office/drawing/2014/main" id="{189EA7FB-5936-AF3C-1726-7D3346408FF8}"/>
              </a:ext>
            </a:extLst>
          </p:cNvPr>
          <p:cNvPicPr>
            <a:picLocks noChangeAspect="1"/>
          </p:cNvPicPr>
          <p:nvPr/>
        </p:nvPicPr>
        <p:blipFill>
          <a:blip r:embed="rId3"/>
          <a:stretch>
            <a:fillRect/>
          </a:stretch>
        </p:blipFill>
        <p:spPr>
          <a:xfrm>
            <a:off x="7760546" y="1869175"/>
            <a:ext cx="3677478" cy="3119649"/>
          </a:xfrm>
          <a:prstGeom prst="rect">
            <a:avLst/>
          </a:prstGeom>
        </p:spPr>
      </p:pic>
    </p:spTree>
    <p:extLst>
      <p:ext uri="{BB962C8B-B14F-4D97-AF65-F5344CB8AC3E}">
        <p14:creationId xmlns:p14="http://schemas.microsoft.com/office/powerpoint/2010/main" val="675445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7306918-AAF5-80DB-C19E-D6A7A01DF7DC}"/>
              </a:ext>
            </a:extLst>
          </p:cNvPr>
          <p:cNvSpPr>
            <a:spLocks noGrp="1"/>
          </p:cNvSpPr>
          <p:nvPr>
            <p:ph idx="1"/>
          </p:nvPr>
        </p:nvSpPr>
        <p:spPr>
          <a:xfrm>
            <a:off x="389468" y="1490133"/>
            <a:ext cx="10752666" cy="4686830"/>
          </a:xfrm>
        </p:spPr>
        <p:txBody>
          <a:bodyPr>
            <a:normAutofit/>
          </a:bodyPr>
          <a:lstStyle/>
          <a:p>
            <a:pPr marL="0" indent="0">
              <a:buNone/>
            </a:pPr>
            <a:r>
              <a:rPr lang="zh-CN" altLang="en-US" sz="7200" dirty="0">
                <a:latin typeface="黑体" panose="02010609060101010101" pitchFamily="49" charset="-122"/>
                <a:ea typeface="黑体" panose="02010609060101010101" pitchFamily="49" charset="-122"/>
              </a:rPr>
              <a:t>   </a:t>
            </a:r>
            <a:endParaRPr lang="en-US" altLang="zh-CN" sz="7200" dirty="0">
              <a:latin typeface="黑体" panose="02010609060101010101" pitchFamily="49" charset="-122"/>
              <a:ea typeface="黑体" panose="02010609060101010101" pitchFamily="49" charset="-122"/>
            </a:endParaRPr>
          </a:p>
          <a:p>
            <a:pPr marL="0" indent="0">
              <a:buNone/>
            </a:pPr>
            <a:r>
              <a:rPr lang="en-US" altLang="zh-CN" sz="7200" dirty="0">
                <a:latin typeface="黑体" panose="02010609060101010101" pitchFamily="49" charset="-122"/>
                <a:ea typeface="黑体" panose="02010609060101010101" pitchFamily="49" charset="-122"/>
              </a:rPr>
              <a:t>        </a:t>
            </a:r>
            <a:r>
              <a:rPr lang="zh-CN" altLang="en-US" sz="7200" dirty="0">
                <a:latin typeface="黑体" panose="02010609060101010101" pitchFamily="49" charset="-122"/>
                <a:ea typeface="黑体" panose="02010609060101010101" pitchFamily="49" charset="-122"/>
              </a:rPr>
              <a:t>谢谢观看！</a:t>
            </a:r>
          </a:p>
        </p:txBody>
      </p:sp>
    </p:spTree>
    <p:extLst>
      <p:ext uri="{BB962C8B-B14F-4D97-AF65-F5344CB8AC3E}">
        <p14:creationId xmlns:p14="http://schemas.microsoft.com/office/powerpoint/2010/main" val="310762561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187</Words>
  <Application>Microsoft Office PowerPoint</Application>
  <PresentationFormat>宽屏</PresentationFormat>
  <Paragraphs>60</Paragraphs>
  <Slides>16</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16</vt:i4>
      </vt:variant>
    </vt:vector>
  </HeadingPairs>
  <TitlesOfParts>
    <vt:vector size="23" baseType="lpstr">
      <vt:lpstr>等线</vt:lpstr>
      <vt:lpstr>等线 Light</vt:lpstr>
      <vt:lpstr>黑体</vt:lpstr>
      <vt:lpstr>Arial</vt:lpstr>
      <vt:lpstr>Times New Roman</vt:lpstr>
      <vt:lpstr>Office 主题​​</vt:lpstr>
      <vt:lpstr>Microsoft Visio Drawing</vt:lpstr>
      <vt:lpstr>电感位移传感器的设计与实现</vt:lpstr>
      <vt:lpstr>目录</vt:lpstr>
      <vt:lpstr>设计目的</vt:lpstr>
      <vt:lpstr>硬件设计</vt:lpstr>
      <vt:lpstr>波形发生放大模块</vt:lpstr>
      <vt:lpstr>波形发生放大模块</vt:lpstr>
      <vt:lpstr>电感差动传感器</vt:lpstr>
      <vt:lpstr>电感差动传感器</vt:lpstr>
      <vt:lpstr>信号偏置放大电路2、滤波电路</vt:lpstr>
      <vt:lpstr>信号偏置放大电路2、滤波电路</vt:lpstr>
      <vt:lpstr>软件设计</vt:lpstr>
      <vt:lpstr>仿真分析</vt:lpstr>
      <vt:lpstr>仿真分析</vt:lpstr>
      <vt:lpstr>数据分析</vt:lpstr>
      <vt:lpstr>数据分析</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ZY J</dc:creator>
  <cp:lastModifiedBy>Mengqi Xue</cp:lastModifiedBy>
  <cp:revision>4</cp:revision>
  <dcterms:created xsi:type="dcterms:W3CDTF">2025-04-19T10:40:50Z</dcterms:created>
  <dcterms:modified xsi:type="dcterms:W3CDTF">2026-06-07T10:24:02Z</dcterms:modified>
</cp:coreProperties>
</file>