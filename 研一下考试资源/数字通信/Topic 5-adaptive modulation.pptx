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8"/>
  </p:notesMasterIdLst>
  <p:sldIdLst>
    <p:sldId id="370" r:id="rId2"/>
    <p:sldId id="458" r:id="rId3"/>
    <p:sldId id="459" r:id="rId4"/>
    <p:sldId id="466" r:id="rId5"/>
    <p:sldId id="372" r:id="rId6"/>
    <p:sldId id="373" r:id="rId7"/>
    <p:sldId id="460" r:id="rId8"/>
    <p:sldId id="375" r:id="rId9"/>
    <p:sldId id="434" r:id="rId10"/>
    <p:sldId id="462" r:id="rId11"/>
    <p:sldId id="464" r:id="rId12"/>
    <p:sldId id="465" r:id="rId13"/>
    <p:sldId id="363" r:id="rId14"/>
    <p:sldId id="376" r:id="rId15"/>
    <p:sldId id="377" r:id="rId16"/>
    <p:sldId id="378" r:id="rId17"/>
    <p:sldId id="364" r:id="rId18"/>
    <p:sldId id="379" r:id="rId19"/>
    <p:sldId id="353" r:id="rId20"/>
    <p:sldId id="381" r:id="rId21"/>
    <p:sldId id="467" r:id="rId22"/>
    <p:sldId id="468" r:id="rId23"/>
    <p:sldId id="469" r:id="rId24"/>
    <p:sldId id="470" r:id="rId25"/>
    <p:sldId id="382" r:id="rId26"/>
    <p:sldId id="354" r:id="rId27"/>
    <p:sldId id="414" r:id="rId28"/>
    <p:sldId id="426" r:id="rId29"/>
    <p:sldId id="384" r:id="rId30"/>
    <p:sldId id="386" r:id="rId31"/>
    <p:sldId id="356" r:id="rId32"/>
    <p:sldId id="388" r:id="rId33"/>
    <p:sldId id="389" r:id="rId34"/>
    <p:sldId id="390" r:id="rId35"/>
    <p:sldId id="393" r:id="rId36"/>
    <p:sldId id="456" r:id="rId37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Font typeface="Arial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33CC33"/>
    <a:srgbClr val="009900"/>
    <a:srgbClr val="CC0099"/>
    <a:srgbClr val="990099"/>
    <a:srgbClr val="000066"/>
    <a:srgbClr val="0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79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940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7402" tIns="48701" rIns="97402" bIns="48701" numCol="1" anchor="t" anchorCtr="0" compatLnSpc="1">
            <a:prstTxWarp prst="textNoShape">
              <a:avLst/>
            </a:prstTxWarp>
          </a:bodyPr>
          <a:lstStyle>
            <a:lvl1pPr defTabSz="974725">
              <a:buFont typeface="Arial" pitchFamily="34" charset="0"/>
              <a:buNone/>
              <a:defRPr sz="13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940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7402" tIns="48701" rIns="97402" bIns="48701" numCol="1" anchor="t" anchorCtr="0" compatLnSpc="1">
            <a:prstTxWarp prst="textNoShape">
              <a:avLst/>
            </a:prstTxWarp>
          </a:bodyPr>
          <a:lstStyle>
            <a:lvl1pPr algn="r" defTabSz="974725">
              <a:buFont typeface="Arial" pitchFamily="34" charset="0"/>
              <a:buNone/>
              <a:defRPr sz="13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97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42975" y="755650"/>
            <a:ext cx="515620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688" y="4875213"/>
            <a:ext cx="5259387" cy="462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7402" tIns="48701" rIns="97402" bIns="4870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48838"/>
            <a:ext cx="30940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7402" tIns="48701" rIns="97402" bIns="48701" numCol="1" anchor="b" anchorCtr="0" compatLnSpc="1">
            <a:prstTxWarp prst="textNoShape">
              <a:avLst/>
            </a:prstTxWarp>
          </a:bodyPr>
          <a:lstStyle>
            <a:lvl1pPr defTabSz="974725">
              <a:buFont typeface="Arial" pitchFamily="34" charset="0"/>
              <a:buNone/>
              <a:defRPr sz="13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48838"/>
            <a:ext cx="30940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7402" tIns="48701" rIns="97402" bIns="48701" numCol="1" anchor="b" anchorCtr="0" compatLnSpc="1">
            <a:prstTxWarp prst="textNoShape">
              <a:avLst/>
            </a:prstTxWarp>
          </a:bodyPr>
          <a:lstStyle>
            <a:lvl1pPr algn="r" defTabSz="974725">
              <a:buFont typeface="Arial" pitchFamily="34" charset="0"/>
              <a:buNone/>
              <a:defRPr sz="1300" smtClean="0"/>
            </a:lvl1pPr>
          </a:lstStyle>
          <a:p>
            <a:pPr>
              <a:defRPr/>
            </a:pPr>
            <a:fld id="{F9702662-3FC1-455E-A8E2-E17BE20215B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3594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02662-3FC1-455E-A8E2-E17BE20215BB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3515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6FDFE-C127-4B34-A406-A2903A83D38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430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79EA0E-322C-4163-94F2-B3B9EC63F6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025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CCA9F-C4DD-4B4C-BDD7-BA2CAA6A574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7905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5E4D6-9D2E-454B-849D-C7BFA8CDB5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9089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7E0D2-1520-43E3-97C4-A137E73ED9D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1549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EB5804-7D20-4106-BBAC-DDCCE48607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960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2651A-EF58-46A9-8A01-6C4B9613FF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453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408D-A1F8-4F86-A9EB-022118425D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215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30852-4AFB-4533-80C2-2A47259CCD2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224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D0E585-6C3E-40E5-B9D9-C675C1BDB7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1256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284B6-BE54-47E7-BDD4-4901E43F4EA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131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4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buFont typeface="Arial" pitchFamily="34" charset="0"/>
              <a:buNone/>
              <a:defRPr sz="1400" smtClean="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z="1400" smtClean="0">
                <a:ea typeface="宋体" pitchFamily="2" charset="-122"/>
              </a:defRPr>
            </a:lvl1pPr>
          </a:lstStyle>
          <a:p>
            <a:pPr>
              <a:defRPr/>
            </a:pPr>
            <a:fld id="{D72398E4-C904-4BC8-B97B-035E614218C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1428750"/>
            <a:ext cx="9132888" cy="74613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50000">
                <a:srgbClr val="000052"/>
              </a:gs>
              <a:gs pos="100000">
                <a:srgbClr val="0000CC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 typeface="Arial" pitchFamily="34" charset="0"/>
              <a:buNone/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6350" y="1549400"/>
            <a:ext cx="9120188" cy="25400"/>
          </a:xfrm>
          <a:prstGeom prst="rect">
            <a:avLst/>
          </a:prstGeom>
          <a:gradFill rotWithShape="0">
            <a:gsLst>
              <a:gs pos="0">
                <a:srgbClr val="CC0000"/>
              </a:gs>
              <a:gs pos="100000">
                <a:srgbClr val="A30000"/>
              </a:gs>
            </a:gsLst>
            <a:lin ang="0" scaled="1"/>
          </a:gradFill>
          <a:ln w="12700" cmpd="sng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 typeface="Arial" pitchFamily="34" charset="0"/>
              <a:buNone/>
              <a:defRPr/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848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Techni</a:t>
            </a: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r>
              <a:rPr lang="en-US" altLang="zh-CN"/>
              <a:t>Template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7848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Test</a:t>
            </a:r>
          </a:p>
          <a:p>
            <a:pPr lvl="1"/>
            <a:r>
              <a:rPr lang="en-US" altLang="zh-CN"/>
              <a:t>Test</a:t>
            </a:r>
          </a:p>
          <a:p>
            <a:pPr lvl="1"/>
            <a:r>
              <a:rPr lang="en-US" altLang="zh-CN"/>
              <a:t>Test</a:t>
            </a:r>
          </a:p>
          <a:p>
            <a:pPr lvl="2"/>
            <a:r>
              <a:rPr lang="en-US" altLang="zh-CN"/>
              <a:t>Test</a:t>
            </a:r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800" b="1">
          <a:solidFill>
            <a:srgbClr val="0000CC"/>
          </a:solidFill>
          <a:latin typeface="+mn-lt"/>
        </a:defRPr>
      </a:lvl2pPr>
      <a:lvl3pPr marL="11430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400" b="1">
          <a:solidFill>
            <a:srgbClr val="0000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rgbClr val="0000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0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7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5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1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7" Type="http://schemas.openxmlformats.org/officeDocument/2006/relationships/image" Target="../media/image61.w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23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4400">
                <a:ea typeface="宋体" pitchFamily="2" charset="-122"/>
              </a:rPr>
              <a:t>Wireless</a:t>
            </a:r>
            <a:br>
              <a:rPr lang="en-US" altLang="zh-CN" sz="4400">
                <a:ea typeface="宋体" pitchFamily="2" charset="-122"/>
              </a:rPr>
            </a:br>
            <a:r>
              <a:rPr lang="en-US" altLang="zh-CN" sz="4400">
                <a:ea typeface="宋体" pitchFamily="2" charset="-122"/>
              </a:rPr>
              <a:t>Digital Communications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Topic 5</a:t>
            </a:r>
          </a:p>
          <a:p>
            <a:r>
              <a:rPr lang="en-US" altLang="zh-CN" dirty="0">
                <a:ea typeface="宋体" pitchFamily="2" charset="-122"/>
              </a:rPr>
              <a:t>Adaptive Modulation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基本思路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981199"/>
            <a:ext cx="7848600" cy="4766109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CSI:  </a:t>
            </a:r>
          </a:p>
          <a:p>
            <a:pPr marL="0" indent="0">
              <a:buNone/>
            </a:pPr>
            <a:r>
              <a:rPr lang="en-US" altLang="zh-CN" sz="2800" dirty="0"/>
              <a:t>Variable Power Variable Rate: 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881213"/>
              </p:ext>
            </p:extLst>
          </p:nvPr>
        </p:nvGraphicFramePr>
        <p:xfrm>
          <a:off x="1360889" y="1748613"/>
          <a:ext cx="7522106" cy="1320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77880" imgH="660240" progId="Equation.DSMT4">
                  <p:embed/>
                </p:oleObj>
              </mc:Choice>
              <mc:Fallback>
                <p:oleObj name="Equation" r:id="rId2" imgW="337788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60889" y="1748613"/>
                        <a:ext cx="7522106" cy="13208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618011"/>
              </p:ext>
            </p:extLst>
          </p:nvPr>
        </p:nvGraphicFramePr>
        <p:xfrm>
          <a:off x="5295900" y="3890173"/>
          <a:ext cx="3247768" cy="754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120" imgH="291960" progId="Equation.DSMT4">
                  <p:embed/>
                </p:oleObj>
              </mc:Choice>
              <mc:Fallback>
                <p:oleObj name="Equation" r:id="rId4" imgW="12571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95900" y="3890173"/>
                        <a:ext cx="3247768" cy="754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156342"/>
              </p:ext>
            </p:extLst>
          </p:nvPr>
        </p:nvGraphicFramePr>
        <p:xfrm>
          <a:off x="4381500" y="28067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198720" progId="Equation.DSMT4">
                  <p:embed/>
                </p:oleObj>
              </mc:Choice>
              <mc:Fallback>
                <p:oleObj name="Equation" r:id="rId6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81500" y="28067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186432"/>
              </p:ext>
            </p:extLst>
          </p:nvPr>
        </p:nvGraphicFramePr>
        <p:xfrm>
          <a:off x="4381500" y="28067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198720" progId="Equation.DSMT4">
                  <p:embed/>
                </p:oleObj>
              </mc:Choice>
              <mc:Fallback>
                <p:oleObj name="Equation" r:id="rId6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81500" y="28067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4566505"/>
              </p:ext>
            </p:extLst>
          </p:nvPr>
        </p:nvGraphicFramePr>
        <p:xfrm>
          <a:off x="962993" y="4775207"/>
          <a:ext cx="3979514" cy="135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19240" imgH="685800" progId="Equation.DSMT4">
                  <p:embed/>
                </p:oleObj>
              </mc:Choice>
              <mc:Fallback>
                <p:oleObj name="Equation" r:id="rId8" imgW="201924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62993" y="4775207"/>
                        <a:ext cx="3979514" cy="135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281894"/>
              </p:ext>
            </p:extLst>
          </p:nvPr>
        </p:nvGraphicFramePr>
        <p:xfrm>
          <a:off x="5584658" y="5064881"/>
          <a:ext cx="2824162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3880" imgH="634680" progId="Equation.DSMT4">
                  <p:embed/>
                </p:oleObj>
              </mc:Choice>
              <mc:Fallback>
                <p:oleObj name="Equation" r:id="rId10" imgW="15238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84658" y="5064881"/>
                        <a:ext cx="2824162" cy="1176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016888"/>
              </p:ext>
            </p:extLst>
          </p:nvPr>
        </p:nvGraphicFramePr>
        <p:xfrm>
          <a:off x="1850122" y="3069435"/>
          <a:ext cx="14351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99920" imgH="457200" progId="Equation.DSMT4">
                  <p:embed/>
                </p:oleObj>
              </mc:Choice>
              <mc:Fallback>
                <p:oleObj name="Equation" r:id="rId12" imgW="7999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50122" y="3069435"/>
                        <a:ext cx="1435100" cy="820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636210"/>
              </p:ext>
            </p:extLst>
          </p:nvPr>
        </p:nvGraphicFramePr>
        <p:xfrm>
          <a:off x="4157060" y="3192369"/>
          <a:ext cx="2277680" cy="465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17440" imgH="228600" progId="Equation.DSMT4">
                  <p:embed/>
                </p:oleObj>
              </mc:Choice>
              <mc:Fallback>
                <p:oleObj name="Equation" r:id="rId14" imgW="1117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157060" y="3192369"/>
                        <a:ext cx="2277680" cy="4658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042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基本思路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Channel Inversion: </a:t>
            </a:r>
          </a:p>
          <a:p>
            <a:pPr marL="0" indent="0">
              <a:buNone/>
            </a:pPr>
            <a:r>
              <a:rPr lang="en-US" altLang="zh-CN" dirty="0"/>
              <a:t>              </a:t>
            </a:r>
          </a:p>
          <a:p>
            <a:pPr marL="0" indent="0">
              <a:buNone/>
            </a:pPr>
            <a:r>
              <a:rPr lang="en-US" altLang="zh-CN" dirty="0"/>
              <a:t>               subject to</a:t>
            </a:r>
          </a:p>
          <a:p>
            <a:pPr marL="0" indent="0">
              <a:buNone/>
            </a:pPr>
            <a:r>
              <a:rPr lang="en-US" altLang="zh-CN" dirty="0"/>
              <a:t>                    </a:t>
            </a:r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447997"/>
              </p:ext>
            </p:extLst>
          </p:nvPr>
        </p:nvGraphicFramePr>
        <p:xfrm>
          <a:off x="4694389" y="1981200"/>
          <a:ext cx="3716352" cy="1382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000" imgH="609480" progId="Equation.DSMT4">
                  <p:embed/>
                </p:oleObj>
              </mc:Choice>
              <mc:Fallback>
                <p:oleObj name="Equation" r:id="rId2" imgW="163800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94389" y="1981200"/>
                        <a:ext cx="3716352" cy="1382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389" y="3422143"/>
            <a:ext cx="1724475" cy="611467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443211"/>
              </p:ext>
            </p:extLst>
          </p:nvPr>
        </p:nvGraphicFramePr>
        <p:xfrm>
          <a:off x="3334892" y="4747589"/>
          <a:ext cx="2718994" cy="634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760" imgH="177480" progId="Equation.DSMT4">
                  <p:embed/>
                </p:oleObj>
              </mc:Choice>
              <mc:Fallback>
                <p:oleObj name="Equation" r:id="rId5" imgW="7617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34892" y="4747589"/>
                        <a:ext cx="2718994" cy="634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5393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 dirty="0" err="1"/>
              <a:t>Nonadaptive</a:t>
            </a:r>
            <a:r>
              <a:rPr lang="en-US" altLang="zh-CN" sz="5400" dirty="0"/>
              <a:t> Modulation</a:t>
            </a:r>
            <a:endParaRPr lang="zh-CN" altLang="en-US" sz="5400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91726" y="2252312"/>
            <a:ext cx="3849832" cy="1102092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080971"/>
              </p:ext>
            </p:extLst>
          </p:nvPr>
        </p:nvGraphicFramePr>
        <p:xfrm>
          <a:off x="3006376" y="3660825"/>
          <a:ext cx="3171144" cy="800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880" imgH="330120" progId="Equation.DSMT4">
                  <p:embed/>
                </p:oleObj>
              </mc:Choice>
              <mc:Fallback>
                <p:oleObj name="Equation" r:id="rId4" imgW="13078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06376" y="3660825"/>
                        <a:ext cx="3171144" cy="8004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400084"/>
              </p:ext>
            </p:extLst>
          </p:nvPr>
        </p:nvGraphicFramePr>
        <p:xfrm>
          <a:off x="3006376" y="4810643"/>
          <a:ext cx="3230740" cy="666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253800" progId="Equation.DSMT4">
                  <p:embed/>
                </p:oleObj>
              </mc:Choice>
              <mc:Fallback>
                <p:oleObj name="Equation" r:id="rId6" imgW="12315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06376" y="4810643"/>
                        <a:ext cx="3230740" cy="6661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755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Adaptive Modulation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752600"/>
            <a:ext cx="78486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ea typeface="宋体" pitchFamily="2" charset="-122"/>
              </a:rPr>
              <a:t>Change modulation relative to fading</a:t>
            </a:r>
          </a:p>
          <a:p>
            <a:pPr>
              <a:lnSpc>
                <a:spcPct val="0"/>
              </a:lnSpc>
            </a:pPr>
            <a:endParaRPr lang="en-US" altLang="zh-CN" sz="2800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itchFamily="2" charset="-122"/>
              </a:rPr>
              <a:t>Parameters to adapt: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Constellation size</a:t>
            </a:r>
          </a:p>
          <a:p>
            <a:pPr lvl="1">
              <a:lnSpc>
                <a:spcPct val="70000"/>
              </a:lnSpc>
            </a:pP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Transmit power</a:t>
            </a:r>
          </a:p>
          <a:p>
            <a:pPr lvl="1">
              <a:lnSpc>
                <a:spcPct val="70000"/>
              </a:lnSpc>
            </a:pPr>
            <a:r>
              <a:rPr lang="en-US" altLang="zh-CN" sz="2400" dirty="0">
                <a:ea typeface="宋体" pitchFamily="2" charset="-122"/>
              </a:rPr>
              <a:t>Instantaneous BER</a:t>
            </a:r>
          </a:p>
          <a:p>
            <a:pPr lvl="1">
              <a:lnSpc>
                <a:spcPct val="70000"/>
              </a:lnSpc>
            </a:pPr>
            <a:r>
              <a:rPr lang="en-US" altLang="zh-CN" sz="2400" dirty="0">
                <a:ea typeface="宋体" pitchFamily="2" charset="-122"/>
              </a:rPr>
              <a:t>Symbol time</a:t>
            </a:r>
          </a:p>
          <a:p>
            <a:pPr lvl="1">
              <a:lnSpc>
                <a:spcPct val="70000"/>
              </a:lnSpc>
            </a:pPr>
            <a:r>
              <a:rPr lang="en-US" altLang="zh-CN" sz="2400" dirty="0">
                <a:ea typeface="宋体" pitchFamily="2" charset="-122"/>
              </a:rPr>
              <a:t>Coding rate/scheme</a:t>
            </a:r>
          </a:p>
          <a:p>
            <a:pPr lvl="1">
              <a:lnSpc>
                <a:spcPct val="70000"/>
              </a:lnSpc>
            </a:pPr>
            <a:endParaRPr lang="en-US" altLang="zh-CN" sz="2400" dirty="0">
              <a:ea typeface="宋体" pitchFamily="2" charset="-122"/>
            </a:endParaRPr>
          </a:p>
          <a:p>
            <a:pPr lvl="1">
              <a:lnSpc>
                <a:spcPct val="40000"/>
              </a:lnSpc>
            </a:pPr>
            <a:endParaRPr lang="en-US" altLang="zh-CN" sz="2000" dirty="0">
              <a:ea typeface="宋体" pitchFamily="2" charset="-122"/>
            </a:endParaRPr>
          </a:p>
          <a:p>
            <a:pPr lvl="1">
              <a:lnSpc>
                <a:spcPct val="10000"/>
              </a:lnSpc>
            </a:pP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pitchFamily="2" charset="-122"/>
              </a:rPr>
              <a:t>Optimization criterion: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Maximize throughput</a:t>
            </a:r>
          </a:p>
          <a:p>
            <a:pPr lvl="1">
              <a:lnSpc>
                <a:spcPct val="70000"/>
              </a:lnSpc>
            </a:pPr>
            <a:r>
              <a:rPr lang="en-US" altLang="zh-CN" sz="2400" dirty="0">
                <a:ea typeface="宋体" pitchFamily="2" charset="-122"/>
              </a:rPr>
              <a:t>Minimize average power</a:t>
            </a:r>
          </a:p>
          <a:p>
            <a:pPr lvl="1">
              <a:lnSpc>
                <a:spcPct val="70000"/>
              </a:lnSpc>
            </a:pPr>
            <a:r>
              <a:rPr lang="en-US" altLang="zh-CN" sz="2400" dirty="0">
                <a:ea typeface="宋体" pitchFamily="2" charset="-122"/>
              </a:rPr>
              <a:t>Minimize average BER</a:t>
            </a:r>
          </a:p>
          <a:p>
            <a:pPr lvl="1">
              <a:lnSpc>
                <a:spcPct val="90000"/>
              </a:lnSpc>
            </a:pPr>
            <a:endParaRPr lang="en-US" altLang="zh-CN" sz="2400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000" dirty="0">
              <a:ea typeface="宋体" pitchFamily="2" charset="-122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612775" y="4484688"/>
            <a:ext cx="7589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2400" i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Only 1-2 degrees of freedom needed for good performance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Adaptive Modulation</a:t>
            </a:r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6750" y="1808163"/>
            <a:ext cx="7888288" cy="4549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Variable-Rate </a:t>
            </a:r>
            <a:r>
              <a:rPr lang="en-US" altLang="zh-CN" dirty="0">
                <a:ea typeface="宋体" pitchFamily="2" charset="-122"/>
              </a:rPr>
              <a:t>Techniques 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(</a:t>
            </a:r>
            <a:r>
              <a:rPr lang="en-US" altLang="zh-CN" sz="3200" dirty="0">
                <a:ea typeface="宋体" pitchFamily="2" charset="-122"/>
              </a:rPr>
              <a:t>Variable Constellation Size</a:t>
            </a:r>
            <a:r>
              <a:rPr lang="en-US" altLang="zh-CN" dirty="0">
                <a:ea typeface="宋体" pitchFamily="2" charset="-122"/>
              </a:rPr>
              <a:t>)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Used for LTE Downlink, GSM, IS-136</a:t>
            </a:r>
            <a:r>
              <a:rPr lang="zh-CN" altLang="en-US" dirty="0"/>
              <a:t>，</a:t>
            </a:r>
            <a:r>
              <a:rPr lang="en-US" altLang="zh-CN" dirty="0"/>
              <a:t>EDGE, 802.11a 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779334"/>
              </p:ext>
            </p:extLst>
          </p:nvPr>
        </p:nvGraphicFramePr>
        <p:xfrm>
          <a:off x="1568233" y="2117959"/>
          <a:ext cx="492125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680" imgH="685800" progId="Equation.DSMT4">
                  <p:embed/>
                </p:oleObj>
              </mc:Choice>
              <mc:Fallback>
                <p:oleObj name="Equation" r:id="rId2" imgW="22096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68233" y="2117959"/>
                        <a:ext cx="4921250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2011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Variable-Power Techniques</a:t>
            </a:r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663" y="1798638"/>
            <a:ext cx="7875587" cy="44719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017783"/>
              </p:ext>
            </p:extLst>
          </p:nvPr>
        </p:nvGraphicFramePr>
        <p:xfrm>
          <a:off x="7479430" y="5087654"/>
          <a:ext cx="1539849" cy="1086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457200" progId="Equation.DSMT4">
                  <p:embed/>
                </p:oleObj>
              </mc:Choice>
              <mc:Fallback>
                <p:oleObj name="Equation" r:id="rId3" imgW="6476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79430" y="5087654"/>
                        <a:ext cx="1539849" cy="10869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Variable-Power Techniques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44" y="2551479"/>
            <a:ext cx="8398631" cy="27905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ea typeface="宋体" pitchFamily="2" charset="-122"/>
              </a:rPr>
              <a:t>Spectral Efficiency for </a:t>
            </a:r>
            <a:r>
              <a:rPr lang="zh-CN" altLang="en-US" sz="4000" dirty="0">
                <a:ea typeface="宋体" pitchFamily="2" charset="-122"/>
              </a:rPr>
              <a:t>Channel Inversion with Fixed </a:t>
            </a:r>
            <a:r>
              <a:rPr lang="en-US" altLang="zh-CN" sz="4000" dirty="0">
                <a:ea typeface="宋体" pitchFamily="2" charset="-122"/>
              </a:rPr>
              <a:t>R</a:t>
            </a:r>
            <a:r>
              <a:rPr lang="zh-CN" altLang="en-US" sz="4000" dirty="0">
                <a:ea typeface="宋体" pitchFamily="2" charset="-122"/>
              </a:rPr>
              <a:t>ate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2336800"/>
            <a:ext cx="83058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3019425"/>
            <a:ext cx="8648700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16565" imgH="216151" progId="Equation.3">
                  <p:embed/>
                </p:oleObj>
              </mc:Choice>
              <mc:Fallback>
                <p:oleObj name="公式" r:id="rId4" imgW="916565" imgH="2161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325438" y="4479925"/>
            <a:ext cx="8886825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1">
                <a:solidFill>
                  <a:srgbClr val="000000"/>
                </a:solidFill>
                <a:ea typeface="宋体" pitchFamily="2" charset="-122"/>
              </a:rPr>
              <a:t>For fixed BER and channel SNR distribution, spectral efficiency</a:t>
            </a:r>
          </a:p>
          <a:p>
            <a:r>
              <a:rPr lang="zh-CN" altLang="en-US" b="1">
                <a:solidFill>
                  <a:srgbClr val="000000"/>
                </a:solidFill>
                <a:ea typeface="宋体" pitchFamily="2" charset="-122"/>
              </a:rPr>
              <a:t>is fixed, and therefore, average SE is the same as instantaneous SE,</a:t>
            </a:r>
          </a:p>
          <a:p>
            <a:r>
              <a:rPr lang="zh-CN" altLang="en-US" b="1">
                <a:solidFill>
                  <a:srgbClr val="000000"/>
                </a:solidFill>
                <a:ea typeface="宋体" pitchFamily="2" charset="-122"/>
              </a:rPr>
              <a:t>which is different from the optimal adaptive scheme.</a:t>
            </a:r>
          </a:p>
        </p:txBody>
      </p:sp>
    </p:spTree>
    <p:extLst>
      <p:ext uri="{BB962C8B-B14F-4D97-AF65-F5344CB8AC3E}">
        <p14:creationId xmlns:p14="http://schemas.microsoft.com/office/powerpoint/2010/main" val="2523781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17488" y="228600"/>
            <a:ext cx="8720137" cy="1143000"/>
          </a:xfrm>
        </p:spPr>
        <p:txBody>
          <a:bodyPr/>
          <a:lstStyle/>
          <a:p>
            <a:r>
              <a:rPr lang="en-US" altLang="zh-CN" sz="4000" dirty="0">
                <a:ea typeface="宋体" pitchFamily="2" charset="-122"/>
              </a:rPr>
              <a:t>Spectral Efficiency for </a:t>
            </a:r>
            <a:r>
              <a:rPr lang="zh-CN" altLang="en-US" sz="4000" dirty="0">
                <a:ea typeface="宋体" pitchFamily="2" charset="-122"/>
              </a:rPr>
              <a:t>Channel Inversion with Fixed </a:t>
            </a:r>
            <a:r>
              <a:rPr lang="en-US" altLang="zh-CN" sz="4000" dirty="0">
                <a:ea typeface="宋体" pitchFamily="2" charset="-122"/>
              </a:rPr>
              <a:t>R</a:t>
            </a:r>
            <a:r>
              <a:rPr lang="zh-CN" altLang="en-US" sz="4000" dirty="0">
                <a:ea typeface="宋体" pitchFamily="2" charset="-122"/>
              </a:rPr>
              <a:t>ate</a:t>
            </a:r>
            <a:endParaRPr lang="en-US" altLang="zh-CN" sz="4400" dirty="0">
              <a:ea typeface="宋体" pitchFamily="2" charset="-122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1660525"/>
            <a:ext cx="7200900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688" y="2878138"/>
            <a:ext cx="342900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638" y="2836863"/>
            <a:ext cx="29337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3876675"/>
            <a:ext cx="746760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809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Practical Scheme for</a:t>
            </a:r>
            <a:br>
              <a:rPr lang="en-US" altLang="zh-CN" dirty="0"/>
            </a:br>
            <a:r>
              <a:rPr lang="en-US" altLang="zh-CN" dirty="0"/>
              <a:t> Power Control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 LTE Uplink</a:t>
            </a:r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19947"/>
              </p:ext>
            </p:extLst>
          </p:nvPr>
        </p:nvGraphicFramePr>
        <p:xfrm>
          <a:off x="2896943" y="2591530"/>
          <a:ext cx="2718994" cy="634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177480" progId="Equation.DSMT4">
                  <p:embed/>
                </p:oleObj>
              </mc:Choice>
              <mc:Fallback>
                <p:oleObj name="Equation" r:id="rId2" imgW="7617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96943" y="2591530"/>
                        <a:ext cx="2718994" cy="634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209400"/>
              </p:ext>
            </p:extLst>
          </p:nvPr>
        </p:nvGraphicFramePr>
        <p:xfrm>
          <a:off x="2800216" y="3291189"/>
          <a:ext cx="2897335" cy="842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400" imgH="203040" progId="Equation.DSMT4">
                  <p:embed/>
                </p:oleObj>
              </mc:Choice>
              <mc:Fallback>
                <p:oleObj name="Equation" r:id="rId4" imgW="698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00216" y="3291189"/>
                        <a:ext cx="2897335" cy="8428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3415856"/>
              </p:ext>
            </p:extLst>
          </p:nvPr>
        </p:nvGraphicFramePr>
        <p:xfrm>
          <a:off x="2264009" y="4286451"/>
          <a:ext cx="4104369" cy="1527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38000" imgH="609480" progId="Equation.DSMT4">
                  <p:embed/>
                </p:oleObj>
              </mc:Choice>
              <mc:Fallback>
                <p:oleObj name="Equation" r:id="rId6" imgW="163800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64009" y="4286451"/>
                        <a:ext cx="4104369" cy="1527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794134"/>
              </p:ext>
            </p:extLst>
          </p:nvPr>
        </p:nvGraphicFramePr>
        <p:xfrm>
          <a:off x="4721691" y="5444039"/>
          <a:ext cx="1788492" cy="56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600" imgH="228600" progId="Equation.DSMT4">
                  <p:embed/>
                </p:oleObj>
              </mc:Choice>
              <mc:Fallback>
                <p:oleObj name="Equation" r:id="rId8" imgW="723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21691" y="5444039"/>
                        <a:ext cx="1788492" cy="564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5994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8613" y="228600"/>
            <a:ext cx="8501062" cy="1143000"/>
          </a:xfrm>
          <a:noFill/>
        </p:spPr>
        <p:txBody>
          <a:bodyPr/>
          <a:lstStyle/>
          <a:p>
            <a:r>
              <a:rPr lang="en-US" altLang="zh-CN" sz="4000">
                <a:ea typeface="宋体" pitchFamily="2" charset="-122"/>
              </a:rPr>
              <a:t>Variable-Rate Variable-Power MQAM</a:t>
            </a:r>
          </a:p>
        </p:txBody>
      </p:sp>
      <p:grpSp>
        <p:nvGrpSpPr>
          <p:cNvPr id="7171" name="Group 3"/>
          <p:cNvGrpSpPr>
            <a:grpSpLocks/>
          </p:cNvGrpSpPr>
          <p:nvPr/>
        </p:nvGrpSpPr>
        <p:grpSpPr bwMode="auto">
          <a:xfrm>
            <a:off x="287338" y="1763713"/>
            <a:ext cx="8542337" cy="4206875"/>
            <a:chOff x="0" y="0"/>
            <a:chExt cx="5381" cy="2650"/>
          </a:xfrm>
        </p:grpSpPr>
        <p:grpSp>
          <p:nvGrpSpPr>
            <p:cNvPr id="7173" name="Group 4"/>
            <p:cNvGrpSpPr>
              <a:grpSpLocks/>
            </p:cNvGrpSpPr>
            <p:nvPr/>
          </p:nvGrpSpPr>
          <p:grpSpPr bwMode="auto">
            <a:xfrm>
              <a:off x="0" y="0"/>
              <a:ext cx="5381" cy="1571"/>
              <a:chOff x="0" y="0"/>
              <a:chExt cx="5381" cy="1571"/>
            </a:xfrm>
          </p:grpSpPr>
          <p:grpSp>
            <p:nvGrpSpPr>
              <p:cNvPr id="7202" name="Group 5"/>
              <p:cNvGrpSpPr>
                <a:grpSpLocks/>
              </p:cNvGrpSpPr>
              <p:nvPr/>
            </p:nvGrpSpPr>
            <p:grpSpPr bwMode="auto">
              <a:xfrm>
                <a:off x="0" y="441"/>
                <a:ext cx="762" cy="592"/>
                <a:chOff x="0" y="0"/>
                <a:chExt cx="762" cy="592"/>
              </a:xfrm>
            </p:grpSpPr>
            <p:sp>
              <p:nvSpPr>
                <p:cNvPr id="7222" name="AutoShape 6"/>
                <p:cNvSpPr>
                  <a:spLocks noChangeArrowheads="1"/>
                </p:cNvSpPr>
                <p:nvPr/>
              </p:nvSpPr>
              <p:spPr bwMode="auto">
                <a:xfrm>
                  <a:off x="26" y="0"/>
                  <a:ext cx="736" cy="592"/>
                </a:xfrm>
                <a:prstGeom prst="rightArrow">
                  <a:avLst>
                    <a:gd name="adj1" fmla="val 50000"/>
                    <a:gd name="adj2" fmla="val 62168"/>
                  </a:avLst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7223" name="Rectangle 7"/>
                <p:cNvSpPr>
                  <a:spLocks noChangeArrowheads="1"/>
                </p:cNvSpPr>
                <p:nvPr/>
              </p:nvSpPr>
              <p:spPr bwMode="auto">
                <a:xfrm>
                  <a:off x="0" y="127"/>
                  <a:ext cx="627" cy="3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charset="0"/>
                    <a:buNone/>
                  </a:pPr>
                  <a:r>
                    <a:rPr lang="en-US" altLang="zh-CN" sz="1600">
                      <a:solidFill>
                        <a:srgbClr val="000000"/>
                      </a:solidFill>
                      <a:ea typeface="宋体" pitchFamily="2" charset="-122"/>
                    </a:rPr>
                    <a:t>Uncoded</a:t>
                  </a:r>
                </a:p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ClrTx/>
                    <a:buSzTx/>
                    <a:buFont typeface="Arial" charset="0"/>
                    <a:buNone/>
                  </a:pPr>
                  <a:r>
                    <a:rPr lang="en-US" altLang="zh-CN" sz="1600">
                      <a:solidFill>
                        <a:srgbClr val="000000"/>
                      </a:solidFill>
                      <a:ea typeface="宋体" pitchFamily="2" charset="-122"/>
                    </a:rPr>
                    <a:t>Data Bits</a:t>
                  </a:r>
                </a:p>
              </p:txBody>
            </p:sp>
          </p:grpSp>
          <p:grpSp>
            <p:nvGrpSpPr>
              <p:cNvPr id="7203" name="Group 8"/>
              <p:cNvGrpSpPr>
                <a:grpSpLocks/>
              </p:cNvGrpSpPr>
              <p:nvPr/>
            </p:nvGrpSpPr>
            <p:grpSpPr bwMode="auto">
              <a:xfrm>
                <a:off x="786" y="481"/>
                <a:ext cx="600" cy="512"/>
                <a:chOff x="0" y="0"/>
                <a:chExt cx="600" cy="512"/>
              </a:xfrm>
            </p:grpSpPr>
            <p:sp>
              <p:nvSpPr>
                <p:cNvPr id="7220" name="Rectangle 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00" cy="512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7221" name="Rectangle 10"/>
                <p:cNvSpPr>
                  <a:spLocks noChangeArrowheads="1"/>
                </p:cNvSpPr>
                <p:nvPr/>
              </p:nvSpPr>
              <p:spPr bwMode="auto">
                <a:xfrm>
                  <a:off x="54" y="147"/>
                  <a:ext cx="509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charset="0"/>
                    <a:buNone/>
                  </a:pPr>
                  <a:r>
                    <a:rPr lang="en-US" altLang="zh-CN" sz="2000">
                      <a:solidFill>
                        <a:srgbClr val="000000"/>
                      </a:solidFill>
                      <a:ea typeface="宋体" pitchFamily="2" charset="-122"/>
                    </a:rPr>
                    <a:t>Delay</a:t>
                  </a:r>
                </a:p>
              </p:txBody>
            </p:sp>
          </p:grpSp>
          <p:sp>
            <p:nvSpPr>
              <p:cNvPr id="7204" name="AutoShape 11"/>
              <p:cNvSpPr>
                <a:spLocks noChangeArrowheads="1"/>
              </p:cNvSpPr>
              <p:nvPr/>
            </p:nvSpPr>
            <p:spPr bwMode="auto">
              <a:xfrm>
                <a:off x="1394" y="509"/>
                <a:ext cx="736" cy="456"/>
              </a:xfrm>
              <a:prstGeom prst="rightArrow">
                <a:avLst>
                  <a:gd name="adj1" fmla="val 50000"/>
                  <a:gd name="adj2" fmla="val 80709"/>
                </a:avLst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grpSp>
            <p:nvGrpSpPr>
              <p:cNvPr id="7205" name="Group 12"/>
              <p:cNvGrpSpPr>
                <a:grpSpLocks/>
              </p:cNvGrpSpPr>
              <p:nvPr/>
            </p:nvGrpSpPr>
            <p:grpSpPr bwMode="auto">
              <a:xfrm>
                <a:off x="2137" y="481"/>
                <a:ext cx="664" cy="512"/>
                <a:chOff x="0" y="0"/>
                <a:chExt cx="664" cy="512"/>
              </a:xfrm>
            </p:grpSpPr>
            <p:sp>
              <p:nvSpPr>
                <p:cNvPr id="7218" name="Rectangle 1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64" cy="512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7219" name="Rectangle 14"/>
                <p:cNvSpPr>
                  <a:spLocks noChangeArrowheads="1"/>
                </p:cNvSpPr>
                <p:nvPr/>
              </p:nvSpPr>
              <p:spPr bwMode="auto">
                <a:xfrm>
                  <a:off x="6" y="51"/>
                  <a:ext cx="653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charset="0"/>
                    <a:buNone/>
                  </a:pPr>
                  <a:r>
                    <a:rPr lang="zh-CN" altLang="en-US" sz="2000">
                      <a:solidFill>
                        <a:srgbClr val="000000"/>
                      </a:solidFill>
                      <a:ea typeface="宋体" pitchFamily="2" charset="-122"/>
                    </a:rPr>
                    <a:t>  </a:t>
                  </a:r>
                  <a:r>
                    <a:rPr lang="en-US" altLang="zh-CN" sz="2000">
                      <a:solidFill>
                        <a:srgbClr val="000000"/>
                      </a:solidFill>
                      <a:ea typeface="宋体" pitchFamily="2" charset="-122"/>
                    </a:rPr>
                    <a:t>Point</a:t>
                  </a:r>
                </a:p>
                <a:p>
                  <a:pPr>
                    <a:lnSpc>
                      <a:spcPct val="70000"/>
                    </a:lnSpc>
                    <a:spcBef>
                      <a:spcPct val="0"/>
                    </a:spcBef>
                    <a:buClrTx/>
                    <a:buSzTx/>
                    <a:buFont typeface="Arial" charset="0"/>
                    <a:buNone/>
                  </a:pPr>
                  <a:r>
                    <a:rPr lang="en-US" altLang="zh-CN" sz="2000">
                      <a:solidFill>
                        <a:srgbClr val="000000"/>
                      </a:solidFill>
                      <a:ea typeface="宋体" pitchFamily="2" charset="-122"/>
                    </a:rPr>
                    <a:t>Selector</a:t>
                  </a:r>
                </a:p>
              </p:txBody>
            </p:sp>
          </p:grpSp>
          <p:sp>
            <p:nvSpPr>
              <p:cNvPr id="7206" name="AutoShape 15"/>
              <p:cNvSpPr>
                <a:spLocks noChangeArrowheads="1"/>
              </p:cNvSpPr>
              <p:nvPr/>
            </p:nvSpPr>
            <p:spPr bwMode="auto">
              <a:xfrm>
                <a:off x="2810" y="509"/>
                <a:ext cx="736" cy="456"/>
              </a:xfrm>
              <a:prstGeom prst="rightArrow">
                <a:avLst>
                  <a:gd name="adj1" fmla="val 50000"/>
                  <a:gd name="adj2" fmla="val 80709"/>
                </a:avLst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grpSp>
            <p:nvGrpSpPr>
              <p:cNvPr id="7207" name="Group 16"/>
              <p:cNvGrpSpPr>
                <a:grpSpLocks/>
              </p:cNvGrpSpPr>
              <p:nvPr/>
            </p:nvGrpSpPr>
            <p:grpSpPr bwMode="auto">
              <a:xfrm>
                <a:off x="3560" y="429"/>
                <a:ext cx="902" cy="616"/>
                <a:chOff x="0" y="0"/>
                <a:chExt cx="902" cy="616"/>
              </a:xfrm>
            </p:grpSpPr>
            <p:sp>
              <p:nvSpPr>
                <p:cNvPr id="7216" name="Rectangle 1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89" cy="616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7217" name="Rectangle 18"/>
                <p:cNvSpPr>
                  <a:spLocks noChangeArrowheads="1"/>
                </p:cNvSpPr>
                <p:nvPr/>
              </p:nvSpPr>
              <p:spPr bwMode="auto">
                <a:xfrm>
                  <a:off x="2" y="19"/>
                  <a:ext cx="900" cy="5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2075" tIns="46038" rIns="92075" bIns="46038">
                  <a:spAutoFit/>
                </a:bodyPr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charset="0"/>
                    <a:buNone/>
                  </a:pPr>
                  <a:r>
                    <a:rPr lang="en-US" altLang="zh-CN" sz="2000">
                      <a:solidFill>
                        <a:srgbClr val="000000"/>
                      </a:solidFill>
                      <a:ea typeface="宋体" pitchFamily="2" charset="-122"/>
                    </a:rPr>
                    <a:t>M(</a:t>
                  </a:r>
                  <a:r>
                    <a:rPr lang="en-US" altLang="zh-CN" sz="2000">
                      <a:solidFill>
                        <a:srgbClr val="000000"/>
                      </a:solidFill>
                      <a:latin typeface="Symbol" pitchFamily="18" charset="2"/>
                      <a:ea typeface="宋体" pitchFamily="2" charset="-122"/>
                    </a:rPr>
                    <a:t>g</a:t>
                  </a:r>
                  <a:r>
                    <a:rPr lang="en-US" altLang="zh-CN" sz="2000">
                      <a:solidFill>
                        <a:srgbClr val="000000"/>
                      </a:solidFill>
                      <a:ea typeface="宋体" pitchFamily="2" charset="-122"/>
                    </a:rPr>
                    <a:t>)-QAM</a:t>
                  </a:r>
                </a:p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ClrTx/>
                    <a:buSzTx/>
                    <a:buFont typeface="Arial" charset="0"/>
                    <a:buNone/>
                  </a:pPr>
                  <a:r>
                    <a:rPr lang="en-US" altLang="zh-CN" sz="2000">
                      <a:solidFill>
                        <a:srgbClr val="000000"/>
                      </a:solidFill>
                      <a:ea typeface="宋体" pitchFamily="2" charset="-122"/>
                    </a:rPr>
                    <a:t> Modulator</a:t>
                  </a:r>
                </a:p>
                <a:p>
                  <a:pPr>
                    <a:lnSpc>
                      <a:spcPct val="90000"/>
                    </a:lnSpc>
                    <a:spcBef>
                      <a:spcPct val="0"/>
                    </a:spcBef>
                    <a:buClrTx/>
                    <a:buSzTx/>
                    <a:buFont typeface="Arial" charset="0"/>
                    <a:buNone/>
                  </a:pPr>
                  <a:r>
                    <a:rPr lang="en-US" altLang="zh-CN" sz="2000">
                      <a:solidFill>
                        <a:srgbClr val="000000"/>
                      </a:solidFill>
                      <a:ea typeface="宋体" pitchFamily="2" charset="-122"/>
                    </a:rPr>
                    <a:t>Power: P(</a:t>
                  </a:r>
                  <a:r>
                    <a:rPr lang="en-US" altLang="zh-CN" sz="2000">
                      <a:solidFill>
                        <a:srgbClr val="000000"/>
                      </a:solidFill>
                      <a:latin typeface="Symbol" pitchFamily="18" charset="2"/>
                      <a:ea typeface="宋体" pitchFamily="2" charset="-122"/>
                    </a:rPr>
                    <a:t>g</a:t>
                  </a:r>
                  <a:r>
                    <a:rPr lang="en-US" altLang="zh-CN" sz="2000">
                      <a:solidFill>
                        <a:srgbClr val="000000"/>
                      </a:solidFill>
                      <a:ea typeface="宋体" pitchFamily="2" charset="-122"/>
                    </a:rPr>
                    <a:t>)</a:t>
                  </a:r>
                </a:p>
              </p:txBody>
            </p:sp>
          </p:grpSp>
          <p:sp>
            <p:nvSpPr>
              <p:cNvPr id="7208" name="AutoShape 19"/>
              <p:cNvSpPr>
                <a:spLocks noChangeArrowheads="1"/>
              </p:cNvSpPr>
              <p:nvPr/>
            </p:nvSpPr>
            <p:spPr bwMode="auto">
              <a:xfrm>
                <a:off x="4458" y="509"/>
                <a:ext cx="736" cy="456"/>
              </a:xfrm>
              <a:prstGeom prst="rightArrow">
                <a:avLst>
                  <a:gd name="adj1" fmla="val 50000"/>
                  <a:gd name="adj2" fmla="val 80709"/>
                </a:avLst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7209" name="Rectangle 20"/>
              <p:cNvSpPr>
                <a:spLocks noChangeArrowheads="1"/>
              </p:cNvSpPr>
              <p:nvPr/>
            </p:nvSpPr>
            <p:spPr bwMode="auto">
              <a:xfrm>
                <a:off x="4465" y="184"/>
                <a:ext cx="9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charset="0"/>
                  <a:buNone/>
                </a:pPr>
                <a:r>
                  <a:rPr lang="en-US" altLang="zh-CN" sz="2000">
                    <a:solidFill>
                      <a:srgbClr val="000000"/>
                    </a:solidFill>
                    <a:ea typeface="宋体" pitchFamily="2" charset="-122"/>
                  </a:rPr>
                  <a:t>To Channel</a:t>
                </a:r>
              </a:p>
            </p:txBody>
          </p:sp>
          <p:sp>
            <p:nvSpPr>
              <p:cNvPr id="7210" name="Line 21"/>
              <p:cNvSpPr>
                <a:spLocks noChangeShapeType="1"/>
              </p:cNvSpPr>
              <p:nvPr/>
            </p:nvSpPr>
            <p:spPr bwMode="auto">
              <a:xfrm flipV="1">
                <a:off x="1082" y="997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1" name="Line 22"/>
              <p:cNvSpPr>
                <a:spLocks noChangeShapeType="1"/>
              </p:cNvSpPr>
              <p:nvPr/>
            </p:nvSpPr>
            <p:spPr bwMode="auto">
              <a:xfrm flipV="1">
                <a:off x="4018" y="1045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2" name="Rectangle 23"/>
              <p:cNvSpPr>
                <a:spLocks noChangeArrowheads="1"/>
              </p:cNvSpPr>
              <p:nvPr/>
            </p:nvSpPr>
            <p:spPr bwMode="auto">
              <a:xfrm>
                <a:off x="888" y="1219"/>
                <a:ext cx="39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charset="0"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Symbol" pitchFamily="18" charset="2"/>
                    <a:ea typeface="宋体" pitchFamily="2" charset="-122"/>
                  </a:rPr>
                  <a:t>g</a:t>
                </a:r>
                <a:r>
                  <a:rPr lang="en-US" altLang="zh-CN" sz="2400">
                    <a:solidFill>
                      <a:srgbClr val="000000"/>
                    </a:solidFill>
                    <a:ea typeface="宋体" pitchFamily="2" charset="-122"/>
                  </a:rPr>
                  <a:t>(t)</a:t>
                </a:r>
              </a:p>
            </p:txBody>
          </p:sp>
          <p:sp>
            <p:nvSpPr>
              <p:cNvPr id="7213" name="Rectangle 24"/>
              <p:cNvSpPr>
                <a:spLocks noChangeArrowheads="1"/>
              </p:cNvSpPr>
              <p:nvPr/>
            </p:nvSpPr>
            <p:spPr bwMode="auto">
              <a:xfrm>
                <a:off x="3824" y="1283"/>
                <a:ext cx="39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charset="0"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Symbol" pitchFamily="18" charset="2"/>
                    <a:ea typeface="宋体" pitchFamily="2" charset="-122"/>
                  </a:rPr>
                  <a:t>g</a:t>
                </a:r>
                <a:r>
                  <a:rPr lang="en-US" altLang="zh-CN" sz="2400">
                    <a:solidFill>
                      <a:srgbClr val="000000"/>
                    </a:solidFill>
                    <a:ea typeface="宋体" pitchFamily="2" charset="-122"/>
                  </a:rPr>
                  <a:t>(t)</a:t>
                </a:r>
              </a:p>
            </p:txBody>
          </p:sp>
          <p:sp>
            <p:nvSpPr>
              <p:cNvPr id="7214" name="Rectangle 25"/>
              <p:cNvSpPr>
                <a:spLocks noChangeArrowheads="1"/>
              </p:cNvSpPr>
              <p:nvPr/>
            </p:nvSpPr>
            <p:spPr bwMode="auto">
              <a:xfrm>
                <a:off x="1200" y="77"/>
                <a:ext cx="105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charset="0"/>
                  <a:buNone/>
                </a:pPr>
                <a:r>
                  <a:rPr lang="en-US" altLang="zh-CN" sz="2000">
                    <a:solidFill>
                      <a:srgbClr val="0000FF"/>
                    </a:solidFill>
                    <a:ea typeface="宋体" pitchFamily="2" charset="-122"/>
                  </a:rPr>
                  <a:t>log</a:t>
                </a:r>
                <a:r>
                  <a:rPr lang="en-US" altLang="zh-CN" sz="2000" baseline="-25000">
                    <a:solidFill>
                      <a:srgbClr val="0000FF"/>
                    </a:solidFill>
                    <a:ea typeface="宋体" pitchFamily="2" charset="-122"/>
                  </a:rPr>
                  <a:t>2</a:t>
                </a:r>
                <a:r>
                  <a:rPr lang="en-US" altLang="zh-CN" sz="2000">
                    <a:solidFill>
                      <a:srgbClr val="0000FF"/>
                    </a:solidFill>
                    <a:ea typeface="宋体" pitchFamily="2" charset="-122"/>
                  </a:rPr>
                  <a:t> M(</a:t>
                </a:r>
                <a:r>
                  <a:rPr lang="en-US" altLang="zh-CN" sz="2000">
                    <a:solidFill>
                      <a:srgbClr val="0000FF"/>
                    </a:solidFill>
                    <a:latin typeface="Symbol" pitchFamily="18" charset="2"/>
                    <a:ea typeface="宋体" pitchFamily="2" charset="-122"/>
                  </a:rPr>
                  <a:t>g</a:t>
                </a:r>
                <a:r>
                  <a:rPr lang="en-US" altLang="zh-CN" sz="2000">
                    <a:solidFill>
                      <a:srgbClr val="0000FF"/>
                    </a:solidFill>
                    <a:ea typeface="宋体" pitchFamily="2" charset="-122"/>
                  </a:rPr>
                  <a:t>) Bits</a:t>
                </a:r>
              </a:p>
            </p:txBody>
          </p:sp>
          <p:sp>
            <p:nvSpPr>
              <p:cNvPr id="7215" name="Rectangle 26"/>
              <p:cNvSpPr>
                <a:spLocks noChangeArrowheads="1"/>
              </p:cNvSpPr>
              <p:nvPr/>
            </p:nvSpPr>
            <p:spPr bwMode="auto">
              <a:xfrm>
                <a:off x="2736" y="0"/>
                <a:ext cx="913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charset="0"/>
                  <a:buNone/>
                </a:pPr>
                <a:r>
                  <a:rPr lang="en-US" altLang="zh-CN" sz="2000">
                    <a:solidFill>
                      <a:srgbClr val="0000FF"/>
                    </a:solidFill>
                    <a:ea typeface="宋体" pitchFamily="2" charset="-122"/>
                  </a:rPr>
                  <a:t>One of the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ClrTx/>
                  <a:buSzTx/>
                  <a:buFont typeface="Arial" charset="0"/>
                  <a:buNone/>
                </a:pPr>
                <a:r>
                  <a:rPr lang="en-US" altLang="zh-CN" sz="2000">
                    <a:solidFill>
                      <a:srgbClr val="0000FF"/>
                    </a:solidFill>
                    <a:ea typeface="宋体" pitchFamily="2" charset="-122"/>
                  </a:rPr>
                  <a:t>M(</a:t>
                </a:r>
                <a:r>
                  <a:rPr lang="en-US" altLang="zh-CN" sz="2000">
                    <a:solidFill>
                      <a:srgbClr val="0000FF"/>
                    </a:solidFill>
                    <a:latin typeface="Symbol" pitchFamily="18" charset="2"/>
                    <a:ea typeface="宋体" pitchFamily="2" charset="-122"/>
                  </a:rPr>
                  <a:t>g</a:t>
                </a:r>
                <a:r>
                  <a:rPr lang="en-US" altLang="zh-CN" sz="2000">
                    <a:solidFill>
                      <a:srgbClr val="0000FF"/>
                    </a:solidFill>
                    <a:ea typeface="宋体" pitchFamily="2" charset="-122"/>
                  </a:rPr>
                  <a:t>) Points</a:t>
                </a:r>
              </a:p>
            </p:txBody>
          </p:sp>
        </p:grpSp>
        <p:sp>
          <p:nvSpPr>
            <p:cNvPr id="7174" name="Line 27"/>
            <p:cNvSpPr>
              <a:spLocks noChangeShapeType="1"/>
            </p:cNvSpPr>
            <p:nvPr/>
          </p:nvSpPr>
          <p:spPr bwMode="auto">
            <a:xfrm>
              <a:off x="2481" y="1321"/>
              <a:ext cx="0" cy="99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5" name="Line 28"/>
            <p:cNvSpPr>
              <a:spLocks noChangeShapeType="1"/>
            </p:cNvSpPr>
            <p:nvPr/>
          </p:nvSpPr>
          <p:spPr bwMode="auto">
            <a:xfrm>
              <a:off x="1986" y="1816"/>
              <a:ext cx="99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6" name="Oval 29"/>
            <p:cNvSpPr>
              <a:spLocks noChangeArrowheads="1"/>
            </p:cNvSpPr>
            <p:nvPr/>
          </p:nvSpPr>
          <p:spPr bwMode="auto">
            <a:xfrm>
              <a:off x="2039" y="1412"/>
              <a:ext cx="64" cy="64"/>
            </a:xfrm>
            <a:prstGeom prst="ellipse">
              <a:avLst/>
            </a:prstGeom>
            <a:solidFill>
              <a:srgbClr val="9900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77" name="Oval 30"/>
            <p:cNvSpPr>
              <a:spLocks noChangeArrowheads="1"/>
            </p:cNvSpPr>
            <p:nvPr/>
          </p:nvSpPr>
          <p:spPr bwMode="auto">
            <a:xfrm>
              <a:off x="2307" y="1416"/>
              <a:ext cx="64" cy="64"/>
            </a:xfrm>
            <a:prstGeom prst="ellipse">
              <a:avLst/>
            </a:prstGeom>
            <a:solidFill>
              <a:srgbClr val="9900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78" name="Oval 31"/>
            <p:cNvSpPr>
              <a:spLocks noChangeArrowheads="1"/>
            </p:cNvSpPr>
            <p:nvPr/>
          </p:nvSpPr>
          <p:spPr bwMode="auto">
            <a:xfrm>
              <a:off x="2311" y="1660"/>
              <a:ext cx="64" cy="64"/>
            </a:xfrm>
            <a:prstGeom prst="ellipse">
              <a:avLst/>
            </a:prstGeom>
            <a:solidFill>
              <a:srgbClr val="00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79" name="Oval 32"/>
            <p:cNvSpPr>
              <a:spLocks noChangeArrowheads="1"/>
            </p:cNvSpPr>
            <p:nvPr/>
          </p:nvSpPr>
          <p:spPr bwMode="auto">
            <a:xfrm>
              <a:off x="2039" y="1660"/>
              <a:ext cx="64" cy="64"/>
            </a:xfrm>
            <a:prstGeom prst="ellipse">
              <a:avLst/>
            </a:prstGeom>
            <a:solidFill>
              <a:srgbClr val="9900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80" name="Oval 33"/>
            <p:cNvSpPr>
              <a:spLocks noChangeArrowheads="1"/>
            </p:cNvSpPr>
            <p:nvPr/>
          </p:nvSpPr>
          <p:spPr bwMode="auto">
            <a:xfrm>
              <a:off x="2579" y="1412"/>
              <a:ext cx="64" cy="64"/>
            </a:xfrm>
            <a:prstGeom prst="ellipse">
              <a:avLst/>
            </a:prstGeom>
            <a:solidFill>
              <a:srgbClr val="9900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81" name="Oval 34"/>
            <p:cNvSpPr>
              <a:spLocks noChangeArrowheads="1"/>
            </p:cNvSpPr>
            <p:nvPr/>
          </p:nvSpPr>
          <p:spPr bwMode="auto">
            <a:xfrm>
              <a:off x="2847" y="1416"/>
              <a:ext cx="64" cy="64"/>
            </a:xfrm>
            <a:prstGeom prst="ellipse">
              <a:avLst/>
            </a:prstGeom>
            <a:solidFill>
              <a:srgbClr val="9900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82" name="Oval 35"/>
            <p:cNvSpPr>
              <a:spLocks noChangeArrowheads="1"/>
            </p:cNvSpPr>
            <p:nvPr/>
          </p:nvSpPr>
          <p:spPr bwMode="auto">
            <a:xfrm>
              <a:off x="2851" y="1660"/>
              <a:ext cx="64" cy="64"/>
            </a:xfrm>
            <a:prstGeom prst="ellipse">
              <a:avLst/>
            </a:prstGeom>
            <a:solidFill>
              <a:srgbClr val="9900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83" name="Oval 36"/>
            <p:cNvSpPr>
              <a:spLocks noChangeArrowheads="1"/>
            </p:cNvSpPr>
            <p:nvPr/>
          </p:nvSpPr>
          <p:spPr bwMode="auto">
            <a:xfrm>
              <a:off x="2579" y="1660"/>
              <a:ext cx="64" cy="64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84" name="Oval 37"/>
            <p:cNvSpPr>
              <a:spLocks noChangeArrowheads="1"/>
            </p:cNvSpPr>
            <p:nvPr/>
          </p:nvSpPr>
          <p:spPr bwMode="auto">
            <a:xfrm>
              <a:off x="2047" y="1908"/>
              <a:ext cx="64" cy="64"/>
            </a:xfrm>
            <a:prstGeom prst="ellipse">
              <a:avLst/>
            </a:prstGeom>
            <a:solidFill>
              <a:srgbClr val="9900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85" name="Oval 38"/>
            <p:cNvSpPr>
              <a:spLocks noChangeArrowheads="1"/>
            </p:cNvSpPr>
            <p:nvPr/>
          </p:nvSpPr>
          <p:spPr bwMode="auto">
            <a:xfrm>
              <a:off x="2315" y="1912"/>
              <a:ext cx="64" cy="64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86" name="Oval 39"/>
            <p:cNvSpPr>
              <a:spLocks noChangeArrowheads="1"/>
            </p:cNvSpPr>
            <p:nvPr/>
          </p:nvSpPr>
          <p:spPr bwMode="auto">
            <a:xfrm>
              <a:off x="2319" y="2156"/>
              <a:ext cx="64" cy="64"/>
            </a:xfrm>
            <a:prstGeom prst="ellipse">
              <a:avLst/>
            </a:prstGeom>
            <a:solidFill>
              <a:srgbClr val="9900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87" name="Oval 40"/>
            <p:cNvSpPr>
              <a:spLocks noChangeArrowheads="1"/>
            </p:cNvSpPr>
            <p:nvPr/>
          </p:nvSpPr>
          <p:spPr bwMode="auto">
            <a:xfrm>
              <a:off x="2047" y="2156"/>
              <a:ext cx="64" cy="64"/>
            </a:xfrm>
            <a:prstGeom prst="ellipse">
              <a:avLst/>
            </a:prstGeom>
            <a:solidFill>
              <a:srgbClr val="9900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88" name="Oval 41"/>
            <p:cNvSpPr>
              <a:spLocks noChangeArrowheads="1"/>
            </p:cNvSpPr>
            <p:nvPr/>
          </p:nvSpPr>
          <p:spPr bwMode="auto">
            <a:xfrm>
              <a:off x="2587" y="1908"/>
              <a:ext cx="64" cy="64"/>
            </a:xfrm>
            <a:prstGeom prst="ellipse">
              <a:avLst/>
            </a:prstGeom>
            <a:solidFill>
              <a:srgbClr val="00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89" name="Oval 42"/>
            <p:cNvSpPr>
              <a:spLocks noChangeArrowheads="1"/>
            </p:cNvSpPr>
            <p:nvPr/>
          </p:nvSpPr>
          <p:spPr bwMode="auto">
            <a:xfrm>
              <a:off x="2855" y="1912"/>
              <a:ext cx="64" cy="64"/>
            </a:xfrm>
            <a:prstGeom prst="ellipse">
              <a:avLst/>
            </a:prstGeom>
            <a:solidFill>
              <a:srgbClr val="9900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90" name="Oval 43"/>
            <p:cNvSpPr>
              <a:spLocks noChangeArrowheads="1"/>
            </p:cNvSpPr>
            <p:nvPr/>
          </p:nvSpPr>
          <p:spPr bwMode="auto">
            <a:xfrm>
              <a:off x="2859" y="2156"/>
              <a:ext cx="64" cy="64"/>
            </a:xfrm>
            <a:prstGeom prst="ellipse">
              <a:avLst/>
            </a:prstGeom>
            <a:solidFill>
              <a:srgbClr val="9900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91" name="Oval 44"/>
            <p:cNvSpPr>
              <a:spLocks noChangeArrowheads="1"/>
            </p:cNvSpPr>
            <p:nvPr/>
          </p:nvSpPr>
          <p:spPr bwMode="auto">
            <a:xfrm>
              <a:off x="2587" y="2156"/>
              <a:ext cx="64" cy="64"/>
            </a:xfrm>
            <a:prstGeom prst="ellipse">
              <a:avLst/>
            </a:prstGeom>
            <a:solidFill>
              <a:srgbClr val="9900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92" name="Oval 45"/>
            <p:cNvSpPr>
              <a:spLocks noChangeArrowheads="1"/>
            </p:cNvSpPr>
            <p:nvPr/>
          </p:nvSpPr>
          <p:spPr bwMode="auto">
            <a:xfrm>
              <a:off x="1812" y="2526"/>
              <a:ext cx="48" cy="48"/>
            </a:xfrm>
            <a:prstGeom prst="ellipse">
              <a:avLst/>
            </a:prstGeom>
            <a:solidFill>
              <a:srgbClr val="00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93" name="Rectangle 46"/>
            <p:cNvSpPr>
              <a:spLocks noChangeArrowheads="1"/>
            </p:cNvSpPr>
            <p:nvPr/>
          </p:nvSpPr>
          <p:spPr bwMode="auto">
            <a:xfrm>
              <a:off x="1814" y="2458"/>
              <a:ext cx="3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r>
                <a:rPr lang="en-US" altLang="zh-CN" sz="1400">
                  <a:solidFill>
                    <a:srgbClr val="000000"/>
                  </a:solidFill>
                  <a:ea typeface="宋体" pitchFamily="2" charset="-122"/>
                </a:rPr>
                <a:t>BSPK</a:t>
              </a:r>
            </a:p>
          </p:txBody>
        </p:sp>
        <p:grpSp>
          <p:nvGrpSpPr>
            <p:cNvPr id="7194" name="Group 47"/>
            <p:cNvGrpSpPr>
              <a:grpSpLocks/>
            </p:cNvGrpSpPr>
            <p:nvPr/>
          </p:nvGrpSpPr>
          <p:grpSpPr bwMode="auto">
            <a:xfrm>
              <a:off x="2280" y="2494"/>
              <a:ext cx="48" cy="112"/>
              <a:chOff x="0" y="0"/>
              <a:chExt cx="48" cy="112"/>
            </a:xfrm>
          </p:grpSpPr>
          <p:sp>
            <p:nvSpPr>
              <p:cNvPr id="7200" name="Oval 4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8" cy="48"/>
              </a:xfrm>
              <a:prstGeom prst="ellipse">
                <a:avLst/>
              </a:prstGeom>
              <a:solidFill>
                <a:srgbClr val="0000CC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7201" name="Oval 49"/>
              <p:cNvSpPr>
                <a:spLocks noChangeArrowheads="1"/>
              </p:cNvSpPr>
              <p:nvPr/>
            </p:nvSpPr>
            <p:spPr bwMode="auto">
              <a:xfrm>
                <a:off x="0" y="64"/>
                <a:ext cx="48" cy="48"/>
              </a:xfrm>
              <a:prstGeom prst="ellipse">
                <a:avLst/>
              </a:prstGeom>
              <a:solidFill>
                <a:srgbClr val="CC00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7195" name="Rectangle 50"/>
            <p:cNvSpPr>
              <a:spLocks noChangeArrowheads="1"/>
            </p:cNvSpPr>
            <p:nvPr/>
          </p:nvSpPr>
          <p:spPr bwMode="auto">
            <a:xfrm>
              <a:off x="2286" y="2454"/>
              <a:ext cx="4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r>
                <a:rPr lang="en-US" altLang="zh-CN" sz="1400">
                  <a:solidFill>
                    <a:srgbClr val="000000"/>
                  </a:solidFill>
                  <a:ea typeface="宋体" pitchFamily="2" charset="-122"/>
                </a:rPr>
                <a:t>4-QAM</a:t>
              </a:r>
            </a:p>
          </p:txBody>
        </p:sp>
        <p:sp>
          <p:nvSpPr>
            <p:cNvPr id="7196" name="Rectangle 51"/>
            <p:cNvSpPr>
              <a:spLocks noChangeArrowheads="1"/>
            </p:cNvSpPr>
            <p:nvPr/>
          </p:nvSpPr>
          <p:spPr bwMode="auto">
            <a:xfrm>
              <a:off x="2818" y="2450"/>
              <a:ext cx="51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r>
                <a:rPr lang="en-US" altLang="zh-CN" sz="1400">
                  <a:solidFill>
                    <a:srgbClr val="000000"/>
                  </a:solidFill>
                  <a:ea typeface="宋体" pitchFamily="2" charset="-122"/>
                </a:rPr>
                <a:t>16-QAM</a:t>
              </a:r>
            </a:p>
          </p:txBody>
        </p:sp>
        <p:sp>
          <p:nvSpPr>
            <p:cNvPr id="7197" name="Oval 52"/>
            <p:cNvSpPr>
              <a:spLocks noChangeArrowheads="1"/>
            </p:cNvSpPr>
            <p:nvPr/>
          </p:nvSpPr>
          <p:spPr bwMode="auto">
            <a:xfrm>
              <a:off x="2808" y="2462"/>
              <a:ext cx="48" cy="48"/>
            </a:xfrm>
            <a:prstGeom prst="ellipse">
              <a:avLst/>
            </a:prstGeom>
            <a:solidFill>
              <a:srgbClr val="0000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98" name="Oval 53"/>
            <p:cNvSpPr>
              <a:spLocks noChangeArrowheads="1"/>
            </p:cNvSpPr>
            <p:nvPr/>
          </p:nvSpPr>
          <p:spPr bwMode="auto">
            <a:xfrm>
              <a:off x="2808" y="2526"/>
              <a:ext cx="48" cy="48"/>
            </a:xfrm>
            <a:prstGeom prst="ellipse">
              <a:avLst/>
            </a:prstGeom>
            <a:solidFill>
              <a:srgbClr val="CC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199" name="Oval 54"/>
            <p:cNvSpPr>
              <a:spLocks noChangeArrowheads="1"/>
            </p:cNvSpPr>
            <p:nvPr/>
          </p:nvSpPr>
          <p:spPr bwMode="auto">
            <a:xfrm>
              <a:off x="2808" y="2590"/>
              <a:ext cx="48" cy="48"/>
            </a:xfrm>
            <a:prstGeom prst="ellipse">
              <a:avLst/>
            </a:prstGeom>
            <a:solidFill>
              <a:srgbClr val="9900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7172" name="Text Box 55"/>
          <p:cNvSpPr txBox="1">
            <a:spLocks noChangeArrowheads="1"/>
          </p:cNvSpPr>
          <p:nvPr/>
        </p:nvSpPr>
        <p:spPr bwMode="auto">
          <a:xfrm>
            <a:off x="960438" y="6130925"/>
            <a:ext cx="7342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2400" i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Goal: Optimize P(</a:t>
            </a:r>
            <a:r>
              <a:rPr lang="en-US" altLang="zh-CN" sz="2400" i="1">
                <a:solidFill>
                  <a:srgbClr val="CC0000"/>
                </a:solidFill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400" i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) and M(</a:t>
            </a:r>
            <a:r>
              <a:rPr lang="en-US" altLang="zh-CN" sz="2400" i="1">
                <a:solidFill>
                  <a:srgbClr val="CC0000"/>
                </a:solidFill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400" i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) to maximize R=Elog[M(</a:t>
            </a:r>
            <a:r>
              <a:rPr lang="en-US" altLang="zh-CN" sz="2400" i="1">
                <a:solidFill>
                  <a:srgbClr val="CC0000"/>
                </a:solidFill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400" i="1">
                <a:solidFill>
                  <a:srgbClr val="CC0000"/>
                </a:solidFill>
                <a:latin typeface="Times New Roman" pitchFamily="18" charset="0"/>
                <a:ea typeface="宋体" pitchFamily="2" charset="-122"/>
              </a:rPr>
              <a:t>)]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534400" cy="1143000"/>
          </a:xfrm>
        </p:spPr>
        <p:txBody>
          <a:bodyPr/>
          <a:lstStyle/>
          <a:p>
            <a:r>
              <a:rPr lang="zh-CN" altLang="en-US" sz="4000">
                <a:ea typeface="宋体" pitchFamily="2" charset="-122"/>
              </a:rPr>
              <a:t>Variable-Rate Variable-Power MQAM</a:t>
            </a:r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3750" y="1778000"/>
            <a:ext cx="7735888" cy="4375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Optimization Formulation</a:t>
            </a:r>
          </a:p>
        </p:txBody>
      </p:sp>
      <p:pic>
        <p:nvPicPr>
          <p:cNvPr id="922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31" y="3404088"/>
            <a:ext cx="762000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73" y="1732084"/>
            <a:ext cx="71247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62" y="2789932"/>
            <a:ext cx="5074627" cy="375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673" y="2265852"/>
            <a:ext cx="2333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985" y="2274643"/>
            <a:ext cx="4153267" cy="258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Optimization Formulation</a:t>
            </a:r>
          </a:p>
        </p:txBody>
      </p:sp>
      <p:pic>
        <p:nvPicPr>
          <p:cNvPr id="1024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2688" y="1981200"/>
            <a:ext cx="6826250" cy="4391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Optimal Adaptive Scheme</a:t>
            </a:r>
          </a:p>
        </p:txBody>
      </p:sp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7105650" y="4727575"/>
            <a:ext cx="288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2000" b="0">
                <a:solidFill>
                  <a:schemeClr val="tx1"/>
                </a:solidFill>
                <a:latin typeface="Symbol" pitchFamily="18" charset="2"/>
                <a:ea typeface="宋体" pitchFamily="2" charset="-122"/>
              </a:rPr>
              <a:t>g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804863" y="1719263"/>
            <a:ext cx="309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zh-CN" altLang="zh-CN">
              <a:ea typeface="宋体" pitchFamily="2" charset="-122"/>
            </a:endParaRP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685800" y="1838325"/>
            <a:ext cx="8285163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dirty="0">
                <a:solidFill>
                  <a:srgbClr val="0033CC"/>
                </a:solidFill>
                <a:ea typeface="宋体" pitchFamily="2" charset="-122"/>
              </a:rPr>
              <a:t>This </a:t>
            </a:r>
            <a:r>
              <a:rPr lang="en-US" altLang="zh-CN" dirty="0">
                <a:solidFill>
                  <a:srgbClr val="0033CC"/>
                </a:solidFill>
                <a:ea typeface="宋体" pitchFamily="2" charset="-122"/>
              </a:rPr>
              <a:t>is </a:t>
            </a:r>
            <a:r>
              <a:rPr lang="zh-CN" altLang="en-US" dirty="0">
                <a:solidFill>
                  <a:srgbClr val="0033CC"/>
                </a:solidFill>
                <a:ea typeface="宋体" pitchFamily="2" charset="-122"/>
              </a:rPr>
              <a:t>the same power adaptation policy that achieves capacity,</a:t>
            </a:r>
          </a:p>
          <a:p>
            <a:r>
              <a:rPr lang="zh-CN" altLang="en-US" dirty="0">
                <a:solidFill>
                  <a:srgbClr val="0033CC"/>
                </a:solidFill>
                <a:ea typeface="宋体" pitchFamily="2" charset="-122"/>
              </a:rPr>
              <a:t>with P(</a:t>
            </a:r>
            <a:r>
              <a:rPr lang="zh-CN" altLang="en-US" dirty="0">
                <a:solidFill>
                  <a:srgbClr val="0033CC"/>
                </a:solidFill>
                <a:ea typeface="宋体" pitchFamily="2" charset="-122"/>
                <a:sym typeface="宋体" pitchFamily="2" charset="-122"/>
              </a:rPr>
              <a:t>γ</a:t>
            </a:r>
            <a:r>
              <a:rPr lang="zh-CN" altLang="en-US" dirty="0">
                <a:solidFill>
                  <a:srgbClr val="0033CC"/>
                </a:solidFill>
                <a:ea typeface="宋体" pitchFamily="2" charset="-122"/>
              </a:rPr>
              <a:t>) replaced with KP(</a:t>
            </a:r>
            <a:r>
              <a:rPr lang="zh-CN" altLang="en-US" dirty="0">
                <a:solidFill>
                  <a:srgbClr val="0033CC"/>
                </a:solidFill>
                <a:ea typeface="宋体" pitchFamily="2" charset="-122"/>
                <a:sym typeface="宋体" pitchFamily="2" charset="-122"/>
              </a:rPr>
              <a:t>γ</a:t>
            </a:r>
            <a:r>
              <a:rPr lang="zh-CN" altLang="en-US" dirty="0">
                <a:solidFill>
                  <a:srgbClr val="0033CC"/>
                </a:solidFill>
                <a:ea typeface="宋体" pitchFamily="2" charset="-122"/>
              </a:rPr>
              <a:t>). Opti</a:t>
            </a:r>
            <a:r>
              <a:rPr lang="en-US" altLang="zh-CN" dirty="0">
                <a:solidFill>
                  <a:srgbClr val="0033CC"/>
                </a:solidFill>
                <a:ea typeface="宋体" pitchFamily="2" charset="-122"/>
              </a:rPr>
              <a:t>s</a:t>
            </a:r>
            <a:r>
              <a:rPr lang="zh-CN" altLang="en-US" dirty="0">
                <a:solidFill>
                  <a:srgbClr val="0033CC"/>
                </a:solidFill>
                <a:ea typeface="宋体" pitchFamily="2" charset="-122"/>
              </a:rPr>
              <a:t>mum policy is water-filling.</a:t>
            </a:r>
            <a:endParaRPr lang="zh-CN" altLang="en-US" dirty="0">
              <a:ea typeface="宋体" pitchFamily="2" charset="-122"/>
            </a:endParaRPr>
          </a:p>
        </p:txBody>
      </p:sp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75" y="3059113"/>
            <a:ext cx="466725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Optimal Adaptive Scheme</a:t>
            </a:r>
          </a:p>
        </p:txBody>
      </p:sp>
      <p:pic>
        <p:nvPicPr>
          <p:cNvPr id="1229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2463" y="1771650"/>
            <a:ext cx="7761287" cy="4552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Spectral Efficiency 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(Rayleigh Fading)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550" y="1782763"/>
            <a:ext cx="6962775" cy="5075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ea typeface="宋体" pitchFamily="2" charset="-122"/>
              </a:rPr>
              <a:t>Spectral Efficiency </a:t>
            </a:r>
            <a:r>
              <a:rPr lang="en-US" altLang="zh-CN" sz="4000" dirty="0">
                <a:ea typeface="宋体" pitchFamily="2" charset="-122"/>
              </a:rPr>
              <a:t>for Different Schemes (Rayleigh Fading)</a:t>
            </a:r>
            <a:endParaRPr lang="zh-CN" altLang="en-US" sz="4000" dirty="0">
              <a:ea typeface="宋体" pitchFamily="2" charset="-122"/>
            </a:endParaRP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379" y="1861874"/>
            <a:ext cx="6265011" cy="47651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Example 4.4</a:t>
            </a:r>
            <a:endParaRPr lang="zh-CN" altLang="en-US" sz="4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34" y="1750783"/>
            <a:ext cx="7866131" cy="476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40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Example 4.4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52" y="1846494"/>
            <a:ext cx="7500359" cy="467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40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Example 4.4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16" y="1804122"/>
            <a:ext cx="7929789" cy="346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35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Compare Adaptive QAM (</a:t>
            </a:r>
            <a:r>
              <a:rPr lang="en-US" altLang="zh-CN" sz="4400" dirty="0" err="1"/>
              <a:t>Pb</a:t>
            </a:r>
            <a:r>
              <a:rPr lang="en-US" altLang="zh-CN" sz="4400" dirty="0"/>
              <a:t>=10^-3)with Example 4.4</a:t>
            </a:r>
            <a:endParaRPr lang="zh-CN" altLang="en-US" sz="4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488" y="1625735"/>
            <a:ext cx="2510699" cy="833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71" y="2514641"/>
            <a:ext cx="8904939" cy="212850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62" y="4939159"/>
            <a:ext cx="8380362" cy="109828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573" y="5884148"/>
            <a:ext cx="2750527" cy="61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87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Discrete-Rate Adaptation</a:t>
            </a: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8" y="1754188"/>
            <a:ext cx="7467600" cy="1350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3802063"/>
            <a:ext cx="8942388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Constellation Restriction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4363" y="1630363"/>
            <a:ext cx="7988300" cy="2378075"/>
          </a:xfrm>
          <a:noFill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800">
                <a:ea typeface="宋体" pitchFamily="2" charset="-122"/>
              </a:rPr>
              <a:t>Restrict M</a:t>
            </a:r>
            <a:r>
              <a:rPr lang="en-US" altLang="zh-CN" sz="2800" baseline="-25000">
                <a:ea typeface="宋体" pitchFamily="2" charset="-122"/>
              </a:rPr>
              <a:t>D</a:t>
            </a:r>
            <a:r>
              <a:rPr lang="en-US" altLang="zh-CN" sz="2800">
                <a:ea typeface="宋体" pitchFamily="2" charset="-122"/>
              </a:rPr>
              <a:t>(</a:t>
            </a:r>
            <a:r>
              <a:rPr lang="en-US" altLang="zh-CN" sz="2800"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800">
                <a:ea typeface="宋体" pitchFamily="2" charset="-122"/>
              </a:rPr>
              <a:t>) to {M</a:t>
            </a:r>
            <a:r>
              <a:rPr lang="en-US" altLang="zh-CN" sz="2800" baseline="-25000">
                <a:ea typeface="宋体" pitchFamily="2" charset="-122"/>
              </a:rPr>
              <a:t>0</a:t>
            </a:r>
            <a:r>
              <a:rPr lang="en-US" altLang="zh-CN" sz="2800">
                <a:ea typeface="宋体" pitchFamily="2" charset="-122"/>
              </a:rPr>
              <a:t>=0,…,M</a:t>
            </a:r>
            <a:r>
              <a:rPr lang="en-US" altLang="zh-CN" sz="2800" baseline="-25000">
                <a:ea typeface="宋体" pitchFamily="2" charset="-122"/>
              </a:rPr>
              <a:t>N</a:t>
            </a:r>
            <a:r>
              <a:rPr lang="en-US" altLang="zh-CN" sz="2800">
                <a:ea typeface="宋体" pitchFamily="2" charset="-122"/>
              </a:rPr>
              <a:t>}.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宋体" pitchFamily="2" charset="-122"/>
              </a:rPr>
              <a:t>Let M(</a:t>
            </a:r>
            <a:r>
              <a:rPr lang="en-US" altLang="zh-CN" sz="2800"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800">
                <a:ea typeface="宋体" pitchFamily="2" charset="-122"/>
              </a:rPr>
              <a:t>)=</a:t>
            </a:r>
            <a:r>
              <a:rPr lang="en-US" altLang="zh-CN" sz="2800"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800">
                <a:ea typeface="宋体" pitchFamily="2" charset="-122"/>
              </a:rPr>
              <a:t>/</a:t>
            </a:r>
            <a:r>
              <a:rPr lang="en-US" altLang="zh-CN" sz="2800"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800" baseline="-25000">
                <a:latin typeface="Symbol" pitchFamily="18" charset="2"/>
                <a:ea typeface="宋体" pitchFamily="2" charset="-122"/>
              </a:rPr>
              <a:t>K</a:t>
            </a:r>
            <a:r>
              <a:rPr lang="en-US" altLang="zh-CN" sz="2800" baseline="30000">
                <a:ea typeface="宋体" pitchFamily="2" charset="-122"/>
              </a:rPr>
              <a:t>*</a:t>
            </a:r>
            <a:r>
              <a:rPr lang="en-US" altLang="zh-CN" sz="2800">
                <a:ea typeface="宋体" pitchFamily="2" charset="-122"/>
              </a:rPr>
              <a:t>, where </a:t>
            </a:r>
            <a:r>
              <a:rPr lang="en-US" altLang="zh-CN" sz="2800"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800" baseline="-25000">
                <a:latin typeface="Symbol" pitchFamily="18" charset="2"/>
                <a:ea typeface="宋体" pitchFamily="2" charset="-122"/>
              </a:rPr>
              <a:t>K</a:t>
            </a:r>
            <a:r>
              <a:rPr lang="en-US" altLang="zh-CN" sz="2800" baseline="30000">
                <a:ea typeface="宋体" pitchFamily="2" charset="-122"/>
              </a:rPr>
              <a:t>*</a:t>
            </a:r>
            <a:r>
              <a:rPr lang="en-US" altLang="zh-CN" sz="2800">
                <a:ea typeface="宋体" pitchFamily="2" charset="-122"/>
              </a:rPr>
              <a:t> is later optimized.</a:t>
            </a:r>
          </a:p>
          <a:p>
            <a:pPr>
              <a:lnSpc>
                <a:spcPct val="100000"/>
              </a:lnSpc>
            </a:pPr>
            <a:r>
              <a:rPr lang="en-US" altLang="zh-CN" sz="2800">
                <a:ea typeface="宋体" pitchFamily="2" charset="-122"/>
              </a:rPr>
              <a:t>Set M</a:t>
            </a:r>
            <a:r>
              <a:rPr lang="en-US" altLang="zh-CN" sz="2800" baseline="-25000">
                <a:ea typeface="宋体" pitchFamily="2" charset="-122"/>
              </a:rPr>
              <a:t>D</a:t>
            </a:r>
            <a:r>
              <a:rPr lang="en-US" altLang="zh-CN" sz="2800">
                <a:ea typeface="宋体" pitchFamily="2" charset="-122"/>
              </a:rPr>
              <a:t>(</a:t>
            </a:r>
            <a:r>
              <a:rPr lang="en-US" altLang="zh-CN" sz="2800"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800">
                <a:ea typeface="宋体" pitchFamily="2" charset="-122"/>
              </a:rPr>
              <a:t>) to max</a:t>
            </a:r>
            <a:r>
              <a:rPr lang="en-US" altLang="zh-CN" sz="2800" baseline="-25000">
                <a:ea typeface="宋体" pitchFamily="2" charset="-122"/>
              </a:rPr>
              <a:t>j</a:t>
            </a:r>
            <a:r>
              <a:rPr lang="en-US" altLang="zh-CN" sz="2800">
                <a:ea typeface="宋体" pitchFamily="2" charset="-122"/>
              </a:rPr>
              <a:t> M</a:t>
            </a:r>
            <a:r>
              <a:rPr lang="en-US" altLang="zh-CN" sz="2800" baseline="-25000">
                <a:ea typeface="宋体" pitchFamily="2" charset="-122"/>
              </a:rPr>
              <a:t>j</a:t>
            </a:r>
            <a:r>
              <a:rPr lang="en-US" altLang="zh-CN" sz="2800">
                <a:ea typeface="宋体" pitchFamily="2" charset="-122"/>
              </a:rPr>
              <a:t>: M</a:t>
            </a:r>
            <a:r>
              <a:rPr lang="en-US" altLang="zh-CN" sz="2800" baseline="-25000">
                <a:ea typeface="宋体" pitchFamily="2" charset="-122"/>
              </a:rPr>
              <a:t>j</a:t>
            </a:r>
            <a:r>
              <a:rPr lang="en-US" altLang="zh-CN" sz="2800">
                <a:ea typeface="宋体" pitchFamily="2" charset="-122"/>
              </a:rPr>
              <a:t> </a:t>
            </a:r>
            <a:r>
              <a:rPr lang="en-US" altLang="zh-CN" sz="2800">
                <a:ea typeface="宋体" pitchFamily="2" charset="-122"/>
                <a:sym typeface="Symbol" pitchFamily="18" charset="2"/>
              </a:rPr>
              <a:t></a:t>
            </a:r>
            <a:r>
              <a:rPr lang="en-US" altLang="zh-CN" sz="2800">
                <a:ea typeface="宋体" pitchFamily="2" charset="-122"/>
              </a:rPr>
              <a:t> M(</a:t>
            </a:r>
            <a:r>
              <a:rPr lang="en-US" altLang="zh-CN" sz="2800"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800">
                <a:ea typeface="宋体" pitchFamily="2" charset="-122"/>
              </a:rPr>
              <a:t>).</a:t>
            </a:r>
          </a:p>
          <a:p>
            <a:pPr>
              <a:lnSpc>
                <a:spcPct val="100000"/>
              </a:lnSpc>
            </a:pPr>
            <a:r>
              <a:rPr lang="en-US" altLang="zh-CN" sz="2800">
                <a:ea typeface="宋体" pitchFamily="2" charset="-122"/>
              </a:rPr>
              <a:t>Region boundaries are </a:t>
            </a:r>
            <a:r>
              <a:rPr lang="en-US" altLang="zh-CN" sz="2800"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800" baseline="-25000">
                <a:ea typeface="宋体" pitchFamily="2" charset="-122"/>
              </a:rPr>
              <a:t>j</a:t>
            </a:r>
            <a:r>
              <a:rPr lang="en-US" altLang="zh-CN" sz="2800">
                <a:ea typeface="宋体" pitchFamily="2" charset="-122"/>
              </a:rPr>
              <a:t>=M</a:t>
            </a:r>
            <a:r>
              <a:rPr lang="en-US" altLang="zh-CN" sz="2800" baseline="-25000">
                <a:ea typeface="宋体" pitchFamily="2" charset="-122"/>
              </a:rPr>
              <a:t>j</a:t>
            </a:r>
            <a:r>
              <a:rPr lang="en-US" altLang="zh-CN" sz="2800"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800" baseline="-25000">
                <a:latin typeface="Symbol" pitchFamily="18" charset="2"/>
                <a:ea typeface="宋体" pitchFamily="2" charset="-122"/>
              </a:rPr>
              <a:t>K</a:t>
            </a:r>
            <a:r>
              <a:rPr lang="en-US" altLang="zh-CN" sz="2800">
                <a:ea typeface="宋体" pitchFamily="2" charset="-122"/>
              </a:rPr>
              <a:t>*, j=0,…,N</a:t>
            </a:r>
          </a:p>
          <a:p>
            <a:pPr>
              <a:lnSpc>
                <a:spcPct val="100000"/>
              </a:lnSpc>
            </a:pPr>
            <a:r>
              <a:rPr lang="en-US" altLang="zh-CN" sz="2800">
                <a:ea typeface="宋体" pitchFamily="2" charset="-122"/>
              </a:rPr>
              <a:t>Power control maintains target BER</a:t>
            </a:r>
          </a:p>
        </p:txBody>
      </p:sp>
      <p:sp>
        <p:nvSpPr>
          <p:cNvPr id="18436" name="Line 4"/>
          <p:cNvSpPr>
            <a:spLocks noChangeShapeType="1"/>
          </p:cNvSpPr>
          <p:nvPr/>
        </p:nvSpPr>
        <p:spPr bwMode="auto">
          <a:xfrm flipV="1">
            <a:off x="1395413" y="4186238"/>
            <a:ext cx="5394325" cy="1897062"/>
          </a:xfrm>
          <a:prstGeom prst="line">
            <a:avLst/>
          </a:prstGeom>
          <a:noFill/>
          <a:ln w="254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>
            <a:off x="1400175" y="4144963"/>
            <a:ext cx="0" cy="19335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8" name="Line 6"/>
          <p:cNvSpPr>
            <a:spLocks noChangeShapeType="1"/>
          </p:cNvSpPr>
          <p:nvPr/>
        </p:nvSpPr>
        <p:spPr bwMode="auto">
          <a:xfrm>
            <a:off x="1390650" y="6092825"/>
            <a:ext cx="66627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6513513" y="4243388"/>
            <a:ext cx="1422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2000">
                <a:solidFill>
                  <a:srgbClr val="000080"/>
                </a:solidFill>
                <a:ea typeface="宋体" pitchFamily="2" charset="-122"/>
              </a:rPr>
              <a:t>M(</a:t>
            </a:r>
            <a:r>
              <a:rPr lang="en-US" altLang="zh-CN" sz="2000">
                <a:solidFill>
                  <a:srgbClr val="000080"/>
                </a:solidFill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000">
                <a:solidFill>
                  <a:srgbClr val="000080"/>
                </a:solidFill>
                <a:ea typeface="宋体" pitchFamily="2" charset="-122"/>
              </a:rPr>
              <a:t>)=</a:t>
            </a:r>
            <a:r>
              <a:rPr lang="en-US" altLang="zh-CN" sz="2000">
                <a:solidFill>
                  <a:srgbClr val="000080"/>
                </a:solidFill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000">
                <a:solidFill>
                  <a:srgbClr val="000080"/>
                </a:solidFill>
                <a:ea typeface="宋体" pitchFamily="2" charset="-122"/>
              </a:rPr>
              <a:t>/</a:t>
            </a:r>
            <a:r>
              <a:rPr lang="en-US" altLang="zh-CN" sz="2000">
                <a:solidFill>
                  <a:srgbClr val="000080"/>
                </a:solidFill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000" baseline="-25000">
                <a:solidFill>
                  <a:srgbClr val="000080"/>
                </a:solidFill>
                <a:latin typeface="Symbol" pitchFamily="18" charset="2"/>
                <a:ea typeface="宋体" pitchFamily="2" charset="-122"/>
              </a:rPr>
              <a:t>K</a:t>
            </a:r>
            <a:r>
              <a:rPr lang="en-US" altLang="zh-CN" sz="2000" baseline="30000">
                <a:solidFill>
                  <a:srgbClr val="000080"/>
                </a:solidFill>
                <a:ea typeface="宋体" pitchFamily="2" charset="-122"/>
              </a:rPr>
              <a:t>*</a:t>
            </a: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7570788" y="6172200"/>
            <a:ext cx="309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2400" b="0">
                <a:solidFill>
                  <a:srgbClr val="000000"/>
                </a:solidFill>
                <a:latin typeface="Symbol" pitchFamily="18" charset="2"/>
                <a:ea typeface="宋体" pitchFamily="2" charset="-122"/>
              </a:rPr>
              <a:t>g</a:t>
            </a:r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1206500" y="6172200"/>
            <a:ext cx="366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000" baseline="-25000">
                <a:solidFill>
                  <a:srgbClr val="000000"/>
                </a:solidFill>
                <a:ea typeface="宋体" pitchFamily="2" charset="-122"/>
              </a:rPr>
              <a:t>0</a:t>
            </a:r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2555875" y="6172200"/>
            <a:ext cx="1119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000" baseline="-25000">
                <a:solidFill>
                  <a:srgbClr val="000000"/>
                </a:solidFill>
                <a:ea typeface="宋体" pitchFamily="2" charset="-122"/>
              </a:rPr>
              <a:t>1</a:t>
            </a:r>
            <a:r>
              <a:rPr lang="en-US" altLang="zh-CN" sz="2000">
                <a:solidFill>
                  <a:srgbClr val="000000"/>
                </a:solidFill>
                <a:ea typeface="宋体" pitchFamily="2" charset="-122"/>
              </a:rPr>
              <a:t>=M</a:t>
            </a:r>
            <a:r>
              <a:rPr lang="en-US" altLang="zh-CN" sz="2000" baseline="-25000">
                <a:solidFill>
                  <a:srgbClr val="000000"/>
                </a:solidFill>
                <a:ea typeface="宋体" pitchFamily="2" charset="-122"/>
              </a:rPr>
              <a:t>1</a:t>
            </a: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000" baseline="-25000">
                <a:solidFill>
                  <a:srgbClr val="000000"/>
                </a:solidFill>
                <a:ea typeface="宋体" pitchFamily="2" charset="-122"/>
              </a:rPr>
              <a:t>K</a:t>
            </a:r>
            <a:r>
              <a:rPr lang="en-US" altLang="zh-CN" sz="2000" baseline="30000">
                <a:solidFill>
                  <a:srgbClr val="000000"/>
                </a:solidFill>
                <a:ea typeface="宋体" pitchFamily="2" charset="-122"/>
              </a:rPr>
              <a:t>*</a:t>
            </a:r>
          </a:p>
        </p:txBody>
      </p:sp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3849688" y="6172200"/>
            <a:ext cx="366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000" baseline="-25000">
                <a:solidFill>
                  <a:srgbClr val="000000"/>
                </a:solidFill>
                <a:ea typeface="宋体" pitchFamily="2" charset="-122"/>
              </a:rPr>
              <a:t>2</a:t>
            </a:r>
          </a:p>
        </p:txBody>
      </p:sp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6078538" y="6172200"/>
            <a:ext cx="3667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2000" baseline="-25000">
                <a:solidFill>
                  <a:srgbClr val="000000"/>
                </a:solidFill>
                <a:ea typeface="宋体" pitchFamily="2" charset="-122"/>
              </a:rPr>
              <a:t>3</a:t>
            </a:r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>
            <a:off x="1400175" y="6045200"/>
            <a:ext cx="0" cy="1095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>
            <a:off x="4052888" y="6045200"/>
            <a:ext cx="0" cy="1095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6281738" y="6045200"/>
            <a:ext cx="0" cy="1095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2747963" y="5621338"/>
            <a:ext cx="1587" cy="455612"/>
          </a:xfrm>
          <a:prstGeom prst="line">
            <a:avLst/>
          </a:prstGeom>
          <a:noFill/>
          <a:ln w="2540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>
            <a:off x="2747963" y="6045200"/>
            <a:ext cx="0" cy="10953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0" name="Line 18"/>
          <p:cNvSpPr>
            <a:spLocks noChangeShapeType="1"/>
          </p:cNvSpPr>
          <p:nvPr/>
        </p:nvSpPr>
        <p:spPr bwMode="auto">
          <a:xfrm>
            <a:off x="1409700" y="5611813"/>
            <a:ext cx="1300163" cy="1587"/>
          </a:xfrm>
          <a:prstGeom prst="line">
            <a:avLst/>
          </a:prstGeom>
          <a:noFill/>
          <a:ln w="2540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1" name="Line 19"/>
          <p:cNvSpPr>
            <a:spLocks noChangeShapeType="1"/>
          </p:cNvSpPr>
          <p:nvPr/>
        </p:nvSpPr>
        <p:spPr bwMode="auto">
          <a:xfrm>
            <a:off x="4052888" y="5183188"/>
            <a:ext cx="1587" cy="893762"/>
          </a:xfrm>
          <a:prstGeom prst="line">
            <a:avLst/>
          </a:prstGeom>
          <a:noFill/>
          <a:ln w="2540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2" name="Line 20"/>
          <p:cNvSpPr>
            <a:spLocks noChangeShapeType="1"/>
          </p:cNvSpPr>
          <p:nvPr/>
        </p:nvSpPr>
        <p:spPr bwMode="auto">
          <a:xfrm>
            <a:off x="1414463" y="5159375"/>
            <a:ext cx="2614612" cy="1588"/>
          </a:xfrm>
          <a:prstGeom prst="line">
            <a:avLst/>
          </a:prstGeom>
          <a:noFill/>
          <a:ln w="2540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3" name="Rectangle 21"/>
          <p:cNvSpPr>
            <a:spLocks noChangeArrowheads="1"/>
          </p:cNvSpPr>
          <p:nvPr/>
        </p:nvSpPr>
        <p:spPr bwMode="auto">
          <a:xfrm>
            <a:off x="938213" y="5895975"/>
            <a:ext cx="292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1800">
                <a:solidFill>
                  <a:srgbClr val="000000"/>
                </a:solidFill>
                <a:ea typeface="宋体" pitchFamily="2" charset="-122"/>
              </a:rPr>
              <a:t>0</a:t>
            </a:r>
          </a:p>
        </p:txBody>
      </p:sp>
      <p:sp>
        <p:nvSpPr>
          <p:cNvPr id="18454" name="Rectangle 22"/>
          <p:cNvSpPr>
            <a:spLocks noChangeArrowheads="1"/>
          </p:cNvSpPr>
          <p:nvPr/>
        </p:nvSpPr>
        <p:spPr bwMode="auto">
          <a:xfrm>
            <a:off x="938213" y="5457825"/>
            <a:ext cx="454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1800">
                <a:solidFill>
                  <a:srgbClr val="000000"/>
                </a:solidFill>
                <a:ea typeface="宋体" pitchFamily="2" charset="-122"/>
              </a:rPr>
              <a:t>M</a:t>
            </a:r>
            <a:r>
              <a:rPr lang="en-US" altLang="zh-CN" sz="1800" baseline="-25000">
                <a:solidFill>
                  <a:srgbClr val="000000"/>
                </a:solidFill>
                <a:ea typeface="宋体" pitchFamily="2" charset="-122"/>
              </a:rPr>
              <a:t>1</a:t>
            </a:r>
          </a:p>
        </p:txBody>
      </p:sp>
      <p:sp>
        <p:nvSpPr>
          <p:cNvPr id="18455" name="Rectangle 23"/>
          <p:cNvSpPr>
            <a:spLocks noChangeArrowheads="1"/>
          </p:cNvSpPr>
          <p:nvPr/>
        </p:nvSpPr>
        <p:spPr bwMode="auto">
          <a:xfrm>
            <a:off x="938213" y="4962525"/>
            <a:ext cx="4651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1800">
                <a:solidFill>
                  <a:srgbClr val="000000"/>
                </a:solidFill>
                <a:ea typeface="宋体" pitchFamily="2" charset="-122"/>
              </a:rPr>
              <a:t>M</a:t>
            </a:r>
            <a:r>
              <a:rPr lang="en-US" altLang="zh-CN" sz="1800" baseline="-25000">
                <a:solidFill>
                  <a:srgbClr val="000000"/>
                </a:solidFill>
                <a:ea typeface="宋体" pitchFamily="2" charset="-122"/>
              </a:rPr>
              <a:t>2</a:t>
            </a:r>
          </a:p>
        </p:txBody>
      </p:sp>
      <p:sp>
        <p:nvSpPr>
          <p:cNvPr id="18456" name="Rectangle 24"/>
          <p:cNvSpPr>
            <a:spLocks noChangeArrowheads="1"/>
          </p:cNvSpPr>
          <p:nvPr/>
        </p:nvSpPr>
        <p:spPr bwMode="auto">
          <a:xfrm>
            <a:off x="1965325" y="5772150"/>
            <a:ext cx="823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1600">
                <a:solidFill>
                  <a:srgbClr val="000080"/>
                </a:solidFill>
                <a:ea typeface="宋体" pitchFamily="2" charset="-122"/>
              </a:rPr>
              <a:t>Outage</a:t>
            </a:r>
          </a:p>
        </p:txBody>
      </p:sp>
      <p:sp>
        <p:nvSpPr>
          <p:cNvPr id="18457" name="Rectangle 25"/>
          <p:cNvSpPr>
            <a:spLocks noChangeArrowheads="1"/>
          </p:cNvSpPr>
          <p:nvPr/>
        </p:nvSpPr>
        <p:spPr bwMode="auto">
          <a:xfrm>
            <a:off x="3281363" y="5543550"/>
            <a:ext cx="4762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1600">
                <a:solidFill>
                  <a:srgbClr val="000080"/>
                </a:solidFill>
                <a:ea typeface="宋体" pitchFamily="2" charset="-122"/>
              </a:rPr>
              <a:t>M</a:t>
            </a:r>
            <a:r>
              <a:rPr lang="en-US" altLang="zh-CN" sz="1600" baseline="-25000">
                <a:solidFill>
                  <a:srgbClr val="000080"/>
                </a:solidFill>
                <a:ea typeface="宋体" pitchFamily="2" charset="-122"/>
              </a:rPr>
              <a:t>1</a:t>
            </a:r>
            <a:r>
              <a:rPr lang="en-US" altLang="zh-CN" sz="1600">
                <a:solidFill>
                  <a:srgbClr val="000080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18458" name="Line 26"/>
          <p:cNvSpPr>
            <a:spLocks noChangeShapeType="1"/>
          </p:cNvSpPr>
          <p:nvPr/>
        </p:nvSpPr>
        <p:spPr bwMode="auto">
          <a:xfrm flipH="1">
            <a:off x="6272213" y="4362450"/>
            <a:ext cx="6350" cy="1708150"/>
          </a:xfrm>
          <a:prstGeom prst="line">
            <a:avLst/>
          </a:prstGeom>
          <a:noFill/>
          <a:ln w="2540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9" name="Line 27"/>
          <p:cNvSpPr>
            <a:spLocks noChangeShapeType="1"/>
          </p:cNvSpPr>
          <p:nvPr/>
        </p:nvSpPr>
        <p:spPr bwMode="auto">
          <a:xfrm flipV="1">
            <a:off x="1400175" y="4375150"/>
            <a:ext cx="4846638" cy="1588"/>
          </a:xfrm>
          <a:prstGeom prst="line">
            <a:avLst/>
          </a:prstGeom>
          <a:noFill/>
          <a:ln w="2540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0" name="Rectangle 28"/>
          <p:cNvSpPr>
            <a:spLocks noChangeArrowheads="1"/>
          </p:cNvSpPr>
          <p:nvPr/>
        </p:nvSpPr>
        <p:spPr bwMode="auto">
          <a:xfrm>
            <a:off x="887413" y="4119563"/>
            <a:ext cx="4651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1800">
                <a:solidFill>
                  <a:srgbClr val="000000"/>
                </a:solidFill>
                <a:ea typeface="宋体" pitchFamily="2" charset="-122"/>
              </a:rPr>
              <a:t>M</a:t>
            </a:r>
            <a:r>
              <a:rPr lang="en-US" altLang="zh-CN" sz="1800" baseline="-25000">
                <a:solidFill>
                  <a:srgbClr val="000000"/>
                </a:solidFill>
                <a:ea typeface="宋体" pitchFamily="2" charset="-122"/>
              </a:rPr>
              <a:t>3</a:t>
            </a:r>
          </a:p>
        </p:txBody>
      </p:sp>
      <p:sp>
        <p:nvSpPr>
          <p:cNvPr id="18461" name="Rectangle 29"/>
          <p:cNvSpPr>
            <a:spLocks noChangeArrowheads="1"/>
          </p:cNvSpPr>
          <p:nvPr/>
        </p:nvSpPr>
        <p:spPr bwMode="auto">
          <a:xfrm>
            <a:off x="5165725" y="5276850"/>
            <a:ext cx="485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1600">
                <a:solidFill>
                  <a:srgbClr val="000080"/>
                </a:solidFill>
                <a:ea typeface="宋体" pitchFamily="2" charset="-122"/>
              </a:rPr>
              <a:t>M</a:t>
            </a:r>
            <a:r>
              <a:rPr lang="en-US" altLang="zh-CN" sz="1600" baseline="-25000">
                <a:solidFill>
                  <a:srgbClr val="000080"/>
                </a:solidFill>
                <a:ea typeface="宋体" pitchFamily="2" charset="-122"/>
              </a:rPr>
              <a:t>2</a:t>
            </a:r>
            <a:r>
              <a:rPr lang="en-US" altLang="zh-CN" sz="1600">
                <a:solidFill>
                  <a:srgbClr val="000080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18462" name="Rectangle 30"/>
          <p:cNvSpPr>
            <a:spLocks noChangeArrowheads="1"/>
          </p:cNvSpPr>
          <p:nvPr/>
        </p:nvSpPr>
        <p:spPr bwMode="auto">
          <a:xfrm>
            <a:off x="7073900" y="4879975"/>
            <a:ext cx="434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1600">
                <a:solidFill>
                  <a:srgbClr val="000080"/>
                </a:solidFill>
                <a:ea typeface="宋体" pitchFamily="2" charset="-122"/>
              </a:rPr>
              <a:t>M</a:t>
            </a:r>
            <a:r>
              <a:rPr lang="en-US" altLang="zh-CN" sz="1600" baseline="-25000">
                <a:solidFill>
                  <a:srgbClr val="000080"/>
                </a:solidFill>
                <a:ea typeface="宋体" pitchFamily="2" charset="-122"/>
              </a:rPr>
              <a:t>3</a:t>
            </a:r>
            <a:endParaRPr lang="en-US" altLang="zh-CN" sz="1600">
              <a:solidFill>
                <a:srgbClr val="000080"/>
              </a:solidFill>
              <a:ea typeface="宋体" pitchFamily="2" charset="-122"/>
            </a:endParaRPr>
          </a:p>
        </p:txBody>
      </p:sp>
      <p:sp>
        <p:nvSpPr>
          <p:cNvPr id="18463" name="Rectangle 31"/>
          <p:cNvSpPr>
            <a:spLocks noChangeArrowheads="1"/>
          </p:cNvSpPr>
          <p:nvPr/>
        </p:nvSpPr>
        <p:spPr bwMode="auto">
          <a:xfrm>
            <a:off x="441325" y="4589463"/>
            <a:ext cx="76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1800">
                <a:solidFill>
                  <a:srgbClr val="000000"/>
                </a:solidFill>
                <a:ea typeface="宋体" pitchFamily="2" charset="-122"/>
              </a:rPr>
              <a:t>M</a:t>
            </a:r>
            <a:r>
              <a:rPr lang="en-US" altLang="zh-CN" sz="1800" baseline="-25000">
                <a:solidFill>
                  <a:srgbClr val="000000"/>
                </a:solidFill>
                <a:ea typeface="宋体" pitchFamily="2" charset="-122"/>
              </a:rPr>
              <a:t>D</a:t>
            </a:r>
            <a:r>
              <a:rPr lang="en-US" altLang="zh-CN" sz="1800">
                <a:solidFill>
                  <a:srgbClr val="000000"/>
                </a:solidFill>
                <a:ea typeface="宋体" pitchFamily="2" charset="-122"/>
              </a:rPr>
              <a:t>(</a:t>
            </a:r>
            <a:r>
              <a:rPr lang="en-US" altLang="zh-CN" sz="1800">
                <a:solidFill>
                  <a:srgbClr val="000000"/>
                </a:solidFill>
                <a:latin typeface="Symbol" pitchFamily="18" charset="2"/>
                <a:ea typeface="宋体" pitchFamily="2" charset="-122"/>
              </a:rPr>
              <a:t>g</a:t>
            </a:r>
            <a:r>
              <a:rPr lang="en-US" altLang="zh-CN" sz="1800">
                <a:solidFill>
                  <a:srgbClr val="000000"/>
                </a:solidFill>
                <a:ea typeface="宋体" pitchFamily="2" charset="-122"/>
              </a:rPr>
              <a:t>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Constellation Restriction</a:t>
            </a: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3" y="2138363"/>
            <a:ext cx="6815137" cy="339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Power Adaptation</a:t>
            </a: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1682750" y="1654175"/>
          <a:ext cx="2293938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60097" imgH="394412" progId="Equation.3">
                  <p:embed/>
                </p:oleObj>
              </mc:Choice>
              <mc:Fallback>
                <p:oleObj name="公式" r:id="rId2" imgW="1260097" imgH="3944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1654175"/>
                        <a:ext cx="2293938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4892675" y="1631950"/>
          <a:ext cx="22336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70966" imgH="394412" progId="Equation.3">
                  <p:embed/>
                </p:oleObj>
              </mc:Choice>
              <mc:Fallback>
                <p:oleObj name="公式" r:id="rId4" imgW="1170966" imgH="3944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2675" y="1631950"/>
                        <a:ext cx="223361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4264025" y="2613025"/>
          <a:ext cx="15097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67445" imgH="445292" progId="Equation.3">
                  <p:embed/>
                </p:oleObj>
              </mc:Choice>
              <mc:Fallback>
                <p:oleObj name="公式" r:id="rId6" imgW="967445" imgH="44529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4025" y="2613025"/>
                        <a:ext cx="15097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3465513"/>
            <a:ext cx="4699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688" y="3282950"/>
            <a:ext cx="43434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>
                <a:ea typeface="宋体" pitchFamily="2" charset="-122"/>
              </a:rPr>
              <a:t>Average Rate</a:t>
            </a:r>
          </a:p>
        </p:txBody>
      </p:sp>
      <p:pic>
        <p:nvPicPr>
          <p:cNvPr id="2150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19175" y="1879600"/>
            <a:ext cx="7200900" cy="4216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16565" imgH="216151" progId="Equation.3">
                  <p:embed/>
                </p:oleObj>
              </mc:Choice>
              <mc:Fallback>
                <p:oleObj name="公式" r:id="rId3" imgW="916565" imgH="21615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5073650" y="4222750"/>
          <a:ext cx="28178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664215" imgH="444415" progId="Equation.3">
                  <p:embed/>
                </p:oleObj>
              </mc:Choice>
              <mc:Fallback>
                <p:oleObj name="公式" r:id="rId5" imgW="1664215" imgH="44441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4222750"/>
                        <a:ext cx="281781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8201025" cy="1143000"/>
          </a:xfrm>
        </p:spPr>
        <p:txBody>
          <a:bodyPr/>
          <a:lstStyle/>
          <a:p>
            <a:r>
              <a:rPr lang="en-US" altLang="zh-CN" sz="3600">
                <a:ea typeface="宋体" pitchFamily="2" charset="-122"/>
              </a:rPr>
              <a:t>Rate and Power Adaptation-Five Regions</a:t>
            </a:r>
          </a:p>
        </p:txBody>
      </p:sp>
      <p:pic>
        <p:nvPicPr>
          <p:cNvPr id="2253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0438" y="1844675"/>
            <a:ext cx="7397750" cy="4241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/>
          </p:cNvGraphicFramePr>
          <p:nvPr/>
        </p:nvGraphicFramePr>
        <p:xfrm>
          <a:off x="1657350" y="2058988"/>
          <a:ext cx="6153150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6745" imgH="66745" progId="">
                  <p:embed/>
                </p:oleObj>
              </mc:Choice>
              <mc:Fallback>
                <p:oleObj r:id="rId2" imgW="66745" imgH="66745" progId="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2058988"/>
                        <a:ext cx="6153150" cy="428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20688" y="228600"/>
            <a:ext cx="8723312" cy="1143000"/>
          </a:xfrm>
          <a:noFill/>
        </p:spPr>
        <p:txBody>
          <a:bodyPr/>
          <a:lstStyle/>
          <a:p>
            <a:r>
              <a:rPr lang="en-US" altLang="zh-CN" sz="4000">
                <a:ea typeface="宋体" pitchFamily="2" charset="-122"/>
              </a:rPr>
              <a:t>Efficiency in Log-Normal Shadowing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1981200"/>
            <a:ext cx="7848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6311900" y="5346700"/>
            <a:ext cx="0" cy="5334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6302375" y="5380038"/>
            <a:ext cx="7366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 flipV="1">
            <a:off x="7038975" y="4833938"/>
            <a:ext cx="0" cy="5238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 flipV="1">
            <a:off x="3424238" y="4838700"/>
            <a:ext cx="0" cy="528638"/>
          </a:xfrm>
          <a:prstGeom prst="line">
            <a:avLst/>
          </a:prstGeom>
          <a:noFill/>
          <a:ln w="25400">
            <a:solidFill>
              <a:srgbClr val="CC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7019925" y="4862513"/>
            <a:ext cx="709613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>
            <a:off x="2152650" y="5357813"/>
            <a:ext cx="1252538" cy="0"/>
          </a:xfrm>
          <a:prstGeom prst="line">
            <a:avLst/>
          </a:prstGeom>
          <a:noFill/>
          <a:ln w="25400">
            <a:solidFill>
              <a:srgbClr val="CC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>
            <a:off x="3395663" y="4852988"/>
            <a:ext cx="2533650" cy="0"/>
          </a:xfrm>
          <a:prstGeom prst="line">
            <a:avLst/>
          </a:prstGeom>
          <a:noFill/>
          <a:ln w="25400">
            <a:solidFill>
              <a:srgbClr val="CC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 flipV="1">
            <a:off x="5962650" y="3776663"/>
            <a:ext cx="0" cy="1047750"/>
          </a:xfrm>
          <a:prstGeom prst="line">
            <a:avLst/>
          </a:prstGeom>
          <a:noFill/>
          <a:ln w="25400">
            <a:solidFill>
              <a:srgbClr val="CC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5" name="Line 13"/>
          <p:cNvSpPr>
            <a:spLocks noChangeShapeType="1"/>
          </p:cNvSpPr>
          <p:nvPr/>
        </p:nvSpPr>
        <p:spPr bwMode="auto">
          <a:xfrm>
            <a:off x="5943600" y="3771900"/>
            <a:ext cx="1800225" cy="0"/>
          </a:xfrm>
          <a:prstGeom prst="line">
            <a:avLst/>
          </a:prstGeom>
          <a:noFill/>
          <a:ln w="25400">
            <a:solidFill>
              <a:srgbClr val="CC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6" name="Line 14"/>
          <p:cNvSpPr>
            <a:spLocks noChangeShapeType="1"/>
          </p:cNvSpPr>
          <p:nvPr/>
        </p:nvSpPr>
        <p:spPr bwMode="auto">
          <a:xfrm flipV="1">
            <a:off x="3567113" y="4424363"/>
            <a:ext cx="152400" cy="6985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 flipV="1">
            <a:off x="3698875" y="4373563"/>
            <a:ext cx="133350" cy="635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 flipV="1">
            <a:off x="3838575" y="4305300"/>
            <a:ext cx="157163" cy="7143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9" name="Line 17"/>
          <p:cNvSpPr>
            <a:spLocks noChangeShapeType="1"/>
          </p:cNvSpPr>
          <p:nvPr/>
        </p:nvSpPr>
        <p:spPr bwMode="auto">
          <a:xfrm flipV="1">
            <a:off x="3995738" y="4243388"/>
            <a:ext cx="128587" cy="6667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0" name="Line 18"/>
          <p:cNvSpPr>
            <a:spLocks noChangeShapeType="1"/>
          </p:cNvSpPr>
          <p:nvPr/>
        </p:nvSpPr>
        <p:spPr bwMode="auto">
          <a:xfrm flipV="1">
            <a:off x="4248150" y="4010025"/>
            <a:ext cx="333375" cy="18097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1" name="Line 19"/>
          <p:cNvSpPr>
            <a:spLocks noChangeShapeType="1"/>
          </p:cNvSpPr>
          <p:nvPr/>
        </p:nvSpPr>
        <p:spPr bwMode="auto">
          <a:xfrm flipV="1">
            <a:off x="4572000" y="3781425"/>
            <a:ext cx="438150" cy="233363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2" name="Line 20"/>
          <p:cNvSpPr>
            <a:spLocks noChangeShapeType="1"/>
          </p:cNvSpPr>
          <p:nvPr/>
        </p:nvSpPr>
        <p:spPr bwMode="auto">
          <a:xfrm flipV="1">
            <a:off x="5000625" y="3352800"/>
            <a:ext cx="757238" cy="4333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3" name="Line 21"/>
          <p:cNvSpPr>
            <a:spLocks noChangeShapeType="1"/>
          </p:cNvSpPr>
          <p:nvPr/>
        </p:nvSpPr>
        <p:spPr bwMode="auto">
          <a:xfrm flipV="1">
            <a:off x="5753100" y="2990850"/>
            <a:ext cx="590550" cy="366713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4" name="Line 22"/>
          <p:cNvSpPr>
            <a:spLocks noChangeShapeType="1"/>
          </p:cNvSpPr>
          <p:nvPr/>
        </p:nvSpPr>
        <p:spPr bwMode="auto">
          <a:xfrm flipV="1">
            <a:off x="6343650" y="2605088"/>
            <a:ext cx="600075" cy="39052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5" name="Line 23"/>
          <p:cNvSpPr>
            <a:spLocks noChangeShapeType="1"/>
          </p:cNvSpPr>
          <p:nvPr/>
        </p:nvSpPr>
        <p:spPr bwMode="auto">
          <a:xfrm flipV="1">
            <a:off x="6938963" y="2195513"/>
            <a:ext cx="642937" cy="41433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6" name="Line 24"/>
          <p:cNvSpPr>
            <a:spLocks noChangeShapeType="1"/>
          </p:cNvSpPr>
          <p:nvPr/>
        </p:nvSpPr>
        <p:spPr bwMode="auto">
          <a:xfrm>
            <a:off x="2471738" y="2481263"/>
            <a:ext cx="13335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7" name="Line 25"/>
          <p:cNvSpPr>
            <a:spLocks noChangeShapeType="1"/>
          </p:cNvSpPr>
          <p:nvPr/>
        </p:nvSpPr>
        <p:spPr bwMode="auto">
          <a:xfrm>
            <a:off x="2471738" y="3143250"/>
            <a:ext cx="133350" cy="0"/>
          </a:xfrm>
          <a:prstGeom prst="line">
            <a:avLst/>
          </a:prstGeom>
          <a:noFill/>
          <a:ln w="25400">
            <a:solidFill>
              <a:srgbClr val="CC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8" name="Line 26"/>
          <p:cNvSpPr>
            <a:spLocks noChangeShapeType="1"/>
          </p:cNvSpPr>
          <p:nvPr/>
        </p:nvSpPr>
        <p:spPr bwMode="auto">
          <a:xfrm>
            <a:off x="2471738" y="3371850"/>
            <a:ext cx="1333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9" name="Oval 27"/>
          <p:cNvSpPr>
            <a:spLocks noChangeArrowheads="1"/>
          </p:cNvSpPr>
          <p:nvPr/>
        </p:nvSpPr>
        <p:spPr bwMode="auto">
          <a:xfrm>
            <a:off x="2620963" y="4840288"/>
            <a:ext cx="82550" cy="68262"/>
          </a:xfrm>
          <a:prstGeom prst="ellipse">
            <a:avLst/>
          </a:prstGeom>
          <a:solidFill>
            <a:srgbClr val="00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80" name="Oval 28"/>
          <p:cNvSpPr>
            <a:spLocks noChangeArrowheads="1"/>
          </p:cNvSpPr>
          <p:nvPr/>
        </p:nvSpPr>
        <p:spPr bwMode="auto">
          <a:xfrm>
            <a:off x="3387725" y="4554538"/>
            <a:ext cx="82550" cy="68262"/>
          </a:xfrm>
          <a:prstGeom prst="ellipse">
            <a:avLst/>
          </a:prstGeom>
          <a:solidFill>
            <a:srgbClr val="00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81" name="Line 29"/>
          <p:cNvSpPr>
            <a:spLocks noChangeShapeType="1"/>
          </p:cNvSpPr>
          <p:nvPr/>
        </p:nvSpPr>
        <p:spPr bwMode="auto">
          <a:xfrm flipV="1">
            <a:off x="2667000" y="4635500"/>
            <a:ext cx="571500" cy="20955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2" name="Line 30"/>
          <p:cNvSpPr>
            <a:spLocks noChangeShapeType="1"/>
          </p:cNvSpPr>
          <p:nvPr/>
        </p:nvSpPr>
        <p:spPr bwMode="auto">
          <a:xfrm flipV="1">
            <a:off x="3228975" y="4491038"/>
            <a:ext cx="342900" cy="14605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3" name="Oval 31"/>
          <p:cNvSpPr>
            <a:spLocks noChangeArrowheads="1"/>
          </p:cNvSpPr>
          <p:nvPr/>
        </p:nvSpPr>
        <p:spPr bwMode="auto">
          <a:xfrm>
            <a:off x="4144963" y="4225925"/>
            <a:ext cx="82550" cy="68263"/>
          </a:xfrm>
          <a:prstGeom prst="ellipse">
            <a:avLst/>
          </a:prstGeom>
          <a:solidFill>
            <a:srgbClr val="00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84" name="Oval 32"/>
          <p:cNvSpPr>
            <a:spLocks noChangeArrowheads="1"/>
          </p:cNvSpPr>
          <p:nvPr/>
        </p:nvSpPr>
        <p:spPr bwMode="auto">
          <a:xfrm>
            <a:off x="4906963" y="3849688"/>
            <a:ext cx="82550" cy="68262"/>
          </a:xfrm>
          <a:prstGeom prst="ellipse">
            <a:avLst/>
          </a:prstGeom>
          <a:solidFill>
            <a:srgbClr val="00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85" name="Line 33"/>
          <p:cNvSpPr>
            <a:spLocks noChangeShapeType="1"/>
          </p:cNvSpPr>
          <p:nvPr/>
        </p:nvSpPr>
        <p:spPr bwMode="auto">
          <a:xfrm flipV="1">
            <a:off x="4119563" y="4181475"/>
            <a:ext cx="138112" cy="61913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6" name="Oval 34"/>
          <p:cNvSpPr>
            <a:spLocks noChangeArrowheads="1"/>
          </p:cNvSpPr>
          <p:nvPr/>
        </p:nvSpPr>
        <p:spPr bwMode="auto">
          <a:xfrm>
            <a:off x="5921375" y="3292475"/>
            <a:ext cx="82550" cy="68263"/>
          </a:xfrm>
          <a:prstGeom prst="ellipse">
            <a:avLst/>
          </a:prstGeom>
          <a:solidFill>
            <a:srgbClr val="00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87" name="Oval 35"/>
          <p:cNvSpPr>
            <a:spLocks noChangeArrowheads="1"/>
          </p:cNvSpPr>
          <p:nvPr/>
        </p:nvSpPr>
        <p:spPr bwMode="auto">
          <a:xfrm>
            <a:off x="7192963" y="2592388"/>
            <a:ext cx="82550" cy="68262"/>
          </a:xfrm>
          <a:prstGeom prst="ellipse">
            <a:avLst/>
          </a:prstGeom>
          <a:solidFill>
            <a:srgbClr val="00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88" name="Oval 36"/>
          <p:cNvSpPr>
            <a:spLocks noChangeArrowheads="1"/>
          </p:cNvSpPr>
          <p:nvPr/>
        </p:nvSpPr>
        <p:spPr bwMode="auto">
          <a:xfrm>
            <a:off x="2520950" y="2673350"/>
            <a:ext cx="82550" cy="68263"/>
          </a:xfrm>
          <a:prstGeom prst="ellipse">
            <a:avLst/>
          </a:prstGeom>
          <a:solidFill>
            <a:srgbClr val="0099CC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89" name="Rectangle 37"/>
          <p:cNvSpPr>
            <a:spLocks noChangeArrowheads="1"/>
          </p:cNvSpPr>
          <p:nvPr/>
        </p:nvSpPr>
        <p:spPr bwMode="auto">
          <a:xfrm>
            <a:off x="2797175" y="4840288"/>
            <a:ext cx="73025" cy="73025"/>
          </a:xfrm>
          <a:prstGeom prst="rect">
            <a:avLst/>
          </a:prstGeom>
          <a:solidFill>
            <a:srgbClr val="CC66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90" name="Rectangle 38"/>
          <p:cNvSpPr>
            <a:spLocks noChangeArrowheads="1"/>
          </p:cNvSpPr>
          <p:nvPr/>
        </p:nvSpPr>
        <p:spPr bwMode="auto">
          <a:xfrm>
            <a:off x="3621088" y="4554538"/>
            <a:ext cx="73025" cy="73025"/>
          </a:xfrm>
          <a:prstGeom prst="rect">
            <a:avLst/>
          </a:prstGeom>
          <a:solidFill>
            <a:srgbClr val="CC66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91" name="Rectangle 39"/>
          <p:cNvSpPr>
            <a:spLocks noChangeArrowheads="1"/>
          </p:cNvSpPr>
          <p:nvPr/>
        </p:nvSpPr>
        <p:spPr bwMode="auto">
          <a:xfrm>
            <a:off x="4378325" y="4221163"/>
            <a:ext cx="73025" cy="73025"/>
          </a:xfrm>
          <a:prstGeom prst="rect">
            <a:avLst/>
          </a:prstGeom>
          <a:solidFill>
            <a:srgbClr val="CC66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92" name="Rectangle 40"/>
          <p:cNvSpPr>
            <a:spLocks noChangeArrowheads="1"/>
          </p:cNvSpPr>
          <p:nvPr/>
        </p:nvSpPr>
        <p:spPr bwMode="auto">
          <a:xfrm>
            <a:off x="5149850" y="3844925"/>
            <a:ext cx="73025" cy="73025"/>
          </a:xfrm>
          <a:prstGeom prst="rect">
            <a:avLst/>
          </a:prstGeom>
          <a:solidFill>
            <a:srgbClr val="CC66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93" name="Rectangle 41"/>
          <p:cNvSpPr>
            <a:spLocks noChangeArrowheads="1"/>
          </p:cNvSpPr>
          <p:nvPr/>
        </p:nvSpPr>
        <p:spPr bwMode="auto">
          <a:xfrm>
            <a:off x="6259513" y="3297238"/>
            <a:ext cx="73025" cy="73025"/>
          </a:xfrm>
          <a:prstGeom prst="rect">
            <a:avLst/>
          </a:prstGeom>
          <a:solidFill>
            <a:srgbClr val="CC66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94" name="Rectangle 42"/>
          <p:cNvSpPr>
            <a:spLocks noChangeArrowheads="1"/>
          </p:cNvSpPr>
          <p:nvPr/>
        </p:nvSpPr>
        <p:spPr bwMode="auto">
          <a:xfrm>
            <a:off x="7602538" y="2592388"/>
            <a:ext cx="73025" cy="73025"/>
          </a:xfrm>
          <a:prstGeom prst="rect">
            <a:avLst/>
          </a:prstGeom>
          <a:solidFill>
            <a:srgbClr val="CC66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95" name="Rectangle 43"/>
          <p:cNvSpPr>
            <a:spLocks noChangeArrowheads="1"/>
          </p:cNvSpPr>
          <p:nvPr/>
        </p:nvSpPr>
        <p:spPr bwMode="auto">
          <a:xfrm>
            <a:off x="2530475" y="2892425"/>
            <a:ext cx="73025" cy="73025"/>
          </a:xfrm>
          <a:prstGeom prst="rect">
            <a:avLst/>
          </a:prstGeom>
          <a:solidFill>
            <a:srgbClr val="CC66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3596" name="Rectangle 44"/>
          <p:cNvSpPr>
            <a:spLocks noChangeArrowheads="1"/>
          </p:cNvSpPr>
          <p:nvPr/>
        </p:nvSpPr>
        <p:spPr bwMode="auto">
          <a:xfrm rot="-5400000">
            <a:off x="238125" y="3817938"/>
            <a:ext cx="3011488" cy="36671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1800">
                <a:solidFill>
                  <a:srgbClr val="000000"/>
                </a:solidFill>
                <a:ea typeface="宋体" pitchFamily="2" charset="-122"/>
              </a:rPr>
              <a:t>Spectral Efficiency (bps/Hz)</a:t>
            </a:r>
          </a:p>
        </p:txBody>
      </p:sp>
      <p:sp>
        <p:nvSpPr>
          <p:cNvPr id="23597" name="Rectangle 45"/>
          <p:cNvSpPr>
            <a:spLocks noChangeArrowheads="1"/>
          </p:cNvSpPr>
          <p:nvPr/>
        </p:nvSpPr>
        <p:spPr bwMode="auto">
          <a:xfrm>
            <a:off x="3629025" y="6140450"/>
            <a:ext cx="1990725" cy="3667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charset="0"/>
              <a:buNone/>
            </a:pPr>
            <a:r>
              <a:rPr lang="en-US" altLang="zh-CN" sz="1800">
                <a:solidFill>
                  <a:srgbClr val="000000"/>
                </a:solidFill>
                <a:ea typeface="宋体" pitchFamily="2" charset="-122"/>
              </a:rPr>
              <a:t>Average SNR (dB)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153400" cy="1143000"/>
          </a:xfrm>
        </p:spPr>
        <p:txBody>
          <a:bodyPr/>
          <a:lstStyle/>
          <a:p>
            <a:r>
              <a:rPr lang="en-US" altLang="zh-CN" sz="4000">
                <a:ea typeface="宋体" pitchFamily="2" charset="-122"/>
              </a:rPr>
              <a:t>Channel Estimation Error and Delay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692275"/>
            <a:ext cx="73152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50" y="5111750"/>
            <a:ext cx="4610100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868363" y="4313238"/>
            <a:ext cx="4484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1">
                <a:solidFill>
                  <a:srgbClr val="000000"/>
                </a:solidFill>
                <a:ea typeface="宋体" pitchFamily="2" charset="-122"/>
              </a:rPr>
              <a:t>right side derived by substituting</a:t>
            </a: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5700713" y="4189413"/>
          <a:ext cx="240030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58607" imgH="393945" progId="Equation.3">
                  <p:embed/>
                </p:oleObj>
              </mc:Choice>
              <mc:Fallback>
                <p:oleObj name="公式" r:id="rId4" imgW="1258607" imgH="39394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0713" y="4189413"/>
                        <a:ext cx="2400300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019176"/>
              </p:ext>
            </p:extLst>
          </p:nvPr>
        </p:nvGraphicFramePr>
        <p:xfrm>
          <a:off x="5533992" y="5217644"/>
          <a:ext cx="1492558" cy="952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560" imgH="469800" progId="Equation.DSMT4">
                  <p:embed/>
                </p:oleObj>
              </mc:Choice>
              <mc:Fallback>
                <p:oleObj name="Equation" r:id="rId6" imgW="7365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33992" y="5217644"/>
                        <a:ext cx="1492558" cy="9521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196263" cy="1143000"/>
          </a:xfrm>
        </p:spPr>
        <p:txBody>
          <a:bodyPr/>
          <a:lstStyle/>
          <a:p>
            <a:r>
              <a:rPr lang="zh-CN" altLang="en-US" sz="4000">
                <a:ea typeface="宋体" pitchFamily="2" charset="-122"/>
              </a:rPr>
              <a:t>Channel Estimation Error and Delay</a:t>
            </a:r>
          </a:p>
        </p:txBody>
      </p:sp>
      <p:pic>
        <p:nvPicPr>
          <p:cNvPr id="2560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55700" y="1763713"/>
            <a:ext cx="6738938" cy="4537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255000" cy="1143000"/>
          </a:xfrm>
        </p:spPr>
        <p:txBody>
          <a:bodyPr/>
          <a:lstStyle/>
          <a:p>
            <a:r>
              <a:rPr lang="zh-CN" altLang="en-US" sz="4000">
                <a:ea typeface="宋体" pitchFamily="2" charset="-122"/>
              </a:rPr>
              <a:t>Channel Estimation Error and Delay</a:t>
            </a:r>
          </a:p>
        </p:txBody>
      </p:sp>
      <p:pic>
        <p:nvPicPr>
          <p:cNvPr id="2662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9338" y="1776413"/>
            <a:ext cx="7315200" cy="4319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Main Points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ea typeface="宋体" pitchFamily="2" charset="-122"/>
              </a:rPr>
              <a:t>Adaptive modulation varies modulation parameters relative to fading to improve performance</a:t>
            </a:r>
          </a:p>
          <a:p>
            <a:pPr>
              <a:lnSpc>
                <a:spcPct val="100000"/>
              </a:lnSpc>
            </a:pPr>
            <a:r>
              <a:rPr lang="en-US" altLang="zh-CN" sz="2400" dirty="0">
                <a:ea typeface="宋体" pitchFamily="2" charset="-122"/>
              </a:rPr>
              <a:t>Adaptive MQAM uses capacity-achieving power and rate adaptation, with power penalty K</a:t>
            </a:r>
          </a:p>
          <a:p>
            <a:pPr>
              <a:lnSpc>
                <a:spcPct val="100000"/>
              </a:lnSpc>
            </a:pPr>
            <a:r>
              <a:rPr lang="en-US" altLang="zh-CN" sz="2400" dirty="0">
                <a:ea typeface="宋体" pitchFamily="2" charset="-122"/>
              </a:rPr>
              <a:t>Adaptive MQAM comes within 5-6dB of capacity</a:t>
            </a:r>
          </a:p>
          <a:p>
            <a:pPr>
              <a:lnSpc>
                <a:spcPct val="100000"/>
              </a:lnSpc>
            </a:pPr>
            <a:r>
              <a:rPr lang="en-US" altLang="zh-CN" sz="2400" dirty="0">
                <a:ea typeface="宋体" pitchFamily="2" charset="-122"/>
                <a:sym typeface="Symbol" pitchFamily="18" charset="2"/>
              </a:rPr>
              <a:t>Discretizing the constellation size results in negligible performance loss</a:t>
            </a:r>
          </a:p>
          <a:p>
            <a:pPr>
              <a:lnSpc>
                <a:spcPct val="100000"/>
              </a:lnSpc>
            </a:pPr>
            <a:r>
              <a:rPr lang="en-US" altLang="zh-CN" sz="2400" dirty="0">
                <a:ea typeface="宋体" pitchFamily="2" charset="-122"/>
              </a:rPr>
              <a:t>Constellation cannot be updated faster than 10s to 100s of symbol times: OK for most Dopplers</a:t>
            </a:r>
          </a:p>
          <a:p>
            <a:pPr>
              <a:lnSpc>
                <a:spcPct val="100000"/>
              </a:lnSpc>
            </a:pPr>
            <a:r>
              <a:rPr lang="en-US" altLang="zh-CN" sz="2400" dirty="0">
                <a:ea typeface="宋体" pitchFamily="2" charset="-122"/>
              </a:rPr>
              <a:t>Estimation error and delay lead to irreducible error floors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en-US" altLang="zh-CN" sz="24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>
              <a:ea typeface="宋体" pitchFamily="2" charset="-122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宋体" pitchFamily="2" charset="-122"/>
              </a:rPr>
              <a:t>Ex. 9.8</a:t>
            </a:r>
            <a:r>
              <a:rPr lang="en-US" altLang="zh-CN" dirty="0">
                <a:ea typeface="宋体" pitchFamily="2" charset="-122"/>
              </a:rPr>
              <a:t>(</a:t>
            </a:r>
            <a:r>
              <a:rPr lang="en-US" altLang="zh-CN" dirty="0" err="1">
                <a:ea typeface="宋体" pitchFamily="2" charset="-122"/>
              </a:rPr>
              <a:t>a,b</a:t>
            </a:r>
            <a:r>
              <a:rPr lang="en-US" altLang="zh-CN" dirty="0">
                <a:ea typeface="宋体" pitchFamily="2" charset="-122"/>
              </a:rPr>
              <a:t>)</a:t>
            </a:r>
            <a:r>
              <a:rPr lang="zh-CN" altLang="en-US" dirty="0">
                <a:ea typeface="宋体" pitchFamily="2" charset="-122"/>
              </a:rPr>
              <a:t>, 9.</a:t>
            </a:r>
            <a:r>
              <a:rPr lang="en-US" altLang="zh-CN" dirty="0">
                <a:ea typeface="宋体" pitchFamily="2" charset="-122"/>
              </a:rPr>
              <a:t>9(</a:t>
            </a:r>
            <a:r>
              <a:rPr lang="en-US" altLang="zh-CN" dirty="0" err="1">
                <a:ea typeface="宋体" pitchFamily="2" charset="-122"/>
              </a:rPr>
              <a:t>a,b</a:t>
            </a:r>
            <a:r>
              <a:rPr lang="en-US" altLang="zh-CN">
                <a:ea typeface="宋体" pitchFamily="2" charset="-122"/>
              </a:rPr>
              <a:t>)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Red">
  <a:themeElements>
    <a:clrScheme name="">
      <a:dk1>
        <a:srgbClr val="474747"/>
      </a:dk1>
      <a:lt1>
        <a:srgbClr val="FFFFFF"/>
      </a:lt1>
      <a:dk2>
        <a:srgbClr val="772655"/>
      </a:dk2>
      <a:lt2>
        <a:srgbClr val="00DFCA"/>
      </a:lt2>
      <a:accent1>
        <a:srgbClr val="DC0081"/>
      </a:accent1>
      <a:accent2>
        <a:srgbClr val="FAFD00"/>
      </a:accent2>
      <a:accent3>
        <a:srgbClr val="BDACB4"/>
      </a:accent3>
      <a:accent4>
        <a:srgbClr val="DADADA"/>
      </a:accent4>
      <a:accent5>
        <a:srgbClr val="EBAAC1"/>
      </a:accent5>
      <a:accent6>
        <a:srgbClr val="E3E500"/>
      </a:accent6>
      <a:hlink>
        <a:srgbClr val="FE9B03"/>
      </a:hlink>
      <a:folHlink>
        <a:srgbClr val="D989B8"/>
      </a:folHlink>
    </a:clrScheme>
    <a:fontScheme name="BlueRed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ueRe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Re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C:\MSOffice\Templates\BlueRed.pot</Template>
  <TotalTime>933</TotalTime>
  <Pages>0</Pages>
  <Words>542</Words>
  <Characters>0</Characters>
  <Application>Microsoft Office PowerPoint</Application>
  <DocSecurity>0</DocSecurity>
  <PresentationFormat>全屏显示(4:3)</PresentationFormat>
  <Lines>0</Lines>
  <Paragraphs>122</Paragraphs>
  <Slides>36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楷体</vt:lpstr>
      <vt:lpstr>宋体</vt:lpstr>
      <vt:lpstr>Arial</vt:lpstr>
      <vt:lpstr>Garamond</vt:lpstr>
      <vt:lpstr>Symbol</vt:lpstr>
      <vt:lpstr>Times New Roman</vt:lpstr>
      <vt:lpstr>Wingdings</vt:lpstr>
      <vt:lpstr>BlueRed</vt:lpstr>
      <vt:lpstr>Equation</vt:lpstr>
      <vt:lpstr>公式</vt:lpstr>
      <vt:lpstr>Wireless Digital Communications</vt:lpstr>
      <vt:lpstr>基本思路</vt:lpstr>
      <vt:lpstr>基本思路</vt:lpstr>
      <vt:lpstr>Nonadaptive Modulation</vt:lpstr>
      <vt:lpstr>Adaptive Modulation</vt:lpstr>
      <vt:lpstr>Adaptive Modulation</vt:lpstr>
      <vt:lpstr>Variable-Rate Techniques  (Variable Constellation Size)</vt:lpstr>
      <vt:lpstr>Variable-Power Techniques</vt:lpstr>
      <vt:lpstr>Variable-Power Techniques</vt:lpstr>
      <vt:lpstr>Spectral Efficiency for Channel Inversion with Fixed Rate</vt:lpstr>
      <vt:lpstr>Spectral Efficiency for Channel Inversion with Fixed Rate</vt:lpstr>
      <vt:lpstr>A Practical Scheme for  Power Control</vt:lpstr>
      <vt:lpstr>Variable-Rate Variable-Power MQAM</vt:lpstr>
      <vt:lpstr>Variable-Rate Variable-Power MQAM</vt:lpstr>
      <vt:lpstr>Optimization Formulation</vt:lpstr>
      <vt:lpstr>Optimization Formulation</vt:lpstr>
      <vt:lpstr>Optimal Adaptive Scheme</vt:lpstr>
      <vt:lpstr>Optimal Adaptive Scheme</vt:lpstr>
      <vt:lpstr>Spectral Efficiency  (Rayleigh Fading)</vt:lpstr>
      <vt:lpstr>Spectral Efficiency for Different Schemes (Rayleigh Fading)</vt:lpstr>
      <vt:lpstr>Example 4.4</vt:lpstr>
      <vt:lpstr>Example 4.4</vt:lpstr>
      <vt:lpstr>Example 4.4</vt:lpstr>
      <vt:lpstr>Compare Adaptive QAM (Pb=10^-3)with Example 4.4</vt:lpstr>
      <vt:lpstr>Discrete-Rate Adaptation</vt:lpstr>
      <vt:lpstr>Constellation Restriction</vt:lpstr>
      <vt:lpstr>Constellation Restriction</vt:lpstr>
      <vt:lpstr>Power Adaptation</vt:lpstr>
      <vt:lpstr>Average Rate</vt:lpstr>
      <vt:lpstr>Rate and Power Adaptation-Five Regions</vt:lpstr>
      <vt:lpstr>Efficiency in Log-Normal Shadowing</vt:lpstr>
      <vt:lpstr>Channel Estimation Error and Delay</vt:lpstr>
      <vt:lpstr>Channel Estimation Error and Delay</vt:lpstr>
      <vt:lpstr>Channel Estimation Error and Delay</vt:lpstr>
      <vt:lpstr>Main Points</vt:lpstr>
      <vt:lpstr>PowerPoint 演示文稿</vt:lpstr>
    </vt:vector>
  </TitlesOfParts>
  <Company>Cal Tech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Communications Research Overview</dc:title>
  <dc:creator>Andrea Goldsmith</dc:creator>
  <cp:lastModifiedBy>ZY J</cp:lastModifiedBy>
  <cp:revision>200</cp:revision>
  <cp:lastPrinted>2000-03-17T02:49:38Z</cp:lastPrinted>
  <dcterms:created xsi:type="dcterms:W3CDTF">1999-01-27T20:08:30Z</dcterms:created>
  <dcterms:modified xsi:type="dcterms:W3CDTF">2025-06-02T14:13:37Z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2052-9.1.0.4993</vt:lpwstr>
  </property>
</Properties>
</file>