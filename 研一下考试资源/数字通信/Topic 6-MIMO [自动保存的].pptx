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52"/>
  </p:notesMasterIdLst>
  <p:sldIdLst>
    <p:sldId id="400" r:id="rId3"/>
    <p:sldId id="403" r:id="rId4"/>
    <p:sldId id="404" r:id="rId5"/>
    <p:sldId id="405" r:id="rId6"/>
    <p:sldId id="406" r:id="rId7"/>
    <p:sldId id="407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437" r:id="rId16"/>
    <p:sldId id="439" r:id="rId17"/>
    <p:sldId id="441" r:id="rId18"/>
    <p:sldId id="416" r:id="rId19"/>
    <p:sldId id="481" r:id="rId20"/>
    <p:sldId id="482" r:id="rId21"/>
    <p:sldId id="435" r:id="rId22"/>
    <p:sldId id="436" r:id="rId23"/>
    <p:sldId id="483" r:id="rId24"/>
    <p:sldId id="419" r:id="rId25"/>
    <p:sldId id="420" r:id="rId26"/>
    <p:sldId id="421" r:id="rId27"/>
    <p:sldId id="494" r:id="rId28"/>
    <p:sldId id="422" r:id="rId29"/>
    <p:sldId id="492" r:id="rId30"/>
    <p:sldId id="423" r:id="rId31"/>
    <p:sldId id="495" r:id="rId32"/>
    <p:sldId id="424" r:id="rId33"/>
    <p:sldId id="425" r:id="rId34"/>
    <p:sldId id="426" r:id="rId35"/>
    <p:sldId id="427" r:id="rId36"/>
    <p:sldId id="484" r:id="rId37"/>
    <p:sldId id="396" r:id="rId38"/>
    <p:sldId id="493" r:id="rId39"/>
    <p:sldId id="428" r:id="rId40"/>
    <p:sldId id="496" r:id="rId41"/>
    <p:sldId id="429" r:id="rId42"/>
    <p:sldId id="485" r:id="rId43"/>
    <p:sldId id="486" r:id="rId44"/>
    <p:sldId id="487" r:id="rId45"/>
    <p:sldId id="488" r:id="rId46"/>
    <p:sldId id="490" r:id="rId47"/>
    <p:sldId id="491" r:id="rId48"/>
    <p:sldId id="399" r:id="rId49"/>
    <p:sldId id="431" r:id="rId50"/>
    <p:sldId id="489" r:id="rId5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000CC"/>
    <a:srgbClr val="33CC33"/>
    <a:srgbClr val="CC0099"/>
    <a:srgbClr val="990099"/>
    <a:srgbClr val="000066"/>
    <a:srgbClr val="00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1308" y="68"/>
      </p:cViewPr>
      <p:guideLst>
        <p:guide orient="horz" pos="2160"/>
        <p:guide pos="2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15" tIns="46507" rIns="93015" bIns="46507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15" tIns="46507" rIns="93015" bIns="46507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994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231900" y="719138"/>
            <a:ext cx="4851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4163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15" tIns="46507" rIns="93015" bIns="465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15" tIns="46507" rIns="93015" bIns="46507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15" tIns="46507" rIns="93015" bIns="46507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50CBDA7F-F5A1-4784-84CB-BDBAB755D10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9306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0D7FD-9FF4-42A5-B555-02CB390C073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77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78C19-25B1-42F2-9CFA-9ED4FC6A65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9883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F2349C-555F-45F9-A5B0-DF263136609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401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42C0A-F06B-4BA1-9712-F35570BDB6D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9651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290FC7-578B-4546-A89A-CFFE117DFF6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71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8593F-B9E5-4D05-8EB3-F5CE339661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62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775EE9-9DB1-434E-872D-309D7892C6A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462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D7C71-8E7B-4E59-96D9-FD6D8352E1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7910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18DCF-088B-43F2-BA83-450E656311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2444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B1D6F5-791F-407B-B448-D8FFF358113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2587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903D7-F2B3-44BB-8F6F-A740A814CEB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226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48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38481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8481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50FF88-0053-4038-90DD-FF700354621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9408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A7B90-D36D-46E8-848A-4FEDEA3888F5}" type="datetimeFigureOut">
              <a:rPr lang="zh-CN" altLang="en-US"/>
              <a:pPr>
                <a:defRPr/>
              </a:pPr>
              <a:t>2025/4/29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C67C4-6B4B-467B-B4B7-D85A2FC9F9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62596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4E915-E4ED-4C45-A468-C8E115F8D2B2}" type="datetimeFigureOut">
              <a:rPr lang="zh-CN" altLang="en-US"/>
              <a:pPr>
                <a:defRPr/>
              </a:pPr>
              <a:t>2025/4/29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8EAD8-EC4F-4C27-8181-F228AEE059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098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F3986-F0B3-4C59-8916-DDA349555B7E}" type="datetimeFigureOut">
              <a:rPr lang="zh-CN" altLang="en-US"/>
              <a:pPr>
                <a:defRPr/>
              </a:pPr>
              <a:t>2025/4/29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2E1C9-7C6D-4143-9C90-8B28A2E3F66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1473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20E99-F8B0-43F8-B5FF-C846B9D6B6D8}" type="datetimeFigureOut">
              <a:rPr lang="zh-CN" altLang="en-US"/>
              <a:pPr>
                <a:defRPr/>
              </a:pPr>
              <a:t>2025/4/29</a:t>
            </a:fld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1AAC6-0192-4BDC-9C5A-CBA7E9BCBA1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7248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0C0E00-81C2-4557-8444-FC1B0AF54F84}" type="datetimeFigureOut">
              <a:rPr lang="zh-CN" altLang="en-US"/>
              <a:pPr>
                <a:defRPr/>
              </a:pPr>
              <a:t>2025/4/29</a:t>
            </a:fld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479B6-128B-4ACB-9F37-868FBEE9BD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02972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DE8875-5C08-417E-BBA9-E2CC816492F3}" type="datetimeFigureOut">
              <a:rPr lang="zh-CN" altLang="en-US"/>
              <a:pPr>
                <a:defRPr/>
              </a:pPr>
              <a:t>2025/4/29</a:t>
            </a:fld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D2E59B-68AA-46AD-898A-87058E1923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48270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B0233E-35DA-48F2-AD17-B94F647CDC86}" type="datetimeFigureOut">
              <a:rPr lang="zh-CN" altLang="en-US"/>
              <a:pPr>
                <a:defRPr/>
              </a:pPr>
              <a:t>2025/4/29</a:t>
            </a:fld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3E9E9-0D3F-42FF-9420-8BE3F76B384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0173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EB4483-D467-479B-9235-6D9707DBABC4}" type="datetimeFigureOut">
              <a:rPr lang="zh-CN" altLang="en-US"/>
              <a:pPr>
                <a:defRPr/>
              </a:pPr>
              <a:t>2025/4/29</a:t>
            </a:fld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D4759F-C641-4D9A-A349-84F4C1E2FAC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8496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B2594-FF15-4ED6-8689-57CB9F5B408E}" type="datetimeFigureOut">
              <a:rPr lang="zh-CN" altLang="en-US"/>
              <a:pPr>
                <a:defRPr/>
              </a:pPr>
              <a:t>2025/4/29</a:t>
            </a:fld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0F2A8A-310C-4C67-B196-86C78D8DA3C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88804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339986-75F3-4E0B-80BA-6A63FD291F6F}" type="datetimeFigureOut">
              <a:rPr lang="zh-CN" altLang="en-US"/>
              <a:pPr>
                <a:defRPr/>
              </a:pPr>
              <a:t>2025/4/29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2359A-9D08-47A5-8661-F91C8EBD25D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65681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C76D1B-B370-4178-851B-793E32F2C05B}" type="datetimeFigureOut">
              <a:rPr lang="zh-CN" altLang="en-US"/>
              <a:pPr>
                <a:defRPr/>
              </a:pPr>
              <a:t>2025/4/29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8FC3C4-19DC-46A6-96E1-2DF35409784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4385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fld id="{4201918C-C498-44FD-85FE-7613DF574F3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1428750"/>
            <a:ext cx="9132888" cy="74613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50000">
                <a:srgbClr val="000052"/>
              </a:gs>
              <a:gs pos="100000">
                <a:srgbClr val="0000CC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6350" y="1549400"/>
            <a:ext cx="9120188" cy="25400"/>
          </a:xfrm>
          <a:prstGeom prst="rect">
            <a:avLst/>
          </a:prstGeom>
          <a:gradFill rotWithShape="0">
            <a:gsLst>
              <a:gs pos="0">
                <a:srgbClr val="CC0000"/>
              </a:gs>
              <a:gs pos="100000">
                <a:srgbClr val="A30000"/>
              </a:gs>
            </a:gsLst>
            <a:lin ang="0" scaled="1"/>
          </a:gradFill>
          <a:ln w="12700" cmpd="sng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848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Techni</a:t>
            </a: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r>
              <a:rPr lang="en-US" altLang="zh-CN"/>
              <a:t>Template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7848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Test</a:t>
            </a:r>
          </a:p>
          <a:p>
            <a:pPr lvl="1"/>
            <a:r>
              <a:rPr lang="en-US" altLang="zh-CN"/>
              <a:t>Test</a:t>
            </a:r>
          </a:p>
          <a:p>
            <a:pPr lvl="1"/>
            <a:r>
              <a:rPr lang="en-US" altLang="zh-CN"/>
              <a:t>Test</a:t>
            </a:r>
          </a:p>
          <a:p>
            <a:pPr lvl="2"/>
            <a:r>
              <a:rPr lang="en-US" altLang="zh-CN"/>
              <a:t>Test</a:t>
            </a:r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800" b="1">
          <a:solidFill>
            <a:srgbClr val="0000CC"/>
          </a:solidFill>
          <a:latin typeface="+mn-lt"/>
        </a:defRPr>
      </a:lvl2pPr>
      <a:lvl3pPr marL="11430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400" b="1">
          <a:solidFill>
            <a:srgbClr val="0000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rgbClr val="0000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fld id="{76F519AD-762A-4D70-B8A0-04B5883914CD}" type="datetimeFigureOut">
              <a:rPr lang="zh-CN" altLang="en-US"/>
              <a:pPr>
                <a:defRPr/>
              </a:pPr>
              <a:t>2025/4/29</a:t>
            </a:fld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fld id="{859B2C9C-63D8-49D3-B3CB-7246A5E7302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1428750"/>
            <a:ext cx="9132888" cy="74613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50000">
                <a:srgbClr val="000052"/>
              </a:gs>
              <a:gs pos="100000">
                <a:srgbClr val="0000CC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350" y="1549400"/>
            <a:ext cx="9120188" cy="25400"/>
          </a:xfrm>
          <a:prstGeom prst="rect">
            <a:avLst/>
          </a:prstGeom>
          <a:gradFill rotWithShape="0">
            <a:gsLst>
              <a:gs pos="0">
                <a:srgbClr val="CC0000"/>
              </a:gs>
              <a:gs pos="100000">
                <a:srgbClr val="A30000"/>
              </a:gs>
            </a:gsLst>
            <a:lin ang="0" scaled="1"/>
          </a:gradFill>
          <a:ln w="12700" cmpd="sng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848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Techni</a:t>
            </a: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r>
              <a:rPr lang="en-US" altLang="zh-CN"/>
              <a:t>Template</a:t>
            </a: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7848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Test</a:t>
            </a:r>
          </a:p>
          <a:p>
            <a:pPr lvl="1"/>
            <a:r>
              <a:rPr lang="en-US" altLang="zh-CN"/>
              <a:t>Test</a:t>
            </a:r>
          </a:p>
          <a:p>
            <a:pPr lvl="1"/>
            <a:r>
              <a:rPr lang="en-US" altLang="zh-CN"/>
              <a:t>Test</a:t>
            </a:r>
          </a:p>
          <a:p>
            <a:pPr lvl="2"/>
            <a:r>
              <a:rPr lang="en-US" altLang="zh-CN"/>
              <a:t>Test</a:t>
            </a:r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800" b="1">
          <a:solidFill>
            <a:srgbClr val="0000CC"/>
          </a:solidFill>
          <a:latin typeface="+mn-lt"/>
        </a:defRPr>
      </a:lvl2pPr>
      <a:lvl3pPr marL="11430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400" b="1">
          <a:solidFill>
            <a:srgbClr val="0000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b="1">
          <a:solidFill>
            <a:srgbClr val="0000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10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2.bin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46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50.wmf"/><Relationship Id="rId4" Type="http://schemas.openxmlformats.org/officeDocument/2006/relationships/oleObject" Target="../embeddings/oleObject18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0.wmf"/><Relationship Id="rId4" Type="http://schemas.openxmlformats.org/officeDocument/2006/relationships/oleObject" Target="../embeddings/oleObject21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69.wmf"/><Relationship Id="rId18" Type="http://schemas.openxmlformats.org/officeDocument/2006/relationships/oleObject" Target="../embeddings/oleObject30.bin"/><Relationship Id="rId26" Type="http://schemas.openxmlformats.org/officeDocument/2006/relationships/oleObject" Target="../embeddings/oleObject34.bin"/><Relationship Id="rId3" Type="http://schemas.openxmlformats.org/officeDocument/2006/relationships/image" Target="../media/image64.wmf"/><Relationship Id="rId21" Type="http://schemas.openxmlformats.org/officeDocument/2006/relationships/image" Target="../media/image73.wmf"/><Relationship Id="rId7" Type="http://schemas.openxmlformats.org/officeDocument/2006/relationships/image" Target="../media/image66.wmf"/><Relationship Id="rId12" Type="http://schemas.openxmlformats.org/officeDocument/2006/relationships/oleObject" Target="../embeddings/oleObject27.bin"/><Relationship Id="rId17" Type="http://schemas.openxmlformats.org/officeDocument/2006/relationships/image" Target="../media/image71.wmf"/><Relationship Id="rId25" Type="http://schemas.openxmlformats.org/officeDocument/2006/relationships/image" Target="../media/image75.wmf"/><Relationship Id="rId2" Type="http://schemas.openxmlformats.org/officeDocument/2006/relationships/oleObject" Target="../embeddings/oleObject22.bin"/><Relationship Id="rId16" Type="http://schemas.openxmlformats.org/officeDocument/2006/relationships/oleObject" Target="../embeddings/oleObject29.bin"/><Relationship Id="rId20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68.wmf"/><Relationship Id="rId24" Type="http://schemas.openxmlformats.org/officeDocument/2006/relationships/oleObject" Target="../embeddings/oleObject33.bin"/><Relationship Id="rId5" Type="http://schemas.openxmlformats.org/officeDocument/2006/relationships/image" Target="../media/image65.wmf"/><Relationship Id="rId15" Type="http://schemas.openxmlformats.org/officeDocument/2006/relationships/image" Target="../media/image70.wmf"/><Relationship Id="rId23" Type="http://schemas.openxmlformats.org/officeDocument/2006/relationships/image" Target="../media/image74.wmf"/><Relationship Id="rId10" Type="http://schemas.openxmlformats.org/officeDocument/2006/relationships/oleObject" Target="../embeddings/oleObject26.bin"/><Relationship Id="rId19" Type="http://schemas.openxmlformats.org/officeDocument/2006/relationships/image" Target="../media/image72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67.wmf"/><Relationship Id="rId14" Type="http://schemas.openxmlformats.org/officeDocument/2006/relationships/oleObject" Target="../embeddings/oleObject28.bin"/><Relationship Id="rId22" Type="http://schemas.openxmlformats.org/officeDocument/2006/relationships/oleObject" Target="../embeddings/oleObject32.bin"/><Relationship Id="rId27" Type="http://schemas.openxmlformats.org/officeDocument/2006/relationships/image" Target="../media/image76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7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jpeg"/><Relationship Id="rId4" Type="http://schemas.openxmlformats.org/officeDocument/2006/relationships/image" Target="../media/image93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4400" dirty="0">
                <a:ea typeface="宋体" pitchFamily="2" charset="-122"/>
              </a:rPr>
              <a:t>Wireless</a:t>
            </a:r>
            <a:br>
              <a:rPr lang="en-US" altLang="zh-CN" sz="4400" dirty="0">
                <a:ea typeface="宋体" pitchFamily="2" charset="-122"/>
              </a:rPr>
            </a:br>
            <a:r>
              <a:rPr lang="en-US" altLang="zh-CN" sz="4400" dirty="0">
                <a:ea typeface="宋体" pitchFamily="2" charset="-122"/>
              </a:rPr>
              <a:t>Digital Communications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endParaRPr lang="en-US" altLang="zh-CN" sz="2800" dirty="0">
              <a:ea typeface="宋体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>
                <a:ea typeface="宋体" pitchFamily="2" charset="-122"/>
              </a:rPr>
              <a:t>Topic 6</a:t>
            </a:r>
          </a:p>
          <a:p>
            <a:pPr>
              <a:lnSpc>
                <a:spcPct val="110000"/>
              </a:lnSpc>
            </a:pPr>
            <a:r>
              <a:rPr lang="en-US" altLang="zh-CN" sz="2800" dirty="0">
                <a:ea typeface="宋体" pitchFamily="2" charset="-122"/>
              </a:rPr>
              <a:t>MIMO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>
                <a:ea typeface="宋体" pitchFamily="2" charset="-122"/>
              </a:rPr>
              <a:t>Multiple Antennas</a:t>
            </a:r>
            <a:br>
              <a:rPr lang="en-US" altLang="zh-CN" sz="4400">
                <a:ea typeface="宋体" pitchFamily="2" charset="-122"/>
              </a:rPr>
            </a:br>
            <a:r>
              <a:rPr lang="en-US" altLang="zh-CN" sz="4400">
                <a:ea typeface="宋体" pitchFamily="2" charset="-122"/>
              </a:rPr>
              <a:t>(Adding Spatial Dimension)</a:t>
            </a:r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1981200"/>
            <a:ext cx="5224463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>
                <a:ea typeface="宋体" pitchFamily="2" charset="-122"/>
              </a:rPr>
              <a:t>Single-User/Multi-User</a:t>
            </a:r>
            <a:br>
              <a:rPr lang="en-US" altLang="zh-CN" sz="4400">
                <a:ea typeface="宋体" pitchFamily="2" charset="-122"/>
              </a:rPr>
            </a:br>
            <a:r>
              <a:rPr lang="en-US" altLang="zh-CN" sz="4400">
                <a:ea typeface="宋体" pitchFamily="2" charset="-122"/>
              </a:rPr>
              <a:t>Spatial Multiplexing</a:t>
            </a:r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0475" y="1981200"/>
            <a:ext cx="6545263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MIMO Principles</a:t>
            </a:r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100" y="1816100"/>
            <a:ext cx="7766050" cy="4279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MIMO Principles</a:t>
            </a:r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2063750"/>
            <a:ext cx="7848600" cy="39481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MIMO Principles</a:t>
            </a:r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9613" y="1981200"/>
            <a:ext cx="764857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809" y="4687503"/>
            <a:ext cx="2857370" cy="5293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>
                <a:ea typeface="宋体" pitchFamily="2" charset="-122"/>
              </a:rPr>
              <a:t>Narrowband MIMO System</a:t>
            </a:r>
            <a:br>
              <a:rPr lang="en-US" altLang="zh-CN" sz="4400">
                <a:ea typeface="宋体" pitchFamily="2" charset="-122"/>
              </a:rPr>
            </a:br>
            <a:r>
              <a:rPr lang="en-US" altLang="zh-CN" sz="4400">
                <a:ea typeface="宋体" pitchFamily="2" charset="-122"/>
              </a:rPr>
              <a:t>(Flat Fading Channel)</a:t>
            </a:r>
          </a:p>
        </p:txBody>
      </p:sp>
      <p:pic>
        <p:nvPicPr>
          <p:cNvPr id="921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8037" y="2712720"/>
            <a:ext cx="7650163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773602"/>
              </p:ext>
            </p:extLst>
          </p:nvPr>
        </p:nvGraphicFramePr>
        <p:xfrm>
          <a:off x="2431767" y="1657032"/>
          <a:ext cx="4314825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16555" imgH="444415" progId="Equation.DSMT4">
                  <p:embed/>
                </p:oleObj>
              </mc:Choice>
              <mc:Fallback>
                <p:oleObj name="Equation" r:id="rId3" imgW="1816555" imgH="444415" progId="Equation.DSMT4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1767" y="1657032"/>
                        <a:ext cx="4314825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463" y="1636188"/>
            <a:ext cx="2408129" cy="1097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>
                <a:ea typeface="宋体" pitchFamily="2" charset="-122"/>
              </a:rPr>
              <a:t>Narrowband MIMO System</a:t>
            </a:r>
            <a:br>
              <a:rPr lang="zh-CN" altLang="en-US" sz="4400">
                <a:ea typeface="宋体" pitchFamily="2" charset="-122"/>
              </a:rPr>
            </a:br>
            <a:r>
              <a:rPr lang="zh-CN" altLang="en-US" sz="4400">
                <a:ea typeface="宋体" pitchFamily="2" charset="-122"/>
              </a:rPr>
              <a:t>(Flat Fading Channel)</a:t>
            </a:r>
          </a:p>
        </p:txBody>
      </p:sp>
      <p:pic>
        <p:nvPicPr>
          <p:cNvPr id="1024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8350" y="1981200"/>
            <a:ext cx="7529513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229600" cy="1143000"/>
          </a:xfrm>
        </p:spPr>
        <p:txBody>
          <a:bodyPr/>
          <a:lstStyle/>
          <a:p>
            <a:r>
              <a:rPr lang="en-US" altLang="zh-CN" sz="4000">
                <a:ea typeface="宋体" pitchFamily="2" charset="-122"/>
              </a:rPr>
              <a:t>MIMO Performance Improvements</a:t>
            </a:r>
          </a:p>
        </p:txBody>
      </p:sp>
      <p:pic>
        <p:nvPicPr>
          <p:cNvPr id="1126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998663"/>
            <a:ext cx="7848600" cy="4079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231188" cy="1143000"/>
          </a:xfrm>
        </p:spPr>
        <p:txBody>
          <a:bodyPr/>
          <a:lstStyle/>
          <a:p>
            <a:r>
              <a:rPr lang="zh-CN" altLang="en-US" sz="4000">
                <a:ea typeface="宋体" pitchFamily="2" charset="-122"/>
              </a:rPr>
              <a:t>MIMO Performance Improvements</a:t>
            </a:r>
          </a:p>
        </p:txBody>
      </p:sp>
      <p:pic>
        <p:nvPicPr>
          <p:cNvPr id="1229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2313" y="1816100"/>
            <a:ext cx="7737475" cy="4379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180388" cy="1143000"/>
          </a:xfrm>
        </p:spPr>
        <p:txBody>
          <a:bodyPr/>
          <a:lstStyle/>
          <a:p>
            <a:r>
              <a:rPr lang="zh-CN" altLang="en-US" sz="4000">
                <a:ea typeface="宋体" pitchFamily="2" charset="-122"/>
              </a:rPr>
              <a:t>MIMO Performance Improvements</a:t>
            </a:r>
          </a:p>
        </p:txBody>
      </p:sp>
      <p:pic>
        <p:nvPicPr>
          <p:cNvPr id="1331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0913" y="1830388"/>
            <a:ext cx="7426325" cy="42656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Spatial Multiplexing Gain</a:t>
            </a:r>
          </a:p>
        </p:txBody>
      </p:sp>
      <p:pic>
        <p:nvPicPr>
          <p:cNvPr id="1433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1200" y="1765300"/>
            <a:ext cx="7912100" cy="4397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Spatial Multiplexing Gain</a:t>
            </a:r>
          </a:p>
        </p:txBody>
      </p:sp>
      <p:pic>
        <p:nvPicPr>
          <p:cNvPr id="1536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2613" y="1814513"/>
            <a:ext cx="7872412" cy="4464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Spatial Envelope Correlation v.s. Antenna Spacing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710" y="1598857"/>
            <a:ext cx="6571153" cy="4842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AutoShape 8"/>
          <p:cNvSpPr>
            <a:spLocks noChangeArrowheads="1"/>
          </p:cNvSpPr>
          <p:nvPr/>
        </p:nvSpPr>
        <p:spPr bwMode="auto">
          <a:xfrm>
            <a:off x="128023" y="2550409"/>
            <a:ext cx="152400" cy="152400"/>
          </a:xfrm>
          <a:prstGeom prst="flowChartMerge">
            <a:avLst/>
          </a:prstGeom>
          <a:solidFill>
            <a:schemeClr val="accent1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9"/>
          <p:cNvSpPr>
            <a:spLocks noChangeShapeType="1"/>
          </p:cNvSpPr>
          <p:nvPr/>
        </p:nvSpPr>
        <p:spPr bwMode="auto">
          <a:xfrm>
            <a:off x="204223" y="2702809"/>
            <a:ext cx="0" cy="152400"/>
          </a:xfrm>
          <a:prstGeom prst="line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" name="AutoShape 29"/>
          <p:cNvSpPr>
            <a:spLocks noChangeArrowheads="1"/>
          </p:cNvSpPr>
          <p:nvPr/>
        </p:nvSpPr>
        <p:spPr bwMode="auto">
          <a:xfrm>
            <a:off x="1906023" y="2040822"/>
            <a:ext cx="152400" cy="152400"/>
          </a:xfrm>
          <a:prstGeom prst="flowChartMerge">
            <a:avLst/>
          </a:prstGeom>
          <a:solidFill>
            <a:schemeClr val="accent1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Line 30"/>
          <p:cNvSpPr>
            <a:spLocks noChangeShapeType="1"/>
          </p:cNvSpPr>
          <p:nvPr/>
        </p:nvSpPr>
        <p:spPr bwMode="auto">
          <a:xfrm>
            <a:off x="1982223" y="2193222"/>
            <a:ext cx="0" cy="152400"/>
          </a:xfrm>
          <a:prstGeom prst="line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7" name="AutoShape 33"/>
          <p:cNvSpPr>
            <a:spLocks noChangeArrowheads="1"/>
          </p:cNvSpPr>
          <p:nvPr/>
        </p:nvSpPr>
        <p:spPr bwMode="auto">
          <a:xfrm>
            <a:off x="1910254" y="2555488"/>
            <a:ext cx="152400" cy="152400"/>
          </a:xfrm>
          <a:prstGeom prst="flowChartMerge">
            <a:avLst/>
          </a:prstGeom>
          <a:solidFill>
            <a:schemeClr val="accent1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32"/>
          <p:cNvSpPr>
            <a:spLocks noChangeShapeType="1"/>
          </p:cNvSpPr>
          <p:nvPr/>
        </p:nvSpPr>
        <p:spPr bwMode="auto">
          <a:xfrm>
            <a:off x="1982223" y="2688931"/>
            <a:ext cx="0" cy="152400"/>
          </a:xfrm>
          <a:prstGeom prst="line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086750"/>
              </p:ext>
            </p:extLst>
          </p:nvPr>
        </p:nvGraphicFramePr>
        <p:xfrm>
          <a:off x="443201" y="1943549"/>
          <a:ext cx="5715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7160" imgH="228600" progId="Equation.DSMT4">
                  <p:embed/>
                </p:oleObj>
              </mc:Choice>
              <mc:Fallback>
                <p:oleObj name="Equation" r:id="rId3" imgW="317160" imgH="228600" progId="Equation.DSMT4">
                  <p:embed/>
                  <p:pic>
                    <p:nvPicPr>
                      <p:cNvPr id="44" name="对象 4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3201" y="1943549"/>
                        <a:ext cx="571500" cy="411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160454"/>
              </p:ext>
            </p:extLst>
          </p:nvPr>
        </p:nvGraphicFramePr>
        <p:xfrm>
          <a:off x="719426" y="2779009"/>
          <a:ext cx="5905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0120" imgH="228600" progId="Equation.DSMT4">
                  <p:embed/>
                </p:oleObj>
              </mc:Choice>
              <mc:Fallback>
                <p:oleObj name="Equation" r:id="rId5" imgW="330120" imgH="228600" progId="Equation.DSMT4">
                  <p:embed/>
                  <p:pic>
                    <p:nvPicPr>
                      <p:cNvPr id="45" name="对象 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9426" y="2779009"/>
                        <a:ext cx="590550" cy="411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曲线连接符 2"/>
          <p:cNvCxnSpPr/>
          <p:nvPr/>
        </p:nvCxnSpPr>
        <p:spPr bwMode="auto">
          <a:xfrm rot="5400000" flipH="1" flipV="1">
            <a:off x="765669" y="3851468"/>
            <a:ext cx="576361" cy="1494987"/>
          </a:xfrm>
          <a:prstGeom prst="curved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肘形连接符 13"/>
          <p:cNvCxnSpPr/>
          <p:nvPr/>
        </p:nvCxnSpPr>
        <p:spPr bwMode="auto">
          <a:xfrm flipV="1">
            <a:off x="373337" y="2295391"/>
            <a:ext cx="1359210" cy="172243"/>
          </a:xfrm>
          <a:prstGeom prst="bentConnector3">
            <a:avLst/>
          </a:prstGeom>
          <a:solidFill>
            <a:schemeClr val="accent1"/>
          </a:solidFill>
          <a:ln w="12700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肘形连接符 30"/>
          <p:cNvCxnSpPr/>
          <p:nvPr/>
        </p:nvCxnSpPr>
        <p:spPr bwMode="auto">
          <a:xfrm flipV="1">
            <a:off x="377126" y="2550409"/>
            <a:ext cx="1359210" cy="172243"/>
          </a:xfrm>
          <a:prstGeom prst="bentConnector3">
            <a:avLst/>
          </a:prstGeom>
          <a:solidFill>
            <a:schemeClr val="accent1"/>
          </a:solidFill>
          <a:ln w="12700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Space-Time Fading</a:t>
            </a:r>
          </a:p>
        </p:txBody>
      </p:sp>
      <p:pic>
        <p:nvPicPr>
          <p:cNvPr id="1741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3450" y="1828800"/>
            <a:ext cx="6249988" cy="3695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8" y="5737225"/>
            <a:ext cx="54387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Space-Time Fading</a:t>
            </a:r>
          </a:p>
        </p:txBody>
      </p:sp>
      <p:pic>
        <p:nvPicPr>
          <p:cNvPr id="1843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1763" y="1809750"/>
            <a:ext cx="5565775" cy="3438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5440363"/>
            <a:ext cx="5522913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4400">
                <a:ea typeface="宋体" pitchFamily="2" charset="-122"/>
              </a:rPr>
              <a:t>MIMO Channel</a:t>
            </a:r>
            <a:br>
              <a:rPr lang="en-US" altLang="zh-CN" sz="4400">
                <a:ea typeface="宋体" pitchFamily="2" charset="-122"/>
              </a:rPr>
            </a:br>
            <a:r>
              <a:rPr lang="en-US" altLang="zh-CN" sz="4400">
                <a:ea typeface="宋体" pitchFamily="2" charset="-122"/>
              </a:rPr>
              <a:t>Parallel Decomposition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935163"/>
            <a:ext cx="8069263" cy="492283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ea typeface="宋体" pitchFamily="2" charset="-122"/>
              </a:rPr>
              <a:t>Decompose channel through transmit precoding (x=</a:t>
            </a:r>
            <a:r>
              <a:rPr lang="en-US" altLang="zh-CN" sz="2800" dirty="0" err="1">
                <a:ea typeface="宋体" pitchFamily="2" charset="-122"/>
              </a:rPr>
              <a:t>Vx</a:t>
            </a:r>
            <a:r>
              <a:rPr lang="en-US" altLang="zh-CN" sz="2800" dirty="0">
                <a:ea typeface="宋体" pitchFamily="2" charset="-122"/>
              </a:rPr>
              <a:t>) and receiver shaping (y=</a:t>
            </a:r>
            <a:r>
              <a:rPr lang="en-US" altLang="zh-CN" sz="2800" dirty="0" err="1">
                <a:ea typeface="宋体" pitchFamily="2" charset="-122"/>
              </a:rPr>
              <a:t>U</a:t>
            </a:r>
            <a:r>
              <a:rPr lang="en-US" altLang="zh-CN" sz="2800" baseline="30000" dirty="0" err="1">
                <a:ea typeface="宋体" pitchFamily="2" charset="-122"/>
              </a:rPr>
              <a:t>H</a:t>
            </a:r>
            <a:r>
              <a:rPr lang="en-US" altLang="zh-CN" sz="2800" dirty="0" err="1">
                <a:ea typeface="宋体" pitchFamily="2" charset="-122"/>
              </a:rPr>
              <a:t>y</a:t>
            </a:r>
            <a:r>
              <a:rPr lang="en-US" altLang="zh-CN" sz="2800" dirty="0">
                <a:ea typeface="宋体" pitchFamily="2" charset="-122"/>
              </a:rPr>
              <a:t>)</a:t>
            </a:r>
          </a:p>
          <a:p>
            <a:pPr>
              <a:lnSpc>
                <a:spcPct val="100000"/>
              </a:lnSpc>
            </a:pPr>
            <a:endParaRPr lang="en-US" altLang="zh-CN" sz="2800" dirty="0">
              <a:ea typeface="宋体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2800" dirty="0">
              <a:ea typeface="宋体" pitchFamily="2" charset="-122"/>
            </a:endParaRPr>
          </a:p>
          <a:p>
            <a:pPr>
              <a:lnSpc>
                <a:spcPct val="50000"/>
              </a:lnSpc>
            </a:pPr>
            <a:endParaRPr lang="en-US" altLang="zh-CN" sz="2800" dirty="0">
              <a:ea typeface="宋体" pitchFamily="2" charset="-122"/>
            </a:endParaRPr>
          </a:p>
          <a:p>
            <a:pPr>
              <a:lnSpc>
                <a:spcPct val="20000"/>
              </a:lnSpc>
            </a:pPr>
            <a:endParaRPr lang="en-US" altLang="zh-CN" sz="2800" dirty="0">
              <a:ea typeface="宋体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800" dirty="0">
                <a:ea typeface="宋体" pitchFamily="2" charset="-122"/>
              </a:rPr>
              <a:t>Leads to </a:t>
            </a:r>
            <a:r>
              <a:rPr lang="en-US" altLang="zh-CN" sz="2800" dirty="0" err="1">
                <a:ea typeface="宋体" pitchFamily="2" charset="-122"/>
              </a:rPr>
              <a:t>R</a:t>
            </a:r>
            <a:r>
              <a:rPr lang="en-US" altLang="zh-CN" sz="2800" baseline="-25000" dirty="0" err="1">
                <a:ea typeface="宋体" pitchFamily="2" charset="-122"/>
              </a:rPr>
              <a:t>H</a:t>
            </a:r>
            <a:r>
              <a:rPr lang="en-US" altLang="zh-CN" sz="2800" dirty="0" err="1">
                <a:ea typeface="宋体" pitchFamily="2" charset="-122"/>
                <a:sym typeface="Symbol" pitchFamily="18" charset="2"/>
              </a:rPr>
              <a:t>min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800" dirty="0" err="1">
                <a:ea typeface="宋体" pitchFamily="2" charset="-122"/>
                <a:sym typeface="Symbol" pitchFamily="18" charset="2"/>
              </a:rPr>
              <a:t>M</a:t>
            </a:r>
            <a:r>
              <a:rPr lang="en-US" altLang="zh-CN" sz="2800" baseline="-25000" dirty="0" err="1">
                <a:ea typeface="宋体" pitchFamily="2" charset="-122"/>
                <a:sym typeface="Symbol" pitchFamily="18" charset="2"/>
              </a:rPr>
              <a:t>t</a:t>
            </a:r>
            <a:r>
              <a:rPr lang="en-US" altLang="zh-CN" sz="2800" dirty="0" err="1">
                <a:ea typeface="宋体" pitchFamily="2" charset="-122"/>
                <a:sym typeface="Symbol" pitchFamily="18" charset="2"/>
              </a:rPr>
              <a:t>,M</a:t>
            </a:r>
            <a:r>
              <a:rPr lang="en-US" altLang="zh-CN" sz="2800" baseline="-25000" dirty="0" err="1">
                <a:ea typeface="宋体" pitchFamily="2" charset="-122"/>
                <a:sym typeface="Symbol" pitchFamily="18" charset="2"/>
              </a:rPr>
              <a:t>r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) independent channels with gain </a:t>
            </a:r>
            <a:r>
              <a:rPr lang="en-US" altLang="zh-CN" sz="2800" dirty="0" err="1">
                <a:latin typeface="Symbol" pitchFamily="18" charset="2"/>
                <a:ea typeface="宋体" pitchFamily="2" charset="-122"/>
                <a:sym typeface="Symbol" pitchFamily="18" charset="2"/>
              </a:rPr>
              <a:t>s</a:t>
            </a:r>
            <a:r>
              <a:rPr lang="en-US" altLang="zh-CN" sz="2800" baseline="-25000" dirty="0" err="1">
                <a:ea typeface="宋体" pitchFamily="2" charset="-122"/>
                <a:sym typeface="Symbol" pitchFamily="18" charset="2"/>
              </a:rPr>
              <a:t>i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 (</a:t>
            </a:r>
            <a:r>
              <a:rPr lang="en-US" altLang="zh-CN" sz="2800" dirty="0" err="1">
                <a:ea typeface="宋体" pitchFamily="2" charset="-122"/>
                <a:sym typeface="Symbol" pitchFamily="18" charset="2"/>
              </a:rPr>
              <a:t>i</a:t>
            </a:r>
            <a:r>
              <a:rPr lang="en-US" altLang="zh-CN" sz="2800" baseline="30000" dirty="0" err="1">
                <a:ea typeface="宋体" pitchFamily="2" charset="-122"/>
                <a:sym typeface="Symbol" pitchFamily="18" charset="2"/>
              </a:rPr>
              <a:t>th</a:t>
            </a:r>
            <a:r>
              <a:rPr lang="en-US" altLang="zh-CN" sz="2800" dirty="0">
                <a:ea typeface="宋体" pitchFamily="2" charset="-122"/>
                <a:sym typeface="Symbol" pitchFamily="18" charset="2"/>
              </a:rPr>
              <a:t> singular value of H) and AWGN</a:t>
            </a:r>
          </a:p>
          <a:p>
            <a:pPr>
              <a:lnSpc>
                <a:spcPct val="50000"/>
              </a:lnSpc>
            </a:pPr>
            <a:endParaRPr lang="en-US" altLang="zh-CN" sz="2800" dirty="0">
              <a:ea typeface="宋体" pitchFamily="2" charset="-122"/>
              <a:sym typeface="Symbol" pitchFamily="18" charset="2"/>
            </a:endParaRPr>
          </a:p>
          <a:p>
            <a:pPr>
              <a:lnSpc>
                <a:spcPct val="100000"/>
              </a:lnSpc>
            </a:pPr>
            <a:r>
              <a:rPr lang="en-US" altLang="zh-CN" sz="2800" dirty="0">
                <a:ea typeface="宋体" pitchFamily="2" charset="-122"/>
                <a:sym typeface="Symbol" pitchFamily="18" charset="2"/>
              </a:rPr>
              <a:t>Independent channels lead to simple capacity analysis and modulation/demodulation design</a:t>
            </a:r>
            <a:endParaRPr lang="en-US" altLang="zh-CN" sz="2800" dirty="0">
              <a:ea typeface="宋体" pitchFamily="2" charset="-122"/>
            </a:endParaRPr>
          </a:p>
        </p:txBody>
      </p:sp>
      <p:grpSp>
        <p:nvGrpSpPr>
          <p:cNvPr id="19460" name="Group 4"/>
          <p:cNvGrpSpPr>
            <a:grpSpLocks/>
          </p:cNvGrpSpPr>
          <p:nvPr/>
        </p:nvGrpSpPr>
        <p:grpSpPr bwMode="auto">
          <a:xfrm>
            <a:off x="812800" y="3538538"/>
            <a:ext cx="304800" cy="522287"/>
            <a:chOff x="0" y="0"/>
            <a:chExt cx="192" cy="329"/>
          </a:xfrm>
        </p:grpSpPr>
        <p:sp>
          <p:nvSpPr>
            <p:cNvPr id="19499" name="Line 5"/>
            <p:cNvSpPr>
              <a:spLocks noChangeShapeType="1"/>
            </p:cNvSpPr>
            <p:nvPr/>
          </p:nvSpPr>
          <p:spPr bwMode="auto">
            <a:xfrm>
              <a:off x="0" y="0"/>
              <a:ext cx="0" cy="1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0" name="Line 6"/>
            <p:cNvSpPr>
              <a:spLocks noChangeShapeType="1"/>
            </p:cNvSpPr>
            <p:nvPr/>
          </p:nvSpPr>
          <p:spPr bwMode="auto">
            <a:xfrm>
              <a:off x="96" y="96"/>
              <a:ext cx="0" cy="1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Line 7"/>
            <p:cNvSpPr>
              <a:spLocks noChangeShapeType="1"/>
            </p:cNvSpPr>
            <p:nvPr/>
          </p:nvSpPr>
          <p:spPr bwMode="auto">
            <a:xfrm>
              <a:off x="192" y="192"/>
              <a:ext cx="0" cy="1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461" name="Group 8"/>
          <p:cNvGrpSpPr>
            <a:grpSpLocks/>
          </p:cNvGrpSpPr>
          <p:nvPr/>
        </p:nvGrpSpPr>
        <p:grpSpPr bwMode="auto">
          <a:xfrm>
            <a:off x="2286000" y="3538538"/>
            <a:ext cx="304800" cy="522287"/>
            <a:chOff x="0" y="0"/>
            <a:chExt cx="192" cy="329"/>
          </a:xfrm>
        </p:grpSpPr>
        <p:sp>
          <p:nvSpPr>
            <p:cNvPr id="19496" name="Line 9"/>
            <p:cNvSpPr>
              <a:spLocks noChangeShapeType="1"/>
            </p:cNvSpPr>
            <p:nvPr/>
          </p:nvSpPr>
          <p:spPr bwMode="auto">
            <a:xfrm>
              <a:off x="0" y="0"/>
              <a:ext cx="0" cy="1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7" name="Line 10"/>
            <p:cNvSpPr>
              <a:spLocks noChangeShapeType="1"/>
            </p:cNvSpPr>
            <p:nvPr/>
          </p:nvSpPr>
          <p:spPr bwMode="auto">
            <a:xfrm>
              <a:off x="96" y="96"/>
              <a:ext cx="0" cy="1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8" name="Line 11"/>
            <p:cNvSpPr>
              <a:spLocks noChangeShapeType="1"/>
            </p:cNvSpPr>
            <p:nvPr/>
          </p:nvSpPr>
          <p:spPr bwMode="auto">
            <a:xfrm>
              <a:off x="192" y="192"/>
              <a:ext cx="0" cy="1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62" name="Line 12"/>
          <p:cNvSpPr>
            <a:spLocks noChangeShapeType="1"/>
          </p:cNvSpPr>
          <p:nvPr/>
        </p:nvSpPr>
        <p:spPr bwMode="auto">
          <a:xfrm>
            <a:off x="885825" y="3552825"/>
            <a:ext cx="1320800" cy="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3" name="Line 13"/>
          <p:cNvSpPr>
            <a:spLocks noChangeShapeType="1"/>
          </p:cNvSpPr>
          <p:nvPr/>
        </p:nvSpPr>
        <p:spPr bwMode="auto">
          <a:xfrm>
            <a:off x="928688" y="3567113"/>
            <a:ext cx="1452562" cy="174625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4" name="Line 14"/>
          <p:cNvSpPr>
            <a:spLocks noChangeShapeType="1"/>
          </p:cNvSpPr>
          <p:nvPr/>
        </p:nvSpPr>
        <p:spPr bwMode="auto">
          <a:xfrm>
            <a:off x="944563" y="3597275"/>
            <a:ext cx="1552575" cy="319088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5" name="Line 15"/>
          <p:cNvSpPr>
            <a:spLocks noChangeShapeType="1"/>
          </p:cNvSpPr>
          <p:nvPr/>
        </p:nvSpPr>
        <p:spPr bwMode="auto">
          <a:xfrm flipV="1">
            <a:off x="1030288" y="3625850"/>
            <a:ext cx="1176337" cy="1016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6" name="Line 16"/>
          <p:cNvSpPr>
            <a:spLocks noChangeShapeType="1"/>
          </p:cNvSpPr>
          <p:nvPr/>
        </p:nvSpPr>
        <p:spPr bwMode="auto">
          <a:xfrm flipV="1">
            <a:off x="1046163" y="3756025"/>
            <a:ext cx="1304925" cy="28575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Line 17"/>
          <p:cNvSpPr>
            <a:spLocks noChangeShapeType="1"/>
          </p:cNvSpPr>
          <p:nvPr/>
        </p:nvSpPr>
        <p:spPr bwMode="auto">
          <a:xfrm>
            <a:off x="1060450" y="3784600"/>
            <a:ext cx="1465263" cy="174625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Line 18"/>
          <p:cNvSpPr>
            <a:spLocks noChangeShapeType="1"/>
          </p:cNvSpPr>
          <p:nvPr/>
        </p:nvSpPr>
        <p:spPr bwMode="auto">
          <a:xfrm flipV="1">
            <a:off x="1190625" y="3611563"/>
            <a:ext cx="987425" cy="246062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9" name="Line 19"/>
          <p:cNvSpPr>
            <a:spLocks noChangeShapeType="1"/>
          </p:cNvSpPr>
          <p:nvPr/>
        </p:nvSpPr>
        <p:spPr bwMode="auto">
          <a:xfrm flipV="1">
            <a:off x="1190625" y="3800475"/>
            <a:ext cx="1146175" cy="115888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0" name="Line 20"/>
          <p:cNvSpPr>
            <a:spLocks noChangeShapeType="1"/>
          </p:cNvSpPr>
          <p:nvPr/>
        </p:nvSpPr>
        <p:spPr bwMode="auto">
          <a:xfrm>
            <a:off x="1233488" y="3902075"/>
            <a:ext cx="1263650" cy="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501" name="Group 21"/>
          <p:cNvGrpSpPr>
            <a:grpSpLocks/>
          </p:cNvGrpSpPr>
          <p:nvPr/>
        </p:nvGrpSpPr>
        <p:grpSpPr bwMode="auto">
          <a:xfrm>
            <a:off x="3163888" y="3525838"/>
            <a:ext cx="3554412" cy="522287"/>
            <a:chOff x="0" y="0"/>
            <a:chExt cx="2239" cy="329"/>
          </a:xfrm>
        </p:grpSpPr>
        <p:grpSp>
          <p:nvGrpSpPr>
            <p:cNvPr id="19484" name="Group 22"/>
            <p:cNvGrpSpPr>
              <a:grpSpLocks/>
            </p:cNvGrpSpPr>
            <p:nvPr/>
          </p:nvGrpSpPr>
          <p:grpSpPr bwMode="auto">
            <a:xfrm>
              <a:off x="992" y="0"/>
              <a:ext cx="192" cy="329"/>
              <a:chOff x="0" y="0"/>
              <a:chExt cx="192" cy="329"/>
            </a:xfrm>
          </p:grpSpPr>
          <p:sp>
            <p:nvSpPr>
              <p:cNvPr id="19493" name="Line 23"/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1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4" name="Line 24"/>
              <p:cNvSpPr>
                <a:spLocks noChangeShapeType="1"/>
              </p:cNvSpPr>
              <p:nvPr/>
            </p:nvSpPr>
            <p:spPr bwMode="auto">
              <a:xfrm>
                <a:off x="96" y="96"/>
                <a:ext cx="0" cy="1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5" name="Line 25"/>
              <p:cNvSpPr>
                <a:spLocks noChangeShapeType="1"/>
              </p:cNvSpPr>
              <p:nvPr/>
            </p:nvSpPr>
            <p:spPr bwMode="auto">
              <a:xfrm>
                <a:off x="192" y="192"/>
                <a:ext cx="0" cy="1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485" name="Group 26"/>
            <p:cNvGrpSpPr>
              <a:grpSpLocks/>
            </p:cNvGrpSpPr>
            <p:nvPr/>
          </p:nvGrpSpPr>
          <p:grpSpPr bwMode="auto">
            <a:xfrm>
              <a:off x="2047" y="0"/>
              <a:ext cx="192" cy="329"/>
              <a:chOff x="0" y="0"/>
              <a:chExt cx="192" cy="329"/>
            </a:xfrm>
          </p:grpSpPr>
          <p:sp>
            <p:nvSpPr>
              <p:cNvPr id="19490" name="Line 27"/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1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1" name="Line 28"/>
              <p:cNvSpPr>
                <a:spLocks noChangeShapeType="1"/>
              </p:cNvSpPr>
              <p:nvPr/>
            </p:nvSpPr>
            <p:spPr bwMode="auto">
              <a:xfrm>
                <a:off x="96" y="96"/>
                <a:ext cx="0" cy="1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2" name="Line 29"/>
              <p:cNvSpPr>
                <a:spLocks noChangeShapeType="1"/>
              </p:cNvSpPr>
              <p:nvPr/>
            </p:nvSpPr>
            <p:spPr bwMode="auto">
              <a:xfrm>
                <a:off x="192" y="192"/>
                <a:ext cx="0" cy="1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486" name="Line 30"/>
            <p:cNvSpPr>
              <a:spLocks noChangeShapeType="1"/>
            </p:cNvSpPr>
            <p:nvPr/>
          </p:nvSpPr>
          <p:spPr bwMode="auto">
            <a:xfrm>
              <a:off x="1061" y="17"/>
              <a:ext cx="923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7" name="Line 31"/>
            <p:cNvSpPr>
              <a:spLocks noChangeShapeType="1"/>
            </p:cNvSpPr>
            <p:nvPr/>
          </p:nvSpPr>
          <p:spPr bwMode="auto">
            <a:xfrm>
              <a:off x="1134" y="127"/>
              <a:ext cx="94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8" name="Line 32"/>
            <p:cNvSpPr>
              <a:spLocks noChangeShapeType="1"/>
            </p:cNvSpPr>
            <p:nvPr/>
          </p:nvSpPr>
          <p:spPr bwMode="auto">
            <a:xfrm>
              <a:off x="1244" y="209"/>
              <a:ext cx="94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9" name="AutoShape 33"/>
            <p:cNvSpPr>
              <a:spLocks noChangeArrowheads="1"/>
            </p:cNvSpPr>
            <p:nvPr/>
          </p:nvSpPr>
          <p:spPr bwMode="auto">
            <a:xfrm>
              <a:off x="0" y="63"/>
              <a:ext cx="695" cy="192"/>
            </a:xfrm>
            <a:prstGeom prst="rightArrow">
              <a:avLst>
                <a:gd name="adj1" fmla="val 50000"/>
                <a:gd name="adj2" fmla="val 90495"/>
              </a:avLst>
            </a:prstGeom>
            <a:solidFill>
              <a:srgbClr val="0033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19472" name="Text Box 34"/>
          <p:cNvSpPr txBox="1">
            <a:spLocks noChangeArrowheads="1"/>
          </p:cNvSpPr>
          <p:nvPr/>
        </p:nvSpPr>
        <p:spPr bwMode="auto">
          <a:xfrm>
            <a:off x="2922588" y="3270250"/>
            <a:ext cx="1149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 b="0">
                <a:latin typeface="Times New Roman" pitchFamily="18" charset="0"/>
                <a:ea typeface="宋体" pitchFamily="2" charset="-122"/>
              </a:rPr>
              <a:t>H=U</a:t>
            </a:r>
            <a:r>
              <a:rPr lang="en-US" altLang="zh-CN" sz="2000" b="0">
                <a:latin typeface="Symbol" pitchFamily="18" charset="2"/>
                <a:ea typeface="宋体" pitchFamily="2" charset="-122"/>
              </a:rPr>
              <a:t>S</a:t>
            </a:r>
            <a:r>
              <a:rPr lang="en-US" altLang="zh-CN" sz="2000" b="0">
                <a:latin typeface="Times New Roman" pitchFamily="18" charset="0"/>
                <a:ea typeface="宋体" pitchFamily="2" charset="-122"/>
              </a:rPr>
              <a:t>V</a:t>
            </a:r>
            <a:r>
              <a:rPr lang="en-US" altLang="zh-CN" sz="2000" b="0" baseline="30000"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19473" name="Text Box 35"/>
          <p:cNvSpPr txBox="1">
            <a:spLocks noChangeArrowheads="1"/>
          </p:cNvSpPr>
          <p:nvPr/>
        </p:nvSpPr>
        <p:spPr bwMode="auto">
          <a:xfrm>
            <a:off x="944563" y="3155950"/>
            <a:ext cx="1050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y=Hx+n</a:t>
            </a:r>
          </a:p>
        </p:txBody>
      </p:sp>
      <p:sp>
        <p:nvSpPr>
          <p:cNvPr id="19474" name="Text Box 36"/>
          <p:cNvSpPr txBox="1">
            <a:spLocks noChangeArrowheads="1"/>
          </p:cNvSpPr>
          <p:nvPr/>
        </p:nvSpPr>
        <p:spPr bwMode="auto">
          <a:xfrm>
            <a:off x="4964113" y="3103563"/>
            <a:ext cx="1068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y=</a:t>
            </a:r>
            <a:r>
              <a:rPr lang="en-US" altLang="zh-CN" sz="2000" i="1">
                <a:solidFill>
                  <a:srgbClr val="000000"/>
                </a:solidFill>
                <a:latin typeface="Symbol" pitchFamily="18" charset="2"/>
                <a:ea typeface="宋体" pitchFamily="2" charset="-122"/>
              </a:rPr>
              <a:t>S </a:t>
            </a:r>
            <a:r>
              <a:rPr lang="en-US" altLang="zh-CN" sz="2000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x+n</a:t>
            </a:r>
          </a:p>
        </p:txBody>
      </p:sp>
      <p:sp>
        <p:nvSpPr>
          <p:cNvPr id="19475" name="Text Box 37"/>
          <p:cNvSpPr txBox="1">
            <a:spLocks noChangeArrowheads="1"/>
          </p:cNvSpPr>
          <p:nvPr/>
        </p:nvSpPr>
        <p:spPr bwMode="auto">
          <a:xfrm>
            <a:off x="4964113" y="2986088"/>
            <a:ext cx="315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  <p:sp>
        <p:nvSpPr>
          <p:cNvPr id="19476" name="Text Box 38"/>
          <p:cNvSpPr txBox="1">
            <a:spLocks noChangeArrowheads="1"/>
          </p:cNvSpPr>
          <p:nvPr/>
        </p:nvSpPr>
        <p:spPr bwMode="auto">
          <a:xfrm>
            <a:off x="5727700" y="2986088"/>
            <a:ext cx="315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  <p:sp>
        <p:nvSpPr>
          <p:cNvPr id="19477" name="Text Box 39"/>
          <p:cNvSpPr txBox="1">
            <a:spLocks noChangeArrowheads="1"/>
          </p:cNvSpPr>
          <p:nvPr/>
        </p:nvSpPr>
        <p:spPr bwMode="auto">
          <a:xfrm>
            <a:off x="6848728" y="3460750"/>
            <a:ext cx="1241045" cy="400110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 b="0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000" b="0" i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000" b="0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2000" b="0" i="1" dirty="0" err="1">
                <a:solidFill>
                  <a:srgbClr val="000000"/>
                </a:solidFill>
                <a:latin typeface="Symbol" pitchFamily="18" charset="2"/>
                <a:ea typeface="宋体" pitchFamily="2" charset="-122"/>
              </a:rPr>
              <a:t>s</a:t>
            </a:r>
            <a:r>
              <a:rPr lang="en-US" altLang="zh-CN" sz="2000" b="0" i="1" baseline="-25000" dirty="0" err="1">
                <a:solidFill>
                  <a:srgbClr val="000000"/>
                </a:solidFill>
                <a:latin typeface="Symbol" pitchFamily="18" charset="2"/>
                <a:ea typeface="宋体" pitchFamily="2" charset="-122"/>
              </a:rPr>
              <a:t>i</a:t>
            </a:r>
            <a:r>
              <a:rPr lang="en-US" altLang="zh-CN" sz="2000" b="0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000" b="0" i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000" b="0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+n</a:t>
            </a:r>
            <a:r>
              <a:rPr lang="en-US" altLang="zh-CN" sz="2000" b="0" i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endParaRPr lang="en-US" altLang="zh-CN" sz="2000" b="0" i="1" baseline="-250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478" name="Text Box 40"/>
          <p:cNvSpPr txBox="1">
            <a:spLocks noChangeArrowheads="1"/>
          </p:cNvSpPr>
          <p:nvPr/>
        </p:nvSpPr>
        <p:spPr bwMode="auto">
          <a:xfrm>
            <a:off x="6824663" y="3382963"/>
            <a:ext cx="315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  <p:sp>
        <p:nvSpPr>
          <p:cNvPr id="19479" name="Text Box 41"/>
          <p:cNvSpPr txBox="1">
            <a:spLocks noChangeArrowheads="1"/>
          </p:cNvSpPr>
          <p:nvPr/>
        </p:nvSpPr>
        <p:spPr bwMode="auto">
          <a:xfrm>
            <a:off x="7362825" y="3368675"/>
            <a:ext cx="315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  <p:sp>
        <p:nvSpPr>
          <p:cNvPr id="19480" name="Text Box 42"/>
          <p:cNvSpPr txBox="1">
            <a:spLocks noChangeArrowheads="1"/>
          </p:cNvSpPr>
          <p:nvPr/>
        </p:nvSpPr>
        <p:spPr bwMode="auto">
          <a:xfrm>
            <a:off x="7672388" y="3368675"/>
            <a:ext cx="315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  <p:sp>
        <p:nvSpPr>
          <p:cNvPr id="19481" name="Text Box 43"/>
          <p:cNvSpPr txBox="1">
            <a:spLocks noChangeArrowheads="1"/>
          </p:cNvSpPr>
          <p:nvPr/>
        </p:nvSpPr>
        <p:spPr bwMode="auto">
          <a:xfrm>
            <a:off x="5454650" y="2986088"/>
            <a:ext cx="315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  <p:sp>
        <p:nvSpPr>
          <p:cNvPr id="19482" name="Text Box 44"/>
          <p:cNvSpPr txBox="1">
            <a:spLocks noChangeArrowheads="1"/>
          </p:cNvSpPr>
          <p:nvPr/>
        </p:nvSpPr>
        <p:spPr bwMode="auto">
          <a:xfrm>
            <a:off x="1773238" y="2305050"/>
            <a:ext cx="315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  <p:sp>
        <p:nvSpPr>
          <p:cNvPr id="19483" name="Text Box 45"/>
          <p:cNvSpPr txBox="1">
            <a:spLocks noChangeArrowheads="1"/>
          </p:cNvSpPr>
          <p:nvPr/>
        </p:nvSpPr>
        <p:spPr bwMode="auto">
          <a:xfrm>
            <a:off x="5502275" y="2306638"/>
            <a:ext cx="315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Parallel Decomposition</a:t>
            </a:r>
          </a:p>
        </p:txBody>
      </p:sp>
      <p:pic>
        <p:nvPicPr>
          <p:cNvPr id="2048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2350" y="1863725"/>
            <a:ext cx="6942138" cy="44021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Parallel Decomposition</a:t>
            </a:r>
          </a:p>
        </p:txBody>
      </p:sp>
      <p:pic>
        <p:nvPicPr>
          <p:cNvPr id="2150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3138" y="1782763"/>
            <a:ext cx="7464425" cy="4313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>
                <a:ea typeface="宋体" pitchFamily="2" charset="-122"/>
              </a:rPr>
              <a:t> Equivalent MIMO Channel </a:t>
            </a:r>
            <a:br>
              <a:rPr lang="zh-CN" altLang="en-US" sz="4400">
                <a:ea typeface="宋体" pitchFamily="2" charset="-122"/>
              </a:rPr>
            </a:br>
            <a:r>
              <a:rPr lang="zh-CN" altLang="en-US" sz="4400">
                <a:ea typeface="宋体" pitchFamily="2" charset="-122"/>
              </a:rPr>
              <a:t>(Nt &gt;Nr)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1825625"/>
            <a:ext cx="6505575" cy="379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 Equivalent MIMO Channel </a:t>
            </a:r>
            <a:br>
              <a:rPr lang="zh-CN" altLang="en-US">
                <a:ea typeface="宋体" pitchFamily="2" charset="-122"/>
              </a:rPr>
            </a:br>
            <a:r>
              <a:rPr lang="zh-CN" altLang="en-US">
                <a:ea typeface="宋体" pitchFamily="2" charset="-122"/>
              </a:rPr>
              <a:t>(Nr &gt;Nt)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1793875"/>
            <a:ext cx="6997700" cy="407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>
                <a:ea typeface="宋体" pitchFamily="2" charset="-122"/>
              </a:rPr>
              <a:t>Capacity Equivqlence under Unitary Transform</a:t>
            </a:r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1558925" y="1677988"/>
          <a:ext cx="614680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32875" imgH="304680" progId="Equation.3">
                  <p:embed/>
                </p:oleObj>
              </mc:Choice>
              <mc:Fallback>
                <p:oleObj name="公式" r:id="rId2" imgW="2832875" imgH="304680" progId="Equation.3">
                  <p:embed/>
                  <p:pic>
                    <p:nvPicPr>
                      <p:cNvPr id="245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1677988"/>
                        <a:ext cx="6146800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1822450" y="2247900"/>
          <a:ext cx="588010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58445" imgH="317285" progId="Equation.3">
                  <p:embed/>
                </p:oleObj>
              </mc:Choice>
              <mc:Fallback>
                <p:oleObj name="公式" r:id="rId4" imgW="2858445" imgH="317285" progId="Equation.3">
                  <p:embed/>
                  <p:pic>
                    <p:nvPicPr>
                      <p:cNvPr id="245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2247900"/>
                        <a:ext cx="588010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384175" y="2989263"/>
            <a:ext cx="167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zh-CN" altLang="en-US" sz="2400" b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Considering</a:t>
            </a:r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2185988" y="2989263"/>
          <a:ext cx="62960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340080" imgH="253800" progId="Equation.3">
                  <p:embed/>
                </p:oleObj>
              </mc:Choice>
              <mc:Fallback>
                <p:oleObj name="公式" r:id="rId6" imgW="3340080" imgH="253800" progId="Equation.3">
                  <p:embed/>
                  <p:pic>
                    <p:nvPicPr>
                      <p:cNvPr id="245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2989263"/>
                        <a:ext cx="62960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/>
          <p:cNvGraphicFramePr>
            <a:graphicFrameLocks noChangeAspect="1"/>
          </p:cNvGraphicFramePr>
          <p:nvPr/>
        </p:nvGraphicFramePr>
        <p:xfrm>
          <a:off x="590550" y="3536950"/>
          <a:ext cx="81661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051080" imgH="317160" progId="Equation.3">
                  <p:embed/>
                </p:oleObj>
              </mc:Choice>
              <mc:Fallback>
                <p:oleObj name="公式" r:id="rId8" imgW="4051080" imgH="31716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3536950"/>
                        <a:ext cx="816610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/>
        </p:nvGraphicFramePr>
        <p:xfrm>
          <a:off x="828675" y="4233863"/>
          <a:ext cx="59690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009600" imgH="304560" progId="Equation.3">
                  <p:embed/>
                </p:oleObj>
              </mc:Choice>
              <mc:Fallback>
                <p:oleObj name="公式" r:id="rId10" imgW="3009600" imgH="30456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4233863"/>
                        <a:ext cx="59690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509588" y="4975225"/>
            <a:ext cx="911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zh-CN" altLang="en-US" sz="2400" b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Using</a:t>
            </a:r>
          </a:p>
        </p:txBody>
      </p:sp>
      <p:graphicFrame>
        <p:nvGraphicFramePr>
          <p:cNvPr id="24586" name="Object 10"/>
          <p:cNvGraphicFramePr>
            <a:graphicFrameLocks noChangeAspect="1"/>
          </p:cNvGraphicFramePr>
          <p:nvPr/>
        </p:nvGraphicFramePr>
        <p:xfrm>
          <a:off x="1501775" y="5010150"/>
          <a:ext cx="37544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89744" imgH="203360" progId="Equation.3">
                  <p:embed/>
                </p:oleObj>
              </mc:Choice>
              <mc:Fallback>
                <p:oleObj name="公式" r:id="rId12" imgW="1589744" imgH="203360" progId="Equation.3">
                  <p:embed/>
                  <p:pic>
                    <p:nvPicPr>
                      <p:cNvPr id="245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5010150"/>
                        <a:ext cx="375443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1"/>
          <p:cNvGraphicFramePr>
            <a:graphicFrameLocks noChangeAspect="1"/>
          </p:cNvGraphicFramePr>
          <p:nvPr/>
        </p:nvGraphicFramePr>
        <p:xfrm>
          <a:off x="3659188" y="5524500"/>
          <a:ext cx="1185862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20530" imgH="216407" progId="Equation.3">
                  <p:embed/>
                </p:oleObj>
              </mc:Choice>
              <mc:Fallback>
                <p:oleObj name="公式" r:id="rId14" imgW="420530" imgH="216407" progId="Equation.3">
                  <p:embed/>
                  <p:pic>
                    <p:nvPicPr>
                      <p:cNvPr id="2458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88" y="5524500"/>
                        <a:ext cx="1185862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28600"/>
            <a:ext cx="8534400" cy="1143000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Capacity of MIMO Systems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6575" y="1908175"/>
            <a:ext cx="8023225" cy="4114800"/>
          </a:xfrm>
        </p:spPr>
        <p:txBody>
          <a:bodyPr/>
          <a:lstStyle/>
          <a:p>
            <a:r>
              <a:rPr lang="en-US" altLang="zh-CN" sz="2400" dirty="0">
                <a:ea typeface="宋体" pitchFamily="2" charset="-122"/>
              </a:rPr>
              <a:t>Depends on what is known at TX and RX and if channel is static or fading</a:t>
            </a:r>
          </a:p>
          <a:p>
            <a:pPr>
              <a:lnSpc>
                <a:spcPct val="90000"/>
              </a:lnSpc>
            </a:pPr>
            <a:endParaRPr lang="en-US" altLang="zh-CN" sz="2400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</a:rPr>
              <a:t>For static channel with perfect CSI at TX and RX, power water-filling over space is optimal:</a:t>
            </a:r>
          </a:p>
          <a:p>
            <a:pPr lvl="1"/>
            <a:r>
              <a:rPr lang="en-US" altLang="zh-CN" sz="2000" dirty="0">
                <a:ea typeface="宋体" pitchFamily="2" charset="-122"/>
              </a:rPr>
              <a:t>In fading </a:t>
            </a:r>
            <a:r>
              <a:rPr lang="zh-CN" altLang="en-US" sz="2000" dirty="0">
                <a:ea typeface="宋体" pitchFamily="2" charset="-122"/>
              </a:rPr>
              <a:t>waterfill</a:t>
            </a:r>
            <a:r>
              <a:rPr lang="en-US" altLang="zh-CN" sz="2000" dirty="0">
                <a:ea typeface="宋体" pitchFamily="2" charset="-122"/>
              </a:rPr>
              <a:t> over space (based on short-term power constraint) or space-time (long-term constraint)</a:t>
            </a:r>
          </a:p>
          <a:p>
            <a:pPr>
              <a:lnSpc>
                <a:spcPct val="90000"/>
              </a:lnSpc>
            </a:pPr>
            <a:endParaRPr lang="en-US" altLang="zh-CN" sz="2400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</a:rPr>
              <a:t>Without transmitter channel knowledge, capacity metric is based on an outage probability</a:t>
            </a:r>
            <a:r>
              <a:rPr lang="zh-CN" altLang="en-US" sz="2400" dirty="0">
                <a:ea typeface="宋体" pitchFamily="2" charset="-122"/>
              </a:rPr>
              <a:t> (static or slow fading) or ergodic capacity (fast fading)</a:t>
            </a:r>
            <a:endParaRPr lang="en-US" altLang="zh-CN" sz="24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>
                <a:ea typeface="宋体" pitchFamily="2" charset="-122"/>
              </a:rPr>
              <a:t>Static Channel Capacity (CSIT)</a:t>
            </a:r>
          </a:p>
        </p:txBody>
      </p:sp>
      <p:pic>
        <p:nvPicPr>
          <p:cNvPr id="2662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6053" y="2027498"/>
            <a:ext cx="7175500" cy="4232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602772"/>
              </p:ext>
            </p:extLst>
          </p:nvPr>
        </p:nvGraphicFramePr>
        <p:xfrm>
          <a:off x="7175879" y="3590523"/>
          <a:ext cx="101123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419040" progId="Equation.DSMT4">
                  <p:embed/>
                </p:oleObj>
              </mc:Choice>
              <mc:Fallback>
                <p:oleObj name="Equation" r:id="rId3" imgW="596880" imgH="4190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75879" y="3590523"/>
                        <a:ext cx="1011238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280" y="4425424"/>
            <a:ext cx="249958" cy="28653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0054" y="3624856"/>
            <a:ext cx="1231499" cy="676867"/>
          </a:xfrm>
          <a:prstGeom prst="rect">
            <a:avLst/>
          </a:prstGeom>
        </p:spPr>
      </p:pic>
      <p:sp>
        <p:nvSpPr>
          <p:cNvPr id="5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480116"/>
              </p:ext>
            </p:extLst>
          </p:nvPr>
        </p:nvGraphicFramePr>
        <p:xfrm>
          <a:off x="1183907" y="6189044"/>
          <a:ext cx="24003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04900" imgH="241300" progId="Equation.DSMT4">
                  <p:embed/>
                </p:oleObj>
              </mc:Choice>
              <mc:Fallback>
                <p:oleObj name="Equation" r:id="rId7" imgW="1104900" imgH="2413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3907" y="6189044"/>
                        <a:ext cx="240030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>
                <a:ea typeface="宋体" pitchFamily="2" charset="-122"/>
              </a:rPr>
              <a:t>Static Channel Capacity (CSIT)</a:t>
            </a:r>
          </a:p>
        </p:txBody>
      </p:sp>
      <p:pic>
        <p:nvPicPr>
          <p:cNvPr id="2765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7038" y="1847850"/>
            <a:ext cx="8294687" cy="431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Notes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high SNRs, the capacity is insensitive to the power allocation to sub-channels, and increases linearly with the number of degrees of freedom </a:t>
            </a:r>
          </a:p>
          <a:p>
            <a:pPr lvl="0" algn="just"/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low SNRs, all power will be allocated to the parallel channel with the best CSI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17" y="3559927"/>
            <a:ext cx="46101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17" y="5446278"/>
            <a:ext cx="52197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9138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Example</a:t>
            </a:r>
          </a:p>
        </p:txBody>
      </p:sp>
      <p:pic>
        <p:nvPicPr>
          <p:cNvPr id="2867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6056" y="1707507"/>
            <a:ext cx="8751888" cy="4659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Static </a:t>
            </a:r>
            <a:r>
              <a:rPr lang="en-US" altLang="zh-CN" sz="3600" dirty="0" err="1"/>
              <a:t>MIMO+Adaptive</a:t>
            </a:r>
            <a:r>
              <a:rPr lang="en-US" altLang="zh-CN" sz="3600" dirty="0"/>
              <a:t> Modulation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子信道关系式：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和速率最大化：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最优解：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038593"/>
              </p:ext>
            </p:extLst>
          </p:nvPr>
        </p:nvGraphicFramePr>
        <p:xfrm>
          <a:off x="4116470" y="1981200"/>
          <a:ext cx="1855399" cy="632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393480" progId="Equation.DSMT4">
                  <p:embed/>
                </p:oleObj>
              </mc:Choice>
              <mc:Fallback>
                <p:oleObj name="Equation" r:id="rId2" imgW="1155600" imgH="39348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16470" y="1981200"/>
                        <a:ext cx="1855399" cy="6320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630582"/>
              </p:ext>
            </p:extLst>
          </p:nvPr>
        </p:nvGraphicFramePr>
        <p:xfrm>
          <a:off x="3998562" y="2613259"/>
          <a:ext cx="2687460" cy="825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495000" progId="Equation.DSMT4">
                  <p:embed/>
                </p:oleObj>
              </mc:Choice>
              <mc:Fallback>
                <p:oleObj name="Equation" r:id="rId4" imgW="1612800" imgH="4950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98562" y="2613259"/>
                        <a:ext cx="2687460" cy="8252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2160854" y="3438542"/>
            <a:ext cx="6737702" cy="3125887"/>
            <a:chOff x="2160854" y="3438542"/>
            <a:chExt cx="6737702" cy="3125887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2814106"/>
                </p:ext>
              </p:extLst>
            </p:nvPr>
          </p:nvGraphicFramePr>
          <p:xfrm>
            <a:off x="2889474" y="3438542"/>
            <a:ext cx="3121758" cy="11238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904760" imgH="685800" progId="Equation.DSMT4">
                    <p:embed/>
                  </p:oleObj>
                </mc:Choice>
                <mc:Fallback>
                  <p:oleObj name="Equation" r:id="rId6" imgW="1904760" imgH="68580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889474" y="3438542"/>
                          <a:ext cx="3121758" cy="112383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3292544"/>
                </p:ext>
              </p:extLst>
            </p:nvPr>
          </p:nvGraphicFramePr>
          <p:xfrm>
            <a:off x="6855594" y="3538446"/>
            <a:ext cx="2042962" cy="803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30040" imgH="444240" progId="Equation.DSMT4">
                    <p:embed/>
                  </p:oleObj>
                </mc:Choice>
                <mc:Fallback>
                  <p:oleObj name="Equation" r:id="rId8" imgW="1130040" imgH="44424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855594" y="3538446"/>
                          <a:ext cx="2042962" cy="8034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7852485"/>
                </p:ext>
              </p:extLst>
            </p:nvPr>
          </p:nvGraphicFramePr>
          <p:xfrm>
            <a:off x="2160854" y="4871169"/>
            <a:ext cx="6165299" cy="1693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327120" imgH="914400" progId="Equation.DSMT4">
                    <p:embed/>
                  </p:oleObj>
                </mc:Choice>
                <mc:Fallback>
                  <p:oleObj name="Equation" r:id="rId10" imgW="3327120" imgH="914400" progId="Equation.DSMT4">
                    <p:embed/>
                    <p:pic>
                      <p:nvPicPr>
                        <p:cNvPr id="8" name="对象 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160854" y="4871169"/>
                          <a:ext cx="6165299" cy="169326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74164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313738" cy="1143000"/>
          </a:xfrm>
        </p:spPr>
        <p:txBody>
          <a:bodyPr/>
          <a:lstStyle/>
          <a:p>
            <a:r>
              <a:rPr lang="en-US" altLang="zh-CN" sz="4000">
                <a:ea typeface="宋体" pitchFamily="2" charset="-122"/>
              </a:rPr>
              <a:t>Static Channel Capacity (no CSIT)</a:t>
            </a: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3794125"/>
            <a:ext cx="7478712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0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9613" y="1844675"/>
            <a:ext cx="7848600" cy="16589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1455738" y="5203825"/>
          <a:ext cx="3729037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65775" imgH="431810" progId="Equation.3">
                  <p:embed/>
                </p:oleObj>
              </mc:Choice>
              <mc:Fallback>
                <p:oleObj name="公式" r:id="rId4" imgW="1765775" imgH="431810" progId="Equation.3">
                  <p:embed/>
                  <p:pic>
                    <p:nvPicPr>
                      <p:cNvPr id="297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738" y="5203825"/>
                        <a:ext cx="3729037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5707" y="4126410"/>
            <a:ext cx="2285999" cy="67686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 Large SNR</a:t>
            </a:r>
            <a:endParaRPr lang="zh-CN" altLang="en-US" dirty="0"/>
          </a:p>
        </p:txBody>
      </p:sp>
      <p:pic>
        <p:nvPicPr>
          <p:cNvPr id="399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66" y="2435192"/>
            <a:ext cx="7772790" cy="1251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8571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ea typeface="宋体" pitchFamily="2" charset="-122"/>
              </a:rPr>
              <a:t>Static Channel Capacity (no CSIT)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5475" y="1747838"/>
            <a:ext cx="7848600" cy="4114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>
                <a:ea typeface="宋体" pitchFamily="2" charset="-122"/>
              </a:rPr>
              <a:t>    Appropriate capacity definition is capacity with outage. In capacity with outage the transmitter fixes a transmission rate R, and the outage probability associated with R is the probability that the transmitted data will not be received correctly or, equivalently, the probability that the channel H has mutual information less than R. 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2119313" y="5461000"/>
          <a:ext cx="508317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59937" imgH="457399" progId="Equation.3">
                  <p:embed/>
                </p:oleObj>
              </mc:Choice>
              <mc:Fallback>
                <p:oleObj name="公式" r:id="rId2" imgW="2159937" imgH="457399" progId="Equation.3">
                  <p:embed/>
                  <p:pic>
                    <p:nvPicPr>
                      <p:cNvPr id="307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13" y="5461000"/>
                        <a:ext cx="5083175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>
                <a:ea typeface="宋体" pitchFamily="2" charset="-122"/>
              </a:rPr>
              <a:t>Fading Channel Capacity (CSIT)</a:t>
            </a:r>
          </a:p>
        </p:txBody>
      </p:sp>
      <p:pic>
        <p:nvPicPr>
          <p:cNvPr id="3174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938338"/>
            <a:ext cx="7848600" cy="20367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00" y="4122738"/>
            <a:ext cx="4067175" cy="144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75" y="4570413"/>
            <a:ext cx="322263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ea typeface="宋体" pitchFamily="2" charset="-122"/>
              </a:rPr>
              <a:t>Fading Channel Capacity (CSIT)</a:t>
            </a:r>
          </a:p>
        </p:txBody>
      </p:sp>
      <p:pic>
        <p:nvPicPr>
          <p:cNvPr id="3277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9613" y="1795463"/>
            <a:ext cx="7848600" cy="1227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3378200"/>
            <a:ext cx="5273675" cy="140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3" y="3838575"/>
            <a:ext cx="32226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262938" cy="1143000"/>
          </a:xfrm>
        </p:spPr>
        <p:txBody>
          <a:bodyPr/>
          <a:lstStyle/>
          <a:p>
            <a:r>
              <a:rPr lang="en-US" altLang="zh-CN" sz="4000">
                <a:ea typeface="宋体" pitchFamily="2" charset="-122"/>
              </a:rPr>
              <a:t>Fading Channel Capacity (no CSIT)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981200"/>
            <a:ext cx="7277100" cy="4114800"/>
          </a:xfrm>
        </p:spPr>
        <p:txBody>
          <a:bodyPr/>
          <a:lstStyle/>
          <a:p>
            <a:r>
              <a:rPr lang="en-US" altLang="zh-CN" sz="2800">
                <a:ea typeface="宋体" pitchFamily="2" charset="-122"/>
              </a:rPr>
              <a:t>Time-Varying Channel: </a:t>
            </a:r>
            <a:r>
              <a:rPr lang="en-US" altLang="zh-CN" sz="2800" dirty="0">
                <a:ea typeface="宋体" pitchFamily="2" charset="-122"/>
              </a:rPr>
              <a:t>Ergodic Capacity</a:t>
            </a:r>
          </a:p>
          <a:p>
            <a:endParaRPr lang="en-US" altLang="zh-CN" sz="2800" dirty="0">
              <a:ea typeface="宋体" pitchFamily="2" charset="-122"/>
            </a:endParaRPr>
          </a:p>
          <a:p>
            <a:endParaRPr lang="en-US" altLang="zh-CN" sz="2800" dirty="0">
              <a:ea typeface="宋体" pitchFamily="2" charset="-122"/>
            </a:endParaRPr>
          </a:p>
          <a:p>
            <a:r>
              <a:rPr lang="en-US" altLang="zh-CN" sz="2800" dirty="0">
                <a:ea typeface="宋体" pitchFamily="2" charset="-122"/>
              </a:rPr>
              <a:t>Slowly Varying Channel: Outage Capacity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2616200" y="2759075"/>
          <a:ext cx="416242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64422" imgH="457399" progId="Equation.3">
                  <p:embed/>
                </p:oleObj>
              </mc:Choice>
              <mc:Fallback>
                <p:oleObj name="公式" r:id="rId2" imgW="1664422" imgH="457399" progId="Equation.3">
                  <p:embed/>
                  <p:pic>
                    <p:nvPicPr>
                      <p:cNvPr id="33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2759075"/>
                        <a:ext cx="4162425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2873375" y="4741863"/>
          <a:ext cx="468312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43944" imgH="457399" progId="Equation.3">
                  <p:embed/>
                </p:oleObj>
              </mc:Choice>
              <mc:Fallback>
                <p:oleObj name="公式" r:id="rId4" imgW="1943944" imgH="457399" progId="Equation.3">
                  <p:embed/>
                  <p:pic>
                    <p:nvPicPr>
                      <p:cNvPr id="337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75" y="4741863"/>
                        <a:ext cx="4683125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3223" y="193431"/>
            <a:ext cx="7848600" cy="1143000"/>
          </a:xfrm>
        </p:spPr>
        <p:txBody>
          <a:bodyPr/>
          <a:lstStyle/>
          <a:p>
            <a:r>
              <a:rPr lang="en-US" altLang="zh-CN" sz="4000" dirty="0"/>
              <a:t>Capacity of an </a:t>
            </a:r>
            <a:r>
              <a:rPr lang="en-US" altLang="zh-CN" sz="4000" dirty="0" err="1"/>
              <a:t>i.i.d</a:t>
            </a:r>
            <a:r>
              <a:rPr lang="en-US" altLang="zh-CN" sz="4000" dirty="0"/>
              <a:t>. Rayleigh Fading </a:t>
            </a:r>
            <a:r>
              <a:rPr lang="en-US" altLang="zh-CN" sz="4000"/>
              <a:t>Channel (no CSIT)</a:t>
            </a:r>
            <a:endParaRPr lang="zh-CN" altLang="en-US" sz="4000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574" y="1850516"/>
            <a:ext cx="5882420" cy="388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1519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4400">
                <a:ea typeface="宋体" pitchFamily="2" charset="-122"/>
              </a:rPr>
              <a:t>Beamforming</a:t>
            </a:r>
            <a:br>
              <a:rPr lang="en-US" altLang="zh-CN" sz="4400">
                <a:ea typeface="宋体" pitchFamily="2" charset="-122"/>
              </a:rPr>
            </a:br>
            <a:r>
              <a:rPr lang="en-US" altLang="zh-CN" sz="4400">
                <a:ea typeface="宋体" pitchFamily="2" charset="-122"/>
              </a:rPr>
              <a:t>MIMO Diversity/Array Gains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427" y="1690321"/>
            <a:ext cx="6583973" cy="281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892" y="4675782"/>
            <a:ext cx="6353042" cy="1360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 to u and v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Set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Useful Power=                                ,</a:t>
            </a:r>
          </a:p>
          <a:p>
            <a:pPr marL="0" indent="0">
              <a:buNone/>
            </a:pPr>
            <a:r>
              <a:rPr lang="en-US" altLang="zh-CN" dirty="0"/>
              <a:t>                      &lt;=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Eqality</a:t>
            </a:r>
            <a:r>
              <a:rPr lang="en-US" altLang="zh-CN" dirty="0"/>
              <a:t> holds when</a:t>
            </a:r>
          </a:p>
          <a:p>
            <a:pPr marL="0" indent="0">
              <a:buNone/>
            </a:pPr>
            <a:r>
              <a:rPr lang="en-US" altLang="zh-CN" dirty="0"/>
              <a:t> Maximum Power=                         &lt;=</a:t>
            </a:r>
          </a:p>
          <a:p>
            <a:pPr marL="0" indent="0">
              <a:buNone/>
            </a:pPr>
            <a:r>
              <a:rPr lang="en-US" altLang="zh-CN" dirty="0"/>
              <a:t>Equality holds when         </a:t>
            </a:r>
            <a:r>
              <a:rPr lang="zh-CN" altLang="en-US" dirty="0"/>
              <a:t>，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834310"/>
              </p:ext>
            </p:extLst>
          </p:nvPr>
        </p:nvGraphicFramePr>
        <p:xfrm>
          <a:off x="1573213" y="2082800"/>
          <a:ext cx="30543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241200" progId="Equation.DSMT4">
                  <p:embed/>
                </p:oleObj>
              </mc:Choice>
              <mc:Fallback>
                <p:oleObj name="Equation" r:id="rId2" imgW="1307880" imgH="2412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73213" y="2082800"/>
                        <a:ext cx="3054350" cy="563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317205"/>
              </p:ext>
            </p:extLst>
          </p:nvPr>
        </p:nvGraphicFramePr>
        <p:xfrm>
          <a:off x="5618163" y="2092325"/>
          <a:ext cx="3106737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241200" progId="Equation.DSMT4">
                  <p:embed/>
                </p:oleObj>
              </mc:Choice>
              <mc:Fallback>
                <p:oleObj name="Equation" r:id="rId4" imgW="1307880" imgH="2412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18163" y="2092325"/>
                        <a:ext cx="3106737" cy="573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188218"/>
              </p:ext>
            </p:extLst>
          </p:nvPr>
        </p:nvGraphicFramePr>
        <p:xfrm>
          <a:off x="2569744" y="1618174"/>
          <a:ext cx="3445107" cy="558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400" imgH="228600" progId="Equation.DSMT4">
                  <p:embed/>
                </p:oleObj>
              </mc:Choice>
              <mc:Fallback>
                <p:oleObj name="Equation" r:id="rId6" imgW="1409400" imgH="2286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69744" y="1618174"/>
                        <a:ext cx="3445107" cy="558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275969"/>
              </p:ext>
            </p:extLst>
          </p:nvPr>
        </p:nvGraphicFramePr>
        <p:xfrm>
          <a:off x="1588216" y="2605639"/>
          <a:ext cx="1613614" cy="49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9160" imgH="253800" progId="Equation.DSMT4">
                  <p:embed/>
                </p:oleObj>
              </mc:Choice>
              <mc:Fallback>
                <p:oleObj name="Equation" r:id="rId8" imgW="749160" imgH="2538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216" y="2605639"/>
                        <a:ext cx="1613614" cy="490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箭头 7"/>
          <p:cNvSpPr/>
          <p:nvPr/>
        </p:nvSpPr>
        <p:spPr bwMode="auto">
          <a:xfrm>
            <a:off x="3298878" y="2740374"/>
            <a:ext cx="404261" cy="25507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776919"/>
              </p:ext>
            </p:extLst>
          </p:nvPr>
        </p:nvGraphicFramePr>
        <p:xfrm>
          <a:off x="3985862" y="2533662"/>
          <a:ext cx="1798571" cy="72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04840" imgH="444240" progId="Equation.DSMT4">
                  <p:embed/>
                </p:oleObj>
              </mc:Choice>
              <mc:Fallback>
                <p:oleObj name="Equation" r:id="rId10" imgW="1104840" imgH="44424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85862" y="2533662"/>
                        <a:ext cx="1798571" cy="723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344581"/>
              </p:ext>
            </p:extLst>
          </p:nvPr>
        </p:nvGraphicFramePr>
        <p:xfrm>
          <a:off x="3447115" y="3433162"/>
          <a:ext cx="3157551" cy="485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50960" imgH="253800" progId="Equation.DSMT4">
                  <p:embed/>
                </p:oleObj>
              </mc:Choice>
              <mc:Fallback>
                <p:oleObj name="Equation" r:id="rId12" imgW="1650960" imgH="25380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447115" y="3433162"/>
                        <a:ext cx="3157551" cy="4857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418599"/>
              </p:ext>
            </p:extLst>
          </p:nvPr>
        </p:nvGraphicFramePr>
        <p:xfrm>
          <a:off x="6705600" y="3470275"/>
          <a:ext cx="23241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58640" imgH="241200" progId="Equation.DSMT4">
                  <p:embed/>
                </p:oleObj>
              </mc:Choice>
              <mc:Fallback>
                <p:oleObj name="Equation" r:id="rId14" imgW="1358640" imgH="2412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705600" y="3470275"/>
                        <a:ext cx="2324100" cy="41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746969"/>
              </p:ext>
            </p:extLst>
          </p:nvPr>
        </p:nvGraphicFramePr>
        <p:xfrm>
          <a:off x="3599847" y="4004469"/>
          <a:ext cx="47593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89040" imgH="393480" progId="Equation.DSMT4">
                  <p:embed/>
                </p:oleObj>
              </mc:Choice>
              <mc:Fallback>
                <p:oleObj name="Equation" r:id="rId16" imgW="2489040" imgH="39348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599847" y="4004469"/>
                        <a:ext cx="4759325" cy="75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809553"/>
              </p:ext>
            </p:extLst>
          </p:nvPr>
        </p:nvGraphicFramePr>
        <p:xfrm>
          <a:off x="5214839" y="4843062"/>
          <a:ext cx="866840" cy="433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57200" imgH="228600" progId="Equation.DSMT4">
                  <p:embed/>
                </p:oleObj>
              </mc:Choice>
              <mc:Fallback>
                <p:oleObj name="Equation" r:id="rId18" imgW="457200" imgH="22860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14839" y="4843062"/>
                        <a:ext cx="866840" cy="433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312041"/>
              </p:ext>
            </p:extLst>
          </p:nvPr>
        </p:nvGraphicFramePr>
        <p:xfrm>
          <a:off x="4019200" y="5504989"/>
          <a:ext cx="25241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20480" imgH="253800" progId="Equation.DSMT4">
                  <p:embed/>
                </p:oleObj>
              </mc:Choice>
              <mc:Fallback>
                <p:oleObj name="Equation" r:id="rId20" imgW="1320480" imgH="25380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019200" y="5504989"/>
                        <a:ext cx="252412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48776"/>
              </p:ext>
            </p:extLst>
          </p:nvPr>
        </p:nvGraphicFramePr>
        <p:xfrm>
          <a:off x="7172291" y="5504989"/>
          <a:ext cx="393165" cy="466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3040" imgH="241200" progId="Equation.DSMT4">
                  <p:embed/>
                </p:oleObj>
              </mc:Choice>
              <mc:Fallback>
                <p:oleObj name="Equation" r:id="rId22" imgW="203040" imgH="2412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172291" y="5504989"/>
                        <a:ext cx="393165" cy="4668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788819"/>
              </p:ext>
            </p:extLst>
          </p:nvPr>
        </p:nvGraphicFramePr>
        <p:xfrm>
          <a:off x="4405162" y="6236128"/>
          <a:ext cx="72231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80880" imgH="228600" progId="Equation.DSMT4">
                  <p:embed/>
                </p:oleObj>
              </mc:Choice>
              <mc:Fallback>
                <p:oleObj name="Equation" r:id="rId24" imgW="380880" imgH="22860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05162" y="6236128"/>
                        <a:ext cx="722313" cy="433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989973"/>
              </p:ext>
            </p:extLst>
          </p:nvPr>
        </p:nvGraphicFramePr>
        <p:xfrm>
          <a:off x="5586629" y="6236128"/>
          <a:ext cx="17335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914400" imgH="228600" progId="Equation.DSMT4">
                  <p:embed/>
                </p:oleObj>
              </mc:Choice>
              <mc:Fallback>
                <p:oleObj name="Equation" r:id="rId26" imgW="914400" imgH="22860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586629" y="6236128"/>
                        <a:ext cx="1733550" cy="433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60886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>
                <a:ea typeface="宋体" pitchFamily="2" charset="-122"/>
              </a:rPr>
              <a:t>Beamforming</a:t>
            </a:r>
            <a:br>
              <a:rPr lang="zh-CN" altLang="en-US" sz="4400">
                <a:ea typeface="宋体" pitchFamily="2" charset="-122"/>
              </a:rPr>
            </a:br>
            <a:r>
              <a:rPr lang="zh-CN" altLang="en-US" sz="4400">
                <a:ea typeface="宋体" pitchFamily="2" charset="-122"/>
              </a:rPr>
              <a:t>MIMO Diversity/Array Gains</a:t>
            </a:r>
          </a:p>
        </p:txBody>
      </p:sp>
      <p:pic>
        <p:nvPicPr>
          <p:cNvPr id="3584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4850" y="1814513"/>
            <a:ext cx="7805738" cy="4365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660963"/>
              </p:ext>
            </p:extLst>
          </p:nvPr>
        </p:nvGraphicFramePr>
        <p:xfrm>
          <a:off x="6603432" y="6013284"/>
          <a:ext cx="1494044" cy="517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0240" imgH="228600" progId="Equation.DSMT4">
                  <p:embed/>
                </p:oleObj>
              </mc:Choice>
              <mc:Fallback>
                <p:oleObj name="Equation" r:id="rId3" imgW="660240" imgH="22860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03432" y="6013284"/>
                        <a:ext cx="1494044" cy="5171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Tadeoff</a:t>
            </a:r>
            <a:r>
              <a:rPr lang="en-US" altLang="zh-CN" dirty="0"/>
              <a:t> between Multiplexing and Diversity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15" y="1894610"/>
            <a:ext cx="8617733" cy="3817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046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Diversity vs. Multiplexing</a:t>
            </a:r>
          </a:p>
        </p:txBody>
      </p:sp>
      <p:pic>
        <p:nvPicPr>
          <p:cNvPr id="3686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1400" y="1682750"/>
            <a:ext cx="7489825" cy="4413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47838"/>
            <a:ext cx="914400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88594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5938"/>
            <a:ext cx="9082454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27687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61" y="1793631"/>
            <a:ext cx="8757139" cy="489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680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1867"/>
            <a:ext cx="9047285" cy="3523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57218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Discussion of MIMO-AMC</a:t>
            </a:r>
            <a:br>
              <a:rPr lang="en-US" altLang="zh-CN" sz="4000" dirty="0"/>
            </a:br>
            <a:r>
              <a:rPr lang="en-US" altLang="zh-CN" sz="4000" dirty="0"/>
              <a:t>Water-Filling Power Allocation</a:t>
            </a:r>
            <a:endParaRPr lang="zh-CN" altLang="en-US" sz="4000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158" y="1666875"/>
            <a:ext cx="2857500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420" y="3429000"/>
            <a:ext cx="399097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724" y="4569436"/>
            <a:ext cx="3876675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00089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Discussion of MIMO-AMC</a:t>
            </a:r>
            <a:br>
              <a:rPr lang="en-US" altLang="zh-CN" sz="4000" dirty="0"/>
            </a:br>
            <a:r>
              <a:rPr lang="en-US" altLang="zh-CN" sz="4000" dirty="0"/>
              <a:t>Water-Filling Power Allocation</a:t>
            </a:r>
            <a:endParaRPr lang="zh-CN" alt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56" y="1946397"/>
            <a:ext cx="56197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856" y="3560519"/>
            <a:ext cx="10572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943" y="4578228"/>
            <a:ext cx="36290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07087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8463" y="673100"/>
            <a:ext cx="8407400" cy="685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>
                <a:ea typeface="宋体" pitchFamily="2" charset="-122"/>
              </a:rPr>
              <a:t>How should antennas be used?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09588" y="1500188"/>
            <a:ext cx="7772400" cy="4114800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Use antennas for multiplexing:</a:t>
            </a:r>
            <a:endParaRPr lang="en-US" altLang="zh-CN" sz="2400">
              <a:ea typeface="宋体" pitchFamily="2" charset="-122"/>
            </a:endParaRPr>
          </a:p>
          <a:p>
            <a:endParaRPr lang="en-US" altLang="zh-CN" sz="2400">
              <a:ea typeface="宋体" pitchFamily="2" charset="-122"/>
            </a:endParaRPr>
          </a:p>
          <a:p>
            <a:endParaRPr lang="en-US" altLang="zh-CN">
              <a:ea typeface="宋体" pitchFamily="2" charset="-122"/>
            </a:endParaRPr>
          </a:p>
          <a:p>
            <a:pPr>
              <a:lnSpc>
                <a:spcPct val="60000"/>
              </a:lnSpc>
            </a:pPr>
            <a:endParaRPr lang="en-US" altLang="zh-CN">
              <a:ea typeface="宋体" pitchFamily="2" charset="-122"/>
            </a:endParaRPr>
          </a:p>
          <a:p>
            <a:r>
              <a:rPr lang="en-US" altLang="zh-CN">
                <a:ea typeface="宋体" pitchFamily="2" charset="-122"/>
              </a:rPr>
              <a:t>Use antennas for diversity </a:t>
            </a:r>
          </a:p>
        </p:txBody>
      </p:sp>
      <p:grpSp>
        <p:nvGrpSpPr>
          <p:cNvPr id="38916" name="Group 4"/>
          <p:cNvGrpSpPr>
            <a:grpSpLocks/>
          </p:cNvGrpSpPr>
          <p:nvPr/>
        </p:nvGrpSpPr>
        <p:grpSpPr bwMode="auto">
          <a:xfrm>
            <a:off x="574675" y="2082800"/>
            <a:ext cx="8355013" cy="1920875"/>
            <a:chOff x="0" y="0"/>
            <a:chExt cx="5263" cy="1210"/>
          </a:xfrm>
        </p:grpSpPr>
        <p:pic>
          <p:nvPicPr>
            <p:cNvPr id="37962" name="Picture 5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8" y="222"/>
              <a:ext cx="655" cy="83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63" name="Rectangle 6"/>
            <p:cNvSpPr>
              <a:spLocks noChangeArrowheads="1"/>
            </p:cNvSpPr>
            <p:nvPr/>
          </p:nvSpPr>
          <p:spPr bwMode="auto">
            <a:xfrm>
              <a:off x="4702" y="331"/>
              <a:ext cx="48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64" name="Rectangle 7"/>
            <p:cNvSpPr>
              <a:spLocks noChangeArrowheads="1"/>
            </p:cNvSpPr>
            <p:nvPr/>
          </p:nvSpPr>
          <p:spPr bwMode="auto">
            <a:xfrm>
              <a:off x="4798" y="427"/>
              <a:ext cx="112" cy="2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65" name="Rectangle 8"/>
            <p:cNvSpPr>
              <a:spLocks noChangeArrowheads="1"/>
            </p:cNvSpPr>
            <p:nvPr/>
          </p:nvSpPr>
          <p:spPr bwMode="auto">
            <a:xfrm>
              <a:off x="4894" y="523"/>
              <a:ext cx="48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66" name="Rectangle 9"/>
            <p:cNvSpPr>
              <a:spLocks noChangeArrowheads="1"/>
            </p:cNvSpPr>
            <p:nvPr/>
          </p:nvSpPr>
          <p:spPr bwMode="auto">
            <a:xfrm>
              <a:off x="5118" y="363"/>
              <a:ext cx="48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67" name="Rectangle 10"/>
            <p:cNvSpPr>
              <a:spLocks noChangeArrowheads="1"/>
            </p:cNvSpPr>
            <p:nvPr/>
          </p:nvSpPr>
          <p:spPr bwMode="auto">
            <a:xfrm>
              <a:off x="4750" y="651"/>
              <a:ext cx="104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68" name="Rectangle 11"/>
            <p:cNvSpPr>
              <a:spLocks noChangeArrowheads="1"/>
            </p:cNvSpPr>
            <p:nvPr/>
          </p:nvSpPr>
          <p:spPr bwMode="auto">
            <a:xfrm>
              <a:off x="5046" y="619"/>
              <a:ext cx="48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37969" name="Group 12"/>
            <p:cNvGrpSpPr>
              <a:grpSpLocks/>
            </p:cNvGrpSpPr>
            <p:nvPr/>
          </p:nvGrpSpPr>
          <p:grpSpPr bwMode="auto">
            <a:xfrm>
              <a:off x="2661" y="136"/>
              <a:ext cx="100" cy="216"/>
              <a:chOff x="0" y="0"/>
              <a:chExt cx="136" cy="302"/>
            </a:xfrm>
          </p:grpSpPr>
          <p:sp>
            <p:nvSpPr>
              <p:cNvPr id="38022" name="Line 13"/>
              <p:cNvSpPr>
                <a:spLocks noChangeShapeType="1"/>
              </p:cNvSpPr>
              <p:nvPr/>
            </p:nvSpPr>
            <p:spPr bwMode="auto">
              <a:xfrm>
                <a:off x="68" y="62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23" name="AutoShape 14"/>
              <p:cNvSpPr>
                <a:spLocks noChangeArrowheads="1"/>
              </p:cNvSpPr>
              <p:nvPr/>
            </p:nvSpPr>
            <p:spPr bwMode="auto">
              <a:xfrm rot="10800000">
                <a:off x="0" y="0"/>
                <a:ext cx="136" cy="184"/>
              </a:xfrm>
              <a:prstGeom prst="triangle">
                <a:avLst>
                  <a:gd name="adj" fmla="val 49995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37970" name="Group 15"/>
            <p:cNvGrpSpPr>
              <a:grpSpLocks/>
            </p:cNvGrpSpPr>
            <p:nvPr/>
          </p:nvGrpSpPr>
          <p:grpSpPr bwMode="auto">
            <a:xfrm>
              <a:off x="2668" y="432"/>
              <a:ext cx="100" cy="216"/>
              <a:chOff x="0" y="0"/>
              <a:chExt cx="136" cy="302"/>
            </a:xfrm>
          </p:grpSpPr>
          <p:sp>
            <p:nvSpPr>
              <p:cNvPr id="38020" name="Line 16"/>
              <p:cNvSpPr>
                <a:spLocks noChangeShapeType="1"/>
              </p:cNvSpPr>
              <p:nvPr/>
            </p:nvSpPr>
            <p:spPr bwMode="auto">
              <a:xfrm>
                <a:off x="68" y="62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21" name="AutoShape 17"/>
              <p:cNvSpPr>
                <a:spLocks noChangeArrowheads="1"/>
              </p:cNvSpPr>
              <p:nvPr/>
            </p:nvSpPr>
            <p:spPr bwMode="auto">
              <a:xfrm rot="10800000">
                <a:off x="0" y="0"/>
                <a:ext cx="136" cy="184"/>
              </a:xfrm>
              <a:prstGeom prst="triangle">
                <a:avLst>
                  <a:gd name="adj" fmla="val 49995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37971" name="Group 18"/>
            <p:cNvGrpSpPr>
              <a:grpSpLocks/>
            </p:cNvGrpSpPr>
            <p:nvPr/>
          </p:nvGrpSpPr>
          <p:grpSpPr bwMode="auto">
            <a:xfrm>
              <a:off x="2677" y="729"/>
              <a:ext cx="100" cy="216"/>
              <a:chOff x="0" y="0"/>
              <a:chExt cx="136" cy="302"/>
            </a:xfrm>
          </p:grpSpPr>
          <p:sp>
            <p:nvSpPr>
              <p:cNvPr id="38018" name="Line 19"/>
              <p:cNvSpPr>
                <a:spLocks noChangeShapeType="1"/>
              </p:cNvSpPr>
              <p:nvPr/>
            </p:nvSpPr>
            <p:spPr bwMode="auto">
              <a:xfrm>
                <a:off x="68" y="62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9" name="AutoShape 20"/>
              <p:cNvSpPr>
                <a:spLocks noChangeArrowheads="1"/>
              </p:cNvSpPr>
              <p:nvPr/>
            </p:nvSpPr>
            <p:spPr bwMode="auto">
              <a:xfrm rot="10800000">
                <a:off x="0" y="0"/>
                <a:ext cx="136" cy="184"/>
              </a:xfrm>
              <a:prstGeom prst="triangle">
                <a:avLst>
                  <a:gd name="adj" fmla="val 49995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7972" name="Line 21"/>
            <p:cNvSpPr>
              <a:spLocks noChangeShapeType="1"/>
            </p:cNvSpPr>
            <p:nvPr/>
          </p:nvSpPr>
          <p:spPr bwMode="auto">
            <a:xfrm>
              <a:off x="729" y="649"/>
              <a:ext cx="20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73" name="Rectangle 22"/>
            <p:cNvSpPr>
              <a:spLocks noChangeArrowheads="1"/>
            </p:cNvSpPr>
            <p:nvPr/>
          </p:nvSpPr>
          <p:spPr bwMode="auto">
            <a:xfrm>
              <a:off x="934" y="459"/>
              <a:ext cx="600" cy="35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74" name="Text Box 23"/>
            <p:cNvSpPr txBox="1">
              <a:spLocks noChangeArrowheads="1"/>
            </p:cNvSpPr>
            <p:nvPr/>
          </p:nvSpPr>
          <p:spPr bwMode="auto">
            <a:xfrm>
              <a:off x="941" y="478"/>
              <a:ext cx="61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itchFamily="34" charset="0"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High-Rate</a:t>
              </a:r>
            </a:p>
            <a:p>
              <a:pPr algn="ctr" eaLnBrk="1" hangingPunct="1">
                <a:lnSpc>
                  <a:spcPct val="20000"/>
                </a:lnSpc>
                <a:spcBef>
                  <a:spcPct val="50000"/>
                </a:spcBef>
                <a:buClrTx/>
                <a:buSzTx/>
                <a:buFont typeface="Arial" pitchFamily="34" charset="0"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Quantizer</a:t>
              </a:r>
            </a:p>
          </p:txBody>
        </p:sp>
        <p:sp>
          <p:nvSpPr>
            <p:cNvPr id="37975" name="Line 24"/>
            <p:cNvSpPr>
              <a:spLocks noChangeShapeType="1"/>
            </p:cNvSpPr>
            <p:nvPr/>
          </p:nvSpPr>
          <p:spPr bwMode="auto">
            <a:xfrm>
              <a:off x="1553" y="649"/>
              <a:ext cx="20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76" name="Rectangle 25"/>
            <p:cNvSpPr>
              <a:spLocks noChangeArrowheads="1"/>
            </p:cNvSpPr>
            <p:nvPr/>
          </p:nvSpPr>
          <p:spPr bwMode="auto">
            <a:xfrm>
              <a:off x="1766" y="459"/>
              <a:ext cx="600" cy="36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77" name="Text Box 26"/>
            <p:cNvSpPr txBox="1">
              <a:spLocks noChangeArrowheads="1"/>
            </p:cNvSpPr>
            <p:nvPr/>
          </p:nvSpPr>
          <p:spPr bwMode="auto">
            <a:xfrm>
              <a:off x="1637" y="470"/>
              <a:ext cx="87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itchFamily="34" charset="0"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ST Code</a:t>
              </a:r>
            </a:p>
            <a:p>
              <a:pPr algn="ctr" eaLnBrk="1" hangingPunct="1">
                <a:lnSpc>
                  <a:spcPct val="20000"/>
                </a:lnSpc>
                <a:spcBef>
                  <a:spcPct val="50000"/>
                </a:spcBef>
                <a:buClrTx/>
                <a:buSzTx/>
                <a:buFont typeface="Arial" pitchFamily="34" charset="0"/>
                <a:buNone/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High Rate</a:t>
              </a:r>
            </a:p>
          </p:txBody>
        </p:sp>
        <p:sp>
          <p:nvSpPr>
            <p:cNvPr id="37978" name="Line 27"/>
            <p:cNvSpPr>
              <a:spLocks noChangeShapeType="1"/>
            </p:cNvSpPr>
            <p:nvPr/>
          </p:nvSpPr>
          <p:spPr bwMode="auto">
            <a:xfrm>
              <a:off x="2374" y="643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7979" name="Group 28"/>
            <p:cNvGrpSpPr>
              <a:grpSpLocks/>
            </p:cNvGrpSpPr>
            <p:nvPr/>
          </p:nvGrpSpPr>
          <p:grpSpPr bwMode="auto">
            <a:xfrm>
              <a:off x="2374" y="339"/>
              <a:ext cx="336" cy="136"/>
              <a:chOff x="0" y="0"/>
              <a:chExt cx="336" cy="136"/>
            </a:xfrm>
          </p:grpSpPr>
          <p:sp>
            <p:nvSpPr>
              <p:cNvPr id="38015" name="Line 29"/>
              <p:cNvSpPr>
                <a:spLocks noChangeShapeType="1"/>
              </p:cNvSpPr>
              <p:nvPr/>
            </p:nvSpPr>
            <p:spPr bwMode="auto">
              <a:xfrm>
                <a:off x="0" y="136"/>
                <a:ext cx="17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6" name="Line 30"/>
              <p:cNvSpPr>
                <a:spLocks noChangeShapeType="1"/>
              </p:cNvSpPr>
              <p:nvPr/>
            </p:nvSpPr>
            <p:spPr bwMode="auto">
              <a:xfrm flipV="1">
                <a:off x="168" y="8"/>
                <a:ext cx="0" cy="1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7" name="Line 31"/>
              <p:cNvSpPr>
                <a:spLocks noChangeShapeType="1"/>
              </p:cNvSpPr>
              <p:nvPr/>
            </p:nvSpPr>
            <p:spPr bwMode="auto">
              <a:xfrm>
                <a:off x="168" y="0"/>
                <a:ext cx="16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7980" name="Group 32"/>
            <p:cNvGrpSpPr>
              <a:grpSpLocks/>
            </p:cNvGrpSpPr>
            <p:nvPr/>
          </p:nvGrpSpPr>
          <p:grpSpPr bwMode="auto">
            <a:xfrm flipV="1">
              <a:off x="2390" y="803"/>
              <a:ext cx="336" cy="136"/>
              <a:chOff x="0" y="0"/>
              <a:chExt cx="336" cy="136"/>
            </a:xfrm>
          </p:grpSpPr>
          <p:sp>
            <p:nvSpPr>
              <p:cNvPr id="38012" name="Line 33"/>
              <p:cNvSpPr>
                <a:spLocks noChangeShapeType="1"/>
              </p:cNvSpPr>
              <p:nvPr/>
            </p:nvSpPr>
            <p:spPr bwMode="auto">
              <a:xfrm>
                <a:off x="0" y="136"/>
                <a:ext cx="17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3" name="Line 34"/>
              <p:cNvSpPr>
                <a:spLocks noChangeShapeType="1"/>
              </p:cNvSpPr>
              <p:nvPr/>
            </p:nvSpPr>
            <p:spPr bwMode="auto">
              <a:xfrm flipV="1">
                <a:off x="168" y="8"/>
                <a:ext cx="0" cy="1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4" name="Line 35"/>
              <p:cNvSpPr>
                <a:spLocks noChangeShapeType="1"/>
              </p:cNvSpPr>
              <p:nvPr/>
            </p:nvSpPr>
            <p:spPr bwMode="auto">
              <a:xfrm>
                <a:off x="168" y="0"/>
                <a:ext cx="16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7981" name="Group 36"/>
            <p:cNvGrpSpPr>
              <a:grpSpLocks/>
            </p:cNvGrpSpPr>
            <p:nvPr/>
          </p:nvGrpSpPr>
          <p:grpSpPr bwMode="auto">
            <a:xfrm flipH="1">
              <a:off x="3353" y="152"/>
              <a:ext cx="100" cy="216"/>
              <a:chOff x="0" y="0"/>
              <a:chExt cx="136" cy="302"/>
            </a:xfrm>
          </p:grpSpPr>
          <p:sp>
            <p:nvSpPr>
              <p:cNvPr id="38010" name="Line 37"/>
              <p:cNvSpPr>
                <a:spLocks noChangeShapeType="1"/>
              </p:cNvSpPr>
              <p:nvPr/>
            </p:nvSpPr>
            <p:spPr bwMode="auto">
              <a:xfrm>
                <a:off x="68" y="62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1" name="AutoShape 38"/>
              <p:cNvSpPr>
                <a:spLocks noChangeArrowheads="1"/>
              </p:cNvSpPr>
              <p:nvPr/>
            </p:nvSpPr>
            <p:spPr bwMode="auto">
              <a:xfrm rot="10800000">
                <a:off x="0" y="0"/>
                <a:ext cx="136" cy="184"/>
              </a:xfrm>
              <a:prstGeom prst="triangle">
                <a:avLst>
                  <a:gd name="adj" fmla="val 49995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37982" name="Group 39"/>
            <p:cNvGrpSpPr>
              <a:grpSpLocks/>
            </p:cNvGrpSpPr>
            <p:nvPr/>
          </p:nvGrpSpPr>
          <p:grpSpPr bwMode="auto">
            <a:xfrm flipH="1">
              <a:off x="3346" y="448"/>
              <a:ext cx="100" cy="216"/>
              <a:chOff x="0" y="0"/>
              <a:chExt cx="136" cy="302"/>
            </a:xfrm>
          </p:grpSpPr>
          <p:sp>
            <p:nvSpPr>
              <p:cNvPr id="38008" name="Line 40"/>
              <p:cNvSpPr>
                <a:spLocks noChangeShapeType="1"/>
              </p:cNvSpPr>
              <p:nvPr/>
            </p:nvSpPr>
            <p:spPr bwMode="auto">
              <a:xfrm>
                <a:off x="68" y="62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09" name="AutoShape 41"/>
              <p:cNvSpPr>
                <a:spLocks noChangeArrowheads="1"/>
              </p:cNvSpPr>
              <p:nvPr/>
            </p:nvSpPr>
            <p:spPr bwMode="auto">
              <a:xfrm rot="10800000">
                <a:off x="0" y="0"/>
                <a:ext cx="136" cy="184"/>
              </a:xfrm>
              <a:prstGeom prst="triangle">
                <a:avLst>
                  <a:gd name="adj" fmla="val 49995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37983" name="Group 42"/>
            <p:cNvGrpSpPr>
              <a:grpSpLocks/>
            </p:cNvGrpSpPr>
            <p:nvPr/>
          </p:nvGrpSpPr>
          <p:grpSpPr bwMode="auto">
            <a:xfrm flipH="1">
              <a:off x="3337" y="745"/>
              <a:ext cx="100" cy="216"/>
              <a:chOff x="0" y="0"/>
              <a:chExt cx="136" cy="302"/>
            </a:xfrm>
          </p:grpSpPr>
          <p:sp>
            <p:nvSpPr>
              <p:cNvPr id="38006" name="Line 43"/>
              <p:cNvSpPr>
                <a:spLocks noChangeShapeType="1"/>
              </p:cNvSpPr>
              <p:nvPr/>
            </p:nvSpPr>
            <p:spPr bwMode="auto">
              <a:xfrm>
                <a:off x="68" y="62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07" name="AutoShape 44"/>
              <p:cNvSpPr>
                <a:spLocks noChangeArrowheads="1"/>
              </p:cNvSpPr>
              <p:nvPr/>
            </p:nvSpPr>
            <p:spPr bwMode="auto">
              <a:xfrm rot="10800000">
                <a:off x="0" y="0"/>
                <a:ext cx="136" cy="184"/>
              </a:xfrm>
              <a:prstGeom prst="triangle">
                <a:avLst>
                  <a:gd name="adj" fmla="val 49995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7984" name="Rectangle 45"/>
            <p:cNvSpPr>
              <a:spLocks noChangeArrowheads="1"/>
            </p:cNvSpPr>
            <p:nvPr/>
          </p:nvSpPr>
          <p:spPr bwMode="auto">
            <a:xfrm flipH="1">
              <a:off x="3748" y="475"/>
              <a:ext cx="600" cy="36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85" name="Line 46"/>
            <p:cNvSpPr>
              <a:spLocks noChangeShapeType="1"/>
            </p:cNvSpPr>
            <p:nvPr/>
          </p:nvSpPr>
          <p:spPr bwMode="auto">
            <a:xfrm flipH="1">
              <a:off x="3404" y="659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7986" name="Group 47"/>
            <p:cNvGrpSpPr>
              <a:grpSpLocks/>
            </p:cNvGrpSpPr>
            <p:nvPr/>
          </p:nvGrpSpPr>
          <p:grpSpPr bwMode="auto">
            <a:xfrm flipH="1">
              <a:off x="3404" y="355"/>
              <a:ext cx="336" cy="136"/>
              <a:chOff x="0" y="0"/>
              <a:chExt cx="336" cy="136"/>
            </a:xfrm>
          </p:grpSpPr>
          <p:sp>
            <p:nvSpPr>
              <p:cNvPr id="38003" name="Line 48"/>
              <p:cNvSpPr>
                <a:spLocks noChangeShapeType="1"/>
              </p:cNvSpPr>
              <p:nvPr/>
            </p:nvSpPr>
            <p:spPr bwMode="auto">
              <a:xfrm>
                <a:off x="0" y="136"/>
                <a:ext cx="17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04" name="Line 49"/>
              <p:cNvSpPr>
                <a:spLocks noChangeShapeType="1"/>
              </p:cNvSpPr>
              <p:nvPr/>
            </p:nvSpPr>
            <p:spPr bwMode="auto">
              <a:xfrm flipV="1">
                <a:off x="168" y="8"/>
                <a:ext cx="0" cy="1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05" name="Line 50"/>
              <p:cNvSpPr>
                <a:spLocks noChangeShapeType="1"/>
              </p:cNvSpPr>
              <p:nvPr/>
            </p:nvSpPr>
            <p:spPr bwMode="auto">
              <a:xfrm>
                <a:off x="168" y="0"/>
                <a:ext cx="16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7987" name="Line 51"/>
            <p:cNvSpPr>
              <a:spLocks noChangeShapeType="1"/>
            </p:cNvSpPr>
            <p:nvPr/>
          </p:nvSpPr>
          <p:spPr bwMode="auto">
            <a:xfrm flipH="1" flipV="1">
              <a:off x="3548" y="819"/>
              <a:ext cx="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88" name="Line 52"/>
            <p:cNvSpPr>
              <a:spLocks noChangeShapeType="1"/>
            </p:cNvSpPr>
            <p:nvPr/>
          </p:nvSpPr>
          <p:spPr bwMode="auto">
            <a:xfrm flipH="1">
              <a:off x="3556" y="819"/>
              <a:ext cx="0" cy="1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89" name="Line 53"/>
            <p:cNvSpPr>
              <a:spLocks noChangeShapeType="1"/>
            </p:cNvSpPr>
            <p:nvPr/>
          </p:nvSpPr>
          <p:spPr bwMode="auto">
            <a:xfrm flipH="1" flipV="1">
              <a:off x="3388" y="955"/>
              <a:ext cx="1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90" name="Text Box 54"/>
            <p:cNvSpPr txBox="1">
              <a:spLocks noChangeArrowheads="1"/>
            </p:cNvSpPr>
            <p:nvPr/>
          </p:nvSpPr>
          <p:spPr bwMode="auto">
            <a:xfrm>
              <a:off x="3725" y="558"/>
              <a:ext cx="6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itchFamily="34" charset="0"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Decoder</a:t>
              </a:r>
            </a:p>
          </p:txBody>
        </p:sp>
        <p:sp>
          <p:nvSpPr>
            <p:cNvPr id="37991" name="Rectangle 55"/>
            <p:cNvSpPr>
              <a:spLocks noChangeArrowheads="1"/>
            </p:cNvSpPr>
            <p:nvPr/>
          </p:nvSpPr>
          <p:spPr bwMode="auto">
            <a:xfrm>
              <a:off x="4894" y="787"/>
              <a:ext cx="104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92" name="Rectangle 56"/>
            <p:cNvSpPr>
              <a:spLocks noChangeArrowheads="1"/>
            </p:cNvSpPr>
            <p:nvPr/>
          </p:nvSpPr>
          <p:spPr bwMode="auto">
            <a:xfrm>
              <a:off x="5118" y="915"/>
              <a:ext cx="48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93" name="Rectangle 57"/>
            <p:cNvSpPr>
              <a:spLocks noChangeArrowheads="1"/>
            </p:cNvSpPr>
            <p:nvPr/>
          </p:nvSpPr>
          <p:spPr bwMode="auto">
            <a:xfrm>
              <a:off x="4726" y="915"/>
              <a:ext cx="48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94" name="Line 58"/>
            <p:cNvSpPr>
              <a:spLocks noChangeShapeType="1"/>
            </p:cNvSpPr>
            <p:nvPr/>
          </p:nvSpPr>
          <p:spPr bwMode="auto">
            <a:xfrm>
              <a:off x="4358" y="651"/>
              <a:ext cx="23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95" name="Line 59"/>
            <p:cNvSpPr>
              <a:spLocks noChangeShapeType="1"/>
            </p:cNvSpPr>
            <p:nvPr/>
          </p:nvSpPr>
          <p:spPr bwMode="auto">
            <a:xfrm>
              <a:off x="2830" y="187"/>
              <a:ext cx="43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96" name="Line 60"/>
            <p:cNvSpPr>
              <a:spLocks noChangeShapeType="1"/>
            </p:cNvSpPr>
            <p:nvPr/>
          </p:nvSpPr>
          <p:spPr bwMode="auto">
            <a:xfrm>
              <a:off x="2846" y="475"/>
              <a:ext cx="43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97" name="Line 61"/>
            <p:cNvSpPr>
              <a:spLocks noChangeShapeType="1"/>
            </p:cNvSpPr>
            <p:nvPr/>
          </p:nvSpPr>
          <p:spPr bwMode="auto">
            <a:xfrm>
              <a:off x="2870" y="771"/>
              <a:ext cx="43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37998" name="Picture 62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52"/>
              <a:ext cx="693" cy="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99" name="Picture 63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2" y="0"/>
              <a:ext cx="349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8000" name="Group 64"/>
            <p:cNvGrpSpPr>
              <a:grpSpLocks/>
            </p:cNvGrpSpPr>
            <p:nvPr/>
          </p:nvGrpSpPr>
          <p:grpSpPr bwMode="auto">
            <a:xfrm>
              <a:off x="2646" y="15"/>
              <a:ext cx="894" cy="1195"/>
              <a:chOff x="0" y="0"/>
              <a:chExt cx="894" cy="1195"/>
            </a:xfrm>
          </p:grpSpPr>
          <p:sp>
            <p:nvSpPr>
              <p:cNvPr id="38001" name="Oval 65"/>
              <p:cNvSpPr>
                <a:spLocks noChangeArrowheads="1"/>
              </p:cNvSpPr>
              <p:nvPr/>
            </p:nvSpPr>
            <p:spPr bwMode="auto">
              <a:xfrm>
                <a:off x="361" y="0"/>
                <a:ext cx="88" cy="1000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8002" name="Text Box 66"/>
              <p:cNvSpPr txBox="1">
                <a:spLocks noChangeArrowheads="1"/>
              </p:cNvSpPr>
              <p:nvPr/>
            </p:nvSpPr>
            <p:spPr bwMode="auto">
              <a:xfrm>
                <a:off x="0" y="1003"/>
                <a:ext cx="8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Times New Roman" pitchFamily="18" charset="0"/>
                    <a:ea typeface="宋体" pitchFamily="2" charset="-122"/>
                  </a:rPr>
                  <a:t>Error Prone</a:t>
                </a:r>
              </a:p>
            </p:txBody>
          </p:sp>
        </p:grpSp>
      </p:grpSp>
      <p:grpSp>
        <p:nvGrpSpPr>
          <p:cNvPr id="38979" name="Group 67"/>
          <p:cNvGrpSpPr>
            <a:grpSpLocks/>
          </p:cNvGrpSpPr>
          <p:nvPr/>
        </p:nvGrpSpPr>
        <p:grpSpPr bwMode="auto">
          <a:xfrm>
            <a:off x="511175" y="4494213"/>
            <a:ext cx="8405813" cy="1784350"/>
            <a:chOff x="0" y="0"/>
            <a:chExt cx="5295" cy="1124"/>
          </a:xfrm>
        </p:grpSpPr>
        <p:grpSp>
          <p:nvGrpSpPr>
            <p:cNvPr id="37897" name="Group 68"/>
            <p:cNvGrpSpPr>
              <a:grpSpLocks/>
            </p:cNvGrpSpPr>
            <p:nvPr/>
          </p:nvGrpSpPr>
          <p:grpSpPr bwMode="auto">
            <a:xfrm>
              <a:off x="3269" y="281"/>
              <a:ext cx="894" cy="843"/>
              <a:chOff x="0" y="0"/>
              <a:chExt cx="894" cy="843"/>
            </a:xfrm>
          </p:grpSpPr>
          <p:sp>
            <p:nvSpPr>
              <p:cNvPr id="37960" name="Oval 69"/>
              <p:cNvSpPr>
                <a:spLocks noChangeArrowheads="1"/>
              </p:cNvSpPr>
              <p:nvPr/>
            </p:nvSpPr>
            <p:spPr bwMode="auto">
              <a:xfrm>
                <a:off x="342" y="0"/>
                <a:ext cx="91" cy="632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61" name="Text Box 70"/>
              <p:cNvSpPr txBox="1">
                <a:spLocks noChangeArrowheads="1"/>
              </p:cNvSpPr>
              <p:nvPr/>
            </p:nvSpPr>
            <p:spPr bwMode="auto">
              <a:xfrm>
                <a:off x="0" y="651"/>
                <a:ext cx="8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Times New Roman" pitchFamily="18" charset="0"/>
                    <a:ea typeface="宋体" pitchFamily="2" charset="-122"/>
                  </a:rPr>
                  <a:t>Low P</a:t>
                </a:r>
                <a:r>
                  <a:rPr lang="en-US" altLang="zh-CN" sz="1400" baseline="-25000">
                    <a:solidFill>
                      <a:srgbClr val="0000FF"/>
                    </a:solidFill>
                    <a:latin typeface="Times New Roman" pitchFamily="18" charset="0"/>
                    <a:ea typeface="宋体" pitchFamily="2" charset="-122"/>
                  </a:rPr>
                  <a:t>e</a:t>
                </a:r>
              </a:p>
            </p:txBody>
          </p:sp>
        </p:grpSp>
        <p:grpSp>
          <p:nvGrpSpPr>
            <p:cNvPr id="37898" name="Group 71"/>
            <p:cNvGrpSpPr>
              <a:grpSpLocks/>
            </p:cNvGrpSpPr>
            <p:nvPr/>
          </p:nvGrpSpPr>
          <p:grpSpPr bwMode="auto">
            <a:xfrm>
              <a:off x="0" y="0"/>
              <a:ext cx="5295" cy="994"/>
              <a:chOff x="0" y="0"/>
              <a:chExt cx="5295" cy="994"/>
            </a:xfrm>
          </p:grpSpPr>
          <p:sp>
            <p:nvSpPr>
              <p:cNvPr id="37899" name="Rectangle 72"/>
              <p:cNvSpPr>
                <a:spLocks noChangeArrowheads="1"/>
              </p:cNvSpPr>
              <p:nvPr/>
            </p:nvSpPr>
            <p:spPr bwMode="auto">
              <a:xfrm>
                <a:off x="4702" y="297"/>
                <a:ext cx="48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00" name="Rectangle 73"/>
              <p:cNvSpPr>
                <a:spLocks noChangeArrowheads="1"/>
              </p:cNvSpPr>
              <p:nvPr/>
            </p:nvSpPr>
            <p:spPr bwMode="auto">
              <a:xfrm>
                <a:off x="4798" y="393"/>
                <a:ext cx="112" cy="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01" name="Rectangle 74"/>
              <p:cNvSpPr>
                <a:spLocks noChangeArrowheads="1"/>
              </p:cNvSpPr>
              <p:nvPr/>
            </p:nvSpPr>
            <p:spPr bwMode="auto">
              <a:xfrm>
                <a:off x="4894" y="489"/>
                <a:ext cx="48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02" name="Rectangle 75"/>
              <p:cNvSpPr>
                <a:spLocks noChangeArrowheads="1"/>
              </p:cNvSpPr>
              <p:nvPr/>
            </p:nvSpPr>
            <p:spPr bwMode="auto">
              <a:xfrm>
                <a:off x="5118" y="329"/>
                <a:ext cx="48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03" name="Rectangle 76"/>
              <p:cNvSpPr>
                <a:spLocks noChangeArrowheads="1"/>
              </p:cNvSpPr>
              <p:nvPr/>
            </p:nvSpPr>
            <p:spPr bwMode="auto">
              <a:xfrm>
                <a:off x="4750" y="617"/>
                <a:ext cx="104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04" name="Rectangle 77"/>
              <p:cNvSpPr>
                <a:spLocks noChangeArrowheads="1"/>
              </p:cNvSpPr>
              <p:nvPr/>
            </p:nvSpPr>
            <p:spPr bwMode="auto">
              <a:xfrm>
                <a:off x="5046" y="585"/>
                <a:ext cx="48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grpSp>
            <p:nvGrpSpPr>
              <p:cNvPr id="37905" name="Group 78"/>
              <p:cNvGrpSpPr>
                <a:grpSpLocks/>
              </p:cNvGrpSpPr>
              <p:nvPr/>
            </p:nvGrpSpPr>
            <p:grpSpPr bwMode="auto">
              <a:xfrm>
                <a:off x="2661" y="102"/>
                <a:ext cx="100" cy="216"/>
                <a:chOff x="0" y="0"/>
                <a:chExt cx="136" cy="302"/>
              </a:xfrm>
            </p:grpSpPr>
            <p:sp>
              <p:nvSpPr>
                <p:cNvPr id="37958" name="Line 79"/>
                <p:cNvSpPr>
                  <a:spLocks noChangeShapeType="1"/>
                </p:cNvSpPr>
                <p:nvPr/>
              </p:nvSpPr>
              <p:spPr bwMode="auto">
                <a:xfrm>
                  <a:off x="68" y="62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59" name="AutoShape 80"/>
                <p:cNvSpPr>
                  <a:spLocks noChangeArrowheads="1"/>
                </p:cNvSpPr>
                <p:nvPr/>
              </p:nvSpPr>
              <p:spPr bwMode="auto">
                <a:xfrm rot="10800000">
                  <a:off x="0" y="0"/>
                  <a:ext cx="136" cy="184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itchFamily="34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37906" name="Group 81"/>
              <p:cNvGrpSpPr>
                <a:grpSpLocks/>
              </p:cNvGrpSpPr>
              <p:nvPr/>
            </p:nvGrpSpPr>
            <p:grpSpPr bwMode="auto">
              <a:xfrm>
                <a:off x="2668" y="398"/>
                <a:ext cx="100" cy="216"/>
                <a:chOff x="0" y="0"/>
                <a:chExt cx="136" cy="302"/>
              </a:xfrm>
            </p:grpSpPr>
            <p:sp>
              <p:nvSpPr>
                <p:cNvPr id="37956" name="Line 82"/>
                <p:cNvSpPr>
                  <a:spLocks noChangeShapeType="1"/>
                </p:cNvSpPr>
                <p:nvPr/>
              </p:nvSpPr>
              <p:spPr bwMode="auto">
                <a:xfrm>
                  <a:off x="68" y="62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57" name="AutoShape 83"/>
                <p:cNvSpPr>
                  <a:spLocks noChangeArrowheads="1"/>
                </p:cNvSpPr>
                <p:nvPr/>
              </p:nvSpPr>
              <p:spPr bwMode="auto">
                <a:xfrm rot="10800000">
                  <a:off x="0" y="0"/>
                  <a:ext cx="136" cy="184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itchFamily="34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37907" name="Group 84"/>
              <p:cNvGrpSpPr>
                <a:grpSpLocks/>
              </p:cNvGrpSpPr>
              <p:nvPr/>
            </p:nvGrpSpPr>
            <p:grpSpPr bwMode="auto">
              <a:xfrm>
                <a:off x="2677" y="695"/>
                <a:ext cx="100" cy="216"/>
                <a:chOff x="0" y="0"/>
                <a:chExt cx="136" cy="302"/>
              </a:xfrm>
            </p:grpSpPr>
            <p:sp>
              <p:nvSpPr>
                <p:cNvPr id="37954" name="Line 85"/>
                <p:cNvSpPr>
                  <a:spLocks noChangeShapeType="1"/>
                </p:cNvSpPr>
                <p:nvPr/>
              </p:nvSpPr>
              <p:spPr bwMode="auto">
                <a:xfrm>
                  <a:off x="68" y="62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55" name="AutoShape 86"/>
                <p:cNvSpPr>
                  <a:spLocks noChangeArrowheads="1"/>
                </p:cNvSpPr>
                <p:nvPr/>
              </p:nvSpPr>
              <p:spPr bwMode="auto">
                <a:xfrm rot="10800000">
                  <a:off x="0" y="0"/>
                  <a:ext cx="136" cy="184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itchFamily="34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37908" name="Line 87"/>
              <p:cNvSpPr>
                <a:spLocks noChangeShapeType="1"/>
              </p:cNvSpPr>
              <p:nvPr/>
            </p:nvSpPr>
            <p:spPr bwMode="auto">
              <a:xfrm>
                <a:off x="729" y="615"/>
                <a:ext cx="20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09" name="Rectangle 88"/>
              <p:cNvSpPr>
                <a:spLocks noChangeArrowheads="1"/>
              </p:cNvSpPr>
              <p:nvPr/>
            </p:nvSpPr>
            <p:spPr bwMode="auto">
              <a:xfrm>
                <a:off x="934" y="425"/>
                <a:ext cx="600" cy="352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10" name="Text Box 89"/>
              <p:cNvSpPr txBox="1">
                <a:spLocks noChangeArrowheads="1"/>
              </p:cNvSpPr>
              <p:nvPr/>
            </p:nvSpPr>
            <p:spPr bwMode="auto">
              <a:xfrm>
                <a:off x="941" y="444"/>
                <a:ext cx="614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Low-Rate</a:t>
                </a:r>
              </a:p>
              <a:p>
                <a:pPr algn="ctr" eaLnBrk="1" hangingPunct="1"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Quantizer</a:t>
                </a:r>
              </a:p>
            </p:txBody>
          </p:sp>
          <p:sp>
            <p:nvSpPr>
              <p:cNvPr id="37911" name="Line 90"/>
              <p:cNvSpPr>
                <a:spLocks noChangeShapeType="1"/>
              </p:cNvSpPr>
              <p:nvPr/>
            </p:nvSpPr>
            <p:spPr bwMode="auto">
              <a:xfrm>
                <a:off x="1553" y="615"/>
                <a:ext cx="20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2" name="Rectangle 91"/>
              <p:cNvSpPr>
                <a:spLocks noChangeArrowheads="1"/>
              </p:cNvSpPr>
              <p:nvPr/>
            </p:nvSpPr>
            <p:spPr bwMode="auto">
              <a:xfrm>
                <a:off x="1766" y="393"/>
                <a:ext cx="624" cy="432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13" name="Text Box 92"/>
              <p:cNvSpPr txBox="1">
                <a:spLocks noChangeArrowheads="1"/>
              </p:cNvSpPr>
              <p:nvPr/>
            </p:nvSpPr>
            <p:spPr bwMode="auto">
              <a:xfrm>
                <a:off x="1589" y="404"/>
                <a:ext cx="1022" cy="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ST Code</a:t>
                </a:r>
              </a:p>
              <a:p>
                <a:pPr algn="ctr" eaLnBrk="1" hangingPunct="1"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High </a:t>
                </a:r>
              </a:p>
              <a:p>
                <a:pPr algn="ctr" eaLnBrk="1" hangingPunct="1">
                  <a:lnSpc>
                    <a:spcPct val="3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Diversity</a:t>
                </a:r>
              </a:p>
            </p:txBody>
          </p:sp>
          <p:sp>
            <p:nvSpPr>
              <p:cNvPr id="37914" name="Line 93"/>
              <p:cNvSpPr>
                <a:spLocks noChangeShapeType="1"/>
              </p:cNvSpPr>
              <p:nvPr/>
            </p:nvSpPr>
            <p:spPr bwMode="auto">
              <a:xfrm>
                <a:off x="2374" y="609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7915" name="Group 94"/>
              <p:cNvGrpSpPr>
                <a:grpSpLocks/>
              </p:cNvGrpSpPr>
              <p:nvPr/>
            </p:nvGrpSpPr>
            <p:grpSpPr bwMode="auto">
              <a:xfrm>
                <a:off x="2374" y="305"/>
                <a:ext cx="336" cy="136"/>
                <a:chOff x="0" y="0"/>
                <a:chExt cx="336" cy="136"/>
              </a:xfrm>
            </p:grpSpPr>
            <p:sp>
              <p:nvSpPr>
                <p:cNvPr id="37951" name="Line 95"/>
                <p:cNvSpPr>
                  <a:spLocks noChangeShapeType="1"/>
                </p:cNvSpPr>
                <p:nvPr/>
              </p:nvSpPr>
              <p:spPr bwMode="auto">
                <a:xfrm>
                  <a:off x="0" y="136"/>
                  <a:ext cx="176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52" name="Line 96"/>
                <p:cNvSpPr>
                  <a:spLocks noChangeShapeType="1"/>
                </p:cNvSpPr>
                <p:nvPr/>
              </p:nvSpPr>
              <p:spPr bwMode="auto">
                <a:xfrm flipV="1">
                  <a:off x="168" y="8"/>
                  <a:ext cx="0" cy="12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53" name="Line 97"/>
                <p:cNvSpPr>
                  <a:spLocks noChangeShapeType="1"/>
                </p:cNvSpPr>
                <p:nvPr/>
              </p:nvSpPr>
              <p:spPr bwMode="auto">
                <a:xfrm>
                  <a:off x="168" y="0"/>
                  <a:ext cx="168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916" name="Group 98"/>
              <p:cNvGrpSpPr>
                <a:grpSpLocks/>
              </p:cNvGrpSpPr>
              <p:nvPr/>
            </p:nvGrpSpPr>
            <p:grpSpPr bwMode="auto">
              <a:xfrm flipV="1">
                <a:off x="2390" y="769"/>
                <a:ext cx="336" cy="136"/>
                <a:chOff x="0" y="0"/>
                <a:chExt cx="336" cy="136"/>
              </a:xfrm>
            </p:grpSpPr>
            <p:sp>
              <p:nvSpPr>
                <p:cNvPr id="37948" name="Line 99"/>
                <p:cNvSpPr>
                  <a:spLocks noChangeShapeType="1"/>
                </p:cNvSpPr>
                <p:nvPr/>
              </p:nvSpPr>
              <p:spPr bwMode="auto">
                <a:xfrm>
                  <a:off x="0" y="136"/>
                  <a:ext cx="176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49" name="Line 100"/>
                <p:cNvSpPr>
                  <a:spLocks noChangeShapeType="1"/>
                </p:cNvSpPr>
                <p:nvPr/>
              </p:nvSpPr>
              <p:spPr bwMode="auto">
                <a:xfrm flipV="1">
                  <a:off x="168" y="8"/>
                  <a:ext cx="0" cy="12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50" name="Line 101"/>
                <p:cNvSpPr>
                  <a:spLocks noChangeShapeType="1"/>
                </p:cNvSpPr>
                <p:nvPr/>
              </p:nvSpPr>
              <p:spPr bwMode="auto">
                <a:xfrm>
                  <a:off x="168" y="0"/>
                  <a:ext cx="168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917" name="Group 102"/>
              <p:cNvGrpSpPr>
                <a:grpSpLocks/>
              </p:cNvGrpSpPr>
              <p:nvPr/>
            </p:nvGrpSpPr>
            <p:grpSpPr bwMode="auto">
              <a:xfrm flipH="1">
                <a:off x="3353" y="118"/>
                <a:ext cx="100" cy="216"/>
                <a:chOff x="0" y="0"/>
                <a:chExt cx="136" cy="302"/>
              </a:xfrm>
            </p:grpSpPr>
            <p:sp>
              <p:nvSpPr>
                <p:cNvPr id="37946" name="Line 103"/>
                <p:cNvSpPr>
                  <a:spLocks noChangeShapeType="1"/>
                </p:cNvSpPr>
                <p:nvPr/>
              </p:nvSpPr>
              <p:spPr bwMode="auto">
                <a:xfrm>
                  <a:off x="68" y="62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47" name="AutoShape 104"/>
                <p:cNvSpPr>
                  <a:spLocks noChangeArrowheads="1"/>
                </p:cNvSpPr>
                <p:nvPr/>
              </p:nvSpPr>
              <p:spPr bwMode="auto">
                <a:xfrm rot="10800000">
                  <a:off x="0" y="0"/>
                  <a:ext cx="136" cy="184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itchFamily="34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37918" name="Group 105"/>
              <p:cNvGrpSpPr>
                <a:grpSpLocks/>
              </p:cNvGrpSpPr>
              <p:nvPr/>
            </p:nvGrpSpPr>
            <p:grpSpPr bwMode="auto">
              <a:xfrm flipH="1">
                <a:off x="3346" y="414"/>
                <a:ext cx="100" cy="216"/>
                <a:chOff x="0" y="0"/>
                <a:chExt cx="136" cy="302"/>
              </a:xfrm>
            </p:grpSpPr>
            <p:sp>
              <p:nvSpPr>
                <p:cNvPr id="37944" name="Line 106"/>
                <p:cNvSpPr>
                  <a:spLocks noChangeShapeType="1"/>
                </p:cNvSpPr>
                <p:nvPr/>
              </p:nvSpPr>
              <p:spPr bwMode="auto">
                <a:xfrm>
                  <a:off x="68" y="62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45" name="AutoShape 107"/>
                <p:cNvSpPr>
                  <a:spLocks noChangeArrowheads="1"/>
                </p:cNvSpPr>
                <p:nvPr/>
              </p:nvSpPr>
              <p:spPr bwMode="auto">
                <a:xfrm rot="10800000">
                  <a:off x="0" y="0"/>
                  <a:ext cx="136" cy="184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itchFamily="34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37919" name="Group 108"/>
              <p:cNvGrpSpPr>
                <a:grpSpLocks/>
              </p:cNvGrpSpPr>
              <p:nvPr/>
            </p:nvGrpSpPr>
            <p:grpSpPr bwMode="auto">
              <a:xfrm flipH="1">
                <a:off x="3337" y="711"/>
                <a:ext cx="100" cy="216"/>
                <a:chOff x="0" y="0"/>
                <a:chExt cx="136" cy="302"/>
              </a:xfrm>
            </p:grpSpPr>
            <p:sp>
              <p:nvSpPr>
                <p:cNvPr id="37942" name="Line 109"/>
                <p:cNvSpPr>
                  <a:spLocks noChangeShapeType="1"/>
                </p:cNvSpPr>
                <p:nvPr/>
              </p:nvSpPr>
              <p:spPr bwMode="auto">
                <a:xfrm>
                  <a:off x="68" y="62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43" name="AutoShape 110"/>
                <p:cNvSpPr>
                  <a:spLocks noChangeArrowheads="1"/>
                </p:cNvSpPr>
                <p:nvPr/>
              </p:nvSpPr>
              <p:spPr bwMode="auto">
                <a:xfrm rot="10800000">
                  <a:off x="0" y="0"/>
                  <a:ext cx="136" cy="184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itchFamily="34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37920" name="Rectangle 111"/>
              <p:cNvSpPr>
                <a:spLocks noChangeArrowheads="1"/>
              </p:cNvSpPr>
              <p:nvPr/>
            </p:nvSpPr>
            <p:spPr bwMode="auto">
              <a:xfrm flipH="1">
                <a:off x="3748" y="441"/>
                <a:ext cx="600" cy="360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21" name="Line 112"/>
              <p:cNvSpPr>
                <a:spLocks noChangeShapeType="1"/>
              </p:cNvSpPr>
              <p:nvPr/>
            </p:nvSpPr>
            <p:spPr bwMode="auto">
              <a:xfrm flipH="1">
                <a:off x="3404" y="625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7922" name="Group 113"/>
              <p:cNvGrpSpPr>
                <a:grpSpLocks/>
              </p:cNvGrpSpPr>
              <p:nvPr/>
            </p:nvGrpSpPr>
            <p:grpSpPr bwMode="auto">
              <a:xfrm flipH="1">
                <a:off x="3404" y="321"/>
                <a:ext cx="336" cy="136"/>
                <a:chOff x="0" y="0"/>
                <a:chExt cx="336" cy="136"/>
              </a:xfrm>
            </p:grpSpPr>
            <p:sp>
              <p:nvSpPr>
                <p:cNvPr id="37939" name="Line 114"/>
                <p:cNvSpPr>
                  <a:spLocks noChangeShapeType="1"/>
                </p:cNvSpPr>
                <p:nvPr/>
              </p:nvSpPr>
              <p:spPr bwMode="auto">
                <a:xfrm>
                  <a:off x="0" y="136"/>
                  <a:ext cx="176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40" name="Line 115"/>
                <p:cNvSpPr>
                  <a:spLocks noChangeShapeType="1"/>
                </p:cNvSpPr>
                <p:nvPr/>
              </p:nvSpPr>
              <p:spPr bwMode="auto">
                <a:xfrm flipV="1">
                  <a:off x="168" y="8"/>
                  <a:ext cx="0" cy="12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41" name="Line 116"/>
                <p:cNvSpPr>
                  <a:spLocks noChangeShapeType="1"/>
                </p:cNvSpPr>
                <p:nvPr/>
              </p:nvSpPr>
              <p:spPr bwMode="auto">
                <a:xfrm>
                  <a:off x="168" y="0"/>
                  <a:ext cx="168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7923" name="Line 117"/>
              <p:cNvSpPr>
                <a:spLocks noChangeShapeType="1"/>
              </p:cNvSpPr>
              <p:nvPr/>
            </p:nvSpPr>
            <p:spPr bwMode="auto">
              <a:xfrm flipH="1" flipV="1">
                <a:off x="3548" y="785"/>
                <a:ext cx="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4" name="Line 118"/>
              <p:cNvSpPr>
                <a:spLocks noChangeShapeType="1"/>
              </p:cNvSpPr>
              <p:nvPr/>
            </p:nvSpPr>
            <p:spPr bwMode="auto">
              <a:xfrm flipH="1">
                <a:off x="3556" y="785"/>
                <a:ext cx="0" cy="1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5" name="Line 119"/>
              <p:cNvSpPr>
                <a:spLocks noChangeShapeType="1"/>
              </p:cNvSpPr>
              <p:nvPr/>
            </p:nvSpPr>
            <p:spPr bwMode="auto">
              <a:xfrm flipH="1" flipV="1">
                <a:off x="3388" y="921"/>
                <a:ext cx="16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6" name="Text Box 120"/>
              <p:cNvSpPr txBox="1">
                <a:spLocks noChangeArrowheads="1"/>
              </p:cNvSpPr>
              <p:nvPr/>
            </p:nvSpPr>
            <p:spPr bwMode="auto">
              <a:xfrm>
                <a:off x="3725" y="524"/>
                <a:ext cx="61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Decoder</a:t>
                </a:r>
              </a:p>
            </p:txBody>
          </p:sp>
          <p:sp>
            <p:nvSpPr>
              <p:cNvPr id="37927" name="Rectangle 121"/>
              <p:cNvSpPr>
                <a:spLocks noChangeArrowheads="1"/>
              </p:cNvSpPr>
              <p:nvPr/>
            </p:nvSpPr>
            <p:spPr bwMode="auto">
              <a:xfrm>
                <a:off x="4894" y="753"/>
                <a:ext cx="104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28" name="Rectangle 122"/>
              <p:cNvSpPr>
                <a:spLocks noChangeArrowheads="1"/>
              </p:cNvSpPr>
              <p:nvPr/>
            </p:nvSpPr>
            <p:spPr bwMode="auto">
              <a:xfrm>
                <a:off x="5118" y="881"/>
                <a:ext cx="48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29" name="Rectangle 123"/>
              <p:cNvSpPr>
                <a:spLocks noChangeArrowheads="1"/>
              </p:cNvSpPr>
              <p:nvPr/>
            </p:nvSpPr>
            <p:spPr bwMode="auto">
              <a:xfrm>
                <a:off x="4726" y="881"/>
                <a:ext cx="48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30" name="Line 124"/>
              <p:cNvSpPr>
                <a:spLocks noChangeShapeType="1"/>
              </p:cNvSpPr>
              <p:nvPr/>
            </p:nvSpPr>
            <p:spPr bwMode="auto">
              <a:xfrm>
                <a:off x="4358" y="617"/>
                <a:ext cx="23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31" name="Line 125"/>
              <p:cNvSpPr>
                <a:spLocks noChangeShapeType="1"/>
              </p:cNvSpPr>
              <p:nvPr/>
            </p:nvSpPr>
            <p:spPr bwMode="auto">
              <a:xfrm>
                <a:off x="2846" y="441"/>
                <a:ext cx="47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37932" name="Picture 126"/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00" y="96"/>
                <a:ext cx="695" cy="8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933" name="Picture 127"/>
              <p:cNvPicPr>
                <a:picLocks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102"/>
                <a:ext cx="693" cy="8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934" name="Picture 128"/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6" y="0"/>
                <a:ext cx="359" cy="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35" name="Line 129"/>
              <p:cNvSpPr>
                <a:spLocks noChangeShapeType="1"/>
              </p:cNvSpPr>
              <p:nvPr/>
            </p:nvSpPr>
            <p:spPr bwMode="auto">
              <a:xfrm>
                <a:off x="2838" y="169"/>
                <a:ext cx="144" cy="27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36" name="Line 130"/>
              <p:cNvSpPr>
                <a:spLocks noChangeShapeType="1"/>
              </p:cNvSpPr>
              <p:nvPr/>
            </p:nvSpPr>
            <p:spPr bwMode="auto">
              <a:xfrm flipV="1">
                <a:off x="2846" y="441"/>
                <a:ext cx="136" cy="31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37" name="Line 131"/>
              <p:cNvSpPr>
                <a:spLocks noChangeShapeType="1"/>
              </p:cNvSpPr>
              <p:nvPr/>
            </p:nvSpPr>
            <p:spPr bwMode="auto">
              <a:xfrm flipV="1">
                <a:off x="3126" y="185"/>
                <a:ext cx="168" cy="2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38" name="Line 132"/>
              <p:cNvSpPr>
                <a:spLocks noChangeShapeType="1"/>
              </p:cNvSpPr>
              <p:nvPr/>
            </p:nvSpPr>
            <p:spPr bwMode="auto">
              <a:xfrm>
                <a:off x="3126" y="457"/>
                <a:ext cx="152" cy="28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7894" name="Text Box 133"/>
          <p:cNvSpPr txBox="1">
            <a:spLocks noChangeArrowheads="1"/>
          </p:cNvSpPr>
          <p:nvPr/>
        </p:nvSpPr>
        <p:spPr bwMode="auto">
          <a:xfrm>
            <a:off x="6115050" y="1939925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endParaRPr lang="zh-CN" altLang="en-US">
              <a:solidFill>
                <a:schemeClr val="tx1"/>
              </a:solidFill>
              <a:latin typeface="ZapfDingbats" pitchFamily="2" charset="2"/>
              <a:ea typeface="宋体" pitchFamily="2" charset="-122"/>
            </a:endParaRPr>
          </a:p>
        </p:txBody>
      </p:sp>
      <p:sp>
        <p:nvSpPr>
          <p:cNvPr id="37895" name="Text Box 134"/>
          <p:cNvSpPr txBox="1">
            <a:spLocks noChangeArrowheads="1"/>
          </p:cNvSpPr>
          <p:nvPr/>
        </p:nvSpPr>
        <p:spPr bwMode="auto">
          <a:xfrm>
            <a:off x="6280150" y="673100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endParaRPr lang="zh-CN" altLang="en-US">
              <a:solidFill>
                <a:schemeClr val="tx1"/>
              </a:solidFill>
              <a:latin typeface="ZapfDingbats" pitchFamily="2" charset="2"/>
              <a:ea typeface="宋体" pitchFamily="2" charset="-122"/>
            </a:endParaRPr>
          </a:p>
        </p:txBody>
      </p:sp>
      <p:sp>
        <p:nvSpPr>
          <p:cNvPr id="39047" name="Text Box 136"/>
          <p:cNvSpPr txBox="1">
            <a:spLocks noChangeArrowheads="1"/>
          </p:cNvSpPr>
          <p:nvPr/>
        </p:nvSpPr>
        <p:spPr bwMode="auto">
          <a:xfrm>
            <a:off x="231775" y="6221413"/>
            <a:ext cx="8532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400">
                <a:solidFill>
                  <a:srgbClr val="FF0000"/>
                </a:solidFill>
                <a:ea typeface="宋体" pitchFamily="2" charset="-122"/>
              </a:rPr>
              <a:t>Depends on end-to-end metric: </a:t>
            </a:r>
            <a:r>
              <a:rPr lang="en-US" altLang="zh-CN" sz="2400" i="1">
                <a:ea typeface="宋体" pitchFamily="2" charset="-122"/>
              </a:rPr>
              <a:t>Solve by optimizing app. metric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47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Main Points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000">
                <a:ea typeface="宋体" pitchFamily="2" charset="-122"/>
              </a:rPr>
              <a:t>MIMO channels greatly improve capacity and performance through array gain, diversity gain, interference reduction, and spatial multiplexing</a:t>
            </a:r>
          </a:p>
          <a:p>
            <a:pPr>
              <a:lnSpc>
                <a:spcPct val="100000"/>
              </a:lnSpc>
            </a:pPr>
            <a:r>
              <a:rPr lang="en-US" altLang="zh-CN" sz="2000">
                <a:ea typeface="宋体" pitchFamily="2" charset="-122"/>
              </a:rPr>
              <a:t>MIMO channel can be decomposed into R</a:t>
            </a:r>
            <a:r>
              <a:rPr lang="en-US" altLang="zh-CN" sz="2000" baseline="-25000">
                <a:ea typeface="宋体" pitchFamily="2" charset="-122"/>
              </a:rPr>
              <a:t>H</a:t>
            </a:r>
            <a:r>
              <a:rPr lang="en-US" altLang="zh-CN" sz="2000">
                <a:ea typeface="宋体" pitchFamily="2" charset="-122"/>
              </a:rPr>
              <a:t> Parallel SISO channels, where R</a:t>
            </a:r>
            <a:r>
              <a:rPr lang="en-US" altLang="zh-CN" sz="2000" baseline="-25000">
                <a:ea typeface="宋体" pitchFamily="2" charset="-122"/>
              </a:rPr>
              <a:t>H </a:t>
            </a:r>
            <a:r>
              <a:rPr lang="en-US" altLang="zh-CN" sz="2000">
                <a:ea typeface="宋体" pitchFamily="2" charset="-122"/>
              </a:rPr>
              <a:t>is rank of channel matrix H</a:t>
            </a:r>
          </a:p>
          <a:p>
            <a:pPr>
              <a:lnSpc>
                <a:spcPct val="100000"/>
              </a:lnSpc>
            </a:pPr>
            <a:r>
              <a:rPr lang="en-US" altLang="zh-CN" sz="2000">
                <a:ea typeface="宋体" pitchFamily="2" charset="-122"/>
              </a:rPr>
              <a:t>Greatest capacity improvements are obtained under rich scattering conditions (H full rank)</a:t>
            </a:r>
          </a:p>
          <a:p>
            <a:pPr>
              <a:lnSpc>
                <a:spcPct val="100000"/>
              </a:lnSpc>
            </a:pPr>
            <a:r>
              <a:rPr lang="en-US" altLang="zh-CN" sz="2000">
                <a:ea typeface="宋体" pitchFamily="2" charset="-122"/>
              </a:rPr>
              <a:t>Capacity depends on the degree of channel knowledge at transmitter and receiver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   -For static channel with CSIT and CSIR, waterfilling over space is optimal power allocation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   -Similar idea in fading, based on short-term or long-term power constraint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   -Without CSIT, capacity metric is based on outage probability</a:t>
            </a:r>
          </a:p>
          <a:p>
            <a:pPr>
              <a:lnSpc>
                <a:spcPct val="100000"/>
              </a:lnSpc>
            </a:pPr>
            <a:endParaRPr lang="en-US" altLang="zh-CN" sz="2000">
              <a:ea typeface="宋体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2000">
              <a:ea typeface="宋体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ea typeface="宋体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ea typeface="宋体" pitchFamily="2" charset="-122"/>
            </a:endParaRP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en-US" altLang="zh-CN" sz="180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zh-CN" altLang="en-US" dirty="0">
                <a:ea typeface="宋体" pitchFamily="2" charset="-122"/>
              </a:rPr>
              <a:t>Ex. </a:t>
            </a:r>
            <a:r>
              <a:rPr lang="en-US" altLang="zh-CN">
                <a:ea typeface="宋体" pitchFamily="2" charset="-122"/>
              </a:rPr>
              <a:t>10.6, </a:t>
            </a:r>
            <a:r>
              <a:rPr lang="zh-CN" altLang="en-US">
                <a:ea typeface="宋体" pitchFamily="2" charset="-122"/>
              </a:rPr>
              <a:t>10.8, </a:t>
            </a:r>
            <a:r>
              <a:rPr lang="zh-CN" altLang="en-US" dirty="0">
                <a:ea typeface="宋体" pitchFamily="2" charset="-122"/>
              </a:rPr>
              <a:t>10.14, 10.17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6466151"/>
      </p:ext>
    </p:extLst>
  </p:cSld>
  <p:clrMapOvr>
    <a:masterClrMapping/>
  </p:clrMapOvr>
</p:sld>
</file>

<file path=ppt/theme/theme1.xml><?xml version="1.0" encoding="utf-8"?>
<a:theme xmlns:a="http://schemas.openxmlformats.org/drawingml/2006/main" name="BlueRed">
  <a:themeElements>
    <a:clrScheme name="">
      <a:dk1>
        <a:srgbClr val="474747"/>
      </a:dk1>
      <a:lt1>
        <a:srgbClr val="FFFFFF"/>
      </a:lt1>
      <a:dk2>
        <a:srgbClr val="772655"/>
      </a:dk2>
      <a:lt2>
        <a:srgbClr val="00DFCA"/>
      </a:lt2>
      <a:accent1>
        <a:srgbClr val="DC0081"/>
      </a:accent1>
      <a:accent2>
        <a:srgbClr val="FAFD00"/>
      </a:accent2>
      <a:accent3>
        <a:srgbClr val="BDACB4"/>
      </a:accent3>
      <a:accent4>
        <a:srgbClr val="DADADA"/>
      </a:accent4>
      <a:accent5>
        <a:srgbClr val="EBAAC1"/>
      </a:accent5>
      <a:accent6>
        <a:srgbClr val="E3E500"/>
      </a:accent6>
      <a:hlink>
        <a:srgbClr val="FE9B03"/>
      </a:hlink>
      <a:folHlink>
        <a:srgbClr val="D989B8"/>
      </a:folHlink>
    </a:clrScheme>
    <a:fontScheme name="BlueRed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ueRe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Re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ueRed_2">
  <a:themeElements>
    <a:clrScheme name="">
      <a:dk1>
        <a:srgbClr val="474747"/>
      </a:dk1>
      <a:lt1>
        <a:srgbClr val="FFFFFF"/>
      </a:lt1>
      <a:dk2>
        <a:srgbClr val="772655"/>
      </a:dk2>
      <a:lt2>
        <a:srgbClr val="00DFCA"/>
      </a:lt2>
      <a:accent1>
        <a:srgbClr val="DC0081"/>
      </a:accent1>
      <a:accent2>
        <a:srgbClr val="FAFD00"/>
      </a:accent2>
      <a:accent3>
        <a:srgbClr val="BDACB4"/>
      </a:accent3>
      <a:accent4>
        <a:srgbClr val="DADADA"/>
      </a:accent4>
      <a:accent5>
        <a:srgbClr val="EBAAC1"/>
      </a:accent5>
      <a:accent6>
        <a:srgbClr val="E3E500"/>
      </a:accent6>
      <a:hlink>
        <a:srgbClr val="FE9B03"/>
      </a:hlink>
      <a:folHlink>
        <a:srgbClr val="D989B8"/>
      </a:folHlink>
    </a:clrScheme>
    <a:fontScheme name="BlueRed_2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ueRed_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_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Red_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_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_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_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_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C:\MSOffice\Templates\BlueRed.pot</Template>
  <TotalTime>1183</TotalTime>
  <Pages>0</Pages>
  <Words>698</Words>
  <Characters>0</Characters>
  <Application>Microsoft Office PowerPoint</Application>
  <DocSecurity>0</DocSecurity>
  <PresentationFormat>全屏显示(4:3)</PresentationFormat>
  <Lines>0</Lines>
  <Paragraphs>131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1" baseType="lpstr">
      <vt:lpstr>ZapfDingbats</vt:lpstr>
      <vt:lpstr>楷体</vt:lpstr>
      <vt:lpstr>宋体</vt:lpstr>
      <vt:lpstr>Arial</vt:lpstr>
      <vt:lpstr>Garamond</vt:lpstr>
      <vt:lpstr>Symbol</vt:lpstr>
      <vt:lpstr>Times New Roman</vt:lpstr>
      <vt:lpstr>Wingdings</vt:lpstr>
      <vt:lpstr>BlueRed</vt:lpstr>
      <vt:lpstr>BlueRed_2</vt:lpstr>
      <vt:lpstr>Equation</vt:lpstr>
      <vt:lpstr>公式</vt:lpstr>
      <vt:lpstr>Wireless Digital Communications</vt:lpstr>
      <vt:lpstr>Multiple Antennas (Adding Spatial Dimension)</vt:lpstr>
      <vt:lpstr>Single-User/Multi-User Spatial Multiplexing</vt:lpstr>
      <vt:lpstr>MIMO Principles</vt:lpstr>
      <vt:lpstr>MIMO Principles</vt:lpstr>
      <vt:lpstr>MIMO Principles</vt:lpstr>
      <vt:lpstr>Narrowband MIMO System (Flat Fading Channel)</vt:lpstr>
      <vt:lpstr>Narrowband MIMO System (Flat Fading Channel)</vt:lpstr>
      <vt:lpstr>MIMO Performance Improvements</vt:lpstr>
      <vt:lpstr>MIMO Performance Improvements</vt:lpstr>
      <vt:lpstr>MIMO Performance Improvements</vt:lpstr>
      <vt:lpstr>Spatial Multiplexing Gain</vt:lpstr>
      <vt:lpstr>Spatial Multiplexing Gain</vt:lpstr>
      <vt:lpstr>Spatial Envelope Correlation v.s. Antenna Spacing</vt:lpstr>
      <vt:lpstr>Space-Time Fading</vt:lpstr>
      <vt:lpstr>Space-Time Fading</vt:lpstr>
      <vt:lpstr>MIMO Channel Parallel Decomposition</vt:lpstr>
      <vt:lpstr>Parallel Decomposition</vt:lpstr>
      <vt:lpstr>Parallel Decomposition</vt:lpstr>
      <vt:lpstr> Equivalent MIMO Channel  (Nt &gt;Nr)</vt:lpstr>
      <vt:lpstr> Equivalent MIMO Channel  (Nr &gt;Nt)</vt:lpstr>
      <vt:lpstr>Capacity Equivqlence under Unitary Transform</vt:lpstr>
      <vt:lpstr>Capacity of MIMO Systems</vt:lpstr>
      <vt:lpstr>Static Channel Capacity (CSIT)</vt:lpstr>
      <vt:lpstr>Static Channel Capacity (CSIT)</vt:lpstr>
      <vt:lpstr>Notes</vt:lpstr>
      <vt:lpstr>Example</vt:lpstr>
      <vt:lpstr>Static MIMO+Adaptive Modulation</vt:lpstr>
      <vt:lpstr>Static Channel Capacity (no CSIT)</vt:lpstr>
      <vt:lpstr>For Large SNR</vt:lpstr>
      <vt:lpstr>Static Channel Capacity (no CSIT)</vt:lpstr>
      <vt:lpstr>Fading Channel Capacity (CSIT)</vt:lpstr>
      <vt:lpstr>Fading Channel Capacity (CSIT)</vt:lpstr>
      <vt:lpstr>Fading Channel Capacity (no CSIT)</vt:lpstr>
      <vt:lpstr>Capacity of an i.i.d. Rayleigh Fading Channel (no CSIT)</vt:lpstr>
      <vt:lpstr>Beamforming MIMO Diversity/Array Gains</vt:lpstr>
      <vt:lpstr>Solution to u and v</vt:lpstr>
      <vt:lpstr>Beamforming MIMO Diversity/Array Gains</vt:lpstr>
      <vt:lpstr>Tadeoff between Multiplexing and Diversity</vt:lpstr>
      <vt:lpstr>Diversity vs. Multiplexing</vt:lpstr>
      <vt:lpstr>Example</vt:lpstr>
      <vt:lpstr>PowerPoint 演示文稿</vt:lpstr>
      <vt:lpstr>Solution</vt:lpstr>
      <vt:lpstr>PowerPoint 演示文稿</vt:lpstr>
      <vt:lpstr>Discussion of MIMO-AMC Water-Filling Power Allocation</vt:lpstr>
      <vt:lpstr>Discussion of MIMO-AMC Water-Filling Power Allocation</vt:lpstr>
      <vt:lpstr>How should antennas be used?</vt:lpstr>
      <vt:lpstr>Main Points</vt:lpstr>
      <vt:lpstr>PowerPoint 演示文稿</vt:lpstr>
    </vt:vector>
  </TitlesOfParts>
  <Company>Cal Tech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Communications Research Overview</dc:title>
  <dc:creator>Andrea Goldsmith</dc:creator>
  <cp:lastModifiedBy>ZY J</cp:lastModifiedBy>
  <cp:revision>244</cp:revision>
  <cp:lastPrinted>2000-03-17T02:49:38Z</cp:lastPrinted>
  <dcterms:created xsi:type="dcterms:W3CDTF">1999-01-27T20:08:30Z</dcterms:created>
  <dcterms:modified xsi:type="dcterms:W3CDTF">2025-04-29T05:53:59Z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2052-9.1.0.4993</vt:lpwstr>
  </property>
</Properties>
</file>