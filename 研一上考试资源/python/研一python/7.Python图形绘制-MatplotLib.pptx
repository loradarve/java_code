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notesMasterIdLst>
    <p:notesMasterId r:id="rId28"/>
  </p:notesMasterIdLst>
  <p:handoutMasterIdLst>
    <p:handoutMasterId r:id="rId29"/>
  </p:handoutMasterIdLst>
  <p:sldIdLst>
    <p:sldId id="256" r:id="rId2"/>
    <p:sldId id="311" r:id="rId3"/>
    <p:sldId id="327" r:id="rId4"/>
    <p:sldId id="328" r:id="rId5"/>
    <p:sldId id="329" r:id="rId6"/>
    <p:sldId id="330" r:id="rId7"/>
    <p:sldId id="331" r:id="rId8"/>
    <p:sldId id="332" r:id="rId9"/>
    <p:sldId id="333" r:id="rId10"/>
    <p:sldId id="336" r:id="rId11"/>
    <p:sldId id="334" r:id="rId12"/>
    <p:sldId id="337" r:id="rId13"/>
    <p:sldId id="338" r:id="rId14"/>
    <p:sldId id="339" r:id="rId15"/>
    <p:sldId id="344" r:id="rId16"/>
    <p:sldId id="345" r:id="rId17"/>
    <p:sldId id="346" r:id="rId18"/>
    <p:sldId id="347" r:id="rId19"/>
    <p:sldId id="348" r:id="rId20"/>
    <p:sldId id="350" r:id="rId21"/>
    <p:sldId id="351" r:id="rId22"/>
    <p:sldId id="355" r:id="rId23"/>
    <p:sldId id="356" r:id="rId24"/>
    <p:sldId id="357" r:id="rId25"/>
    <p:sldId id="358" r:id="rId26"/>
    <p:sldId id="360" r:id="rId2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B4"/>
    <a:srgbClr val="000096"/>
    <a:srgbClr val="0000A8"/>
    <a:srgbClr val="00FFA8"/>
    <a:srgbClr val="006699"/>
    <a:srgbClr val="CC0099"/>
    <a:srgbClr val="A7D9FF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0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3834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BD166CF-6E35-43E2-A5D5-0F5CD5F97553}" type="datetimeFigureOut">
              <a:rPr lang="zh-CN" altLang="en-US"/>
              <a:pPr>
                <a:defRPr/>
              </a:pPr>
              <a:t>2025/12/29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592758F-AF89-4E1A-8BFA-9CF1203E404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45912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BE26F37-DC11-4BAC-B4D7-6B624C80AD08}" type="datetimeFigureOut">
              <a:rPr lang="zh-CN" altLang="en-US"/>
              <a:pPr>
                <a:defRPr/>
              </a:pPr>
              <a:t>2025/12/29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61FA80E0-6A02-4797-B90A-746FD6185FE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1532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31D432-6F1F-4CA5-9DB9-BBA88A771467}" type="slidenum">
              <a:rPr lang="zh-CN" altLang="en-US" smtClean="0"/>
              <a:pPr>
                <a:defRPr/>
              </a:pPr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4"/>
          <p:cNvSpPr>
            <a:spLocks noChangeArrowheads="1"/>
          </p:cNvSpPr>
          <p:nvPr/>
        </p:nvSpPr>
        <p:spPr bwMode="gray">
          <a:xfrm>
            <a:off x="0" y="3132138"/>
            <a:ext cx="9144000" cy="3725862"/>
          </a:xfrm>
          <a:prstGeom prst="rect">
            <a:avLst/>
          </a:prstGeom>
          <a:gradFill rotWithShape="1">
            <a:gsLst>
              <a:gs pos="0">
                <a:srgbClr val="003569"/>
              </a:gs>
              <a:gs pos="100000">
                <a:srgbClr val="417EB5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5" name="Line 65"/>
          <p:cNvSpPr>
            <a:spLocks noChangeShapeType="1"/>
          </p:cNvSpPr>
          <p:nvPr/>
        </p:nvSpPr>
        <p:spPr bwMode="gray">
          <a:xfrm>
            <a:off x="0" y="3125788"/>
            <a:ext cx="9144000" cy="0"/>
          </a:xfrm>
          <a:prstGeom prst="line">
            <a:avLst/>
          </a:prstGeom>
          <a:noFill/>
          <a:ln w="25400">
            <a:solidFill>
              <a:srgbClr val="66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Text Box 46"/>
          <p:cNvSpPr txBox="1">
            <a:spLocks noChangeArrowheads="1"/>
          </p:cNvSpPr>
          <p:nvPr/>
        </p:nvSpPr>
        <p:spPr bwMode="auto">
          <a:xfrm>
            <a:off x="0" y="6537325"/>
            <a:ext cx="485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b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fld id="{8BF95EB6-EBEA-436B-B8C7-CC5733D447DD}" type="slidenum">
              <a:rPr lang="en-US" altLang="zh-CN" sz="1400" b="1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88111" name="Rectangle 47"/>
          <p:cNvSpPr>
            <a:spLocks noGrp="1" noChangeArrowheads="1"/>
          </p:cNvSpPr>
          <p:nvPr>
            <p:ph type="ctrTitle" sz="quarter"/>
          </p:nvPr>
        </p:nvSpPr>
        <p:spPr>
          <a:xfrm>
            <a:off x="1117600" y="1406525"/>
            <a:ext cx="7508875" cy="1470025"/>
          </a:xfrm>
        </p:spPr>
        <p:txBody>
          <a:bodyPr anchor="ctr"/>
          <a:lstStyle>
            <a:lvl1pPr algn="r">
              <a:defRPr sz="4800">
                <a:latin typeface="华文新魏" pitchFamily="2" charset="-122"/>
                <a:ea typeface="华文新魏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altLang="zh-CN" dirty="0"/>
          </a:p>
        </p:txBody>
      </p:sp>
      <p:sp>
        <p:nvSpPr>
          <p:cNvPr id="88112" name="Rectangle 4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421063" y="3357562"/>
            <a:ext cx="5205412" cy="1085859"/>
          </a:xfrm>
        </p:spPr>
        <p:txBody>
          <a:bodyPr/>
          <a:lstStyle>
            <a:lvl1pPr marL="0" indent="0" algn="r">
              <a:spcBef>
                <a:spcPct val="20000"/>
              </a:spcBef>
              <a:buClrTx/>
              <a:buFontTx/>
              <a:buNone/>
              <a:defRPr sz="2400">
                <a:solidFill>
                  <a:schemeClr val="bg1"/>
                </a:solidFill>
                <a:latin typeface="Bodoni MT Black" pitchFamily="18" charset="0"/>
              </a:defRPr>
            </a:lvl1pPr>
          </a:lstStyle>
          <a:p>
            <a:r>
              <a:rPr lang="zh-CN" altLang="en-US"/>
              <a:t>单击此处编辑母版副标题样式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44329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8"/>
          <p:cNvCxnSpPr>
            <a:cxnSpLocks noChangeShapeType="1"/>
          </p:cNvCxnSpPr>
          <p:nvPr/>
        </p:nvCxnSpPr>
        <p:spPr bwMode="auto">
          <a:xfrm>
            <a:off x="571500" y="6858000"/>
            <a:ext cx="1857375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>
                <a:latin typeface="华文新魏" pitchFamily="2" charset="-122"/>
                <a:ea typeface="华文新魏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buClr>
                <a:srgbClr val="FF9900"/>
              </a:buClr>
              <a:defRPr>
                <a:latin typeface="华文新魏" pitchFamily="2" charset="-122"/>
                <a:ea typeface="华文新魏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>
                <a:latin typeface="华文新魏" pitchFamily="2" charset="-122"/>
                <a:ea typeface="华文新魏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buClr>
                <a:srgbClr val="FF9900"/>
              </a:buClr>
              <a:defRPr>
                <a:latin typeface="华文新魏" pitchFamily="2" charset="-122"/>
                <a:ea typeface="华文新魏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>
                <a:latin typeface="华文新魏" pitchFamily="2" charset="-122"/>
                <a:ea typeface="华文新魏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2532199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</p:spTree>
    <p:extLst>
      <p:ext uri="{BB962C8B-B14F-4D97-AF65-F5344CB8AC3E}">
        <p14:creationId xmlns:p14="http://schemas.microsoft.com/office/powerpoint/2010/main" val="8224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10432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57125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54"/>
          <p:cNvSpPr>
            <a:spLocks noChangeArrowheads="1"/>
          </p:cNvSpPr>
          <p:nvPr/>
        </p:nvSpPr>
        <p:spPr bwMode="gray">
          <a:xfrm>
            <a:off x="0" y="6375400"/>
            <a:ext cx="9144000" cy="4826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Line 56"/>
          <p:cNvSpPr>
            <a:spLocks noChangeShapeType="1"/>
          </p:cNvSpPr>
          <p:nvPr/>
        </p:nvSpPr>
        <p:spPr bwMode="gray">
          <a:xfrm>
            <a:off x="0" y="6369050"/>
            <a:ext cx="9144000" cy="0"/>
          </a:xfrm>
          <a:prstGeom prst="line">
            <a:avLst/>
          </a:prstGeom>
          <a:noFill/>
          <a:ln w="25400">
            <a:solidFill>
              <a:srgbClr val="66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8" name="Rectangle 4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0850" y="1412875"/>
            <a:ext cx="82931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1029" name="Text Box 45"/>
          <p:cNvSpPr txBox="1">
            <a:spLocks noChangeArrowheads="1"/>
          </p:cNvSpPr>
          <p:nvPr/>
        </p:nvSpPr>
        <p:spPr bwMode="ltGray">
          <a:xfrm>
            <a:off x="8621713" y="6453188"/>
            <a:ext cx="485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b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fld id="{11846873-C626-4E8F-AAAA-8170E633D58C}" type="slidenum">
              <a:rPr lang="en-US" altLang="zh-CN" sz="1400" b="1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1030" name="Rectangle 46"/>
          <p:cNvSpPr>
            <a:spLocks noGrp="1" noChangeArrowheads="1"/>
          </p:cNvSpPr>
          <p:nvPr>
            <p:ph type="title"/>
          </p:nvPr>
        </p:nvSpPr>
        <p:spPr bwMode="auto">
          <a:xfrm>
            <a:off x="450850" y="139700"/>
            <a:ext cx="8275638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</p:sldLayoutIdLst>
  <p:transition>
    <p:zoom/>
  </p:transition>
  <p:txStyles>
    <p:titleStyle>
      <a:lvl1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itchFamily="34" charset="0"/>
        </a:defRPr>
      </a:lvl2pPr>
      <a:lvl3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itchFamily="34" charset="0"/>
        </a:defRPr>
      </a:lvl3pPr>
      <a:lvl4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itchFamily="34" charset="0"/>
        </a:defRPr>
      </a:lvl4pPr>
      <a:lvl5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itchFamily="34" charset="0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chemeClr val="hlink"/>
        </a:buClr>
        <a:buChar char="•"/>
        <a:defRPr sz="2400" b="1">
          <a:solidFill>
            <a:schemeClr val="tx1"/>
          </a:solidFill>
          <a:latin typeface="华文新魏" pitchFamily="2" charset="-122"/>
          <a:ea typeface="华文新魏" pitchFamily="2" charset="-122"/>
          <a:cs typeface="+mn-cs"/>
        </a:defRPr>
      </a:lvl1pPr>
      <a:lvl2pPr marL="742950" indent="-28575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rgbClr val="FF9900"/>
        </a:buClr>
        <a:buChar char="•"/>
        <a:defRPr sz="2200">
          <a:solidFill>
            <a:schemeClr val="tx1"/>
          </a:solidFill>
          <a:latin typeface="华文新魏" pitchFamily="2" charset="-122"/>
          <a:ea typeface="华文新魏" pitchFamily="2" charset="-122"/>
        </a:defRPr>
      </a:lvl2pPr>
      <a:lvl3pPr marL="1143000" indent="-22860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chemeClr val="hlink"/>
        </a:buClr>
        <a:buChar char="•"/>
        <a:defRPr>
          <a:solidFill>
            <a:schemeClr val="tx1"/>
          </a:solidFill>
          <a:latin typeface="华文新魏" pitchFamily="2" charset="-122"/>
          <a:ea typeface="华文新魏" pitchFamily="2" charset="-122"/>
        </a:defRPr>
      </a:lvl3pPr>
      <a:lvl4pPr marL="1600200" indent="-22860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rgbClr val="FF9900"/>
        </a:buClr>
        <a:buChar char="•"/>
        <a:defRPr sz="1600">
          <a:solidFill>
            <a:schemeClr val="tx1"/>
          </a:solidFill>
          <a:latin typeface="华文新魏" pitchFamily="2" charset="-122"/>
          <a:ea typeface="华文新魏" pitchFamily="2" charset="-122"/>
        </a:defRPr>
      </a:lvl4pPr>
      <a:lvl5pPr marL="2057400" indent="-22860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  <a:ea typeface="华文新魏" pitchFamily="2" charset="-122"/>
        </a:defRPr>
      </a:lvl5pPr>
      <a:lvl6pPr marL="25146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</a:defRPr>
      </a:lvl6pPr>
      <a:lvl7pPr marL="29718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</a:defRPr>
      </a:lvl7pPr>
      <a:lvl8pPr marL="34290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</a:defRPr>
      </a:lvl8pPr>
      <a:lvl9pPr marL="38862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matplotlib.org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ctrTitle" sz="quarter"/>
          </p:nvPr>
        </p:nvSpPr>
        <p:spPr>
          <a:xfrm>
            <a:off x="1331640" y="1484784"/>
            <a:ext cx="6552728" cy="1470025"/>
          </a:xfrm>
        </p:spPr>
        <p:txBody>
          <a:bodyPr/>
          <a:lstStyle/>
          <a:p>
            <a:pPr eaLnBrk="1" hangingPunct="1"/>
            <a:r>
              <a:rPr lang="zh-CN" altLang="en-US" dirty="0"/>
              <a:t> </a:t>
            </a:r>
            <a:r>
              <a:rPr lang="en-US" altLang="zh-CN" sz="6600" dirty="0" err="1"/>
              <a:t>Matplotlib</a:t>
            </a:r>
            <a:r>
              <a:rPr lang="zh-CN" altLang="en-US" sz="6600" dirty="0"/>
              <a:t>绘图</a:t>
            </a: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Matplotlib</a:t>
            </a:r>
            <a:r>
              <a:rPr lang="zh-CN" altLang="en-US" dirty="0"/>
              <a:t>画图工具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9426" y="1268760"/>
            <a:ext cx="8293100" cy="2880320"/>
          </a:xfrm>
          <a:solidFill>
            <a:schemeClr val="bg1"/>
          </a:solidFill>
          <a:ln>
            <a:solidFill>
              <a:srgbClr val="00B05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292100" indent="-292100" eaLnBrk="1" hangingPunct="1">
              <a:spcBef>
                <a:spcPts val="0"/>
              </a:spcBef>
              <a:buClr>
                <a:schemeClr val="accent1"/>
              </a:buClr>
              <a:buSzPct val="70000"/>
              <a:buFont typeface="Wingdings 2"/>
              <a:buChar char=""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官网地址是 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hlinkClick r:id="rId2"/>
              </a:rPr>
              <a:t>http://matplotlib.org/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92100" indent="-292100" eaLnBrk="1" hangingPunct="1">
              <a:spcBef>
                <a:spcPts val="0"/>
              </a:spcBef>
              <a:buClr>
                <a:schemeClr val="accent1"/>
              </a:buClr>
              <a:buSzPct val="70000"/>
              <a:buFont typeface="Wingdings 2"/>
              <a:buChar char=""/>
            </a:pPr>
            <a:r>
              <a:rPr lang="en-US" altLang="zh-CN" sz="2800" dirty="0" err="1">
                <a:latin typeface="宋体" panose="02010600030101010101" pitchFamily="2" charset="-122"/>
                <a:ea typeface="宋体" panose="02010600030101010101" pitchFamily="2" charset="-122"/>
              </a:rPr>
              <a:t>matplotlib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 is a python 2D plotting library which produces publication quality figures in a variety of hardcopy formats </a:t>
            </a:r>
          </a:p>
          <a:p>
            <a:pPr marL="292100" indent="-292100" eaLnBrk="1" hangingPunct="1">
              <a:spcBef>
                <a:spcPts val="0"/>
              </a:spcBef>
              <a:buClr>
                <a:schemeClr val="accent1"/>
              </a:buClr>
              <a:buSzPct val="70000"/>
              <a:buFont typeface="Wingdings 2"/>
              <a:buChar char=""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John Hunter  (1968-2012)</a:t>
            </a:r>
          </a:p>
          <a:p>
            <a:pPr marL="292100" indent="-292100" eaLnBrk="1" hangingPunct="1">
              <a:spcBef>
                <a:spcPts val="0"/>
              </a:spcBef>
              <a:buClr>
                <a:schemeClr val="accent1"/>
              </a:buClr>
              <a:buSzPct val="70000"/>
              <a:buFont typeface="Wingdings 2"/>
              <a:buChar char=""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Anaconda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自动带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7" y="4293096"/>
            <a:ext cx="8496944" cy="18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1453815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128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 err="1">
                <a:solidFill>
                  <a:schemeClr val="tx1"/>
                </a:solidFill>
              </a:rPr>
              <a:t>matplotlib</a:t>
            </a:r>
            <a:r>
              <a:rPr lang="zh-CN" altLang="en-US" dirty="0">
                <a:solidFill>
                  <a:schemeClr val="tx1"/>
                </a:solidFill>
              </a:rPr>
              <a:t>制图</a:t>
            </a: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354360" y="1268760"/>
            <a:ext cx="8435280" cy="4968552"/>
          </a:xfrm>
          <a:solidFill>
            <a:schemeClr val="bg1"/>
          </a:solidFill>
          <a:ln>
            <a:solidFill>
              <a:srgbClr val="00B05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292100" indent="-292100" eaLnBrk="1" hangingPunct="1">
              <a:spcBef>
                <a:spcPts val="0"/>
              </a:spcBef>
              <a:buClr>
                <a:schemeClr val="accent1"/>
              </a:buClr>
              <a:buSzPct val="70000"/>
              <a:buFont typeface="Wingdings 2"/>
              <a:buChar char=""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关键引用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import </a:t>
            </a:r>
            <a:r>
              <a:rPr lang="en-US" altLang="zh-CN" sz="2800" dirty="0" err="1">
                <a:latin typeface="宋体" panose="02010600030101010101" pitchFamily="2" charset="-122"/>
                <a:ea typeface="宋体" panose="02010600030101010101" pitchFamily="2" charset="-122"/>
              </a:rPr>
              <a:t>matplotlib.pyplot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 as </a:t>
            </a:r>
            <a:r>
              <a:rPr lang="en-US" altLang="zh-CN" sz="2800" dirty="0" err="1">
                <a:latin typeface="宋体" panose="02010600030101010101" pitchFamily="2" charset="-122"/>
                <a:ea typeface="宋体" panose="02010600030101010101" pitchFamily="2" charset="-122"/>
              </a:rPr>
              <a:t>plt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import </a:t>
            </a:r>
            <a:r>
              <a:rPr lang="en-US" altLang="zh-CN" sz="2800" dirty="0" err="1">
                <a:latin typeface="宋体" panose="02010600030101010101" pitchFamily="2" charset="-122"/>
                <a:ea typeface="宋体" panose="02010600030101010101" pitchFamily="2" charset="-122"/>
              </a:rPr>
              <a:t>numpy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 as </a:t>
            </a:r>
            <a:r>
              <a:rPr lang="en-US" altLang="zh-CN" sz="2800" dirty="0" err="1">
                <a:latin typeface="宋体" panose="02010600030101010101" pitchFamily="2" charset="-122"/>
                <a:ea typeface="宋体" panose="02010600030101010101" pitchFamily="2" charset="-122"/>
              </a:rPr>
              <a:t>np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或使用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sz="2800" dirty="0"/>
              <a:t>from  </a:t>
            </a:r>
            <a:r>
              <a:rPr lang="en-US" altLang="zh-CN" sz="2800" dirty="0" err="1"/>
              <a:t>pylab</a:t>
            </a:r>
            <a:r>
              <a:rPr lang="en-US" altLang="zh-CN" sz="2800" dirty="0"/>
              <a:t>  import *</a:t>
            </a: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zh-CN" altLang="en-US" sz="2800" dirty="0"/>
              <a:t>区别：</a:t>
            </a:r>
            <a:endParaRPr lang="en-US" altLang="zh-CN" sz="2800" dirty="0"/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zh-CN" altLang="en-US" sz="2800" dirty="0"/>
              <a:t>制图时，</a:t>
            </a:r>
            <a:r>
              <a:rPr lang="en-US" altLang="zh-CN" sz="2800" dirty="0"/>
              <a:t>1  </a:t>
            </a:r>
            <a:r>
              <a:rPr lang="zh-CN" altLang="en-US" sz="2800" dirty="0"/>
              <a:t>使用</a:t>
            </a:r>
            <a:r>
              <a:rPr lang="en-US" altLang="zh-CN" sz="2800" dirty="0" err="1"/>
              <a:t>plt</a:t>
            </a:r>
            <a:r>
              <a:rPr lang="zh-CN" altLang="en-US" sz="2800" dirty="0"/>
              <a:t>对象  ，如</a:t>
            </a:r>
            <a:r>
              <a:rPr lang="en-US" altLang="zh-CN" sz="2800" dirty="0" err="1"/>
              <a:t>plt.plot</a:t>
            </a:r>
            <a:endParaRPr lang="en-US" altLang="zh-CN" sz="2800" dirty="0"/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sz="2800" dirty="0"/>
              <a:t>                 2  </a:t>
            </a:r>
            <a:r>
              <a:rPr lang="zh-CN" altLang="en-US" sz="2800" dirty="0"/>
              <a:t>直接 </a:t>
            </a:r>
            <a:r>
              <a:rPr lang="en-US" altLang="zh-CN" sz="2800" dirty="0"/>
              <a:t>plot </a:t>
            </a:r>
            <a:endParaRPr lang="zh-CN" altLang="zh-CN" sz="2800" dirty="0"/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sz="2800" dirty="0" err="1">
                <a:latin typeface="宋体" panose="02010600030101010101" pitchFamily="2" charset="-122"/>
                <a:ea typeface="宋体" panose="02010600030101010101" pitchFamily="2" charset="-122"/>
              </a:rPr>
              <a:t>pylab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800" dirty="0" err="1">
                <a:latin typeface="宋体" panose="02010600030101010101" pitchFamily="2" charset="-122"/>
                <a:ea typeface="宋体" panose="02010600030101010101" pitchFamily="2" charset="-122"/>
              </a:rPr>
              <a:t>matplotlib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什么关系？</a:t>
            </a:r>
            <a:endParaRPr lang="zh-CN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29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29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0928891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128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tx1"/>
                </a:solidFill>
              </a:rPr>
              <a:t>制作函数曲线图</a:t>
            </a: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354360" y="1268760"/>
            <a:ext cx="7674024" cy="4896544"/>
          </a:xfrm>
          <a:solidFill>
            <a:schemeClr val="bg1"/>
          </a:solidFill>
          <a:ln>
            <a:solidFill>
              <a:srgbClr val="00B05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# step 1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引用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import </a:t>
            </a:r>
            <a:r>
              <a:rPr lang="en-US" altLang="zh-CN" sz="2800" dirty="0" err="1">
                <a:latin typeface="宋体" panose="02010600030101010101" pitchFamily="2" charset="-122"/>
                <a:ea typeface="宋体" panose="02010600030101010101" pitchFamily="2" charset="-122"/>
              </a:rPr>
              <a:t>matplotlib.pyplot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 as </a:t>
            </a:r>
            <a:r>
              <a:rPr lang="en-US" altLang="zh-CN" sz="2800" dirty="0" err="1">
                <a:latin typeface="宋体" panose="02010600030101010101" pitchFamily="2" charset="-122"/>
                <a:ea typeface="宋体" panose="02010600030101010101" pitchFamily="2" charset="-122"/>
              </a:rPr>
              <a:t>plt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import </a:t>
            </a:r>
            <a:r>
              <a:rPr lang="en-US" altLang="zh-CN" sz="2800" dirty="0" err="1">
                <a:latin typeface="宋体" panose="02010600030101010101" pitchFamily="2" charset="-122"/>
                <a:ea typeface="宋体" panose="02010600030101010101" pitchFamily="2" charset="-122"/>
              </a:rPr>
              <a:t>numpy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 as </a:t>
            </a:r>
            <a:r>
              <a:rPr lang="en-US" altLang="zh-CN" sz="2800" dirty="0" err="1">
                <a:latin typeface="宋体" panose="02010600030101010101" pitchFamily="2" charset="-122"/>
                <a:ea typeface="宋体" panose="02010600030101010101" pitchFamily="2" charset="-122"/>
              </a:rPr>
              <a:t>np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# step 2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准备数据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x=</a:t>
            </a:r>
            <a:r>
              <a:rPr lang="en-US" altLang="zh-CN" sz="2800" dirty="0" err="1">
                <a:latin typeface="宋体" panose="02010600030101010101" pitchFamily="2" charset="-122"/>
                <a:ea typeface="宋体" panose="02010600030101010101" pitchFamily="2" charset="-122"/>
              </a:rPr>
              <a:t>np.arange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(-np.pi,np.pi,0.1)</a:t>
            </a: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y=</a:t>
            </a:r>
            <a:r>
              <a:rPr lang="en-US" altLang="zh-CN" sz="2800" dirty="0" err="1">
                <a:latin typeface="宋体" panose="02010600030101010101" pitchFamily="2" charset="-122"/>
                <a:ea typeface="宋体" panose="02010600030101010101" pitchFamily="2" charset="-122"/>
              </a:rPr>
              <a:t>np.sin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(x)</a:t>
            </a: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# step 3 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制图</a:t>
            </a:r>
            <a:endParaRPr lang="zh-CN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sz="2800" dirty="0" err="1"/>
              <a:t>plt.plot</a:t>
            </a:r>
            <a:r>
              <a:rPr lang="en-US" altLang="zh-CN" sz="2800" dirty="0"/>
              <a:t>(</a:t>
            </a:r>
            <a:r>
              <a:rPr lang="en-US" altLang="zh-CN" sz="2800" dirty="0" err="1"/>
              <a:t>x,y,'b</a:t>
            </a:r>
            <a:r>
              <a:rPr lang="en-US" altLang="zh-CN" sz="2800" dirty="0"/>
              <a:t>')     # ‘b’</a:t>
            </a:r>
            <a:r>
              <a:rPr lang="zh-CN" altLang="zh-CN" sz="2800" dirty="0"/>
              <a:t>代表使用蓝色画曲线</a:t>
            </a:r>
            <a:endParaRPr lang="en-US" altLang="zh-CN" sz="2800" dirty="0"/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sz="2800" dirty="0"/>
              <a:t># step 4 </a:t>
            </a:r>
            <a:r>
              <a:rPr lang="zh-CN" altLang="en-US" sz="2800" dirty="0"/>
              <a:t>显示图形</a:t>
            </a:r>
            <a:endParaRPr lang="en-US" altLang="zh-CN" sz="2800" dirty="0"/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sz="2800" dirty="0" err="1"/>
              <a:t>plt.show</a:t>
            </a:r>
            <a:r>
              <a:rPr lang="en-US" altLang="zh-CN" sz="2800" dirty="0"/>
              <a:t>()</a:t>
            </a:r>
            <a:endParaRPr lang="zh-CN" altLang="zh-CN" sz="2800" dirty="0"/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endParaRPr lang="zh-CN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92100" indent="-292100" eaLnBrk="1" hangingPunct="1">
              <a:spcBef>
                <a:spcPts val="0"/>
              </a:spcBef>
              <a:buClr>
                <a:schemeClr val="accent1"/>
              </a:buClr>
              <a:buSzPct val="70000"/>
              <a:buFont typeface="Wingdings 2"/>
              <a:buChar char=""/>
            </a:pP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29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29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6" name="图片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27984" y="2492896"/>
            <a:ext cx="4320480" cy="339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27189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128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tx1"/>
                </a:solidFill>
              </a:rPr>
              <a:t>颜色控制</a:t>
            </a:r>
          </a:p>
        </p:txBody>
      </p:sp>
      <p:graphicFrame>
        <p:nvGraphicFramePr>
          <p:cNvPr id="2" name="内容占位符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446853"/>
              </p:ext>
            </p:extLst>
          </p:nvPr>
        </p:nvGraphicFramePr>
        <p:xfrm>
          <a:off x="683568" y="1412776"/>
          <a:ext cx="7200800" cy="439248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00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9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805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3200" kern="100">
                          <a:effectLst/>
                        </a:rPr>
                        <a:t>缩写</a:t>
                      </a:r>
                      <a:endParaRPr lang="zh-CN" sz="3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3200" kern="100">
                          <a:effectLst/>
                        </a:rPr>
                        <a:t>颜色</a:t>
                      </a:r>
                      <a:endParaRPr lang="zh-CN" sz="3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05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3200" kern="100" dirty="0">
                          <a:effectLst/>
                        </a:rPr>
                        <a:t>'b'</a:t>
                      </a:r>
                      <a:endParaRPr lang="zh-CN" sz="3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3200" kern="100">
                          <a:effectLst/>
                        </a:rPr>
                        <a:t>blue</a:t>
                      </a:r>
                      <a:endParaRPr lang="zh-CN" sz="3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05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3200" kern="100">
                          <a:effectLst/>
                        </a:rPr>
                        <a:t>'g'</a:t>
                      </a:r>
                      <a:endParaRPr lang="zh-CN" sz="3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3200" kern="100">
                          <a:effectLst/>
                        </a:rPr>
                        <a:t>green</a:t>
                      </a:r>
                      <a:endParaRPr lang="zh-CN" sz="3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05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3200" kern="100">
                          <a:effectLst/>
                        </a:rPr>
                        <a:t>'r'</a:t>
                      </a:r>
                      <a:endParaRPr lang="zh-CN" sz="3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3200" kern="100">
                          <a:effectLst/>
                        </a:rPr>
                        <a:t>red</a:t>
                      </a:r>
                      <a:endParaRPr lang="zh-CN" sz="3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05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3200" kern="100">
                          <a:effectLst/>
                        </a:rPr>
                        <a:t>'c'</a:t>
                      </a:r>
                      <a:endParaRPr lang="zh-CN" sz="3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3200" kern="100">
                          <a:effectLst/>
                        </a:rPr>
                        <a:t>cyan</a:t>
                      </a:r>
                      <a:endParaRPr lang="zh-CN" sz="3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05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3200" kern="100">
                          <a:effectLst/>
                        </a:rPr>
                        <a:t>'m'</a:t>
                      </a:r>
                      <a:endParaRPr lang="zh-CN" sz="3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3200" kern="100">
                          <a:effectLst/>
                        </a:rPr>
                        <a:t>magenta</a:t>
                      </a:r>
                      <a:endParaRPr lang="zh-CN" sz="3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805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3200" kern="100">
                          <a:effectLst/>
                        </a:rPr>
                        <a:t>'y'</a:t>
                      </a:r>
                      <a:endParaRPr lang="zh-CN" sz="3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3200" kern="100">
                          <a:effectLst/>
                        </a:rPr>
                        <a:t>yellow</a:t>
                      </a:r>
                      <a:endParaRPr lang="zh-CN" sz="3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805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3200" kern="100">
                          <a:effectLst/>
                        </a:rPr>
                        <a:t>'k'</a:t>
                      </a:r>
                      <a:endParaRPr lang="zh-CN" sz="3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3200" kern="100">
                          <a:effectLst/>
                        </a:rPr>
                        <a:t>black</a:t>
                      </a:r>
                      <a:endParaRPr lang="zh-CN" sz="3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805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3200" kern="100">
                          <a:effectLst/>
                        </a:rPr>
                        <a:t>'w'</a:t>
                      </a:r>
                      <a:endParaRPr lang="zh-CN" sz="3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3200" kern="100" dirty="0">
                          <a:effectLst/>
                        </a:rPr>
                        <a:t>white</a:t>
                      </a:r>
                      <a:endParaRPr lang="zh-CN" sz="3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29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29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9226883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128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tx1"/>
                </a:solidFill>
              </a:rPr>
              <a:t>线宽、线型、网格线控制</a:t>
            </a: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354360" y="1268760"/>
            <a:ext cx="8435280" cy="3816424"/>
          </a:xfrm>
          <a:solidFill>
            <a:schemeClr val="bg1"/>
          </a:solidFill>
          <a:ln>
            <a:solidFill>
              <a:srgbClr val="00B05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292100" indent="-292100" eaLnBrk="1" hangingPunct="1">
              <a:spcBef>
                <a:spcPts val="0"/>
              </a:spcBef>
              <a:buClr>
                <a:schemeClr val="accent1"/>
              </a:buClr>
              <a:buSzPct val="70000"/>
              <a:buFont typeface="Wingdings 2"/>
              <a:buChar char=""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plot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中直接设定 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800" dirty="0"/>
              <a:t>plot(</a:t>
            </a:r>
            <a:r>
              <a:rPr lang="en-US" altLang="zh-CN" sz="2800" dirty="0" err="1"/>
              <a:t>x,sin,color</a:t>
            </a:r>
            <a:r>
              <a:rPr lang="en-US" altLang="zh-CN" sz="2800" dirty="0"/>
              <a:t>='blue',</a:t>
            </a:r>
            <a:r>
              <a:rPr lang="en-US" altLang="zh-CN" sz="2800" dirty="0" err="1"/>
              <a:t>linewidth</a:t>
            </a:r>
            <a:r>
              <a:rPr lang="en-US" altLang="zh-CN" sz="2800" dirty="0"/>
              <a:t>=2.0, </a:t>
            </a:r>
            <a:r>
              <a:rPr lang="en-US" altLang="zh-CN" sz="2800" dirty="0" err="1"/>
              <a:t>linestyle</a:t>
            </a:r>
            <a:r>
              <a:rPr lang="en-US" altLang="zh-CN" sz="2800" dirty="0"/>
              <a:t>='-') </a:t>
            </a:r>
          </a:p>
          <a:p>
            <a:pPr marL="0" indent="0">
              <a:buNone/>
            </a:pPr>
            <a:r>
              <a:rPr lang="en-US" altLang="zh-CN" sz="2800" dirty="0"/>
              <a:t># </a:t>
            </a:r>
            <a:r>
              <a:rPr lang="zh-CN" altLang="zh-CN" sz="2800" dirty="0"/>
              <a:t>设置蓝色、</a:t>
            </a:r>
            <a:r>
              <a:rPr lang="en-US" altLang="zh-CN" sz="2800" dirty="0"/>
              <a:t>2</a:t>
            </a:r>
            <a:r>
              <a:rPr lang="zh-CN" altLang="zh-CN" sz="2800" dirty="0"/>
              <a:t>像素宽划线</a:t>
            </a:r>
          </a:p>
          <a:p>
            <a:pPr marL="0" indent="0">
              <a:buNone/>
            </a:pPr>
            <a:r>
              <a:rPr lang="en-US" altLang="zh-CN" sz="2800" dirty="0"/>
              <a:t>plot(</a:t>
            </a:r>
            <a:r>
              <a:rPr lang="en-US" altLang="zh-CN" sz="2800" dirty="0" err="1"/>
              <a:t>x,cos,color</a:t>
            </a:r>
            <a:r>
              <a:rPr lang="en-US" altLang="zh-CN" sz="2800" dirty="0"/>
              <a:t>='red',</a:t>
            </a:r>
            <a:r>
              <a:rPr lang="en-US" altLang="zh-CN" sz="2800" dirty="0" err="1"/>
              <a:t>linewidth</a:t>
            </a:r>
            <a:r>
              <a:rPr lang="en-US" altLang="zh-CN" sz="2800" dirty="0"/>
              <a:t>=2.0, </a:t>
            </a:r>
            <a:r>
              <a:rPr lang="en-US" altLang="zh-CN" sz="2800" dirty="0" err="1"/>
              <a:t>linestyle</a:t>
            </a:r>
            <a:r>
              <a:rPr lang="en-US" altLang="zh-CN" sz="2800" dirty="0"/>
              <a:t>='-.') </a:t>
            </a:r>
          </a:p>
          <a:p>
            <a:pPr marL="0" indent="0">
              <a:buNone/>
            </a:pPr>
            <a:r>
              <a:rPr lang="en-US" altLang="zh-CN" sz="2800" dirty="0"/>
              <a:t># </a:t>
            </a:r>
            <a:r>
              <a:rPr lang="zh-CN" altLang="zh-CN" sz="2800" dirty="0"/>
              <a:t>用虚线画图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 err="1"/>
              <a:t>plt.grid</a:t>
            </a:r>
            <a:r>
              <a:rPr lang="en-US" altLang="zh-CN" sz="2800" dirty="0"/>
              <a:t>(True)</a:t>
            </a:r>
            <a:endParaRPr lang="zh-CN" altLang="zh-CN" sz="2800" dirty="0"/>
          </a:p>
          <a:p>
            <a:pPr marL="0" indent="0">
              <a:buNone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画网格线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29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29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6" name="图片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1840" y="1700808"/>
            <a:ext cx="5832648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25947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128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tx1"/>
                </a:solidFill>
              </a:rPr>
              <a:t>坐标轴、图标识</a:t>
            </a: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354360" y="1268760"/>
            <a:ext cx="8435280" cy="4896544"/>
          </a:xfrm>
          <a:solidFill>
            <a:schemeClr val="bg1"/>
          </a:solidFill>
          <a:ln>
            <a:solidFill>
              <a:srgbClr val="00B05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292100" indent="-292100" eaLnBrk="1" hangingPunct="1">
              <a:spcBef>
                <a:spcPts val="0"/>
              </a:spcBef>
              <a:buClr>
                <a:schemeClr val="accent1"/>
              </a:buClr>
              <a:buSzPct val="70000"/>
              <a:buFont typeface="Wingdings 2"/>
              <a:buChar char=""/>
            </a:pP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xlim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(x1, x2)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设定横轴坐标，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ylim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(y1, y2)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设置纵轴坐标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x=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np.arange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(-5,5,0.1)</a:t>
            </a: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y=x**2</a:t>
            </a: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plt.xlim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(-5,5) # 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设定横坐标范围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plt.ylim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(0,100)  # 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设定纵坐标范围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plt.xlabel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("x")  # 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横轴标识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plt.ylabel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("y=x*x") # 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纵轴标识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plt.title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("Plot  y=x*x") # 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设定图形的标题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plt.plot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x,y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plt.show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endParaRPr lang="zh-CN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29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29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6" name="图片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7944" y="1916832"/>
            <a:ext cx="4464496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32122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229600" cy="10366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tx1"/>
                </a:solidFill>
              </a:rPr>
              <a:t>设定坐标轴刻度</a:t>
            </a: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354360" y="1268760"/>
            <a:ext cx="8435280" cy="4536504"/>
          </a:xfrm>
          <a:solidFill>
            <a:schemeClr val="bg1"/>
          </a:solidFill>
          <a:ln>
            <a:solidFill>
              <a:srgbClr val="00B05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292100" indent="-292100" eaLnBrk="1" hangingPunct="1">
              <a:spcBef>
                <a:spcPts val="0"/>
              </a:spcBef>
              <a:buClr>
                <a:schemeClr val="accent1"/>
              </a:buClr>
              <a:buSzPct val="70000"/>
              <a:buFont typeface="Wingdings 2"/>
              <a:buChar char=""/>
            </a:pP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特别指定坐标轴的刻度，制作更能表达深意的图形，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xticks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yticks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）方法实现了该功能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import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numpy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as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np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from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pylab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import *</a:t>
            </a: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x=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np.linspace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(-np.pi,np.pi,100)</a:t>
            </a: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cos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np.cos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(x)</a:t>
            </a: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xticks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np.linspace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(-np.pi,np.pi,5))</a:t>
            </a: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plot(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x,cos,color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='red',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linewidth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=2.0,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linestyle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='-')</a:t>
            </a: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show()</a:t>
            </a:r>
            <a:endParaRPr lang="zh-CN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29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29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6" name="图片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9952" y="1268760"/>
            <a:ext cx="4824536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40478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080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tx1"/>
                </a:solidFill>
              </a:rPr>
              <a:t>设置样例 </a:t>
            </a:r>
            <a:r>
              <a:rPr lang="en-US" altLang="zh-CN" dirty="0">
                <a:solidFill>
                  <a:schemeClr val="tx1"/>
                </a:solidFill>
              </a:rPr>
              <a:t>legend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354360" y="1124744"/>
            <a:ext cx="8610128" cy="3384376"/>
          </a:xfrm>
          <a:solidFill>
            <a:schemeClr val="bg1"/>
          </a:solidFill>
          <a:ln>
            <a:solidFill>
              <a:srgbClr val="00B05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292100" indent="-292100" eaLnBrk="1" hangingPunct="1">
              <a:spcBef>
                <a:spcPts val="0"/>
              </a:spcBef>
              <a:buClr>
                <a:schemeClr val="accent1"/>
              </a:buClr>
              <a:buSzPct val="70000"/>
              <a:buFont typeface="Wingdings 2"/>
              <a:buChar char=""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plot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label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参数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import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numpy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as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np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from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pylab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import *</a:t>
            </a: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x=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np.linspace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(-np.pi,np.pi,100)</a:t>
            </a: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sin,cos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np.sin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(x),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np.cos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(x)</a:t>
            </a: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plot(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x,sin,color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='blue',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linewidth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=2.0,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linestyle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='-',label='sin')</a:t>
            </a: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plot(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x,cos,color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='red',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linewidth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=2.0,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linestyle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='-',label='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')</a:t>
            </a: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legend(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loc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='upper left')</a:t>
            </a: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show()</a:t>
            </a:r>
            <a:endParaRPr lang="zh-CN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29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29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6" name="图片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3928" y="1628800"/>
            <a:ext cx="4824536" cy="357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50612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128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tx1"/>
                </a:solidFill>
              </a:rPr>
              <a:t>饼图</a:t>
            </a: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354360" y="1268760"/>
            <a:ext cx="8435280" cy="4968552"/>
          </a:xfrm>
          <a:solidFill>
            <a:schemeClr val="bg1"/>
          </a:solidFill>
          <a:ln>
            <a:solidFill>
              <a:srgbClr val="00B05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sz="2800" dirty="0"/>
              <a:t>import </a:t>
            </a:r>
            <a:r>
              <a:rPr lang="en-US" altLang="zh-CN" sz="2800" dirty="0" err="1"/>
              <a:t>numpy</a:t>
            </a:r>
            <a:r>
              <a:rPr lang="en-US" altLang="zh-CN" sz="2800" dirty="0"/>
              <a:t> as </a:t>
            </a:r>
            <a:r>
              <a:rPr lang="en-US" altLang="zh-CN" sz="2800" dirty="0" err="1"/>
              <a:t>np</a:t>
            </a:r>
            <a:endParaRPr lang="en-US" altLang="zh-CN" sz="2800" dirty="0"/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sz="2800" dirty="0"/>
              <a:t>import </a:t>
            </a:r>
            <a:r>
              <a:rPr lang="en-US" altLang="zh-CN" sz="2800" dirty="0" err="1"/>
              <a:t>matplotlib.pyplot</a:t>
            </a:r>
            <a:r>
              <a:rPr lang="en-US" altLang="zh-CN" sz="2800" dirty="0"/>
              <a:t> as </a:t>
            </a:r>
            <a:r>
              <a:rPr lang="en-US" altLang="zh-CN" sz="2800" dirty="0" err="1"/>
              <a:t>plt</a:t>
            </a:r>
            <a:endParaRPr lang="en-US" altLang="zh-CN" sz="2800" dirty="0"/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sz="2800" dirty="0"/>
              <a:t>data = </a:t>
            </a:r>
            <a:r>
              <a:rPr lang="en-US" altLang="zh-CN" sz="2800" dirty="0" err="1"/>
              <a:t>np.random.randint</a:t>
            </a:r>
            <a:r>
              <a:rPr lang="en-US" altLang="zh-CN" sz="2800" dirty="0"/>
              <a:t>(1, 11, 5)</a:t>
            </a: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sz="2800" dirty="0" err="1"/>
              <a:t>plt.pie</a:t>
            </a:r>
            <a:r>
              <a:rPr lang="en-US" altLang="zh-CN" sz="2800" dirty="0"/>
              <a:t>(data, explode = [0,0,0.2, 0, 0])  # explode</a:t>
            </a:r>
            <a:r>
              <a:rPr lang="zh-CN" altLang="zh-CN" sz="2800" dirty="0"/>
              <a:t>的第三个参数为</a:t>
            </a:r>
            <a:r>
              <a:rPr lang="en-US" altLang="zh-CN" sz="2800" dirty="0"/>
              <a:t>0.2 </a:t>
            </a:r>
            <a:r>
              <a:rPr lang="zh-CN" altLang="zh-CN" sz="2800" dirty="0"/>
              <a:t>，意味着对应饼块被拖出饼</a:t>
            </a:r>
            <a:r>
              <a:rPr lang="en-US" altLang="zh-CN" sz="2800" dirty="0" err="1"/>
              <a:t>plt.show</a:t>
            </a:r>
            <a:r>
              <a:rPr lang="en-US" altLang="zh-CN" sz="2800" dirty="0"/>
              <a:t>()</a:t>
            </a:r>
            <a:endParaRPr lang="zh-CN" altLang="zh-CN" sz="2800" dirty="0"/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endParaRPr lang="zh-CN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92100" indent="-292100" eaLnBrk="1" hangingPunct="1">
              <a:spcBef>
                <a:spcPts val="0"/>
              </a:spcBef>
              <a:buClr>
                <a:schemeClr val="accent1"/>
              </a:buClr>
              <a:buSzPct val="70000"/>
              <a:buFont typeface="Wingdings 2"/>
              <a:buChar char=""/>
            </a:pP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29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29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7" name="图片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3928" y="1412776"/>
            <a:ext cx="4968552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3589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128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tx1"/>
                </a:solidFill>
              </a:rPr>
              <a:t>散点图</a:t>
            </a: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354360" y="1268760"/>
            <a:ext cx="8435280" cy="4968552"/>
          </a:xfrm>
          <a:solidFill>
            <a:schemeClr val="bg1"/>
          </a:solidFill>
          <a:ln>
            <a:solidFill>
              <a:srgbClr val="00B05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292100" indent="-292100" eaLnBrk="1" hangingPunct="1">
              <a:spcBef>
                <a:spcPts val="0"/>
              </a:spcBef>
              <a:buClr>
                <a:schemeClr val="accent1"/>
              </a:buClr>
              <a:buSzPct val="70000"/>
              <a:buFont typeface="Wingdings 2"/>
              <a:buChar char=""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scatter</a:t>
            </a:r>
            <a:r>
              <a:rPr lang="zh-CN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函数制作散点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from </a:t>
            </a:r>
            <a:r>
              <a:rPr lang="en-US" altLang="zh-CN" sz="2800" dirty="0" err="1">
                <a:latin typeface="宋体" panose="02010600030101010101" pitchFamily="2" charset="-122"/>
                <a:ea typeface="宋体" panose="02010600030101010101" pitchFamily="2" charset="-122"/>
              </a:rPr>
              <a:t>pylab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 import *</a:t>
            </a: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import </a:t>
            </a:r>
            <a:r>
              <a:rPr lang="en-US" altLang="zh-CN" sz="2800" dirty="0" err="1">
                <a:latin typeface="宋体" panose="02010600030101010101" pitchFamily="2" charset="-122"/>
                <a:ea typeface="宋体" panose="02010600030101010101" pitchFamily="2" charset="-122"/>
              </a:rPr>
              <a:t>numpy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 as </a:t>
            </a:r>
            <a:r>
              <a:rPr lang="en-US" altLang="zh-CN" sz="2800" dirty="0" err="1">
                <a:latin typeface="宋体" panose="02010600030101010101" pitchFamily="2" charset="-122"/>
                <a:ea typeface="宋体" panose="02010600030101010101" pitchFamily="2" charset="-122"/>
              </a:rPr>
              <a:t>np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n=100</a:t>
            </a:r>
          </a:p>
          <a:p>
            <a:pPr marL="0" indent="0">
              <a:buNone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x=</a:t>
            </a:r>
            <a:r>
              <a:rPr lang="en-US" altLang="zh-CN" sz="2800" dirty="0" err="1">
                <a:latin typeface="宋体" panose="02010600030101010101" pitchFamily="2" charset="-122"/>
                <a:ea typeface="宋体" panose="02010600030101010101" pitchFamily="2" charset="-122"/>
              </a:rPr>
              <a:t>np.random.normal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(0,1,n)</a:t>
            </a:r>
          </a:p>
          <a:p>
            <a:pPr marL="0" indent="0">
              <a:buNone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y=</a:t>
            </a:r>
            <a:r>
              <a:rPr lang="en-US" altLang="zh-CN" sz="2800" dirty="0" err="1">
                <a:latin typeface="宋体" panose="02010600030101010101" pitchFamily="2" charset="-122"/>
                <a:ea typeface="宋体" panose="02010600030101010101" pitchFamily="2" charset="-122"/>
              </a:rPr>
              <a:t>np.random.normal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(0,1,n)</a:t>
            </a:r>
          </a:p>
          <a:p>
            <a:pPr marL="0" indent="0">
              <a:buNone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scatter(</a:t>
            </a:r>
            <a:r>
              <a:rPr lang="en-US" altLang="zh-CN" sz="2800" dirty="0" err="1">
                <a:latin typeface="宋体" panose="02010600030101010101" pitchFamily="2" charset="-122"/>
                <a:ea typeface="宋体" panose="02010600030101010101" pitchFamily="2" charset="-122"/>
              </a:rPr>
              <a:t>x,y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 marL="0" indent="0">
              <a:buNone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show()</a:t>
            </a:r>
            <a:endParaRPr lang="zh-CN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endParaRPr lang="zh-CN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92100" indent="-292100" eaLnBrk="1" hangingPunct="1">
              <a:spcBef>
                <a:spcPts val="0"/>
              </a:spcBef>
              <a:buClr>
                <a:schemeClr val="accent1"/>
              </a:buClr>
              <a:buSzPct val="70000"/>
              <a:buFont typeface="Wingdings 2"/>
              <a:buChar char=""/>
            </a:pP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29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29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6" name="图片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0032" y="1988840"/>
            <a:ext cx="3960440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803581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>
          <a:xfrm>
            <a:off x="251520" y="228600"/>
            <a:ext cx="8229600" cy="8080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tx1"/>
                </a:solidFill>
              </a:rPr>
              <a:t>柱图</a:t>
            </a: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251520" y="1124744"/>
            <a:ext cx="8435280" cy="5184576"/>
          </a:xfrm>
          <a:solidFill>
            <a:schemeClr val="bg1"/>
          </a:solidFill>
          <a:ln>
            <a:solidFill>
              <a:srgbClr val="00B05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from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pylab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import *</a:t>
            </a: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mpl.rcParams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['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font.sans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-serif'] = ['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SimHei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']  #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提供汉字支持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rect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plt.bar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(left = (0,1),height = (1,0.5),width=0.35, align='center')</a:t>
            </a: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plt.ylabel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(u'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人数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')  # 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显示汉字，前面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u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前导，代表使用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unicode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plt.xlabel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(u'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性别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')</a:t>
            </a: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plt.xticks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((0,1),(u"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男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",u"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女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"))</a:t>
            </a: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plt.legend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((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rect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,),(u"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图例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",))</a:t>
            </a: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plt.show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endParaRPr lang="zh-CN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endParaRPr lang="zh-CN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92100" indent="-292100" eaLnBrk="1" hangingPunct="1">
              <a:spcBef>
                <a:spcPts val="0"/>
              </a:spcBef>
              <a:buClr>
                <a:schemeClr val="accent1"/>
              </a:buClr>
              <a:buSzPct val="70000"/>
              <a:buFont typeface="Wingdings 2"/>
              <a:buChar char=""/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29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29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7" name="图片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3888" y="2126841"/>
            <a:ext cx="5028009" cy="377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9590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>
          <a:xfrm>
            <a:off x="251520" y="228600"/>
            <a:ext cx="8229600" cy="8080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tx1"/>
                </a:solidFill>
              </a:rPr>
              <a:t>子窗口制图</a:t>
            </a: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251520" y="1124744"/>
            <a:ext cx="8435280" cy="3816424"/>
          </a:xfrm>
          <a:solidFill>
            <a:schemeClr val="bg1"/>
          </a:solidFill>
          <a:ln>
            <a:solidFill>
              <a:srgbClr val="00B05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用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subplot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subplot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函数中有三个整数参数，前两个指定制图的行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列，后面一个参数指定第几个子图。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例如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subplot(1,2,1)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指定图形中有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个子图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它们在处于第一行上。最后一个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通知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maplotlib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，这是第一个子图</a:t>
            </a:r>
          </a:p>
          <a:p>
            <a:pPr marL="292100" indent="-292100" eaLnBrk="1" hangingPunct="1">
              <a:spcBef>
                <a:spcPts val="0"/>
              </a:spcBef>
              <a:buClr>
                <a:schemeClr val="accent1"/>
              </a:buClr>
              <a:buSzPct val="70000"/>
              <a:buFont typeface="Wingdings 2"/>
              <a:buChar char=""/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29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29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206289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>
          <a:xfrm>
            <a:off x="251520" y="228600"/>
            <a:ext cx="8229600" cy="8080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tx1"/>
                </a:solidFill>
              </a:rPr>
              <a:t>子窗口制图</a:t>
            </a: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251520" y="1124744"/>
            <a:ext cx="8435280" cy="5184576"/>
          </a:xfrm>
          <a:solidFill>
            <a:schemeClr val="bg1"/>
          </a:solidFill>
          <a:ln>
            <a:solidFill>
              <a:srgbClr val="00B05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-US" altLang="zh-CN" dirty="0"/>
              <a:t>import </a:t>
            </a:r>
            <a:r>
              <a:rPr lang="en-US" altLang="zh-CN" dirty="0" err="1"/>
              <a:t>numpy</a:t>
            </a:r>
            <a:r>
              <a:rPr lang="en-US" altLang="zh-CN" dirty="0"/>
              <a:t> as </a:t>
            </a:r>
            <a:r>
              <a:rPr lang="en-US" altLang="zh-CN" dirty="0" err="1"/>
              <a:t>np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import </a:t>
            </a:r>
            <a:r>
              <a:rPr lang="en-US" altLang="zh-CN" dirty="0" err="1"/>
              <a:t>matplotlib.pyplot</a:t>
            </a:r>
            <a:r>
              <a:rPr lang="en-US" altLang="zh-CN" dirty="0"/>
              <a:t> as </a:t>
            </a:r>
            <a:r>
              <a:rPr lang="en-US" altLang="zh-CN" dirty="0" err="1"/>
              <a:t>plt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x = </a:t>
            </a:r>
            <a:r>
              <a:rPr lang="en-US" altLang="zh-CN" dirty="0" err="1"/>
              <a:t>np.linspace</a:t>
            </a:r>
            <a:r>
              <a:rPr lang="en-US" altLang="zh-CN" dirty="0"/>
              <a:t>(0, 5, 10)</a:t>
            </a:r>
          </a:p>
          <a:p>
            <a:pPr marL="0" indent="0">
              <a:buNone/>
            </a:pPr>
            <a:r>
              <a:rPr lang="en-US" altLang="zh-CN" dirty="0"/>
              <a:t>y = x ** 2</a:t>
            </a:r>
          </a:p>
          <a:p>
            <a:pPr marL="0" indent="0">
              <a:buNone/>
            </a:pPr>
            <a:r>
              <a:rPr lang="en-US" altLang="zh-CN" dirty="0" err="1"/>
              <a:t>plt.subplot</a:t>
            </a:r>
            <a:r>
              <a:rPr lang="en-US" altLang="zh-CN" dirty="0"/>
              <a:t>(1,2,1)</a:t>
            </a:r>
          </a:p>
          <a:p>
            <a:pPr marL="0" indent="0">
              <a:buNone/>
            </a:pPr>
            <a:r>
              <a:rPr lang="en-US" altLang="zh-CN" dirty="0" err="1"/>
              <a:t>plt.plot</a:t>
            </a:r>
            <a:r>
              <a:rPr lang="en-US" altLang="zh-CN" dirty="0"/>
              <a:t>(x, y, 'r--')</a:t>
            </a:r>
          </a:p>
          <a:p>
            <a:pPr marL="0" indent="0">
              <a:buNone/>
            </a:pPr>
            <a:r>
              <a:rPr lang="en-US" altLang="zh-CN" dirty="0" err="1"/>
              <a:t>plt.subplot</a:t>
            </a:r>
            <a:r>
              <a:rPr lang="en-US" altLang="zh-CN" dirty="0"/>
              <a:t>(1,2,2)</a:t>
            </a:r>
          </a:p>
          <a:p>
            <a:pPr marL="0" indent="0">
              <a:buNone/>
            </a:pPr>
            <a:r>
              <a:rPr lang="en-US" altLang="zh-CN" dirty="0" err="1"/>
              <a:t>plt.plot</a:t>
            </a:r>
            <a:r>
              <a:rPr lang="en-US" altLang="zh-CN" dirty="0"/>
              <a:t>(y, x, 'g*-')</a:t>
            </a:r>
          </a:p>
          <a:p>
            <a:pPr marL="0" indent="0">
              <a:buNone/>
            </a:pPr>
            <a:r>
              <a:rPr lang="en-US" altLang="zh-CN" dirty="0" err="1"/>
              <a:t>plt.show</a:t>
            </a:r>
            <a:r>
              <a:rPr lang="en-US" altLang="zh-CN" dirty="0"/>
              <a:t>()</a:t>
            </a:r>
            <a:endParaRPr lang="zh-CN" altLang="zh-CN" dirty="0"/>
          </a:p>
          <a:p>
            <a:pPr marL="292100" indent="-292100" eaLnBrk="1" hangingPunct="1">
              <a:spcBef>
                <a:spcPts val="0"/>
              </a:spcBef>
              <a:buClr>
                <a:schemeClr val="accent1"/>
              </a:buClr>
              <a:buSzPct val="70000"/>
              <a:buFont typeface="Wingdings 2"/>
              <a:buChar char=""/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29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29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6" name="图片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11960" y="1628800"/>
            <a:ext cx="4248472" cy="381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709900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>
          <a:xfrm>
            <a:off x="251520" y="53181"/>
            <a:ext cx="8229600" cy="8080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tx1"/>
                </a:solidFill>
              </a:rPr>
              <a:t>三维图</a:t>
            </a: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251520" y="1124744"/>
            <a:ext cx="8435280" cy="4608512"/>
          </a:xfrm>
          <a:solidFill>
            <a:schemeClr val="bg1"/>
          </a:solidFill>
          <a:ln>
            <a:solidFill>
              <a:srgbClr val="00B05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除了要引用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matplotlib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外，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还需要引用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mpl_toolkits.mplot3d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库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还需要在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matplotlib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figure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函数生成实例对象后，设置其制图模式为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3d</a:t>
            </a:r>
          </a:p>
          <a:p>
            <a:pPr marL="0" indent="0"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典型语句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import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matplotlib.pyplot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as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plt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from mpl_toolkits.mplot3d import Axes3D </a:t>
            </a:r>
          </a:p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fig =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plt.figure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() </a:t>
            </a:r>
          </a:p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ax =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fig.add_subplot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(1,1,1, projection='3d') </a:t>
            </a:r>
          </a:p>
        </p:txBody>
      </p:sp>
      <p:sp>
        <p:nvSpPr>
          <p:cNvPr id="1229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29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044353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>
          <a:xfrm>
            <a:off x="251520" y="53181"/>
            <a:ext cx="8229600" cy="8080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tx1"/>
                </a:solidFill>
              </a:rPr>
              <a:t>三维图的单元构造</a:t>
            </a: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251520" y="1124744"/>
            <a:ext cx="8435280" cy="4608512"/>
          </a:xfrm>
          <a:solidFill>
            <a:schemeClr val="bg1"/>
          </a:solidFill>
          <a:ln>
            <a:solidFill>
              <a:srgbClr val="00B05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plot_trisurf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（以小三角形构成曲面单元）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plot_surface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（以菱形构成曲面单元）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两者需要的数据类型不一样，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Trisurf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，使用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x,y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是等长的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1D array</a:t>
            </a: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Surface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使用的是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np.meshgrid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产生的数据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29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29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2184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>
          <a:xfrm>
            <a:off x="251520" y="53181"/>
            <a:ext cx="8229600" cy="8080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tx1"/>
                </a:solidFill>
              </a:rPr>
              <a:t>三维图的单元构造</a:t>
            </a: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251520" y="980728"/>
            <a:ext cx="7056784" cy="4608512"/>
          </a:xfrm>
          <a:solidFill>
            <a:schemeClr val="bg1"/>
          </a:solidFill>
          <a:ln>
            <a:solidFill>
              <a:srgbClr val="00B05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import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matplotlib.pyplot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as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plt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from mpl_toolkits.mplot3d import Axes3D </a:t>
            </a:r>
          </a:p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fig =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plt.figure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() </a:t>
            </a:r>
          </a:p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ax =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fig.add_subplot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(111, projection='3d') </a:t>
            </a:r>
          </a:p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X = [0, 1, 2, 1.5]</a:t>
            </a:r>
          </a:p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Y = [0, 4, 4, 1]</a:t>
            </a:r>
          </a:p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Z = [0, 2, 0, 0]</a:t>
            </a:r>
          </a:p>
          <a:p>
            <a:pPr marL="0" indent="0">
              <a:buNone/>
            </a:pP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ax.plot_trisurf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(X, Y, Z)</a:t>
            </a:r>
          </a:p>
          <a:p>
            <a:pPr marL="0" indent="0">
              <a:buNone/>
            </a:pP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plt.show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</p:txBody>
      </p:sp>
      <p:sp>
        <p:nvSpPr>
          <p:cNvPr id="1229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29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564904"/>
            <a:ext cx="4433887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95532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>
          <a:xfrm>
            <a:off x="251520" y="53181"/>
            <a:ext cx="8229600" cy="8080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tx1"/>
                </a:solidFill>
              </a:rPr>
              <a:t>三维曲面</a:t>
            </a:r>
            <a:r>
              <a:rPr lang="en-US" altLang="zh-CN" dirty="0" err="1">
                <a:solidFill>
                  <a:schemeClr val="tx1"/>
                </a:solidFill>
              </a:rPr>
              <a:t>plot_trisurf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251520" y="836712"/>
            <a:ext cx="8435280" cy="5616624"/>
          </a:xfrm>
          <a:solidFill>
            <a:schemeClr val="bg1"/>
          </a:solidFill>
          <a:ln>
            <a:solidFill>
              <a:srgbClr val="00B05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n_angles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= 36</a:t>
            </a:r>
          </a:p>
          <a:p>
            <a:pPr marL="0" indent="0">
              <a:buNone/>
            </a:pP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n_radii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= 8</a:t>
            </a:r>
          </a:p>
          <a:p>
            <a:pPr marL="0" indent="0"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radii =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np.linspace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(0.125, 1.0,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n_radii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 marL="0" indent="0"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angles =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np.linspace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(0, 2 *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np.pi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n_angles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, endpoint=False)</a:t>
            </a:r>
          </a:p>
          <a:p>
            <a:pPr marL="0" indent="0"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angles =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np.repeat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(angles[...,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np.newaxis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],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n_radii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, axis=1)</a:t>
            </a:r>
          </a:p>
          <a:p>
            <a:pPr marL="0" indent="0"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# angles[...,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np.newaxis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] 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angles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转置，将每个元素转化成一个列表</a:t>
            </a:r>
          </a:p>
          <a:p>
            <a:pPr marL="0" indent="0"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x =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np.append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(0, (radii *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np.cos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(angles)).flatten())</a:t>
            </a:r>
          </a:p>
          <a:p>
            <a:pPr marL="0" indent="0"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y =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np.append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(0, (radii *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np.sin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(angles)).flatten()) </a:t>
            </a:r>
          </a:p>
          <a:p>
            <a:pPr marL="0" indent="0"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# flatten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作用是将矩阵的行之间首尾相接连接成一个一维矩阵</a:t>
            </a:r>
          </a:p>
          <a:p>
            <a:pPr marL="0" indent="0"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z =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np.sin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(-x * y)</a:t>
            </a:r>
          </a:p>
          <a:p>
            <a:pPr marL="0" indent="0"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fig =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plt.figure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ax =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fig.gca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(projection='3d')</a:t>
            </a:r>
          </a:p>
          <a:p>
            <a:pPr marL="0" indent="0">
              <a:buNone/>
            </a:pP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ax.plot_trisurf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(x, y, z,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cmap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cm.jet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linewidth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=0.2)</a:t>
            </a:r>
          </a:p>
          <a:p>
            <a:pPr marL="0" indent="0">
              <a:buNone/>
            </a:pP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plt.show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</p:txBody>
      </p:sp>
      <p:sp>
        <p:nvSpPr>
          <p:cNvPr id="1229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29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1628800"/>
            <a:ext cx="5303753" cy="36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6564623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>
          <a:xfrm>
            <a:off x="251520" y="53181"/>
            <a:ext cx="8229600" cy="8080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tx1"/>
                </a:solidFill>
              </a:rPr>
              <a:t>三维曲面</a:t>
            </a:r>
            <a:r>
              <a:rPr lang="en-US" altLang="zh-CN" dirty="0" err="1">
                <a:solidFill>
                  <a:schemeClr val="tx1"/>
                </a:solidFill>
              </a:rPr>
              <a:t>plot_surface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251520" y="836712"/>
            <a:ext cx="8435280" cy="5616624"/>
          </a:xfrm>
          <a:solidFill>
            <a:schemeClr val="bg1"/>
          </a:solidFill>
          <a:ln>
            <a:solidFill>
              <a:srgbClr val="00B05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delta = 0.025</a:t>
            </a:r>
          </a:p>
          <a:p>
            <a:pPr marL="0" indent="0"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x =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np.arange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(-3.0, 3.0, delta)</a:t>
            </a:r>
          </a:p>
          <a:p>
            <a:pPr marL="0" indent="0"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y =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np.arange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(-2.0, 2.0, delta)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X, Y = </a:t>
            </a:r>
            <a:r>
              <a:rPr lang="en-US" altLang="zh-CN" sz="1800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np.meshgrid</a:t>
            </a:r>
            <a:r>
              <a:rPr lang="en-US" altLang="zh-CN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(x, y)</a:t>
            </a:r>
          </a:p>
          <a:p>
            <a:pPr marL="0" indent="0"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Z1 =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mlab.bivariate_normal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(X, Y, 1.0, 1.0, 0.0, 0.0) #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产生双变量正态分布，四个整数分别为：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# x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的方差，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y 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的均值。</a:t>
            </a:r>
          </a:p>
          <a:p>
            <a:pPr marL="0" indent="0"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Z2 =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mlab.bivariate_normal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(X, Y, 1.5, 0.5, 1, 1)</a:t>
            </a:r>
          </a:p>
          <a:p>
            <a:pPr marL="0" indent="0"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# difference of Gaussians</a:t>
            </a:r>
          </a:p>
          <a:p>
            <a:pPr marL="0" indent="0"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Z = 10.0 * (Z2 - Z1)</a:t>
            </a:r>
          </a:p>
          <a:p>
            <a:pPr marL="0" indent="0"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使用默认色创建带标签轮廓图</a:t>
            </a:r>
          </a:p>
          <a:p>
            <a:pPr marL="0" indent="0"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fig =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plt.figure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ax =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fig.gca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(projection='3d')</a:t>
            </a:r>
          </a:p>
          <a:p>
            <a:pPr marL="0" indent="0">
              <a:buNone/>
            </a:pP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ax.plot_surface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(X, Y, Z,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cmap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cm.jet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linewidth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=0.2)</a:t>
            </a:r>
          </a:p>
          <a:p>
            <a:pPr marL="0" indent="0">
              <a:buNone/>
            </a:pP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plt.show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</p:txBody>
      </p:sp>
      <p:sp>
        <p:nvSpPr>
          <p:cNvPr id="1229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29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1556792"/>
            <a:ext cx="5515903" cy="374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780746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>
          <a:xfrm>
            <a:off x="251520" y="53181"/>
            <a:ext cx="8229600" cy="8080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tx1"/>
                </a:solidFill>
              </a:rPr>
              <a:t>三维曲面的等高线图</a:t>
            </a: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251520" y="836712"/>
            <a:ext cx="8640960" cy="5616624"/>
          </a:xfrm>
          <a:solidFill>
            <a:schemeClr val="bg1"/>
          </a:solidFill>
          <a:ln>
            <a:solidFill>
              <a:srgbClr val="00B05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# X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Z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准备完毕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plt.figure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CS =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plt.contour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(X, Y, Z,10) # 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制作等高线，横砍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刀</a:t>
            </a:r>
          </a:p>
          <a:p>
            <a:pPr marL="0" indent="0">
              <a:buNone/>
            </a:pP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plt.clabel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(CS, inline=1,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fontsize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=10) #inline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控制画标签，移除标签下的线</a:t>
            </a:r>
          </a:p>
          <a:p>
            <a:pPr marL="0" indent="0">
              <a:buNone/>
            </a:pP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plt.title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('Simplest default with labels')</a:t>
            </a:r>
          </a:p>
          <a:p>
            <a:pPr marL="0" indent="0">
              <a:buNone/>
            </a:pP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plt.show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</p:txBody>
      </p:sp>
      <p:sp>
        <p:nvSpPr>
          <p:cNvPr id="1229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29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946" y="3140968"/>
            <a:ext cx="4320480" cy="2932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3140968"/>
            <a:ext cx="4254251" cy="3016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283955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>
          <a:xfrm>
            <a:off x="251520" y="53181"/>
            <a:ext cx="8229600" cy="8080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tx1"/>
                </a:solidFill>
              </a:rPr>
              <a:t>三维曲面的等高线图</a:t>
            </a: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251520" y="836712"/>
            <a:ext cx="8640960" cy="5616624"/>
          </a:xfrm>
          <a:solidFill>
            <a:schemeClr val="bg1"/>
          </a:solidFill>
          <a:ln>
            <a:solidFill>
              <a:srgbClr val="00B05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# X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Z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准备完毕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plt.figure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CS =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plt.contour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(X, Y, Z, 6, colors='k',) # 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负值将用虚线显示             </a:t>
            </a:r>
          </a:p>
          <a:p>
            <a:pPr marL="0" indent="0">
              <a:buNone/>
            </a:pP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plt.clabel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(CS,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fontsize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=9, inline=1)</a:t>
            </a:r>
          </a:p>
          <a:p>
            <a:pPr marL="0" indent="0">
              <a:buNone/>
            </a:pP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plt.title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('Single color - negative contours dashed')</a:t>
            </a:r>
          </a:p>
          <a:p>
            <a:pPr marL="0" indent="0">
              <a:buNone/>
            </a:pP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plt.show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</p:txBody>
      </p:sp>
      <p:sp>
        <p:nvSpPr>
          <p:cNvPr id="1229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29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946" y="3140968"/>
            <a:ext cx="4320480" cy="2932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9913" y="2918325"/>
            <a:ext cx="4764087" cy="337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225487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>
          <a:xfrm>
            <a:off x="251520" y="53181"/>
            <a:ext cx="8229600" cy="8080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tx1"/>
                </a:solidFill>
              </a:rPr>
              <a:t>动画</a:t>
            </a: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251520" y="1052736"/>
            <a:ext cx="8640960" cy="5040560"/>
          </a:xfrm>
          <a:solidFill>
            <a:schemeClr val="bg1"/>
          </a:solidFill>
          <a:ln>
            <a:solidFill>
              <a:srgbClr val="00B05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、制作空白图、空白线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fig, ax =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plt.subplots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() </a:t>
            </a:r>
          </a:p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line, =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ax.plot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([], [],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lw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=1)</a:t>
            </a:r>
          </a:p>
          <a:p>
            <a:pPr marL="0" indent="0">
              <a:buNone/>
            </a:pP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ax.plot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中用于制图的数据是两个空列表。这实际上只是开辟了一个画图用的空白面板，在面板中不断的画出新的图形变化的部分，从而实现动画的效果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创建动画时初始化函数。这个函数必须返回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matplotlib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中画图的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line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对象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292" name="Rectangle 2"/>
          <p:cNvSpPr>
            <a:spLocks noChangeArrowheads="1"/>
          </p:cNvSpPr>
          <p:nvPr/>
        </p:nvSpPr>
        <p:spPr bwMode="auto">
          <a:xfrm>
            <a:off x="107504" y="235424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29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1702744"/>
      </p:ext>
    </p:extLst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>
          <a:xfrm>
            <a:off x="251520" y="53181"/>
            <a:ext cx="8229600" cy="8080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tx1"/>
                </a:solidFill>
              </a:rPr>
              <a:t>动画</a:t>
            </a: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251520" y="980728"/>
            <a:ext cx="8640960" cy="5040560"/>
          </a:xfrm>
          <a:solidFill>
            <a:schemeClr val="bg1"/>
          </a:solidFill>
          <a:ln>
            <a:solidFill>
              <a:srgbClr val="00B05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、创建动画函数。这是制作动画的关键步骤，在这个动画函数中制作图的变动，该函数返回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line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对象，且必须以元组的方式返回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显示动画，调用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animation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包的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FuncAnimation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函数，实现动画的制作、更新。用如下的两个语句来完成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如：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anim1=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animation.FuncAnimation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(fig, animate,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init_func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init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,  frames=50, interval=10) </a:t>
            </a:r>
          </a:p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interval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参数以毫秒为单位调用返回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line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对象的动画函数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animate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，每调用一次，就在图中增加变化的部分，实现动画效果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frame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代表时间间隔内的帧数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292" name="Rectangle 2"/>
          <p:cNvSpPr>
            <a:spLocks noChangeArrowheads="1"/>
          </p:cNvSpPr>
          <p:nvPr/>
        </p:nvSpPr>
        <p:spPr bwMode="auto">
          <a:xfrm>
            <a:off x="107504" y="235424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29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5641856"/>
      </p:ext>
    </p:extLst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>
          <a:xfrm>
            <a:off x="251520" y="53181"/>
            <a:ext cx="8229600" cy="8080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tx1"/>
                </a:solidFill>
              </a:rPr>
              <a:t>动画</a:t>
            </a: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251520" y="908720"/>
            <a:ext cx="8640960" cy="5040560"/>
          </a:xfrm>
          <a:solidFill>
            <a:schemeClr val="bg1"/>
          </a:solidFill>
          <a:ln>
            <a:solidFill>
              <a:srgbClr val="00B05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from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matplotlib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import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pyplot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as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plt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</a:p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from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matplotlib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import animation</a:t>
            </a:r>
          </a:p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import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numpy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as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np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首先建立图形对象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figure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，坐标轴对象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ax1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ax2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，画图元素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line1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line2   </a:t>
            </a:r>
          </a:p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fig =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plt.figure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() </a:t>
            </a:r>
          </a:p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ax1 =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fig.add_subplot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(2,1,1,xlim=(0, 2),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ylim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=(-4, 4))</a:t>
            </a:r>
          </a:p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ax2 =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fig.add_subplot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(2,1,2,xlim=(0, 2),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ylim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=(-4, 4))</a:t>
            </a:r>
          </a:p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line, = ax1.plot([], [],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lw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=1)  </a:t>
            </a:r>
          </a:p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line2, = ax2.plot([], [],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lw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=1)</a:t>
            </a:r>
          </a:p>
        </p:txBody>
      </p:sp>
      <p:sp>
        <p:nvSpPr>
          <p:cNvPr id="12292" name="Rectangle 2"/>
          <p:cNvSpPr>
            <a:spLocks noChangeArrowheads="1"/>
          </p:cNvSpPr>
          <p:nvPr/>
        </p:nvSpPr>
        <p:spPr bwMode="auto">
          <a:xfrm>
            <a:off x="107504" y="235424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29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632426"/>
      </p:ext>
    </p:extLst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>
          <a:xfrm>
            <a:off x="251520" y="53181"/>
            <a:ext cx="8229600" cy="8080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tx1"/>
                </a:solidFill>
              </a:rPr>
              <a:t>动画</a:t>
            </a: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251520" y="836712"/>
            <a:ext cx="8640960" cy="5688632"/>
          </a:xfrm>
          <a:solidFill>
            <a:schemeClr val="bg1"/>
          </a:solidFill>
          <a:ln>
            <a:solidFill>
              <a:srgbClr val="00B05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init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():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line.set_data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([], [])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 line2.set_data([], [])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 return line,line2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animate(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): # 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参数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随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FuncAnimation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frame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参数改变，在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0-49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周而往复变化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x =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np.linspace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(0, 2, 100)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 y =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np.sin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(2 *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np.pi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* (x - 0.01 *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))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line.set_data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(x, y)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 x2 =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np.linspace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(0, 2, 100)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 y2 =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np.cos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(2 *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np.pi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* (x2 - 0.01 *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))*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np.sin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(2 *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np.pi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* (x - 0.01 *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))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 line2.set_data(x2, y2)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 return line,line2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anim1=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animation.FuncAnimation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(fig, animate,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init_func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init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, frames=50, interval=10)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plt.show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</p:txBody>
      </p:sp>
      <p:sp>
        <p:nvSpPr>
          <p:cNvPr id="1229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391598"/>
      </p:ext>
    </p:extLst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12A2A5-9335-F446-F392-876471058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SinWave">
            <a:hlinkClick r:id="" action="ppaction://media"/>
            <a:extLst>
              <a:ext uri="{FF2B5EF4-FFF2-40B4-BE49-F238E27FC236}">
                <a16:creationId xmlns:a16="http://schemas.microsoft.com/office/drawing/2014/main" id="{3A772CA2-BA51-386B-F4D7-5BA50E2F82A7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331640" y="1008063"/>
            <a:ext cx="6264696" cy="5328712"/>
          </a:xfrm>
        </p:spPr>
      </p:pic>
    </p:spTree>
    <p:extLst>
      <p:ext uri="{BB962C8B-B14F-4D97-AF65-F5344CB8AC3E}">
        <p14:creationId xmlns:p14="http://schemas.microsoft.com/office/powerpoint/2010/main" val="8661544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3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主题1">
  <a:themeElements>
    <a:clrScheme name="Blank Presentation 12">
      <a:dk1>
        <a:srgbClr val="000000"/>
      </a:dk1>
      <a:lt1>
        <a:srgbClr val="FFFFFF"/>
      </a:lt1>
      <a:dk2>
        <a:srgbClr val="BF311A"/>
      </a:dk2>
      <a:lt2>
        <a:srgbClr val="808285"/>
      </a:lt2>
      <a:accent1>
        <a:srgbClr val="005595"/>
      </a:accent1>
      <a:accent2>
        <a:srgbClr val="BEC0C2"/>
      </a:accent2>
      <a:accent3>
        <a:srgbClr val="FFFFFF"/>
      </a:accent3>
      <a:accent4>
        <a:srgbClr val="000000"/>
      </a:accent4>
      <a:accent5>
        <a:srgbClr val="AAB4C8"/>
      </a:accent5>
      <a:accent6>
        <a:srgbClr val="ACAEB0"/>
      </a:accent6>
      <a:hlink>
        <a:srgbClr val="5C8727"/>
      </a:hlink>
      <a:folHlink>
        <a:srgbClr val="EC891D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0000"/>
        </a:dk1>
        <a:lt1>
          <a:srgbClr val="FFFFFF"/>
        </a:lt1>
        <a:dk2>
          <a:srgbClr val="BF311A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5C8727"/>
        </a:hlink>
        <a:folHlink>
          <a:srgbClr val="4577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000000"/>
        </a:dk1>
        <a:lt1>
          <a:srgbClr val="FFFFFF"/>
        </a:lt1>
        <a:dk2>
          <a:srgbClr val="5C8727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EC891D"/>
        </a:hlink>
        <a:folHlink>
          <a:srgbClr val="BF31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000000"/>
        </a:dk1>
        <a:lt1>
          <a:srgbClr val="FFFFFF"/>
        </a:lt1>
        <a:dk2>
          <a:srgbClr val="EC891D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5C8727"/>
        </a:hlink>
        <a:folHlink>
          <a:srgbClr val="BF31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000000"/>
        </a:dk1>
        <a:lt1>
          <a:srgbClr val="FFFFFF"/>
        </a:lt1>
        <a:dk2>
          <a:srgbClr val="BF311A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5C8727"/>
        </a:hlink>
        <a:folHlink>
          <a:srgbClr val="EC891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000000"/>
        </a:dk1>
        <a:lt1>
          <a:srgbClr val="FFFFFF"/>
        </a:lt1>
        <a:dk2>
          <a:srgbClr val="BF311A"/>
        </a:dk2>
        <a:lt2>
          <a:srgbClr val="808285"/>
        </a:lt2>
        <a:accent1>
          <a:srgbClr val="005595"/>
        </a:accent1>
        <a:accent2>
          <a:srgbClr val="BEC0C2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CAEB0"/>
        </a:accent6>
        <a:hlink>
          <a:srgbClr val="5C8727"/>
        </a:hlink>
        <a:folHlink>
          <a:srgbClr val="EC89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lank Presentation 12">
    <a:dk1>
      <a:srgbClr val="000000"/>
    </a:dk1>
    <a:lt1>
      <a:srgbClr val="FFFFFF"/>
    </a:lt1>
    <a:dk2>
      <a:srgbClr val="BF311A"/>
    </a:dk2>
    <a:lt2>
      <a:srgbClr val="808285"/>
    </a:lt2>
    <a:accent1>
      <a:srgbClr val="005595"/>
    </a:accent1>
    <a:accent2>
      <a:srgbClr val="BEC0C2"/>
    </a:accent2>
    <a:accent3>
      <a:srgbClr val="FFFFFF"/>
    </a:accent3>
    <a:accent4>
      <a:srgbClr val="000000"/>
    </a:accent4>
    <a:accent5>
      <a:srgbClr val="AAB4C8"/>
    </a:accent5>
    <a:accent6>
      <a:srgbClr val="ACAEB0"/>
    </a:accent6>
    <a:hlink>
      <a:srgbClr val="5C8727"/>
    </a:hlink>
    <a:folHlink>
      <a:srgbClr val="EC891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4785</TotalTime>
  <Words>2144</Words>
  <Application>Microsoft Office PowerPoint</Application>
  <PresentationFormat>全屏显示(4:3)</PresentationFormat>
  <Paragraphs>229</Paragraphs>
  <Slides>26</Slides>
  <Notes>1</Notes>
  <HiddenSlides>0</HiddenSlides>
  <MMClips>1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3" baseType="lpstr">
      <vt:lpstr>华文新魏</vt:lpstr>
      <vt:lpstr>宋体</vt:lpstr>
      <vt:lpstr>Arial</vt:lpstr>
      <vt:lpstr>Bodoni MT Black</vt:lpstr>
      <vt:lpstr>Calibri</vt:lpstr>
      <vt:lpstr>Wingdings 2</vt:lpstr>
      <vt:lpstr>主题1</vt:lpstr>
      <vt:lpstr> Matplotlib绘图</vt:lpstr>
      <vt:lpstr>Matplotlib画图工具</vt:lpstr>
      <vt:lpstr>matplotlib制图</vt:lpstr>
      <vt:lpstr>制作函数曲线图</vt:lpstr>
      <vt:lpstr>颜色控制</vt:lpstr>
      <vt:lpstr>线宽、线型、网格线控制</vt:lpstr>
      <vt:lpstr>坐标轴、图标识</vt:lpstr>
      <vt:lpstr>设定坐标轴刻度</vt:lpstr>
      <vt:lpstr>设置样例 legend</vt:lpstr>
      <vt:lpstr>饼图</vt:lpstr>
      <vt:lpstr>散点图</vt:lpstr>
      <vt:lpstr>柱图</vt:lpstr>
      <vt:lpstr>子窗口制图</vt:lpstr>
      <vt:lpstr>子窗口制图</vt:lpstr>
      <vt:lpstr>三维图</vt:lpstr>
      <vt:lpstr>三维图的单元构造</vt:lpstr>
      <vt:lpstr>三维图的单元构造</vt:lpstr>
      <vt:lpstr>三维曲面plot_trisurf</vt:lpstr>
      <vt:lpstr>三维曲面plot_surface</vt:lpstr>
      <vt:lpstr>三维曲面的等高线图</vt:lpstr>
      <vt:lpstr>三维曲面的等高线图</vt:lpstr>
      <vt:lpstr>动画</vt:lpstr>
      <vt:lpstr>动画</vt:lpstr>
      <vt:lpstr>动画</vt:lpstr>
      <vt:lpstr>动画</vt:lpstr>
      <vt:lpstr>PowerPoint 演示文稿</vt:lpstr>
    </vt:vector>
  </TitlesOfParts>
  <Company>Workgroup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软件技术基础</dc:title>
  <dc:creator>Ruizhi Wang</dc:creator>
  <cp:lastModifiedBy>Mengqi Xue</cp:lastModifiedBy>
  <cp:revision>270</cp:revision>
  <dcterms:created xsi:type="dcterms:W3CDTF">2010-02-28T17:17:53Z</dcterms:created>
  <dcterms:modified xsi:type="dcterms:W3CDTF">2025-12-29T12:23:07Z</dcterms:modified>
</cp:coreProperties>
</file>