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8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0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6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8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3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3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6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8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9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40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4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42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43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4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45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46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7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8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49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50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51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52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53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6"/>
  </p:notesMasterIdLst>
  <p:sldIdLst>
    <p:sldId id="264" r:id="rId2"/>
    <p:sldId id="286" r:id="rId3"/>
    <p:sldId id="287" r:id="rId4"/>
    <p:sldId id="296" r:id="rId5"/>
    <p:sldId id="297" r:id="rId6"/>
    <p:sldId id="298" r:id="rId7"/>
    <p:sldId id="299" r:id="rId8"/>
    <p:sldId id="301" r:id="rId9"/>
    <p:sldId id="30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3" r:id="rId20"/>
    <p:sldId id="314" r:id="rId21"/>
    <p:sldId id="312" r:id="rId22"/>
    <p:sldId id="315" r:id="rId23"/>
    <p:sldId id="316" r:id="rId24"/>
    <p:sldId id="317" r:id="rId25"/>
    <p:sldId id="318" r:id="rId26"/>
    <p:sldId id="319" r:id="rId27"/>
    <p:sldId id="321" r:id="rId28"/>
    <p:sldId id="322" r:id="rId29"/>
    <p:sldId id="320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7" r:id="rId44"/>
    <p:sldId id="338" r:id="rId45"/>
    <p:sldId id="339" r:id="rId46"/>
    <p:sldId id="341" r:id="rId47"/>
    <p:sldId id="340" r:id="rId48"/>
    <p:sldId id="342" r:id="rId49"/>
    <p:sldId id="347" r:id="rId50"/>
    <p:sldId id="343" r:id="rId51"/>
    <p:sldId id="344" r:id="rId52"/>
    <p:sldId id="345" r:id="rId53"/>
    <p:sldId id="346" r:id="rId54"/>
    <p:sldId id="348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4B4"/>
    <a:srgbClr val="4868A2"/>
    <a:srgbClr val="FFFFFF"/>
    <a:srgbClr val="D8E8F3"/>
    <a:srgbClr val="FB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7" autoAdjust="0"/>
    <p:restoredTop sz="94474" autoAdjust="0"/>
  </p:normalViewPr>
  <p:slideViewPr>
    <p:cSldViewPr snapToGrid="0">
      <p:cViewPr varScale="1">
        <p:scale>
          <a:sx n="153" d="100"/>
          <a:sy n="153" d="100"/>
        </p:scale>
        <p:origin x="150" y="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8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B2C0C-1FFB-426F-943D-49D393611648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769E8-19F7-47D4-AFC6-D17EEAD4A9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4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71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45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673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059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161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56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291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969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61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8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115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085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544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682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0932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864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843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457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577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5566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6596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4651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0532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83007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872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322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22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966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44578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5082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7863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960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96245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312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9619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64339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6723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4244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9206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0360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09801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947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41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1644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5105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8802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4400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5646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39159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129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2891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96385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904007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45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052514"/>
            <a:ext cx="52324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052514"/>
            <a:ext cx="52324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395112" y="574700"/>
            <a:ext cx="11401777" cy="570860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5461" y="-1"/>
            <a:ext cx="12213160" cy="6858001"/>
            <a:chOff x="-15461" y="-1"/>
            <a:chExt cx="12213160" cy="68580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15461" y="-1"/>
              <a:ext cx="12213160" cy="68580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-1"/>
              <a:ext cx="12181683" cy="685800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376156" y="773252"/>
              <a:ext cx="11401777" cy="549321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78000" y="2822400"/>
            <a:ext cx="7412400" cy="1101600"/>
          </a:xfrm>
          <a:solidFill>
            <a:schemeClr val="accent1"/>
          </a:solidFill>
        </p:spPr>
        <p:txBody>
          <a:bodyPr anchor="ctr" anchorCtr="0">
            <a:normAutofit/>
          </a:bodyPr>
          <a:lstStyle>
            <a:lvl1pPr algn="r">
              <a:defRPr sz="4400" b="0" baseline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1" name="MH_Others_1"/>
          <p:cNvSpPr/>
          <p:nvPr userDrawn="1">
            <p:custDataLst>
              <p:tags r:id="rId1"/>
            </p:custDataLst>
          </p:nvPr>
        </p:nvSpPr>
        <p:spPr>
          <a:xfrm>
            <a:off x="8997410" y="1861413"/>
            <a:ext cx="2773676" cy="713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72000" rtlCol="0" anchor="ctr"/>
          <a:lstStyle/>
          <a:p>
            <a:endParaRPr lang="zh-CN" altLang="en-US" sz="6000" spc="500">
              <a:solidFill>
                <a:srgbClr val="FFFFFF"/>
              </a:solidFill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" name="MH_Number"/>
          <p:cNvSpPr/>
          <p:nvPr userDrawn="1">
            <p:custDataLst>
              <p:tags r:id="rId2"/>
            </p:custDataLst>
          </p:nvPr>
        </p:nvSpPr>
        <p:spPr>
          <a:xfrm>
            <a:off x="7907903" y="2822268"/>
            <a:ext cx="1104021" cy="11020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0" bIns="36000" rtlCol="0" anchor="ctr">
            <a:normAutofit/>
          </a:bodyPr>
          <a:lstStyle/>
          <a:p>
            <a:pPr algn="ctr"/>
            <a:endParaRPr lang="zh-CN" altLang="en-US" sz="600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27050" y="1081088"/>
            <a:ext cx="11096625" cy="5494337"/>
          </a:xfrm>
        </p:spPr>
        <p:txBody>
          <a:bodyPr anchor="ctr"/>
          <a:lstStyle>
            <a:lvl3pPr>
              <a:defRPr sz="20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0"/>
            <a:ext cx="106680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052514"/>
            <a:ext cx="10668000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812800" y="908050"/>
            <a:ext cx="10610851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812800" y="6308725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381751"/>
            <a:ext cx="2641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fld id="{7E209CE7-C191-49CB-93DE-563C8614E8C5}" type="datetimeFigureOut">
              <a:rPr lang="zh-CN" altLang="en-US" smtClean="0"/>
              <a:pPr/>
              <a:t>2025/3/15</a:t>
            </a:fld>
            <a:endParaRPr lang="zh-CN" alt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81751"/>
            <a:ext cx="3860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/>
            </a:lvl1pPr>
          </a:lstStyle>
          <a:p>
            <a:endParaRPr lang="zh-CN" altLang="en-US"/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84167" y="6381750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33" name="Picture 14" descr="python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12301" y="188914"/>
            <a:ext cx="26797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51" r:id="rId11"/>
    <p:sldLayoutId id="2147483658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33127" y="2081212"/>
            <a:ext cx="947567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数据类型</a:t>
            </a:r>
            <a:endParaRPr lang="en-US" altLang="zh-CN" sz="6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--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组合数据类型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88727" y="2199764"/>
            <a:ext cx="4148893" cy="2573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dirty="0">
                <a:solidFill>
                  <a:srgbClr val="0084B4"/>
                </a:solidFill>
                <a:latin typeface="+mn-ea"/>
              </a:rPr>
              <a:t>2.1 </a:t>
            </a:r>
            <a:r>
              <a:rPr lang="zh-CN" altLang="en-US" sz="4400" b="1" dirty="0">
                <a:solidFill>
                  <a:srgbClr val="0084B4"/>
                </a:solidFill>
                <a:latin typeface="+mn-ea"/>
              </a:rPr>
              <a:t>列表与元组</a:t>
            </a:r>
            <a:endParaRPr lang="en-US" altLang="zh-CN" sz="4400" b="1" dirty="0">
              <a:solidFill>
                <a:srgbClr val="0084B4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73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0153" y="2242670"/>
            <a:ext cx="493276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序列类型定义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序列处理函数及方法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序列类型应用场景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20329" y="1327443"/>
            <a:ext cx="275748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列表与元组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664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305777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67270" y="2277341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序列是具有先后关系的一组元素</a:t>
            </a:r>
          </a:p>
        </p:txBody>
      </p:sp>
      <p:sp>
        <p:nvSpPr>
          <p:cNvPr id="2" name="矩形 1"/>
          <p:cNvSpPr/>
          <p:nvPr/>
        </p:nvSpPr>
        <p:spPr>
          <a:xfrm>
            <a:off x="1382276" y="3239260"/>
            <a:ext cx="88047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序列是一维元素向量，元素类型可以不同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类似数学元素序列：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</a:t>
            </a:r>
            <a:r>
              <a:rPr lang="en-US" altLang="zh-CN" sz="2800" baseline="-25000" dirty="0">
                <a:solidFill>
                  <a:schemeClr val="tx1">
                    <a:lumMod val="50000"/>
                  </a:schemeClr>
                </a:solidFill>
              </a:rPr>
              <a:t> 0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, s </a:t>
            </a:r>
            <a:r>
              <a:rPr lang="en-US" altLang="zh-CN" sz="2800" baseline="-25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, … , s </a:t>
            </a:r>
            <a:r>
              <a:rPr lang="en-US" altLang="zh-CN" sz="2800" baseline="-25000" dirty="0">
                <a:solidFill>
                  <a:schemeClr val="tx1">
                    <a:lumMod val="50000"/>
                  </a:schemeClr>
                </a:solidFill>
              </a:rPr>
              <a:t>n-1</a:t>
            </a:r>
          </a:p>
          <a:p>
            <a:pPr marL="342900" indent="-342900">
              <a:buFontTx/>
              <a:buChar char="-"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元素间由序号引导，通过下标访问序列的特定元素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9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305777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67270" y="2277341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序列是具有先后关系的一组元素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67447" y="3431764"/>
            <a:ext cx="7047619" cy="2714286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60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305777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44761" y="2460200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序号的定义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10304" y="3272023"/>
            <a:ext cx="7761905" cy="2971429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40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5" y="1305777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83096" y="2043918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序列通用操作符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051773"/>
              </p:ext>
            </p:extLst>
          </p:nvPr>
        </p:nvGraphicFramePr>
        <p:xfrm>
          <a:off x="1097280" y="2761487"/>
          <a:ext cx="10172700" cy="32884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90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7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操作符及应用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描述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 in s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如果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是序列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的元素，返回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True，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否则返回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False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 not in s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如果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是序列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的元素，返回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False，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否则返回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True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 + t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连接两个序列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和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</a:t>
                      </a:r>
                      <a:endParaRPr lang="en-US" altLang="zh-CN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s*n </a:t>
                      </a:r>
                      <a:r>
                        <a:rPr lang="zh-CN" alt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或 </a:t>
                      </a:r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n*s 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将序列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复制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n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次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s[i]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索引，返回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中的第</a:t>
                      </a:r>
                      <a:r>
                        <a:rPr lang="en-US" altLang="zh-CN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元素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775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s[i: j] 或 s[i: j: k] </a:t>
                      </a:r>
                      <a:endParaRPr lang="pl-PL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切片，返回序列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中第</a:t>
                      </a:r>
                      <a:r>
                        <a:rPr lang="en-US" altLang="zh-CN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到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j-1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以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k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为步长的元素子序列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439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5" y="1305777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83096" y="2097258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序列通用操作符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97646" y="2835028"/>
            <a:ext cx="4772117" cy="3321932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790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5" y="1305777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44760" y="2273323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函数和方法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0953"/>
              </p:ext>
            </p:extLst>
          </p:nvPr>
        </p:nvGraphicFramePr>
        <p:xfrm>
          <a:off x="572318" y="3297238"/>
          <a:ext cx="11121216" cy="273589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84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函数和方法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 描述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len(s)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的长度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min(s) 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的最小元素，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中元素需要可比较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max(s)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的最大元素，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中元素需要可比较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s.index</a:t>
                      </a:r>
                      <a:r>
                        <a:rPr 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(x) 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或</a:t>
                      </a:r>
                      <a:endParaRPr lang="en-US" altLang="zh-CN" sz="240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s.index</a:t>
                      </a:r>
                      <a:r>
                        <a:rPr 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(x, </a:t>
                      </a:r>
                      <a:r>
                        <a:rPr lang="en-US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</a:t>
                      </a:r>
                      <a:r>
                        <a:rPr 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, j)</a:t>
                      </a:r>
                      <a:endParaRPr 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从</a:t>
                      </a:r>
                      <a:r>
                        <a:rPr lang="en-US" altLang="zh-CN" sz="240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开始到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j-1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元素中第一次出现元素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的位置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s.count(x)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返回序列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s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中出现</a:t>
                      </a:r>
                      <a:r>
                        <a:rPr lang="en-US" altLang="zh-CN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x</a:t>
                      </a:r>
                      <a:r>
                        <a:rPr lang="zh-CN" altLang="en-US" sz="24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的总次数</a:t>
                      </a:r>
                      <a:endParaRPr lang="zh-CN" alt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682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5" y="1305777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44760" y="2273323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4868A2"/>
                </a:solidFill>
              </a:rPr>
              <a:t>函数和方法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82850" y="3108141"/>
            <a:ext cx="4255310" cy="3020437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053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5869" y="2945101"/>
            <a:ext cx="92340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3000" dirty="0"/>
              <a:t>列表是一种序列类型，创建后可以随意被修改</a:t>
            </a:r>
            <a:endParaRPr lang="en-US" altLang="zh-CN" sz="3000" dirty="0"/>
          </a:p>
          <a:p>
            <a:pPr marL="457200" indent="-457200">
              <a:buFontTx/>
              <a:buChar char="-"/>
            </a:pPr>
            <a:endParaRPr lang="zh-CN" altLang="en-US" sz="3000" dirty="0"/>
          </a:p>
          <a:p>
            <a:pPr marL="457200" indent="-457200">
              <a:buFontTx/>
              <a:buChar char="-"/>
            </a:pPr>
            <a:r>
              <a:rPr lang="zh-CN" altLang="en-US" sz="3000" dirty="0"/>
              <a:t>使用方括号 [] 或list() 创建，元素间用逗号 , 分隔</a:t>
            </a:r>
            <a:endParaRPr lang="en-US" altLang="zh-CN" sz="3000" dirty="0"/>
          </a:p>
          <a:p>
            <a:pPr marL="457200" indent="-457200">
              <a:buFontTx/>
              <a:buChar char="-"/>
            </a:pPr>
            <a:endParaRPr lang="zh-CN" altLang="en-US" sz="3000" dirty="0"/>
          </a:p>
          <a:p>
            <a:pPr marL="457200" indent="-457200">
              <a:buFontTx/>
              <a:buChar char="-"/>
            </a:pPr>
            <a:r>
              <a:rPr lang="zh-CN" altLang="en-US" sz="3000" dirty="0"/>
              <a:t>列表中各元素类型可以不同，无长度限制</a:t>
            </a:r>
            <a:endParaRPr lang="en-US" altLang="zh-CN" sz="3000" dirty="0"/>
          </a:p>
          <a:p>
            <a:pPr marL="457200" indent="-457200">
              <a:buFontTx/>
              <a:buChar char="-"/>
            </a:pPr>
            <a:endParaRPr lang="zh-CN" altLang="en-US" sz="3000" dirty="0"/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088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39024" y="2714850"/>
            <a:ext cx="8470349" cy="348020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95990" y="211810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列表类型定义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88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5990" y="21181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列表类型操作函数和方法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43814" y="2738632"/>
            <a:ext cx="8939426" cy="3380804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153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5990" y="21181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列表类型操作函数和方法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1704975" y="2740152"/>
            <a:ext cx="85105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&gt;&gt;&gt; ls = ["cat", "dog", "tiger", 1024]</a:t>
            </a:r>
          </a:p>
          <a:p>
            <a:r>
              <a:rPr lang="zh-CN" altLang="en-US" sz="2800" dirty="0"/>
              <a:t>&gt;&gt;&gt; ls[1:2] = [1, 2, 3, 4]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['cat', 1, 2, 3, 4, 'tiger', 1024]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1000" dirty="0"/>
          </a:p>
          <a:p>
            <a:r>
              <a:rPr lang="zh-CN" altLang="en-US" sz="2800" dirty="0"/>
              <a:t>&gt;&gt;&gt; del ls[::3]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[1, 2, 4, 'tiger']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1000" dirty="0"/>
          </a:p>
          <a:p>
            <a:r>
              <a:rPr lang="zh-CN" altLang="en-US" sz="2800" dirty="0"/>
              <a:t>&gt;&gt;&gt; ls*2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[1, 2, 4, 'tiger', 1, 2, 4, 'tiger']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066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5990" y="21181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列表类型操作函数和方法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38175" y="2724912"/>
            <a:ext cx="7791626" cy="3412786"/>
          </a:xfrm>
          <a:prstGeom prst="rect">
            <a:avLst/>
          </a:prstGeom>
        </p:spPr>
      </p:pic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636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5990" y="21181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列表类型操作函数和方法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1495990" y="2841963"/>
            <a:ext cx="824388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&gt;&gt;&gt; ls = ["cat", "dog", "tiger", 1024]</a:t>
            </a:r>
          </a:p>
          <a:p>
            <a:r>
              <a:rPr lang="zh-CN" altLang="en-US" sz="2800" dirty="0"/>
              <a:t>&gt;&gt;&gt; ls.append(1234)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['cat', 'dog', 'tiger', 1024, 1234]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1000" dirty="0"/>
          </a:p>
          <a:p>
            <a:r>
              <a:rPr lang="zh-CN" altLang="en-US" sz="2800" dirty="0"/>
              <a:t>&gt;&gt;&gt; ls.insert(3, "human")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['cat', 'dog', 'tiger', 'human', 1024, 1234]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1000" dirty="0"/>
          </a:p>
          <a:p>
            <a:r>
              <a:rPr lang="zh-CN" altLang="en-US" sz="2800" dirty="0"/>
              <a:t>&gt;&gt;&gt; ls.reverse()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[1234, 1024, 'human', 'tiger', 'dog', 'cat']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296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9716" y="2027909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列表功能实例</a:t>
            </a:r>
          </a:p>
        </p:txBody>
      </p:sp>
      <p:sp>
        <p:nvSpPr>
          <p:cNvPr id="4" name="矩形 3"/>
          <p:cNvSpPr/>
          <p:nvPr/>
        </p:nvSpPr>
        <p:spPr>
          <a:xfrm>
            <a:off x="686382" y="2621018"/>
            <a:ext cx="5404873" cy="3261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定义空列表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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向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新增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5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个元素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修改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中第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个元素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向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中第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个位置增加一个元素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从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中第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个位置删除一个元素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删除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中第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1~3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位置元素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20179" y="2650360"/>
            <a:ext cx="3066667" cy="3228571"/>
          </a:xfrm>
          <a:prstGeom prst="rect">
            <a:avLst/>
          </a:prstGeom>
        </p:spPr>
      </p:pic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948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9716" y="2027909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列表功能实例</a:t>
            </a:r>
          </a:p>
        </p:txBody>
      </p:sp>
      <p:sp>
        <p:nvSpPr>
          <p:cNvPr id="2" name="矩形 1"/>
          <p:cNvSpPr/>
          <p:nvPr/>
        </p:nvSpPr>
        <p:spPr>
          <a:xfrm>
            <a:off x="1087816" y="2678168"/>
            <a:ext cx="5228045" cy="3261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判断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中是否包含数字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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向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新增数字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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返回数字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所在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中的索引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的长度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中最大元素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 清空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82088" y="2750367"/>
            <a:ext cx="2400000" cy="3142857"/>
          </a:xfrm>
          <a:prstGeom prst="rect">
            <a:avLst/>
          </a:prstGeom>
        </p:spPr>
      </p:pic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493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4214" y="2609821"/>
            <a:ext cx="97500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3000" dirty="0"/>
              <a:t>元组是一种序列类型，一旦创建就不能被修改</a:t>
            </a:r>
            <a:endParaRPr lang="en-US" altLang="zh-CN" sz="3000" dirty="0"/>
          </a:p>
          <a:p>
            <a:pPr marL="457200" indent="-457200">
              <a:buFontTx/>
              <a:buChar char="-"/>
            </a:pPr>
            <a:endParaRPr lang="zh-CN" altLang="en-US" sz="3000" dirty="0"/>
          </a:p>
          <a:p>
            <a:pPr marL="457200" indent="-457200">
              <a:buFontTx/>
              <a:buChar char="-"/>
            </a:pPr>
            <a:r>
              <a:rPr lang="zh-CN" altLang="en-US" sz="3000" dirty="0"/>
              <a:t>使用小括号 </a:t>
            </a:r>
            <a:r>
              <a:rPr lang="en-US" altLang="zh-CN" sz="3000" dirty="0"/>
              <a:t>() </a:t>
            </a:r>
            <a:r>
              <a:rPr lang="zh-CN" altLang="en-US" sz="3000" dirty="0"/>
              <a:t>或 </a:t>
            </a:r>
            <a:r>
              <a:rPr lang="en-US" altLang="zh-CN" sz="3000" dirty="0"/>
              <a:t>tuple() </a:t>
            </a:r>
            <a:r>
              <a:rPr lang="zh-CN" altLang="en-US" sz="3000" dirty="0"/>
              <a:t>创建，元素间用逗号 </a:t>
            </a:r>
            <a:r>
              <a:rPr lang="en-US" altLang="zh-CN" sz="3000" dirty="0"/>
              <a:t>, </a:t>
            </a:r>
            <a:r>
              <a:rPr lang="zh-CN" altLang="en-US" sz="3000" dirty="0"/>
              <a:t>分隔</a:t>
            </a:r>
            <a:endParaRPr lang="en-US" altLang="zh-CN" sz="3000" dirty="0"/>
          </a:p>
          <a:p>
            <a:pPr marL="457200" indent="-457200">
              <a:buFontTx/>
              <a:buChar char="-"/>
            </a:pPr>
            <a:endParaRPr lang="zh-CN" altLang="en-US" sz="3000" dirty="0"/>
          </a:p>
          <a:p>
            <a:pPr marL="457200" indent="-457200">
              <a:buFontTx/>
              <a:buChar char="-"/>
            </a:pPr>
            <a:r>
              <a:rPr lang="zh-CN" altLang="en-US" sz="3000" dirty="0"/>
              <a:t>可以使用或不使用小括号</a:t>
            </a: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2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5603" y="2165275"/>
            <a:ext cx="787130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创建空元组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tup1 = ();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元组中只包含一个元素时，需要在元素后面添加逗号，否则括号会被当作运算符使用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：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tup1 = (50)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type(tup1)     # 不加逗号，类型为整型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&lt;class 'int'&gt;</a:t>
            </a: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tup1 = (50,)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type(tup1)     # 加上逗号，类型为元组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&lt;class 'tuple'&gt;</a:t>
            </a:r>
          </a:p>
        </p:txBody>
      </p:sp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325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9716" y="2132769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元组类型操作</a:t>
            </a:r>
          </a:p>
        </p:txBody>
      </p:sp>
      <p:sp>
        <p:nvSpPr>
          <p:cNvPr id="2" name="矩形 1"/>
          <p:cNvSpPr/>
          <p:nvPr/>
        </p:nvSpPr>
        <p:spPr>
          <a:xfrm>
            <a:off x="1049716" y="2982968"/>
            <a:ext cx="96373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元组继承了序列类型的全部通用操作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元组因为创建后不能修改，因此没有特殊操作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659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2318" y="343293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元组类型操作</a:t>
            </a:r>
          </a:p>
        </p:txBody>
      </p:sp>
      <p:sp>
        <p:nvSpPr>
          <p:cNvPr id="4" name="矩形 3"/>
          <p:cNvSpPr/>
          <p:nvPr/>
        </p:nvSpPr>
        <p:spPr>
          <a:xfrm>
            <a:off x="3471083" y="2050143"/>
            <a:ext cx="813911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访问元组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元组可以使用下标索引来访问元组中的值，如下实例:</a:t>
            </a: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tup1 = ('Google', 'Runoob', 1997, 2000)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tup2 = (1, 2, 3, 4, 5, 6, 7 )</a:t>
            </a: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print ("tup1[0]: ", tup1[0])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print ("tup2[1:5]: ", tup2[1:5])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以上实例输出结果：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tup1[0]:  Google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tup2[1:5]:  (2, 3, 4, 5)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897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2318" y="343293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元组类型操作</a:t>
            </a:r>
          </a:p>
        </p:txBody>
      </p:sp>
      <p:sp>
        <p:nvSpPr>
          <p:cNvPr id="4" name="矩形 3"/>
          <p:cNvSpPr/>
          <p:nvPr/>
        </p:nvSpPr>
        <p:spPr>
          <a:xfrm>
            <a:off x="3228196" y="2134674"/>
            <a:ext cx="813911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修改元组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元组中的元素值是不允许修改的，但我们可以对元组进行连接组合，如下实例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tup1 = (12, 34.56);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tup2 = ('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abc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', 'xyz')</a:t>
            </a: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#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创建一个新的元组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tup3 = tup1 + tup2;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print (tup3)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以上实例输出结果：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(12, 34.56, '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abc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', 'xyz')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532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2318" y="343293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元组类型操作</a:t>
            </a:r>
          </a:p>
        </p:txBody>
      </p:sp>
      <p:sp>
        <p:nvSpPr>
          <p:cNvPr id="4" name="矩形 3"/>
          <p:cNvSpPr/>
          <p:nvPr/>
        </p:nvSpPr>
        <p:spPr>
          <a:xfrm>
            <a:off x="3228196" y="2332794"/>
            <a:ext cx="813911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删除元组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元组中的元素值是不允许删除的，但我们可以使用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del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语句来删除整个元组，如下实例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tup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= ('Google', '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Runoob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', 1997, 2000)</a:t>
            </a: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print (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tup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del 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tup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;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print ("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删除后的元组 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tup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: ")</a:t>
            </a:r>
          </a:p>
          <a:p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print (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</a:rPr>
              <a:t>tup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以上实例元组被删除后，输出变量会有异常信息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10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48" y="1240217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元组类型及操作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6447" y="2180963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元组运算符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911395"/>
              </p:ext>
            </p:extLst>
          </p:nvPr>
        </p:nvGraphicFramePr>
        <p:xfrm>
          <a:off x="1290655" y="3205163"/>
          <a:ext cx="9601200" cy="22517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54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Python </a:t>
                      </a:r>
                      <a:r>
                        <a:rPr lang="zh-CN" altLang="en-US" sz="2400" u="none" strike="noStrike" dirty="0">
                          <a:effectLst/>
                        </a:rPr>
                        <a:t>表达式</a:t>
                      </a:r>
                      <a:endParaRPr lang="zh-CN" altLang="en-US" sz="24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u="none" strike="noStrike">
                          <a:effectLst/>
                        </a:rPr>
                        <a:t>结果</a:t>
                      </a:r>
                      <a:endParaRPr lang="zh-CN" altLang="en-US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 err="1">
                          <a:effectLst/>
                        </a:rPr>
                        <a:t>len</a:t>
                      </a:r>
                      <a:r>
                        <a:rPr lang="en-US" sz="2400" u="none" strike="noStrike" dirty="0">
                          <a:effectLst/>
                        </a:rPr>
                        <a:t>((1, 2, 3))</a:t>
                      </a:r>
                      <a:endParaRPr 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u="none" strike="noStrike">
                          <a:effectLst/>
                        </a:rPr>
                        <a:t>3</a:t>
                      </a:r>
                      <a:endParaRPr lang="en-US" altLang="zh-CN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u="none" strike="noStrike" dirty="0">
                          <a:effectLst/>
                        </a:rPr>
                        <a:t>(1, 2, 3) + (4, 5, 6)</a:t>
                      </a:r>
                      <a:endParaRPr lang="en-US" altLang="zh-CN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u="none" strike="noStrike">
                          <a:effectLst/>
                        </a:rPr>
                        <a:t>(1, 2, 3, 4, 5, 6)</a:t>
                      </a:r>
                      <a:endParaRPr lang="en-US" altLang="zh-CN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('Hi!',) * 4</a:t>
                      </a:r>
                      <a:endParaRPr 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>
                          <a:effectLst/>
                        </a:rPr>
                        <a:t>('Hi!', 'Hi!', 'Hi!', 'Hi!')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 in (1, 2, 3)</a:t>
                      </a:r>
                      <a:endParaRPr 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>
                          <a:effectLst/>
                        </a:rPr>
                        <a:t>TRUE</a:t>
                      </a:r>
                      <a:endParaRPr lang="en-US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for x in (1, 2, 3): print (x,)</a:t>
                      </a:r>
                      <a:endParaRPr lang="en-US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u="none" strike="noStrike" dirty="0">
                          <a:effectLst/>
                        </a:rPr>
                        <a:t>1 2 3</a:t>
                      </a:r>
                      <a:endParaRPr lang="en-US" altLang="zh-CN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17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940666" y="1166158"/>
            <a:ext cx="4301177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序列类型应用场景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7735" y="2738735"/>
            <a:ext cx="105870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元组用于元素不改变的应用场景，更多用于固定搭配场景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如数据保护，将列表类型转换成元组类型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= tuple(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ls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列表更加灵活，它是最常用的序列类型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最主要作用：表示一组有序数据，进而操作它们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如元素遍历，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for item in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ls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lt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):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语句块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</a:t>
            </a: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135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96347" y="2152140"/>
            <a:ext cx="3789820" cy="2573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列表与元组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400" b="1" dirty="0">
                <a:solidFill>
                  <a:srgbClr val="0084B4"/>
                </a:solidFill>
                <a:latin typeface="+mn-ea"/>
              </a:rPr>
              <a:t>2.2 </a:t>
            </a:r>
            <a:r>
              <a:rPr lang="zh-CN" altLang="en-US" sz="4400" b="1" dirty="0">
                <a:solidFill>
                  <a:srgbClr val="0084B4"/>
                </a:solidFill>
                <a:latin typeface="+mn-ea"/>
              </a:rPr>
              <a:t>字典</a:t>
            </a:r>
            <a:endParaRPr lang="en-US" altLang="zh-CN" sz="4400" b="1" dirty="0">
              <a:solidFill>
                <a:srgbClr val="0084B4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679315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03844" y="2598613"/>
            <a:ext cx="4932761" cy="2252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字典类型定义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字典处理函数及方法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字典类型应用场景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82015" y="1235388"/>
            <a:ext cx="121379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173316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0" y="1294745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69586" y="2397459"/>
            <a:ext cx="8443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通过任意键信息查找一组数据中值信息的过程叫映射</a:t>
            </a:r>
          </a:p>
        </p:txBody>
      </p:sp>
      <p:sp>
        <p:nvSpPr>
          <p:cNvPr id="4" name="矩形 3"/>
          <p:cNvSpPr/>
          <p:nvPr/>
        </p:nvSpPr>
        <p:spPr>
          <a:xfrm>
            <a:off x="1869586" y="3231118"/>
            <a:ext cx="6271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映射是一种键(索引)和值(数据)的对应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34001" y="4236227"/>
            <a:ext cx="6609524" cy="1971429"/>
          </a:xfrm>
          <a:prstGeom prst="rect">
            <a:avLst/>
          </a:prstGeom>
        </p:spPr>
      </p:pic>
      <p:sp>
        <p:nvSpPr>
          <p:cNvPr id="10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093607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0" y="1294745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69586" y="2397459"/>
            <a:ext cx="650851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键值对：键是数据索引的扩展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字典是键值对的集合，键值对之间无序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07758" y="3947667"/>
            <a:ext cx="9948862" cy="2146465"/>
          </a:xfrm>
          <a:prstGeom prst="rect">
            <a:avLst/>
          </a:prstGeom>
        </p:spPr>
      </p:pic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703938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0" y="1294745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00092" y="2105449"/>
            <a:ext cx="1021092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键必须是唯一的，但值则不必。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值可以取任何数据类型，但键必须是不可变的，如字符串，数字或元组。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0092" y="4092372"/>
            <a:ext cx="92583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采用大括号{}和dict()创建，键值对用冒号: 表示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{&lt;键1&gt;:&lt;值1&gt;, &lt;键2&gt;:&lt;值2&gt;, … , &lt;键n&gt;:&lt;值n&gt;}</a:t>
            </a:r>
          </a:p>
        </p:txBody>
      </p:sp>
      <p:sp>
        <p:nvSpPr>
          <p:cNvPr id="6" name="矩形 5"/>
          <p:cNvSpPr/>
          <p:nvPr/>
        </p:nvSpPr>
        <p:spPr>
          <a:xfrm>
            <a:off x="1100092" y="5769159"/>
            <a:ext cx="6927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dict = {'Alice': '2341', 'Beth': '9102', 'Cecil': '3258'}</a:t>
            </a:r>
          </a:p>
        </p:txBody>
      </p:sp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354543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0" y="1294745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2020" y="2121931"/>
            <a:ext cx="10408920" cy="1645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在字典变量中，通过键获得值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值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 =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字典变量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&gt;[&lt;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键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&gt;]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通过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字典变量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&gt;[&lt;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键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&gt;] =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值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&gt;[ ]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用来向字典变量中索引或增加元素</a:t>
            </a:r>
          </a:p>
        </p:txBody>
      </p:sp>
      <p:sp>
        <p:nvSpPr>
          <p:cNvPr id="2" name="矩形 1"/>
          <p:cNvSpPr/>
          <p:nvPr/>
        </p:nvSpPr>
        <p:spPr>
          <a:xfrm>
            <a:off x="2118234" y="3835886"/>
            <a:ext cx="80925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&gt;&gt;&gt; dict = {'Alice': '2341', 'Beth': '9102', 'Cecil': '3258'}</a:t>
            </a:r>
          </a:p>
          <a:p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&gt;&gt;&gt; dict["Alice"]</a:t>
            </a:r>
          </a:p>
          <a:p>
            <a:r>
              <a:rPr lang="zh-CN" altLang="en-US" sz="2000" dirty="0">
                <a:solidFill>
                  <a:srgbClr val="0070C0"/>
                </a:solidFill>
              </a:rPr>
              <a:t>'2341‘</a:t>
            </a:r>
            <a:endParaRPr lang="en-US" altLang="zh-CN" sz="2000" dirty="0">
              <a:solidFill>
                <a:srgbClr val="0070C0"/>
              </a:solidFill>
            </a:endParaRPr>
          </a:p>
          <a:p>
            <a:endParaRPr lang="zh-CN" alt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&gt;&gt;&gt; dict['Tom']='4554'</a:t>
            </a:r>
          </a:p>
          <a:p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&gt;&gt;&gt; dict</a:t>
            </a:r>
          </a:p>
          <a:p>
            <a:r>
              <a:rPr lang="zh-CN" altLang="en-US" sz="2000" dirty="0">
                <a:solidFill>
                  <a:srgbClr val="0070C0"/>
                </a:solidFill>
              </a:rPr>
              <a:t>{'Alice': '2341', 'Beth': '9102', 'Cecil': '3258', 'Tom': '4554'}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275194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6" y="1209032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33991" y="2581446"/>
            <a:ext cx="10226833" cy="3405017"/>
          </a:xfrm>
          <a:prstGeom prst="rect">
            <a:avLst/>
          </a:prstGeom>
        </p:spPr>
      </p:pic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9346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6" y="1209032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3955" y="2085678"/>
            <a:ext cx="103879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 = { "中国":"北京" , "美国":"华盛顿" , "法国":"巴黎" }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"中国" in d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True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d.keys()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dict_keys(['中国', '美国', '法国'])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d.values()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dict_values(['北京', '华盛顿', '巴黎'])</a:t>
            </a: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43954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6" y="1209032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86352" y="2514769"/>
            <a:ext cx="10158349" cy="3343106"/>
          </a:xfrm>
          <a:prstGeom prst="rect">
            <a:avLst/>
          </a:prstGeom>
        </p:spPr>
      </p:pic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8625483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6" y="1209032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字典处理函数及方法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8220" y="2227600"/>
            <a:ext cx="106527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 = { "中国":"北京" , "美国":"华盛顿" , "法国":"巴黎" }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d.get( "中国","伊斯兰堡" 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'北京</a:t>
            </a:r>
            <a:r>
              <a:rPr lang="en-US" altLang="zh-CN" sz="2800" dirty="0">
                <a:solidFill>
                  <a:srgbClr val="0070C0"/>
                </a:solidFill>
              </a:rPr>
              <a:t>’</a:t>
            </a: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d.get( "巴基斯坦","伊斯兰堡" 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'伊斯兰堡</a:t>
            </a:r>
            <a:r>
              <a:rPr lang="en-US" altLang="zh-CN" sz="2800" dirty="0">
                <a:solidFill>
                  <a:srgbClr val="0070C0"/>
                </a:solidFill>
              </a:rPr>
              <a:t>’</a:t>
            </a: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d.popitem()</a:t>
            </a:r>
          </a:p>
          <a:p>
            <a:r>
              <a:rPr lang="zh-CN" altLang="en-US" sz="2800" dirty="0">
                <a:solidFill>
                  <a:srgbClr val="0070C0"/>
                </a:solidFill>
              </a:rPr>
              <a:t>('美国', '华盛顿')</a:t>
            </a: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090815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83386" y="1209032"/>
            <a:ext cx="4301177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字典类型应用场景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43904" y="2570500"/>
            <a:ext cx="887172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映射无处不在，键值对无处不在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例如：统计数据出现的次数，数据是键，次数是值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最主要作用：表达键值对数据，进而操作它们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562716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96347" y="2223577"/>
            <a:ext cx="3789820" cy="2573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列表与元组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字典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400" b="1" dirty="0">
                <a:solidFill>
                  <a:srgbClr val="0084B4"/>
                </a:solidFill>
                <a:latin typeface="+mn-ea"/>
              </a:rPr>
              <a:t>2.3 </a:t>
            </a:r>
            <a:r>
              <a:rPr lang="zh-CN" altLang="en-US" sz="4400" b="1" dirty="0">
                <a:solidFill>
                  <a:srgbClr val="0084B4"/>
                </a:solidFill>
                <a:latin typeface="+mn-ea"/>
              </a:rPr>
              <a:t>集合</a:t>
            </a:r>
            <a:endParaRPr lang="en-US" altLang="zh-CN" sz="4400" b="1" dirty="0">
              <a:solidFill>
                <a:srgbClr val="0084B4"/>
              </a:solidFill>
              <a:latin typeface="+mn-ea"/>
            </a:endParaRPr>
          </a:p>
        </p:txBody>
      </p:sp>
      <p:sp>
        <p:nvSpPr>
          <p:cNvPr id="5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2712010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6754" y="2451325"/>
            <a:ext cx="4467890" cy="29731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集合类型定义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集合操作符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集合处理方法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集合类型应用场景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7483" y="1235388"/>
            <a:ext cx="121379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6091409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集合类型定义</a:t>
            </a:r>
          </a:p>
        </p:txBody>
      </p:sp>
      <p:sp>
        <p:nvSpPr>
          <p:cNvPr id="2" name="矩形 1"/>
          <p:cNvSpPr/>
          <p:nvPr/>
        </p:nvSpPr>
        <p:spPr>
          <a:xfrm>
            <a:off x="1801041" y="3111413"/>
            <a:ext cx="88717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集合类型与数学中的集合概念一致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集合元素之间无序，每个元素唯一，不存在相同元素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集合元素不可更改，不能是可变数据类型</a:t>
            </a:r>
          </a:p>
        </p:txBody>
      </p:sp>
      <p:sp>
        <p:nvSpPr>
          <p:cNvPr id="4" name="矩形 3"/>
          <p:cNvSpPr/>
          <p:nvPr/>
        </p:nvSpPr>
        <p:spPr>
          <a:xfrm>
            <a:off x="3844488" y="2295286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集合是多个元素的无序组合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5487526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集合类型定义</a:t>
            </a:r>
          </a:p>
        </p:txBody>
      </p:sp>
      <p:sp>
        <p:nvSpPr>
          <p:cNvPr id="2" name="矩形 1"/>
          <p:cNvSpPr/>
          <p:nvPr/>
        </p:nvSpPr>
        <p:spPr>
          <a:xfrm>
            <a:off x="1801041" y="3111413"/>
            <a:ext cx="88717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集合用大括号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{}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表示，元素间用逗号分隔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建立集合类型用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{}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或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set()</a:t>
            </a:r>
          </a:p>
          <a:p>
            <a:pPr marL="457200" indent="-457200">
              <a:buFontTx/>
              <a:buChar char="-"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建立空集合类型，必须使用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set()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44488" y="2295286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集合是多个元素的无序组合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096921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集合类型定义</a:t>
            </a:r>
          </a:p>
        </p:txBody>
      </p:sp>
      <p:sp>
        <p:nvSpPr>
          <p:cNvPr id="5" name="矩形 4"/>
          <p:cNvSpPr/>
          <p:nvPr/>
        </p:nvSpPr>
        <p:spPr>
          <a:xfrm>
            <a:off x="843848" y="1990486"/>
            <a:ext cx="10510058" cy="1677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由于集合元素是无序的，集合的打印效果与定义顺序可以不一致。由于集合元素独一无二，使用集合类型能够过滤掉重复元素。set(x)函数可以用于生成集合</a:t>
            </a:r>
          </a:p>
        </p:txBody>
      </p:sp>
      <p:sp>
        <p:nvSpPr>
          <p:cNvPr id="6" name="矩形 5"/>
          <p:cNvSpPr/>
          <p:nvPr/>
        </p:nvSpPr>
        <p:spPr>
          <a:xfrm>
            <a:off x="3112420" y="3438762"/>
            <a:ext cx="712886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</a:rPr>
              <a:t>&gt;&gt;&gt;S = {425, "BIT", (10, "CS"), 424}</a:t>
            </a:r>
          </a:p>
          <a:p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</a:rPr>
              <a:t>&gt;&gt;&gt;S</a:t>
            </a:r>
          </a:p>
          <a:p>
            <a:r>
              <a:rPr lang="en-US" altLang="zh-CN" sz="2200" dirty="0">
                <a:solidFill>
                  <a:srgbClr val="0070C0"/>
                </a:solidFill>
              </a:rPr>
              <a:t>{424, 425, (10, 'CS'), 'BIT'}</a:t>
            </a:r>
          </a:p>
          <a:p>
            <a:endParaRPr lang="en-US" altLang="zh-CN" sz="22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</a:rPr>
              <a:t>&gt;&gt;&gt;W = set(‘apple’)</a:t>
            </a:r>
          </a:p>
          <a:p>
            <a:r>
              <a:rPr lang="zh-CN" altLang="en-US" sz="2200" dirty="0">
                <a:solidFill>
                  <a:srgbClr val="0070C0"/>
                </a:solidFill>
              </a:rPr>
              <a:t>{'e', 'p', 'a', 'l'}</a:t>
            </a:r>
          </a:p>
          <a:p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</a:rPr>
              <a:t>&gt;&gt;&gt;V = set(( "cat", "dog", "tiger", "human" ))</a:t>
            </a:r>
          </a:p>
          <a:p>
            <a:r>
              <a:rPr lang="zh-CN" altLang="en-US" sz="2200" dirty="0">
                <a:solidFill>
                  <a:srgbClr val="0070C0"/>
                </a:solidFill>
              </a:rPr>
              <a:t>{'cat', 'human', 'dog', 'tiger'}</a:t>
            </a:r>
          </a:p>
        </p:txBody>
      </p:sp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3503813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集合操作符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39458" y="2295525"/>
            <a:ext cx="8421322" cy="3638338"/>
          </a:xfrm>
          <a:prstGeom prst="rect">
            <a:avLst/>
          </a:prstGeom>
        </p:spPr>
      </p:pic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6096331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集合操作符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1455" y="2720538"/>
            <a:ext cx="8832725" cy="33948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05995" y="2072613"/>
            <a:ext cx="1821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6个操作符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6266404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集合操作符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33953" y="3119578"/>
            <a:ext cx="9219947" cy="250969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05403" y="2273502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4个增强操作符</a:t>
            </a: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7827959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集合操作符</a:t>
            </a:r>
          </a:p>
        </p:txBody>
      </p:sp>
      <p:sp>
        <p:nvSpPr>
          <p:cNvPr id="4" name="矩形 3"/>
          <p:cNvSpPr/>
          <p:nvPr/>
        </p:nvSpPr>
        <p:spPr>
          <a:xfrm>
            <a:off x="1803567" y="200237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A = {"p", "y" , 123}</a:t>
            </a: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B = set("pypy123")</a:t>
            </a:r>
          </a:p>
        </p:txBody>
      </p:sp>
      <p:sp>
        <p:nvSpPr>
          <p:cNvPr id="6" name="矩形 5"/>
          <p:cNvSpPr/>
          <p:nvPr/>
        </p:nvSpPr>
        <p:spPr>
          <a:xfrm>
            <a:off x="1773087" y="31826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A-B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{123}</a:t>
            </a:r>
            <a:endParaRPr lang="en-US" altLang="zh-CN" sz="2400" dirty="0">
              <a:solidFill>
                <a:srgbClr val="0070C0"/>
              </a:solidFill>
            </a:endParaRPr>
          </a:p>
          <a:p>
            <a:endParaRPr lang="zh-CN" altLang="en-US" sz="2400" dirty="0">
              <a:solidFill>
                <a:srgbClr val="0070C0"/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B-A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{'3', '1', '2'}</a:t>
            </a:r>
            <a:endParaRPr lang="en-US" altLang="zh-CN" sz="2400" dirty="0">
              <a:solidFill>
                <a:srgbClr val="0070C0"/>
              </a:solidFill>
            </a:endParaRP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A&amp;B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{'p', 'y'}</a:t>
            </a: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91862" y="3472720"/>
            <a:ext cx="41751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A|B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{'1', 'p', '2', 'y', '3', 123}</a:t>
            </a: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&gt;&gt;&gt; A^B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{'2', 123, '3', '1'}</a:t>
            </a:r>
          </a:p>
        </p:txBody>
      </p:sp>
      <p:sp>
        <p:nvSpPr>
          <p:cNvPr id="10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0222165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集合处理方法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6753" y="2602518"/>
            <a:ext cx="10276162" cy="3398232"/>
          </a:xfrm>
          <a:prstGeom prst="rect">
            <a:avLst/>
          </a:prstGeom>
        </p:spPr>
      </p:pic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19390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55232" y="1223320"/>
            <a:ext cx="3272050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集合处理方法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25583" y="2682860"/>
            <a:ext cx="10218679" cy="3332178"/>
          </a:xfrm>
          <a:prstGeom prst="rect">
            <a:avLst/>
          </a:prstGeom>
        </p:spPr>
      </p:pic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0204815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97950" y="1194821"/>
            <a:ext cx="37866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集合的应用场景</a:t>
            </a:r>
          </a:p>
        </p:txBody>
      </p:sp>
      <p:sp>
        <p:nvSpPr>
          <p:cNvPr id="4" name="矩形 3"/>
          <p:cNvSpPr/>
          <p:nvPr/>
        </p:nvSpPr>
        <p:spPr>
          <a:xfrm>
            <a:off x="1657692" y="2061237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包含关系比较：</a:t>
            </a:r>
          </a:p>
        </p:txBody>
      </p:sp>
      <p:sp>
        <p:nvSpPr>
          <p:cNvPr id="5" name="矩形 4"/>
          <p:cNvSpPr/>
          <p:nvPr/>
        </p:nvSpPr>
        <p:spPr>
          <a:xfrm>
            <a:off x="3043257" y="252290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&gt;&gt;&gt; "p" in {"p", "y" , 123}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True</a:t>
            </a:r>
          </a:p>
        </p:txBody>
      </p:sp>
      <p:sp>
        <p:nvSpPr>
          <p:cNvPr id="6" name="矩形 5"/>
          <p:cNvSpPr/>
          <p:nvPr/>
        </p:nvSpPr>
        <p:spPr>
          <a:xfrm>
            <a:off x="1643404" y="3514186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数据去重：集合类型所有元素无重复</a:t>
            </a:r>
          </a:p>
        </p:txBody>
      </p:sp>
      <p:sp>
        <p:nvSpPr>
          <p:cNvPr id="7" name="矩形 6"/>
          <p:cNvSpPr/>
          <p:nvPr/>
        </p:nvSpPr>
        <p:spPr>
          <a:xfrm>
            <a:off x="3043256" y="3960611"/>
            <a:ext cx="81276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&gt;&gt;&gt; ls = ["p", "p", "y", "y", 123]</a:t>
            </a:r>
          </a:p>
          <a:p>
            <a:r>
              <a:rPr lang="zh-CN" altLang="en-US" sz="2400" dirty="0"/>
              <a:t>&gt;&gt;&gt; s = set(ls) # 利用了集合无重复元素的特点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{'p', 'y', 123}</a:t>
            </a:r>
            <a:endParaRPr lang="en-US" altLang="zh-CN" sz="2400" dirty="0">
              <a:solidFill>
                <a:srgbClr val="0070C0"/>
              </a:solidFill>
            </a:endParaRPr>
          </a:p>
          <a:p>
            <a:endParaRPr lang="zh-CN" altLang="en-US" sz="2400" dirty="0"/>
          </a:p>
          <a:p>
            <a:r>
              <a:rPr lang="zh-CN" altLang="en-US" sz="2400" dirty="0"/>
              <a:t>&gt;&gt;&gt; lt = list(s) # 还可以将集合转换为列表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['p', 'y', 123]</a:t>
            </a:r>
          </a:p>
        </p:txBody>
      </p:sp>
      <p:sp>
        <p:nvSpPr>
          <p:cNvPr id="10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2915775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712514" y="1209032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可变类型的拷贝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6344" y="2584787"/>
            <a:ext cx="100298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zh-CN" altLang="en-US" sz="2800" dirty="0">
                <a:latin typeface="+mn-ea"/>
              </a:rPr>
              <a:t>直接赋值：其实就是对象的引用（别名）</a:t>
            </a:r>
            <a:endParaRPr lang="en-US" altLang="zh-CN" sz="2800" dirty="0">
              <a:latin typeface="+mn-ea"/>
            </a:endParaRPr>
          </a:p>
          <a:p>
            <a:pPr latinLnBrk="1"/>
            <a:endParaRPr lang="zh-CN" altLang="en-US" sz="2800" dirty="0">
              <a:latin typeface="+mn-ea"/>
            </a:endParaRPr>
          </a:p>
          <a:p>
            <a:pPr latinLnBrk="1"/>
            <a:r>
              <a:rPr lang="zh-CN" altLang="en-US" sz="2800" dirty="0">
                <a:latin typeface="+mn-ea"/>
              </a:rPr>
              <a:t>浅拷贝</a:t>
            </a:r>
            <a:r>
              <a:rPr lang="en-US" altLang="zh-CN" sz="2800" dirty="0">
                <a:latin typeface="+mn-ea"/>
              </a:rPr>
              <a:t>(copy)</a:t>
            </a:r>
            <a:r>
              <a:rPr lang="zh-CN" altLang="en-US" sz="2800" dirty="0">
                <a:latin typeface="+mn-ea"/>
              </a:rPr>
              <a:t>：拷贝父对象，不会拷贝对象的内部的子对象</a:t>
            </a:r>
            <a:endParaRPr lang="en-US" altLang="zh-CN" sz="2800" dirty="0">
              <a:latin typeface="+mn-ea"/>
            </a:endParaRPr>
          </a:p>
          <a:p>
            <a:pPr latinLnBrk="1"/>
            <a:endParaRPr lang="zh-CN" altLang="en-US" sz="2800" dirty="0">
              <a:latin typeface="+mn-ea"/>
            </a:endParaRPr>
          </a:p>
          <a:p>
            <a:pPr latinLnBrk="1"/>
            <a:r>
              <a:rPr lang="zh-CN" altLang="en-US" sz="2800" dirty="0">
                <a:latin typeface="+mn-ea"/>
              </a:rPr>
              <a:t>深拷贝</a:t>
            </a: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 err="1">
                <a:latin typeface="+mn-ea"/>
              </a:rPr>
              <a:t>deepcopy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：</a:t>
            </a:r>
            <a:r>
              <a:rPr lang="en-US" altLang="zh-CN" sz="2800" dirty="0">
                <a:latin typeface="+mn-ea"/>
              </a:rPr>
              <a:t>copy </a:t>
            </a:r>
            <a:r>
              <a:rPr lang="zh-CN" altLang="en-US" sz="2800" dirty="0">
                <a:latin typeface="+mn-ea"/>
              </a:rPr>
              <a:t>模块的 </a:t>
            </a:r>
            <a:r>
              <a:rPr lang="en-US" altLang="zh-CN" sz="2800" dirty="0" err="1">
                <a:latin typeface="+mn-ea"/>
              </a:rPr>
              <a:t>deepcopy</a:t>
            </a:r>
            <a:r>
              <a:rPr lang="en-US" altLang="zh-CN" sz="2800" dirty="0">
                <a:latin typeface="+mn-ea"/>
              </a:rPr>
              <a:t> </a:t>
            </a:r>
            <a:r>
              <a:rPr lang="zh-CN" altLang="en-US" sz="2800" dirty="0">
                <a:latin typeface="+mn-ea"/>
              </a:rPr>
              <a:t>方法，完全拷贝了父对象及其子对象</a:t>
            </a: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1517416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712514" y="1209032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可变类型的拷贝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31350" y="3598674"/>
            <a:ext cx="4045872" cy="2520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51943" y="2100013"/>
            <a:ext cx="104070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b = a: 赋值引用，a 和 b 都指向同一个对象。</a:t>
            </a:r>
            <a:endParaRPr lang="en-US" altLang="zh-CN" sz="2400" dirty="0"/>
          </a:p>
          <a:p>
            <a:r>
              <a:rPr lang="en-US" altLang="zh-CN" sz="2400" dirty="0"/>
              <a:t>b = </a:t>
            </a:r>
            <a:r>
              <a:rPr lang="en-US" altLang="zh-CN" sz="2400" dirty="0" err="1"/>
              <a:t>a.copy</a:t>
            </a:r>
            <a:r>
              <a:rPr lang="en-US" altLang="zh-CN" sz="2400" dirty="0"/>
              <a:t>(): </a:t>
            </a:r>
            <a:r>
              <a:rPr lang="zh-CN" altLang="en-US" sz="2400" dirty="0"/>
              <a:t>浅拷贝</a:t>
            </a:r>
            <a:r>
              <a:rPr lang="en-US" altLang="zh-CN" sz="2400" dirty="0"/>
              <a:t>, a </a:t>
            </a:r>
            <a:r>
              <a:rPr lang="zh-CN" altLang="en-US" sz="2400" dirty="0"/>
              <a:t>和 </a:t>
            </a:r>
            <a:r>
              <a:rPr lang="en-US" altLang="zh-CN" sz="2400" dirty="0"/>
              <a:t>b </a:t>
            </a:r>
            <a:r>
              <a:rPr lang="zh-CN" altLang="en-US" sz="2400" dirty="0"/>
              <a:t>是一个独立的对象，但他们的子对象还是指向统一对象（是引用）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88579" y="3577720"/>
            <a:ext cx="3961525" cy="2520000"/>
          </a:xfrm>
          <a:prstGeom prst="rect">
            <a:avLst/>
          </a:prstGeom>
        </p:spPr>
      </p:pic>
      <p:sp>
        <p:nvSpPr>
          <p:cNvPr id="11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2825145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712514" y="1209032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可变类型的拷贝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1943" y="2100013"/>
            <a:ext cx="104070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b = </a:t>
            </a:r>
            <a:r>
              <a:rPr lang="en-US" altLang="zh-CN" sz="2400" dirty="0" err="1"/>
              <a:t>copy.deepcopy</a:t>
            </a:r>
            <a:r>
              <a:rPr lang="en-US" altLang="zh-CN" sz="2400" dirty="0"/>
              <a:t>(a): </a:t>
            </a:r>
            <a:r>
              <a:rPr lang="zh-CN" altLang="en-US" sz="2400" dirty="0"/>
              <a:t>深度拷贝</a:t>
            </a:r>
            <a:r>
              <a:rPr lang="en-US" altLang="zh-CN" sz="2400" dirty="0"/>
              <a:t>, a </a:t>
            </a:r>
            <a:r>
              <a:rPr lang="zh-CN" altLang="en-US" sz="2400" dirty="0"/>
              <a:t>和 </a:t>
            </a:r>
            <a:r>
              <a:rPr lang="en-US" altLang="zh-CN" sz="2400" dirty="0"/>
              <a:t>b </a:t>
            </a:r>
            <a:r>
              <a:rPr lang="zh-CN" altLang="en-US" sz="2400" dirty="0"/>
              <a:t>完全拷贝了父对象及其子对象，两者是完全独立的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11935" y="3081492"/>
            <a:ext cx="4673825" cy="2881606"/>
          </a:xfrm>
          <a:prstGeom prst="rect">
            <a:avLst/>
          </a:prstGeom>
        </p:spPr>
      </p:pic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79863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712514" y="1209032"/>
            <a:ext cx="378661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可变类型的拷贝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5085" y="1903542"/>
            <a:ext cx="1017771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/>
              <a:t>import copy</a:t>
            </a:r>
          </a:p>
          <a:p>
            <a:r>
              <a:rPr lang="en-US" altLang="zh-CN" sz="2200" dirty="0"/>
              <a:t>a = [1, 2, 3, 4, ['a', 'b']]    #</a:t>
            </a:r>
            <a:r>
              <a:rPr lang="zh-CN" altLang="en-US" sz="2200" dirty="0"/>
              <a:t>原始对象  </a:t>
            </a:r>
          </a:p>
          <a:p>
            <a:r>
              <a:rPr lang="en-US" altLang="zh-CN" sz="2200" dirty="0"/>
              <a:t>b = a                               #</a:t>
            </a:r>
            <a:r>
              <a:rPr lang="zh-CN" altLang="en-US" sz="2200" dirty="0"/>
              <a:t>赋值，传对象的引用</a:t>
            </a:r>
          </a:p>
          <a:p>
            <a:r>
              <a:rPr lang="en-US" altLang="zh-CN" sz="2200" dirty="0"/>
              <a:t>c = </a:t>
            </a:r>
            <a:r>
              <a:rPr lang="en-US" altLang="zh-CN" sz="2200" dirty="0" err="1"/>
              <a:t>copy.copy</a:t>
            </a:r>
            <a:r>
              <a:rPr lang="en-US" altLang="zh-CN" sz="2200" dirty="0"/>
              <a:t>(a)              #</a:t>
            </a:r>
            <a:r>
              <a:rPr lang="zh-CN" altLang="en-US" sz="2200" dirty="0"/>
              <a:t>对象拷贝，浅拷贝</a:t>
            </a:r>
          </a:p>
          <a:p>
            <a:r>
              <a:rPr lang="en-US" altLang="zh-CN" sz="2200" dirty="0"/>
              <a:t>d = </a:t>
            </a:r>
            <a:r>
              <a:rPr lang="en-US" altLang="zh-CN" sz="2200" dirty="0" err="1"/>
              <a:t>copy.deepcopy</a:t>
            </a:r>
            <a:r>
              <a:rPr lang="en-US" altLang="zh-CN" sz="2200" dirty="0"/>
              <a:t>(a)       #</a:t>
            </a:r>
            <a:r>
              <a:rPr lang="zh-CN" altLang="en-US" sz="2200" dirty="0"/>
              <a:t>对象拷贝，深拷贝</a:t>
            </a:r>
          </a:p>
          <a:p>
            <a:r>
              <a:rPr lang="en-US" altLang="zh-CN" sz="2200" dirty="0" err="1"/>
              <a:t>a.append</a:t>
            </a:r>
            <a:r>
              <a:rPr lang="en-US" altLang="zh-CN" sz="2200" dirty="0"/>
              <a:t>(5)                     #</a:t>
            </a:r>
            <a:r>
              <a:rPr lang="zh-CN" altLang="en-US" sz="2200" dirty="0"/>
              <a:t>修改对象</a:t>
            </a:r>
            <a:r>
              <a:rPr lang="en-US" altLang="zh-CN" sz="2200" dirty="0"/>
              <a:t>a</a:t>
            </a:r>
          </a:p>
          <a:p>
            <a:r>
              <a:rPr lang="en-US" altLang="zh-CN" sz="2200" dirty="0"/>
              <a:t>a[4].append('c')               #</a:t>
            </a:r>
            <a:r>
              <a:rPr lang="zh-CN" altLang="en-US" sz="2200" dirty="0"/>
              <a:t>修改对象</a:t>
            </a:r>
            <a:r>
              <a:rPr lang="en-US" altLang="zh-CN" sz="2200" dirty="0"/>
              <a:t>a</a:t>
            </a:r>
            <a:r>
              <a:rPr lang="zh-CN" altLang="en-US" sz="2200" dirty="0"/>
              <a:t>中的</a:t>
            </a:r>
            <a:r>
              <a:rPr lang="en-US" altLang="zh-CN" sz="2200" dirty="0"/>
              <a:t>['a', 'b']</a:t>
            </a:r>
            <a:r>
              <a:rPr lang="zh-CN" altLang="en-US" sz="2200" dirty="0"/>
              <a:t>数组对象</a:t>
            </a:r>
          </a:p>
          <a:p>
            <a:r>
              <a:rPr lang="zh-CN" altLang="en-US" sz="2200" dirty="0"/>
              <a:t>  </a:t>
            </a:r>
          </a:p>
          <a:p>
            <a:r>
              <a:rPr lang="en-US" altLang="zh-CN" sz="2200" dirty="0"/>
              <a:t>print( 'a = ', a )</a:t>
            </a:r>
          </a:p>
          <a:p>
            <a:r>
              <a:rPr lang="en-US" altLang="zh-CN" sz="2200" dirty="0"/>
              <a:t>print( 'b = ', b )</a:t>
            </a:r>
          </a:p>
          <a:p>
            <a:r>
              <a:rPr lang="en-US" altLang="zh-CN" sz="2200" dirty="0"/>
              <a:t>print( 'c = ', c )</a:t>
            </a:r>
          </a:p>
          <a:p>
            <a:r>
              <a:rPr lang="en-US" altLang="zh-CN" sz="2200" dirty="0"/>
              <a:t>print( 'd = ', d )</a:t>
            </a:r>
            <a:endParaRPr lang="zh-CN" altLang="en-US" sz="2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87630" y="4663878"/>
            <a:ext cx="4737013" cy="1504899"/>
          </a:xfrm>
          <a:prstGeom prst="rect">
            <a:avLst/>
          </a:prstGeom>
        </p:spPr>
      </p:pic>
      <p:sp>
        <p:nvSpPr>
          <p:cNvPr id="8" name="文本框 2"/>
          <p:cNvSpPr txBox="1"/>
          <p:nvPr>
            <p:custDataLst>
              <p:tags r:id="rId2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lt"/>
                <a:ea typeface="+mj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组合数据类型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1378425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96347" y="2466464"/>
            <a:ext cx="3411511" cy="2459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dirty="0">
                <a:latin typeface="+mn-ea"/>
              </a:rPr>
              <a:t>1 </a:t>
            </a:r>
            <a:r>
              <a:rPr lang="zh-CN" altLang="en-US" sz="4400" b="1" dirty="0">
                <a:latin typeface="+mn-ea"/>
              </a:rPr>
              <a:t>列表与元组</a:t>
            </a:r>
            <a:endParaRPr lang="en-US" altLang="zh-CN" sz="44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字典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集合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2"/>
          <p:cNvSpPr txBox="1"/>
          <p:nvPr>
            <p:custDataLst>
              <p:tags r:id="rId3"/>
            </p:custDataLst>
          </p:nvPr>
        </p:nvSpPr>
        <p:spPr>
          <a:xfrm>
            <a:off x="70185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lt"/>
                <a:ea typeface="+mj-ea"/>
              </a:rPr>
              <a:t>小结</a:t>
            </a:r>
            <a:endParaRPr lang="en-US" alt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73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OTHERS"/>
  <p:tag name="ID" val="5471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NUMBER"/>
  <p:tag name="ID" val="547126"/>
  <p:tag name="MH_ORDER" val="NUMB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heme/theme1.xml><?xml version="1.0" encoding="utf-8"?>
<a:theme xmlns:a="http://schemas.openxmlformats.org/drawingml/2006/main" name="主题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9085</TotalTime>
  <Words>2685</Words>
  <Application>Microsoft Office PowerPoint</Application>
  <PresentationFormat>宽屏</PresentationFormat>
  <Paragraphs>448</Paragraphs>
  <Slides>54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1" baseType="lpstr">
      <vt:lpstr>宋体</vt:lpstr>
      <vt:lpstr>Arial</vt:lpstr>
      <vt:lpstr>Calibri</vt:lpstr>
      <vt:lpstr>Times New Roman</vt:lpstr>
      <vt:lpstr>Verdana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JH Nie</cp:lastModifiedBy>
  <cp:revision>466</cp:revision>
  <dcterms:created xsi:type="dcterms:W3CDTF">2015-09-21T02:28:00Z</dcterms:created>
  <dcterms:modified xsi:type="dcterms:W3CDTF">2025-03-15T02:50:51Z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2052-10.1.0.5420</vt:lpwstr>
  </property>
</Properties>
</file>