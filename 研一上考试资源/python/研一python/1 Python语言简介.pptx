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9" r:id="rId1"/>
  </p:sldMasterIdLst>
  <p:notesMasterIdLst>
    <p:notesMasterId r:id="rId51"/>
  </p:notesMasterIdLst>
  <p:sldIdLst>
    <p:sldId id="307" r:id="rId2"/>
    <p:sldId id="308" r:id="rId3"/>
    <p:sldId id="309" r:id="rId4"/>
    <p:sldId id="310" r:id="rId5"/>
    <p:sldId id="256" r:id="rId6"/>
    <p:sldId id="268" r:id="rId7"/>
    <p:sldId id="277" r:id="rId8"/>
    <p:sldId id="279" r:id="rId9"/>
    <p:sldId id="280" r:id="rId10"/>
    <p:sldId id="281" r:id="rId11"/>
    <p:sldId id="282" r:id="rId12"/>
    <p:sldId id="283" r:id="rId13"/>
    <p:sldId id="284" r:id="rId14"/>
    <p:sldId id="285" r:id="rId15"/>
    <p:sldId id="286" r:id="rId16"/>
    <p:sldId id="288" r:id="rId17"/>
    <p:sldId id="289" r:id="rId18"/>
    <p:sldId id="287" r:id="rId19"/>
    <p:sldId id="290" r:id="rId20"/>
    <p:sldId id="291" r:id="rId21"/>
    <p:sldId id="292" r:id="rId22"/>
    <p:sldId id="293" r:id="rId23"/>
    <p:sldId id="294" r:id="rId24"/>
    <p:sldId id="314" r:id="rId25"/>
    <p:sldId id="315" r:id="rId26"/>
    <p:sldId id="316" r:id="rId27"/>
    <p:sldId id="320" r:id="rId28"/>
    <p:sldId id="317" r:id="rId29"/>
    <p:sldId id="318" r:id="rId30"/>
    <p:sldId id="319" r:id="rId31"/>
    <p:sldId id="321" r:id="rId32"/>
    <p:sldId id="322" r:id="rId33"/>
    <p:sldId id="331" r:id="rId34"/>
    <p:sldId id="332" r:id="rId35"/>
    <p:sldId id="333" r:id="rId36"/>
    <p:sldId id="324" r:id="rId37"/>
    <p:sldId id="323" r:id="rId38"/>
    <p:sldId id="328" r:id="rId39"/>
    <p:sldId id="329" r:id="rId40"/>
    <p:sldId id="330" r:id="rId41"/>
    <p:sldId id="295" r:id="rId42"/>
    <p:sldId id="335" r:id="rId43"/>
    <p:sldId id="336" r:id="rId44"/>
    <p:sldId id="337" r:id="rId45"/>
    <p:sldId id="338" r:id="rId46"/>
    <p:sldId id="339" r:id="rId47"/>
    <p:sldId id="340" r:id="rId48"/>
    <p:sldId id="342" r:id="rId49"/>
    <p:sldId id="341" r:id="rId50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99"/>
    <a:srgbClr val="FFFF7D"/>
    <a:srgbClr val="FF0000"/>
    <a:srgbClr val="6600FF"/>
    <a:srgbClr val="66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005" autoAdjust="0"/>
    <p:restoredTop sz="84145" autoAdjust="0"/>
  </p:normalViewPr>
  <p:slideViewPr>
    <p:cSldViewPr>
      <p:cViewPr varScale="1">
        <p:scale>
          <a:sx n="93" d="100"/>
          <a:sy n="93" d="100"/>
        </p:scale>
        <p:origin x="1732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smtClean="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403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355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235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smtClean="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35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>
                <a:latin typeface="Arial" charset="0"/>
              </a:defRPr>
            </a:lvl1pPr>
          </a:lstStyle>
          <a:p>
            <a:pPr>
              <a:defRPr/>
            </a:pPr>
            <a:fld id="{A5190EA6-E6C3-41F4-A464-BC6B4006849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0157443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baike.baidu.com/item/%E7%A8%8B%E5%BA%8F%E8%AE%BE%E8%AE%A1%E8%AF%AD%E8%A8%80" TargetMode="External"/><Relationship Id="rId3" Type="http://schemas.openxmlformats.org/officeDocument/2006/relationships/hyperlink" Target="https://baike.baidu.com/item/Linux" TargetMode="External"/><Relationship Id="rId7" Type="http://schemas.openxmlformats.org/officeDocument/2006/relationships/hyperlink" Target="https://baike.baidu.com/item/%E6%8E%A7%E5%88%B6%E8%AF%AD%E5%8F%A5" TargetMode="External"/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baike.baidu.com/item/%E8%BF%90%E7%AE%97%E7%AC%A6" TargetMode="External"/><Relationship Id="rId5" Type="http://schemas.openxmlformats.org/officeDocument/2006/relationships/hyperlink" Target="https://baike.baidu.com/item/%E6%B5%81%E6%8E%A7%E5%88%B6" TargetMode="External"/><Relationship Id="rId10" Type="http://schemas.openxmlformats.org/officeDocument/2006/relationships/hyperlink" Target="https://baike.baidu.com/item/%E6%AD%A3%E5%88%99%E8%A1%A8%E8%BE%BE%E5%BC%8F/1700215" TargetMode="External"/><Relationship Id="rId4" Type="http://schemas.openxmlformats.org/officeDocument/2006/relationships/hyperlink" Target="https://baike.baidu.com/item/%E6%95%B0%E6%8D%AE%E6%93%8D%E4%BD%9C%E8%AF%AD%E8%A8%80" TargetMode="External"/><Relationship Id="rId9" Type="http://schemas.openxmlformats.org/officeDocument/2006/relationships/hyperlink" Target="https://baike.baidu.com/item/%E6%95%B0%E6%8D%AE%E6%8E%92%E5%BA%8F" TargetMode="Externa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DD17994-EB71-4460-AED2-4274D86479E0}" type="slidenum">
              <a:rPr lang="en-US" altLang="zh-CN"/>
              <a:pPr/>
              <a:t>7</a:t>
            </a:fld>
            <a:endParaRPr lang="en-US" altLang="zh-CN"/>
          </a:p>
        </p:txBody>
      </p:sp>
      <p:sp>
        <p:nvSpPr>
          <p:cNvPr id="45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US" altLang="zh-CN" dirty="0"/>
              <a:t>        </a:t>
            </a:r>
            <a:r>
              <a:rPr lang="zh-CN" altLang="en-US" dirty="0"/>
              <a:t>上周，清华大学计算机系研三学生刘鹏（化名）就收到了朋友转来的一则关于</a:t>
            </a:r>
            <a:r>
              <a:rPr lang="en-US" altLang="zh-CN" dirty="0" err="1"/>
              <a:t>Facebook</a:t>
            </a:r>
            <a:r>
              <a:rPr lang="zh-CN" altLang="en-US" dirty="0"/>
              <a:t>的招聘信息。</a:t>
            </a:r>
          </a:p>
          <a:p>
            <a:pPr eaLnBrk="1" hangingPunct="1"/>
            <a:r>
              <a:rPr lang="zh-CN" altLang="en-US" dirty="0"/>
              <a:t>        这封招聘信息称，</a:t>
            </a:r>
            <a:r>
              <a:rPr lang="en-US" altLang="zh-CN" dirty="0" err="1"/>
              <a:t>Facebook</a:t>
            </a:r>
            <a:r>
              <a:rPr lang="zh-CN" altLang="en-US" dirty="0"/>
              <a:t>今年将在全球招收约</a:t>
            </a:r>
            <a:r>
              <a:rPr lang="en-US" altLang="zh-CN" dirty="0"/>
              <a:t>900</a:t>
            </a:r>
            <a:r>
              <a:rPr lang="zh-CN" altLang="en-US" dirty="0"/>
              <a:t>位全职软件工程师，赴美国加州或西雅图工作。</a:t>
            </a:r>
          </a:p>
          <a:p>
            <a:pPr eaLnBrk="1" hangingPunct="1"/>
            <a:r>
              <a:rPr lang="zh-CN" altLang="en-US" dirty="0"/>
              <a:t> 其中大部分将从南京大学、清华大学、上海交大、复旦大学还有浙江大学这五所知名高校中选拔。</a:t>
            </a:r>
          </a:p>
          <a:p>
            <a:pPr eaLnBrk="1" hangingPunct="1"/>
            <a:r>
              <a:rPr lang="zh-CN" altLang="en-US" dirty="0"/>
              <a:t>        看上去，</a:t>
            </a:r>
            <a:r>
              <a:rPr lang="en-US" altLang="zh-CN" dirty="0" err="1"/>
              <a:t>Facebook</a:t>
            </a:r>
            <a:r>
              <a:rPr lang="zh-CN" altLang="en-US" dirty="0"/>
              <a:t>对于工程师的招聘和普通</a:t>
            </a:r>
            <a:r>
              <a:rPr lang="en-US" altLang="zh-CN" dirty="0"/>
              <a:t>IT</a:t>
            </a:r>
            <a:r>
              <a:rPr lang="zh-CN" altLang="en-US" dirty="0"/>
              <a:t>企业没什么两样，如要求有计算机学士</a:t>
            </a:r>
            <a:r>
              <a:rPr lang="en-US" altLang="zh-CN" dirty="0"/>
              <a:t>/</a:t>
            </a:r>
            <a:r>
              <a:rPr lang="zh-CN" altLang="en-US" dirty="0"/>
              <a:t>硕士</a:t>
            </a:r>
            <a:r>
              <a:rPr lang="en-US" altLang="zh-CN" dirty="0"/>
              <a:t>/</a:t>
            </a:r>
            <a:r>
              <a:rPr lang="zh-CN" altLang="en-US" dirty="0"/>
              <a:t>博士或相</a:t>
            </a:r>
          </a:p>
          <a:p>
            <a:pPr eaLnBrk="1" hangingPunct="1"/>
            <a:r>
              <a:rPr lang="zh-CN" altLang="en-US" dirty="0"/>
              <a:t>关专业毕业、熟练使用</a:t>
            </a:r>
            <a:r>
              <a:rPr lang="en-US" altLang="zh-CN" dirty="0"/>
              <a:t>C++</a:t>
            </a:r>
            <a:r>
              <a:rPr lang="zh-CN" altLang="en-US" dirty="0"/>
              <a:t>和（或）</a:t>
            </a:r>
            <a:r>
              <a:rPr lang="en-US" altLang="zh-CN" dirty="0"/>
              <a:t>Java</a:t>
            </a:r>
            <a:r>
              <a:rPr lang="zh-CN" altLang="en-US" dirty="0"/>
              <a:t>、熟悉</a:t>
            </a:r>
            <a:r>
              <a:rPr lang="en-US" altLang="zh-CN" dirty="0" err="1"/>
              <a:t>perl</a:t>
            </a:r>
            <a:r>
              <a:rPr lang="zh-CN" altLang="en-US" dirty="0"/>
              <a:t>或者</a:t>
            </a:r>
            <a:r>
              <a:rPr lang="en-US" altLang="zh-CN" dirty="0"/>
              <a:t>PHP</a:t>
            </a:r>
            <a:r>
              <a:rPr lang="zh-CN" altLang="en-US" dirty="0"/>
              <a:t>或者</a:t>
            </a:r>
            <a:r>
              <a:rPr lang="en-US" altLang="zh-CN" dirty="0"/>
              <a:t>python</a:t>
            </a:r>
            <a:r>
              <a:rPr lang="zh-CN" altLang="en-US" dirty="0"/>
              <a:t>、熟悉关系数据库和</a:t>
            </a:r>
            <a:r>
              <a:rPr lang="en-US" altLang="zh-CN" dirty="0"/>
              <a:t>SQL</a:t>
            </a:r>
            <a:r>
              <a:rPr lang="zh-CN" altLang="en-US" dirty="0"/>
              <a:t>等。但应</a:t>
            </a:r>
          </a:p>
          <a:p>
            <a:pPr eaLnBrk="1" hangingPunct="1"/>
            <a:r>
              <a:rPr lang="zh-CN" altLang="en-US" dirty="0"/>
              <a:t>聘考核非常严格：应聘者首先要经过两到三轮的电话面试，以及三轮现场面试和两轮编程技术考核。</a:t>
            </a:r>
          </a:p>
          <a:p>
            <a:pPr eaLnBrk="1" hangingPunct="1"/>
            <a:r>
              <a:rPr lang="zh-CN" altLang="en-US" dirty="0"/>
              <a:t>        不出意外，</a:t>
            </a:r>
            <a:r>
              <a:rPr lang="en-US" altLang="zh-CN" dirty="0" err="1"/>
              <a:t>Facebook</a:t>
            </a:r>
            <a:r>
              <a:rPr lang="zh-CN" altLang="en-US" dirty="0"/>
              <a:t>的报酬方面相当可观，大约是国内知名</a:t>
            </a:r>
            <a:r>
              <a:rPr lang="en-US" altLang="zh-CN" dirty="0"/>
              <a:t>IT</a:t>
            </a:r>
            <a:r>
              <a:rPr lang="zh-CN" altLang="en-US" dirty="0"/>
              <a:t>公司的</a:t>
            </a:r>
            <a:r>
              <a:rPr lang="en-US" altLang="zh-CN" dirty="0"/>
              <a:t>10</a:t>
            </a:r>
            <a:r>
              <a:rPr lang="zh-CN" altLang="en-US" dirty="0"/>
              <a:t>倍左右，表现优异的话，现金</a:t>
            </a:r>
          </a:p>
          <a:p>
            <a:pPr eaLnBrk="1" hangingPunct="1"/>
            <a:r>
              <a:rPr lang="zh-CN" altLang="en-US" dirty="0"/>
              <a:t>股票加起来有的可高达</a:t>
            </a:r>
            <a:r>
              <a:rPr lang="en-US" altLang="zh-CN" dirty="0"/>
              <a:t>20</a:t>
            </a:r>
            <a:r>
              <a:rPr lang="zh-CN" altLang="en-US" dirty="0"/>
              <a:t>万美元；其他福利和</a:t>
            </a:r>
            <a:r>
              <a:rPr lang="en-US" altLang="zh-CN" dirty="0"/>
              <a:t>Google</a:t>
            </a:r>
            <a:r>
              <a:rPr lang="zh-CN" altLang="en-US" dirty="0"/>
              <a:t>差不多，而且员工可以办赴美工作签证甚至获得美国绿卡。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CN" sz="1200" b="0" i="0" kern="1200" dirty="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rPr>
              <a:t>AWK</a:t>
            </a:r>
            <a:r>
              <a:rPr lang="zh-CN" altLang="en-US" sz="1200" b="0" i="0" kern="1200" dirty="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rPr>
              <a:t>是一种优良的文本处理工具。它不仅是 </a:t>
            </a:r>
            <a:r>
              <a:rPr lang="en-US" altLang="zh-CN" sz="1200" b="0" i="0" u="none" strike="noStrike" kern="1200" dirty="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  <a:hlinkClick r:id="rId3"/>
              </a:rPr>
              <a:t>Linux</a:t>
            </a:r>
            <a:r>
              <a:rPr lang="zh-CN" altLang="en-US" sz="1200" b="0" i="0" kern="1200" dirty="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rPr>
              <a:t> 中也是任何环境中现有的功能最强大的数据处理引擎之一。这种编程及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  <a:hlinkClick r:id="rId4"/>
              </a:rPr>
              <a:t>数据操作语言</a:t>
            </a:r>
            <a:r>
              <a:rPr lang="zh-CN" altLang="en-US" sz="1200" b="0" i="0" kern="1200" dirty="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rPr>
              <a:t>（其名称得自于它的创始人 </a:t>
            </a:r>
            <a:r>
              <a:rPr lang="en-US" altLang="zh-CN" sz="1200" b="0" i="0" kern="1200" dirty="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rPr>
              <a:t>Alfred </a:t>
            </a:r>
            <a:r>
              <a:rPr lang="en-US" altLang="zh-CN" sz="1200" b="0" i="0" kern="1200" dirty="0" err="1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rPr>
              <a:t>Aho</a:t>
            </a:r>
            <a:r>
              <a:rPr lang="en-US" altLang="zh-CN" sz="1200" b="0" i="0" kern="1200" dirty="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rPr>
              <a:t> </a:t>
            </a:r>
            <a:r>
              <a:rPr lang="zh-CN" altLang="en-US" sz="1200" b="0" i="0" kern="1200" dirty="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rPr>
              <a:t>、</a:t>
            </a:r>
            <a:r>
              <a:rPr lang="en-US" altLang="zh-CN" sz="1200" b="0" i="0" kern="1200" dirty="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rPr>
              <a:t>Peter Weinberger </a:t>
            </a:r>
            <a:r>
              <a:rPr lang="zh-CN" altLang="en-US" sz="1200" b="0" i="0" kern="1200" dirty="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rPr>
              <a:t>和 </a:t>
            </a:r>
            <a:r>
              <a:rPr lang="en-US" altLang="zh-CN" sz="1200" b="0" i="0" kern="1200" dirty="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rPr>
              <a:t>Brian Kernighan </a:t>
            </a:r>
            <a:r>
              <a:rPr lang="zh-CN" altLang="en-US" sz="1200" b="0" i="0" kern="1200" dirty="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rPr>
              <a:t>姓氏的首个字母）的最大功能取决于一个人所拥有的知识。</a:t>
            </a:r>
            <a:r>
              <a:rPr lang="en-US" altLang="zh-CN" sz="1200" b="0" i="0" kern="1200" dirty="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rPr>
              <a:t>AWK </a:t>
            </a:r>
            <a:r>
              <a:rPr lang="zh-CN" altLang="en-US" sz="1200" b="0" i="0" kern="1200" dirty="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rPr>
              <a:t>提供了极其强大的功能：可以进行样式装入、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  <a:hlinkClick r:id="rId5"/>
              </a:rPr>
              <a:t>流控制</a:t>
            </a:r>
            <a:r>
              <a:rPr lang="zh-CN" altLang="en-US" sz="1200" b="0" i="0" kern="1200" dirty="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rPr>
              <a:t>、数学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  <a:hlinkClick r:id="rId6"/>
              </a:rPr>
              <a:t>运算符</a:t>
            </a:r>
            <a:r>
              <a:rPr lang="zh-CN" altLang="en-US" sz="1200" b="0" i="0" kern="1200" dirty="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rPr>
              <a:t>、进程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  <a:hlinkClick r:id="rId7"/>
              </a:rPr>
              <a:t>控制语句</a:t>
            </a:r>
            <a:r>
              <a:rPr lang="zh-CN" altLang="en-US" sz="1200" b="0" i="0" kern="1200" dirty="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rPr>
              <a:t>甚至于内置的变量和函数。它具备了一个完整的语言所应具有的几乎所有精美特性。实际上 </a:t>
            </a:r>
            <a:r>
              <a:rPr lang="en-US" altLang="zh-CN" sz="1200" b="0" i="0" kern="1200" dirty="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rPr>
              <a:t>AWK </a:t>
            </a:r>
            <a:r>
              <a:rPr lang="zh-CN" altLang="en-US" sz="1200" b="0" i="0" kern="1200" dirty="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rPr>
              <a:t>的确拥有自己的语言：</a:t>
            </a:r>
            <a:r>
              <a:rPr lang="en-US" altLang="zh-CN" sz="1200" b="0" i="0" kern="1200" dirty="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rPr>
              <a:t>AWK 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  <a:hlinkClick r:id="rId8"/>
              </a:rPr>
              <a:t>程序设计语言</a:t>
            </a:r>
            <a:r>
              <a:rPr lang="zh-CN" altLang="en-US" sz="1200" b="0" i="0" kern="1200" dirty="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rPr>
              <a:t>， 三位创建者已将它正式定义为“样式扫描和处理语言”。它允许您创建简短的程序，这些程序读取输入文件、为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  <a:hlinkClick r:id="rId9"/>
              </a:rPr>
              <a:t>数据排序</a:t>
            </a:r>
            <a:r>
              <a:rPr lang="zh-CN" altLang="en-US" sz="1200" b="0" i="0" kern="1200" dirty="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rPr>
              <a:t>、处理数据、对输入执行计算以及生成报表，还有无数其他的功能。</a:t>
            </a:r>
            <a:endParaRPr lang="en-US" altLang="zh-CN" sz="1200" b="0" i="0" kern="1200" dirty="0">
              <a:solidFill>
                <a:schemeClr val="tx1"/>
              </a:solidFill>
              <a:latin typeface="Arial" charset="0"/>
              <a:ea typeface="宋体" pitchFamily="2" charset="-122"/>
              <a:cs typeface="+mn-cs"/>
            </a:endParaRPr>
          </a:p>
          <a:p>
            <a:endParaRPr lang="en-US" altLang="zh-CN" sz="1200" b="0" i="0" kern="1200" dirty="0">
              <a:solidFill>
                <a:schemeClr val="tx1"/>
              </a:solidFill>
              <a:latin typeface="Arial" charset="0"/>
              <a:ea typeface="宋体" pitchFamily="2" charset="-122"/>
              <a:cs typeface="+mn-cs"/>
            </a:endParaRPr>
          </a:p>
          <a:p>
            <a:r>
              <a:rPr lang="en-US" altLang="zh-CN" sz="1200" b="0" i="0" kern="1200" dirty="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rPr>
              <a:t>Perl</a:t>
            </a:r>
            <a:r>
              <a:rPr lang="zh-CN" altLang="en-US" sz="1200" b="0" i="0" kern="1200" dirty="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rPr>
              <a:t>借取了</a:t>
            </a:r>
            <a:r>
              <a:rPr lang="en-US" altLang="zh-CN" sz="1200" b="0" i="0" kern="1200" dirty="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rPr>
              <a:t>C</a:t>
            </a:r>
            <a:r>
              <a:rPr lang="zh-CN" altLang="en-US" sz="1200" b="0" i="0" kern="1200" dirty="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rPr>
              <a:t>、</a:t>
            </a:r>
            <a:r>
              <a:rPr lang="en-US" altLang="zh-CN" sz="1200" b="0" i="0" kern="1200" dirty="0" err="1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rPr>
              <a:t>sed</a:t>
            </a:r>
            <a:r>
              <a:rPr lang="zh-CN" altLang="en-US" sz="1200" b="0" i="0" kern="1200" dirty="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rPr>
              <a:t>、</a:t>
            </a:r>
            <a:r>
              <a:rPr lang="en-US" altLang="zh-CN" sz="1200" b="0" i="0" kern="1200" dirty="0" err="1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rPr>
              <a:t>awk</a:t>
            </a:r>
            <a:r>
              <a:rPr lang="zh-CN" altLang="en-US" sz="1200" b="0" i="0" kern="1200" dirty="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rPr>
              <a:t>、</a:t>
            </a:r>
            <a:r>
              <a:rPr lang="en-US" altLang="zh-CN" sz="1200" b="0" i="0" kern="1200" dirty="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rPr>
              <a:t>shell </a:t>
            </a:r>
            <a:r>
              <a:rPr lang="zh-CN" altLang="en-US" sz="1200" b="0" i="0" kern="1200" dirty="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rPr>
              <a:t>脚本语言以及很多其他程序语言的特性，其中最重要的特性是它内部集成了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  <a:hlinkClick r:id="rId10"/>
              </a:rPr>
              <a:t>正则表达式</a:t>
            </a:r>
            <a:r>
              <a:rPr lang="zh-CN" altLang="en-US" sz="1200" b="0" i="0" kern="1200" dirty="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rPr>
              <a:t>的功能，以及巨大的第三方代码库</a:t>
            </a:r>
            <a:r>
              <a:rPr lang="en-US" altLang="zh-CN" sz="1200" b="0" i="0" kern="1200" dirty="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rPr>
              <a:t>CPAN</a:t>
            </a:r>
            <a:r>
              <a:rPr lang="zh-CN" altLang="en-US" sz="1200" b="0" i="0" kern="1200" dirty="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rPr>
              <a:t>。简而言之，</a:t>
            </a:r>
            <a:r>
              <a:rPr lang="en-US" altLang="zh-CN" sz="1200" b="0" i="0" kern="1200" dirty="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rPr>
              <a:t>Perl</a:t>
            </a:r>
            <a:r>
              <a:rPr lang="zh-CN" altLang="en-US" sz="1200" b="0" i="0" kern="1200" dirty="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rPr>
              <a:t>像</a:t>
            </a:r>
            <a:r>
              <a:rPr lang="en-US" altLang="zh-CN" sz="1200" b="0" i="0" kern="1200" dirty="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rPr>
              <a:t>C</a:t>
            </a:r>
            <a:r>
              <a:rPr lang="zh-CN" altLang="en-US" sz="1200" b="0" i="0" kern="1200" dirty="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rPr>
              <a:t>一样强大，像</a:t>
            </a:r>
            <a:r>
              <a:rPr lang="en-US" altLang="zh-CN" sz="1200" b="0" i="0" kern="1200" dirty="0" err="1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rPr>
              <a:t>awk</a:t>
            </a:r>
            <a:r>
              <a:rPr lang="zh-CN" altLang="en-US" sz="1200" b="0" i="0" kern="1200" dirty="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rPr>
              <a:t>、</a:t>
            </a:r>
            <a:r>
              <a:rPr lang="en-US" altLang="zh-CN" sz="1200" b="0" i="0" kern="1200" dirty="0" err="1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rPr>
              <a:t>sed</a:t>
            </a:r>
            <a:r>
              <a:rPr lang="zh-CN" altLang="en-US" sz="1200" b="0" i="0" kern="1200" dirty="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rPr>
              <a:t>等脚本描述语言一样方便，被</a:t>
            </a:r>
            <a:r>
              <a:rPr lang="en-US" altLang="zh-CN" sz="1200" b="0" i="0" kern="1200" dirty="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rPr>
              <a:t>Perl</a:t>
            </a:r>
            <a:r>
              <a:rPr lang="zh-CN" altLang="en-US" sz="1200" b="0" i="0" kern="1200" dirty="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rPr>
              <a:t>语言爱好者称之为“一种拥有各种语言功能的梦幻脚本语言”、“</a:t>
            </a:r>
            <a:r>
              <a:rPr lang="en-US" altLang="zh-CN" sz="1200" b="0" i="0" kern="1200" dirty="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rPr>
              <a:t>Unix </a:t>
            </a:r>
            <a:r>
              <a:rPr lang="zh-CN" altLang="en-US" sz="1200" b="0" i="0" kern="1200" dirty="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rPr>
              <a:t>中的王牌工具”。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5190EA6-E6C3-41F4-A464-BC6B40068490}" type="slidenum">
              <a:rPr lang="en-US" altLang="zh-CN" smtClean="0"/>
              <a:pPr>
                <a:defRPr/>
              </a:pPr>
              <a:t>8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A745301-458D-4947-AE35-C1AC7972AC7E}" type="slidenum">
              <a:rPr lang="en-US" altLang="zh-CN"/>
              <a:pPr/>
              <a:t>13</a:t>
            </a:fld>
            <a:endParaRPr lang="en-US" altLang="zh-CN"/>
          </a:p>
        </p:txBody>
      </p:sp>
      <p:sp>
        <p:nvSpPr>
          <p:cNvPr id="460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US" altLang="zh-CN"/>
              <a:t>      twisted </a:t>
            </a:r>
            <a:r>
              <a:rPr lang="zh-CN" altLang="en-US"/>
              <a:t>是</a:t>
            </a:r>
            <a:r>
              <a:rPr lang="en-US" altLang="zh-CN"/>
              <a:t>python</a:t>
            </a:r>
            <a:r>
              <a:rPr lang="zh-CN" altLang="en-US"/>
              <a:t>里面公认的很牛的网络编程框架。学</a:t>
            </a:r>
            <a:r>
              <a:rPr lang="en-US" altLang="zh-CN"/>
              <a:t>python</a:t>
            </a:r>
            <a:r>
              <a:rPr lang="zh-CN" altLang="en-US"/>
              <a:t>网络编程的如果不学</a:t>
            </a:r>
            <a:r>
              <a:rPr lang="en-US" altLang="zh-CN"/>
              <a:t>twisted</a:t>
            </a:r>
            <a:r>
              <a:rPr lang="zh-CN" altLang="en-US"/>
              <a:t>，</a:t>
            </a:r>
          </a:p>
          <a:p>
            <a:pPr eaLnBrk="1" hangingPunct="1"/>
            <a:r>
              <a:rPr lang="zh-CN" altLang="en-US"/>
              <a:t>估计也就只能算是了解</a:t>
            </a:r>
            <a:r>
              <a:rPr lang="en-US" altLang="zh-CN"/>
              <a:t>python</a:t>
            </a:r>
            <a:r>
              <a:rPr lang="zh-CN" altLang="en-US"/>
              <a:t>网络编 程吧，就如同开发网站要用</a:t>
            </a:r>
            <a:r>
              <a:rPr lang="en-US" altLang="zh-CN"/>
              <a:t>django</a:t>
            </a:r>
            <a:r>
              <a:rPr lang="zh-CN" altLang="en-US"/>
              <a:t>是一样的，二者都</a:t>
            </a:r>
          </a:p>
          <a:p>
            <a:pPr eaLnBrk="1" hangingPunct="1"/>
            <a:r>
              <a:rPr lang="zh-CN" altLang="en-US"/>
              <a:t>是</a:t>
            </a:r>
            <a:r>
              <a:rPr lang="en-US" altLang="zh-CN"/>
              <a:t>python</a:t>
            </a:r>
            <a:r>
              <a:rPr lang="zh-CN" altLang="en-US"/>
              <a:t>下有名的框架。</a:t>
            </a:r>
            <a:r>
              <a:rPr lang="en-US" altLang="zh-CN"/>
              <a:t>twisted</a:t>
            </a:r>
            <a:r>
              <a:rPr lang="zh-CN" altLang="en-US"/>
              <a:t>是基于单线程的事件驱动的网络引擎。关于它的学习资料 </a:t>
            </a:r>
          </a:p>
          <a:p>
            <a:pPr eaLnBrk="1" hangingPunct="1"/>
            <a:r>
              <a:rPr lang="zh-CN" altLang="en-US"/>
              <a:t>比较少，而且中文的就更少了，所以学习</a:t>
            </a:r>
            <a:r>
              <a:rPr lang="en-US" altLang="zh-CN"/>
              <a:t>twisted</a:t>
            </a:r>
            <a:r>
              <a:rPr lang="zh-CN" altLang="en-US"/>
              <a:t>一定要硬着头皮看英文文档，也就是它的</a:t>
            </a:r>
          </a:p>
          <a:p>
            <a:pPr eaLnBrk="1" hangingPunct="1"/>
            <a:r>
              <a:rPr lang="en-US" altLang="zh-CN"/>
              <a:t>twisted documentation</a:t>
            </a:r>
            <a:r>
              <a:rPr lang="zh-CN" altLang="en-US"/>
              <a:t>，在这里基本可以找到你所需要的所有基础知识。尤其是</a:t>
            </a:r>
            <a:r>
              <a:rPr lang="en-US" altLang="zh-CN"/>
              <a:t>core </a:t>
            </a:r>
          </a:p>
          <a:p>
            <a:pPr eaLnBrk="1" hangingPunct="1"/>
            <a:r>
              <a:rPr lang="en-US" altLang="zh-CN"/>
              <a:t>documentation </a:t>
            </a:r>
            <a:r>
              <a:rPr lang="zh-CN" altLang="en-US"/>
              <a:t>和</a:t>
            </a:r>
            <a:r>
              <a:rPr lang="en-US" altLang="zh-CN"/>
              <a:t>example</a:t>
            </a:r>
            <a:r>
              <a:rPr lang="zh-CN" altLang="en-US"/>
              <a:t>里面都讲了很多示例，这些示例如果都通通的运行一遍，</a:t>
            </a:r>
          </a:p>
          <a:p>
            <a:pPr eaLnBrk="1" hangingPunct="1"/>
            <a:r>
              <a:rPr lang="zh-CN" altLang="en-US"/>
              <a:t>那么你的</a:t>
            </a:r>
            <a:r>
              <a:rPr lang="en-US" altLang="zh-CN"/>
              <a:t>twisted</a:t>
            </a:r>
            <a:r>
              <a:rPr lang="zh-CN" altLang="en-US"/>
              <a:t>已经可以算入门了。</a:t>
            </a:r>
            <a:br>
              <a:rPr lang="zh-CN" altLang="en-US"/>
            </a:br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4D0D367-7DE3-40C4-8B6A-AC764E514DD7}" type="slidenum">
              <a:rPr lang="en-US" altLang="zh-CN"/>
              <a:pPr/>
              <a:t>14</a:t>
            </a:fld>
            <a:endParaRPr lang="en-US" altLang="zh-CN"/>
          </a:p>
        </p:txBody>
      </p:sp>
      <p:sp>
        <p:nvSpPr>
          <p:cNvPr id="47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US" altLang="zh-CN"/>
              <a:t>      pickle</a:t>
            </a:r>
            <a:r>
              <a:rPr lang="zh-CN" altLang="en-US"/>
              <a:t>是为了序列化</a:t>
            </a:r>
            <a:r>
              <a:rPr lang="en-US" altLang="zh-CN"/>
              <a:t>/</a:t>
            </a:r>
            <a:r>
              <a:rPr lang="zh-CN" altLang="en-US"/>
              <a:t>反序列化一个对象的，可以把一个对象持</a:t>
            </a:r>
          </a:p>
          <a:p>
            <a:pPr eaLnBrk="1" hangingPunct="1"/>
            <a:r>
              <a:rPr lang="zh-CN" altLang="en-US"/>
              <a:t>久化存储。 </a:t>
            </a:r>
          </a:p>
          <a:p>
            <a:pPr eaLnBrk="1" hangingPunct="1"/>
            <a:r>
              <a:rPr lang="zh-CN" altLang="en-US"/>
              <a:t>     比如你有一个对象，想下次运行程序的时候直接用，可以直接</a:t>
            </a:r>
          </a:p>
          <a:p>
            <a:pPr eaLnBrk="1" hangingPunct="1"/>
            <a:r>
              <a:rPr lang="zh-CN" altLang="en-US"/>
              <a:t>用</a:t>
            </a:r>
            <a:r>
              <a:rPr lang="en-US" altLang="zh-CN"/>
              <a:t>pickle</a:t>
            </a:r>
            <a:r>
              <a:rPr lang="zh-CN" altLang="en-US"/>
              <a:t>打包存到硬盘上。或者你想把一个对象传给网络上的其他程</a:t>
            </a:r>
          </a:p>
          <a:p>
            <a:pPr eaLnBrk="1" hangingPunct="1"/>
            <a:r>
              <a:rPr lang="zh-CN" altLang="en-US"/>
              <a:t>序，可以用</a:t>
            </a:r>
            <a:r>
              <a:rPr lang="en-US" altLang="zh-CN"/>
              <a:t>pickle</a:t>
            </a:r>
            <a:r>
              <a:rPr lang="zh-CN" altLang="en-US"/>
              <a:t>打包，然后传过去，边的</a:t>
            </a:r>
            <a:r>
              <a:rPr lang="en-US" altLang="zh-CN"/>
              <a:t>python</a:t>
            </a:r>
            <a:r>
              <a:rPr lang="zh-CN" altLang="en-US"/>
              <a:t>程序用</a:t>
            </a:r>
            <a:r>
              <a:rPr lang="en-US" altLang="zh-CN"/>
              <a:t>pickle</a:t>
            </a:r>
            <a:r>
              <a:rPr lang="zh-CN" altLang="en-US"/>
              <a:t>反序</a:t>
            </a:r>
          </a:p>
          <a:p>
            <a:pPr eaLnBrk="1" hangingPunct="1"/>
            <a:r>
              <a:rPr lang="zh-CN" altLang="en-US"/>
              <a:t>列化，就可以用了。 </a:t>
            </a:r>
          </a:p>
          <a:p>
            <a:pPr eaLnBrk="1" hangingPunct="1"/>
            <a:r>
              <a:rPr lang="zh-CN" altLang="en-US"/>
              <a:t>      用法上，它主要有两个函数：</a:t>
            </a:r>
            <a:r>
              <a:rPr lang="en-US" altLang="zh-CN"/>
              <a:t>load</a:t>
            </a:r>
            <a:r>
              <a:rPr lang="zh-CN" altLang="en-US"/>
              <a:t>和</a:t>
            </a:r>
            <a:r>
              <a:rPr lang="en-US" altLang="zh-CN"/>
              <a:t>dump</a:t>
            </a:r>
            <a:r>
              <a:rPr lang="zh-CN" altLang="en-US"/>
              <a:t>，</a:t>
            </a:r>
            <a:r>
              <a:rPr lang="en-US" altLang="zh-CN"/>
              <a:t>load</a:t>
            </a:r>
            <a:r>
              <a:rPr lang="zh-CN" altLang="en-US"/>
              <a:t>是从序列</a:t>
            </a:r>
          </a:p>
          <a:p>
            <a:pPr eaLnBrk="1" hangingPunct="1"/>
            <a:r>
              <a:rPr lang="zh-CN" altLang="en-US"/>
              <a:t>化之后的数据中解出来，</a:t>
            </a:r>
            <a:r>
              <a:rPr lang="en-US" altLang="zh-CN"/>
              <a:t>dump</a:t>
            </a:r>
            <a:r>
              <a:rPr lang="zh-CN" altLang="en-US"/>
              <a:t>是把对象序列化。看看帮助就好了，</a:t>
            </a:r>
          </a:p>
          <a:p>
            <a:pPr eaLnBrk="1" hangingPunct="1"/>
            <a:r>
              <a:rPr lang="zh-CN" altLang="en-US"/>
              <a:t>很简单的。 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7"/>
          <p:cNvSpPr>
            <a:spLocks noChangeArrowheads="1"/>
          </p:cNvSpPr>
          <p:nvPr/>
        </p:nvSpPr>
        <p:spPr bwMode="auto">
          <a:xfrm>
            <a:off x="684213" y="1844675"/>
            <a:ext cx="7772400" cy="109538"/>
          </a:xfrm>
          <a:custGeom>
            <a:avLst/>
            <a:gdLst>
              <a:gd name="G0" fmla="+- 618 0 0"/>
            </a:gdLst>
            <a:ahLst/>
            <a:cxnLst>
              <a:cxn ang="0">
                <a:pos x="0" y="0"/>
              </a:cxn>
              <a:cxn ang="0">
                <a:pos x="618" y="0"/>
              </a:cxn>
              <a:cxn ang="0">
                <a:pos x="618" y="1000"/>
              </a:cxn>
              <a:cxn ang="0">
                <a:pos x="0" y="1000"/>
              </a:cxn>
              <a:cxn ang="0">
                <a:pos x="0" y="0"/>
              </a:cxn>
              <a:cxn ang="0">
                <a:pos x="1000" y="0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zh-CN" altLang="zh-CN" sz="2400">
              <a:latin typeface="Times New Roman" pitchFamily="18" charset="0"/>
            </a:endParaRPr>
          </a:p>
        </p:txBody>
      </p:sp>
      <p:sp>
        <p:nvSpPr>
          <p:cNvPr id="5" name="Rectangle 8"/>
          <p:cNvSpPr>
            <a:spLocks noChangeArrowheads="1"/>
          </p:cNvSpPr>
          <p:nvPr/>
        </p:nvSpPr>
        <p:spPr bwMode="auto">
          <a:xfrm>
            <a:off x="684213" y="908050"/>
            <a:ext cx="5686425" cy="93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b"/>
          <a:lstStyle/>
          <a:p>
            <a:pPr>
              <a:defRPr/>
            </a:pPr>
            <a:r>
              <a:rPr lang="en-US" altLang="zh-CN" sz="4000" dirty="0">
                <a:solidFill>
                  <a:schemeClr val="tx2"/>
                </a:solidFill>
                <a:latin typeface="Times New Roman" pitchFamily="18" charset="0"/>
              </a:rPr>
              <a:t>Python </a:t>
            </a:r>
            <a:r>
              <a:rPr lang="zh-CN" altLang="en-US" sz="4000" dirty="0">
                <a:solidFill>
                  <a:schemeClr val="tx2"/>
                </a:solidFill>
                <a:latin typeface="Times New Roman" pitchFamily="18" charset="0"/>
              </a:rPr>
              <a:t>科学计算</a:t>
            </a:r>
          </a:p>
        </p:txBody>
      </p:sp>
      <p:pic>
        <p:nvPicPr>
          <p:cNvPr id="6" name="Picture 9" descr="python"/>
          <p:cNvPicPr>
            <a:picLocks noChangeAspect="1" noChangeArrowheads="1"/>
          </p:cNvPicPr>
          <p:nvPr userDrawn="1"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372225" y="1125538"/>
            <a:ext cx="2087563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36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403350" y="2489200"/>
            <a:ext cx="5648325" cy="939800"/>
          </a:xfrm>
        </p:spPr>
        <p:txBody>
          <a:bodyPr/>
          <a:lstStyle>
            <a:lvl1pPr>
              <a:defRPr sz="4000">
                <a:latin typeface="Times New Roman" pitchFamily="18" charset="0"/>
              </a:defRPr>
            </a:lvl1pPr>
          </a:lstStyle>
          <a:p>
            <a:r>
              <a:rPr lang="en-US" altLang="zh-CN"/>
              <a:t>Python</a:t>
            </a:r>
            <a:r>
              <a:rPr lang="zh-CN" altLang="en-US"/>
              <a:t>程序设计语言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547813" y="4221163"/>
            <a:ext cx="5429250" cy="16002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800"/>
            </a:lvl1pPr>
          </a:lstStyle>
          <a:p>
            <a:r>
              <a:rPr lang="zh-CN" altLang="en-US"/>
              <a:t>张晓 西北工业大学计算机学院</a:t>
            </a:r>
          </a:p>
          <a:p>
            <a:r>
              <a:rPr lang="en-US" altLang="zh-CN"/>
              <a:t>zhangxiao@nwpu.edu.cn</a:t>
            </a:r>
          </a:p>
          <a:p>
            <a:r>
              <a:rPr lang="en-US" altLang="zh-CN"/>
              <a:t>2009-8-20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 dirty="0" smtClean="0"/>
            </a:lvl1pPr>
          </a:lstStyle>
          <a:p>
            <a:pPr>
              <a:defRPr/>
            </a:pPr>
            <a:r>
              <a:rPr lang="en-US" altLang="zh-CN"/>
              <a:t>2018</a:t>
            </a:r>
            <a:r>
              <a:rPr lang="zh-CN" altLang="en-US"/>
              <a:t>年</a:t>
            </a:r>
            <a:r>
              <a:rPr lang="en-US" altLang="zh-CN"/>
              <a:t>9</a:t>
            </a:r>
            <a:r>
              <a:rPr lang="zh-CN" altLang="en-US"/>
              <a:t>月</a:t>
            </a:r>
            <a:r>
              <a:rPr lang="en-US" altLang="zh-CN"/>
              <a:t>25</a:t>
            </a:r>
            <a:r>
              <a:rPr lang="zh-CN" altLang="en-US"/>
              <a:t>日</a:t>
            </a: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altLang="zh-CN"/>
              <a:t>Python程序设计语言</a:t>
            </a: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altLang="zh-CN"/>
              <a:t>1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dirty="0" smtClean="0"/>
            </a:lvl1pPr>
          </a:lstStyle>
          <a:p>
            <a:pPr>
              <a:defRPr/>
            </a:pPr>
            <a:r>
              <a:rPr lang="en-US" altLang="zh-CN"/>
              <a:t>2018</a:t>
            </a:r>
            <a:r>
              <a:rPr lang="zh-CN" altLang="en-US"/>
              <a:t>年</a:t>
            </a:r>
            <a:r>
              <a:rPr lang="en-US" altLang="zh-CN"/>
              <a:t>9</a:t>
            </a:r>
            <a:r>
              <a:rPr lang="zh-CN" altLang="en-US"/>
              <a:t>月</a:t>
            </a:r>
            <a:r>
              <a:rPr lang="en-US" altLang="zh-CN"/>
              <a:t>25</a:t>
            </a:r>
            <a:r>
              <a:rPr lang="zh-CN" altLang="en-US"/>
              <a:t>日</a:t>
            </a: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altLang="zh-CN"/>
              <a:t>1.Python</a:t>
            </a:r>
            <a:r>
              <a:rPr lang="zh-CN" altLang="en-US"/>
              <a:t>语言简介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B1651D8A-E98E-4E1D-8D6E-76007C92061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dirty="0" smtClean="0"/>
            </a:lvl1pPr>
          </a:lstStyle>
          <a:p>
            <a:pPr>
              <a:defRPr/>
            </a:pPr>
            <a:r>
              <a:rPr lang="en-US" altLang="zh-CN"/>
              <a:t>2018</a:t>
            </a:r>
            <a:r>
              <a:rPr lang="zh-CN" altLang="en-US"/>
              <a:t>年</a:t>
            </a:r>
            <a:r>
              <a:rPr lang="en-US" altLang="zh-CN"/>
              <a:t>9</a:t>
            </a:r>
            <a:r>
              <a:rPr lang="zh-CN" altLang="en-US"/>
              <a:t>月</a:t>
            </a:r>
            <a:r>
              <a:rPr lang="en-US" altLang="zh-CN"/>
              <a:t>25</a:t>
            </a:r>
            <a:r>
              <a:rPr lang="zh-CN" altLang="en-US"/>
              <a:t>日</a:t>
            </a: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altLang="zh-CN"/>
              <a:t>1.Python</a:t>
            </a:r>
            <a:r>
              <a:rPr lang="zh-CN" altLang="en-US"/>
              <a:t>语言简介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761EAB44-08D5-40B1-A7DE-C0106CF0729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66738" y="1052513"/>
            <a:ext cx="3924300" cy="49672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3438" y="1052513"/>
            <a:ext cx="3924300" cy="49672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dirty="0" smtClean="0"/>
            </a:lvl1pPr>
          </a:lstStyle>
          <a:p>
            <a:pPr>
              <a:defRPr/>
            </a:pPr>
            <a:r>
              <a:rPr lang="en-US" altLang="zh-CN"/>
              <a:t>2018</a:t>
            </a:r>
            <a:r>
              <a:rPr lang="zh-CN" altLang="en-US"/>
              <a:t>年</a:t>
            </a:r>
            <a:r>
              <a:rPr lang="en-US" altLang="zh-CN"/>
              <a:t>9</a:t>
            </a:r>
            <a:r>
              <a:rPr lang="zh-CN" altLang="en-US"/>
              <a:t>月</a:t>
            </a:r>
            <a:r>
              <a:rPr lang="en-US" altLang="zh-CN"/>
              <a:t>25</a:t>
            </a:r>
            <a:r>
              <a:rPr lang="zh-CN" altLang="en-US"/>
              <a:t>日</a:t>
            </a:r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altLang="zh-CN"/>
              <a:t>1.Python</a:t>
            </a:r>
            <a:r>
              <a:rPr lang="zh-CN" altLang="en-US"/>
              <a:t>语言简介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11658371-ED67-498E-9FC9-2E047968519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dirty="0" smtClean="0"/>
            </a:lvl1pPr>
          </a:lstStyle>
          <a:p>
            <a:pPr>
              <a:defRPr/>
            </a:pPr>
            <a:r>
              <a:rPr lang="en-US" altLang="zh-CN"/>
              <a:t>2018</a:t>
            </a:r>
            <a:r>
              <a:rPr lang="zh-CN" altLang="en-US"/>
              <a:t>年</a:t>
            </a:r>
            <a:r>
              <a:rPr lang="en-US" altLang="zh-CN"/>
              <a:t>9</a:t>
            </a:r>
            <a:r>
              <a:rPr lang="zh-CN" altLang="en-US"/>
              <a:t>月</a:t>
            </a:r>
            <a:r>
              <a:rPr lang="en-US" altLang="zh-CN"/>
              <a:t>25</a:t>
            </a:r>
            <a:r>
              <a:rPr lang="zh-CN" altLang="en-US"/>
              <a:t>日</a:t>
            </a:r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altLang="zh-CN"/>
              <a:t>1.Python</a:t>
            </a:r>
            <a:r>
              <a:rPr lang="zh-CN" altLang="en-US"/>
              <a:t>语言简介</a:t>
            </a: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F7D76E6D-A3D9-4754-9278-7D448D7675A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dirty="0" smtClean="0"/>
            </a:lvl1pPr>
          </a:lstStyle>
          <a:p>
            <a:pPr>
              <a:defRPr/>
            </a:pPr>
            <a:r>
              <a:rPr lang="en-US" altLang="zh-CN"/>
              <a:t>2018</a:t>
            </a:r>
            <a:r>
              <a:rPr lang="zh-CN" altLang="en-US"/>
              <a:t>年</a:t>
            </a:r>
            <a:r>
              <a:rPr lang="en-US" altLang="zh-CN"/>
              <a:t>9</a:t>
            </a:r>
            <a:r>
              <a:rPr lang="zh-CN" altLang="en-US"/>
              <a:t>月</a:t>
            </a:r>
            <a:r>
              <a:rPr lang="en-US" altLang="zh-CN"/>
              <a:t>25</a:t>
            </a:r>
            <a:r>
              <a:rPr lang="zh-CN" altLang="en-US"/>
              <a:t>日</a:t>
            </a:r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altLang="zh-CN"/>
              <a:t>1.Python</a:t>
            </a:r>
            <a:r>
              <a:rPr lang="zh-CN" altLang="en-US"/>
              <a:t>语言简介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B31F9AC6-FCF0-41F5-B368-4B01C63772D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dirty="0" smtClean="0"/>
            </a:lvl1pPr>
          </a:lstStyle>
          <a:p>
            <a:pPr>
              <a:defRPr/>
            </a:pPr>
            <a:r>
              <a:rPr lang="en-US" altLang="zh-CN"/>
              <a:t>2018</a:t>
            </a:r>
            <a:r>
              <a:rPr lang="zh-CN" altLang="en-US"/>
              <a:t>年</a:t>
            </a:r>
            <a:r>
              <a:rPr lang="en-US" altLang="zh-CN"/>
              <a:t>9</a:t>
            </a:r>
            <a:r>
              <a:rPr lang="zh-CN" altLang="en-US"/>
              <a:t>月</a:t>
            </a:r>
            <a:r>
              <a:rPr lang="en-US" altLang="zh-CN"/>
              <a:t>25</a:t>
            </a:r>
            <a:r>
              <a:rPr lang="zh-CN" altLang="en-US"/>
              <a:t>日</a:t>
            </a:r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altLang="zh-CN"/>
              <a:t>1.Python</a:t>
            </a:r>
            <a:r>
              <a:rPr lang="zh-CN" altLang="en-US"/>
              <a:t>语言简介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DCAAD524-4C59-40A6-89A4-D30394C72AE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dirty="0" smtClean="0"/>
            </a:lvl1pPr>
          </a:lstStyle>
          <a:p>
            <a:pPr>
              <a:defRPr/>
            </a:pPr>
            <a:r>
              <a:rPr lang="en-US" altLang="zh-CN"/>
              <a:t>2018</a:t>
            </a:r>
            <a:r>
              <a:rPr lang="zh-CN" altLang="en-US"/>
              <a:t>年</a:t>
            </a:r>
            <a:r>
              <a:rPr lang="en-US" altLang="zh-CN"/>
              <a:t>9</a:t>
            </a:r>
            <a:r>
              <a:rPr lang="zh-CN" altLang="en-US"/>
              <a:t>月</a:t>
            </a:r>
            <a:r>
              <a:rPr lang="en-US" altLang="zh-CN"/>
              <a:t>25</a:t>
            </a:r>
            <a:r>
              <a:rPr lang="zh-CN" altLang="en-US"/>
              <a:t>日</a:t>
            </a:r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altLang="zh-CN"/>
              <a:t>1.Python</a:t>
            </a:r>
            <a:r>
              <a:rPr lang="zh-CN" altLang="en-US"/>
              <a:t>语言简介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4BC2E7DD-B1B6-416D-962D-62076DC8A51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dirty="0" smtClean="0"/>
            </a:lvl1pPr>
          </a:lstStyle>
          <a:p>
            <a:pPr>
              <a:defRPr/>
            </a:pPr>
            <a:r>
              <a:rPr lang="en-US" altLang="zh-CN"/>
              <a:t>2018</a:t>
            </a:r>
            <a:r>
              <a:rPr lang="zh-CN" altLang="en-US"/>
              <a:t>年</a:t>
            </a:r>
            <a:r>
              <a:rPr lang="en-US" altLang="zh-CN"/>
              <a:t>9</a:t>
            </a:r>
            <a:r>
              <a:rPr lang="zh-CN" altLang="en-US"/>
              <a:t>月</a:t>
            </a:r>
            <a:r>
              <a:rPr lang="en-US" altLang="zh-CN"/>
              <a:t>25</a:t>
            </a:r>
            <a:r>
              <a:rPr lang="zh-CN" altLang="en-US"/>
              <a:t>日</a:t>
            </a:r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altLang="zh-CN"/>
              <a:t>1.Python</a:t>
            </a:r>
            <a:r>
              <a:rPr lang="zh-CN" altLang="en-US"/>
              <a:t>语言简介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175DD5D3-B07A-42A5-889B-66A58F05F3C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dirty="0" smtClean="0"/>
            </a:lvl1pPr>
          </a:lstStyle>
          <a:p>
            <a:pPr>
              <a:defRPr/>
            </a:pPr>
            <a:r>
              <a:rPr lang="en-US" altLang="zh-CN"/>
              <a:t>2018</a:t>
            </a:r>
            <a:r>
              <a:rPr lang="zh-CN" altLang="en-US"/>
              <a:t>年</a:t>
            </a:r>
            <a:r>
              <a:rPr lang="en-US" altLang="zh-CN"/>
              <a:t>9</a:t>
            </a:r>
            <a:r>
              <a:rPr lang="zh-CN" altLang="en-US"/>
              <a:t>月</a:t>
            </a:r>
            <a:r>
              <a:rPr lang="en-US" altLang="zh-CN"/>
              <a:t>25</a:t>
            </a:r>
            <a:r>
              <a:rPr lang="zh-CN" altLang="en-US"/>
              <a:t>日</a:t>
            </a: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altLang="zh-CN"/>
              <a:t>1.Python</a:t>
            </a:r>
            <a:r>
              <a:rPr lang="zh-CN" altLang="en-US"/>
              <a:t>语言简介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B9F277F1-72F2-43C9-A030-CAB99495244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73838" y="304800"/>
            <a:ext cx="2001837" cy="57150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66738" y="304800"/>
            <a:ext cx="5854700" cy="57150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dirty="0" smtClean="0"/>
            </a:lvl1pPr>
          </a:lstStyle>
          <a:p>
            <a:pPr>
              <a:defRPr/>
            </a:pPr>
            <a:r>
              <a:rPr lang="en-US" altLang="zh-CN"/>
              <a:t>2018</a:t>
            </a:r>
            <a:r>
              <a:rPr lang="zh-CN" altLang="en-US"/>
              <a:t>年</a:t>
            </a:r>
            <a:r>
              <a:rPr lang="en-US" altLang="zh-CN"/>
              <a:t>9</a:t>
            </a:r>
            <a:r>
              <a:rPr lang="zh-CN" altLang="en-US"/>
              <a:t>月</a:t>
            </a:r>
            <a:r>
              <a:rPr lang="en-US" altLang="zh-CN"/>
              <a:t>25</a:t>
            </a:r>
            <a:r>
              <a:rPr lang="zh-CN" altLang="en-US"/>
              <a:t>日</a:t>
            </a: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altLang="zh-CN"/>
              <a:t>1.Python</a:t>
            </a:r>
            <a:r>
              <a:rPr lang="zh-CN" altLang="en-US"/>
              <a:t>语言简介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E9E878E6-6739-4F02-BCAD-6E451EE1EC0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ltHorz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74675" y="304800"/>
            <a:ext cx="8001000" cy="603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66738" y="1052513"/>
            <a:ext cx="8001000" cy="4967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4340" name="AutoShape 4"/>
          <p:cNvSpPr>
            <a:spLocks noChangeArrowheads="1"/>
          </p:cNvSpPr>
          <p:nvPr/>
        </p:nvSpPr>
        <p:spPr bwMode="auto">
          <a:xfrm>
            <a:off x="609600" y="908050"/>
            <a:ext cx="7958138" cy="109538"/>
          </a:xfrm>
          <a:custGeom>
            <a:avLst/>
            <a:gdLst>
              <a:gd name="G0" fmla="+- 585 0 0"/>
            </a:gdLst>
            <a:ahLst/>
            <a:cxnLst>
              <a:cxn ang="0">
                <a:pos x="0" y="0"/>
              </a:cxn>
              <a:cxn ang="0">
                <a:pos x="585" y="0"/>
              </a:cxn>
              <a:cxn ang="0">
                <a:pos x="585" y="1000"/>
              </a:cxn>
              <a:cxn ang="0">
                <a:pos x="0" y="1000"/>
              </a:cxn>
              <a:cxn ang="0">
                <a:pos x="0" y="0"/>
              </a:cxn>
              <a:cxn ang="0">
                <a:pos x="1000" y="0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zh-CN" altLang="zh-CN" sz="2400">
              <a:latin typeface="Times New Roman" pitchFamily="18" charset="0"/>
            </a:endParaRPr>
          </a:p>
        </p:txBody>
      </p:sp>
      <p:sp>
        <p:nvSpPr>
          <p:cNvPr id="14341" name="Line 5"/>
          <p:cNvSpPr>
            <a:spLocks noChangeShapeType="1"/>
          </p:cNvSpPr>
          <p:nvPr/>
        </p:nvSpPr>
        <p:spPr bwMode="auto">
          <a:xfrm flipV="1">
            <a:off x="609600" y="6308725"/>
            <a:ext cx="7924800" cy="0"/>
          </a:xfrm>
          <a:prstGeom prst="line">
            <a:avLst/>
          </a:prstGeom>
          <a:noFill/>
          <a:ln w="3175">
            <a:solidFill>
              <a:schemeClr val="accent2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14342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381750"/>
            <a:ext cx="19812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r>
              <a:rPr lang="en-US" altLang="zh-CN"/>
              <a:t>2012</a:t>
            </a:r>
            <a:r>
              <a:rPr lang="zh-CN" altLang="en-US"/>
              <a:t>－</a:t>
            </a:r>
            <a:r>
              <a:rPr lang="en-US" altLang="zh-CN"/>
              <a:t>09</a:t>
            </a:r>
            <a:r>
              <a:rPr lang="zh-CN" altLang="en-US"/>
              <a:t>－</a:t>
            </a:r>
            <a:r>
              <a:rPr lang="en-US" altLang="zh-CN"/>
              <a:t>19</a:t>
            </a:r>
          </a:p>
        </p:txBody>
      </p:sp>
      <p:sp>
        <p:nvSpPr>
          <p:cNvPr id="14343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381750"/>
            <a:ext cx="28956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200" smtClean="0"/>
            </a:lvl1pPr>
          </a:lstStyle>
          <a:p>
            <a:pPr>
              <a:defRPr/>
            </a:pPr>
            <a:r>
              <a:rPr lang="en-US" altLang="zh-CN"/>
              <a:t>1.Python</a:t>
            </a:r>
            <a:r>
              <a:rPr lang="zh-CN" altLang="en-US"/>
              <a:t>语言简介</a:t>
            </a:r>
          </a:p>
        </p:txBody>
      </p:sp>
      <p:sp>
        <p:nvSpPr>
          <p:cNvPr id="14344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88125" y="6381750"/>
            <a:ext cx="1981200" cy="268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fld id="{97BCFAFF-3697-458F-8B45-71956EB59FE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pic>
        <p:nvPicPr>
          <p:cNvPr id="1033" name="Picture 14" descr="python"/>
          <p:cNvPicPr>
            <a:picLocks noChangeAspect="1" noChangeArrowheads="1"/>
          </p:cNvPicPr>
          <p:nvPr userDrawn="1"/>
        </p:nvPicPr>
        <p:blipFill>
          <a:blip r:embed="rId1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7134225" y="188913"/>
            <a:ext cx="2009775" cy="676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</p:sldLayoutIdLst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  <a:ea typeface="宋体" pitchFamily="2" charset="-122"/>
        </a:defRPr>
      </a:lvl9pPr>
    </p:titleStyle>
    <p:bodyStyle>
      <a:lvl1pPr marL="469900" indent="-469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o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908050" indent="-4365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n"/>
        <a:defRPr sz="2600">
          <a:solidFill>
            <a:schemeClr val="tx1"/>
          </a:solidFill>
          <a:latin typeface="+mn-lt"/>
          <a:ea typeface="+mn-ea"/>
        </a:defRPr>
      </a:lvl2pPr>
      <a:lvl3pPr marL="1304925" indent="-39528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o"/>
        <a:defRPr sz="2300">
          <a:solidFill>
            <a:schemeClr val="tx1"/>
          </a:solidFill>
          <a:latin typeface="+mn-lt"/>
          <a:ea typeface="+mn-ea"/>
        </a:defRPr>
      </a:lvl3pPr>
      <a:lvl4pPr marL="1693863" indent="-3873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93913" indent="-398463" algn="l" rtl="0" eaLnBrk="0" fontAlgn="base" hangingPunct="0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5pPr>
      <a:lvl6pPr marL="25511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30083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34655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9227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://www.twistedmatrix.com/products/twisted" TargetMode="External"/><Relationship Id="rId2" Type="http://schemas.openxmlformats.org/officeDocument/2006/relationships/hyperlink" Target="http://www.wxpython.org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www.pythonware.com/products/pil/index.htm" TargetMode="Externa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://www.python.org/download/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mirrors.tuna.tsinghua.edu.cn/help/anaconda/" TargetMode="External"/><Relationship Id="rId2" Type="http://schemas.openxmlformats.org/officeDocument/2006/relationships/hyperlink" Target="https://www.anaconda.com/download/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en-US" dirty="0"/>
          </a:p>
        </p:txBody>
      </p:sp>
      <p:sp>
        <p:nvSpPr>
          <p:cNvPr id="13315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 eaLnBrk="1" hangingPunct="1">
              <a:buNone/>
            </a:pPr>
            <a:endParaRPr lang="en-US" altLang="zh-CN" b="1" dirty="0"/>
          </a:p>
          <a:p>
            <a:pPr algn="ctr" eaLnBrk="1" hangingPunct="1">
              <a:buNone/>
            </a:pPr>
            <a:r>
              <a:rPr lang="en-US" altLang="zh-CN" sz="4800" b="1" dirty="0">
                <a:effectLst>
                  <a:glow rad="635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Python</a:t>
            </a:r>
            <a:r>
              <a:rPr lang="zh-CN" altLang="en-US" sz="4800" b="1" dirty="0">
                <a:effectLst>
                  <a:glow rad="635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科学计算</a:t>
            </a:r>
            <a:endParaRPr lang="en-US" altLang="zh-CN" sz="4800" b="1" dirty="0">
              <a:effectLst>
                <a:glow rad="63500">
                  <a:schemeClr val="accent4">
                    <a:satMod val="175000"/>
                    <a:alpha val="40000"/>
                  </a:schemeClr>
                </a:glow>
              </a:effectLst>
            </a:endParaRPr>
          </a:p>
          <a:p>
            <a:pPr algn="ctr" eaLnBrk="1" hangingPunct="1">
              <a:buNone/>
            </a:pPr>
            <a:endParaRPr lang="en-US" altLang="zh-CN" b="1" dirty="0"/>
          </a:p>
          <a:p>
            <a:pPr algn="ctr" eaLnBrk="1" hangingPunct="1">
              <a:buNone/>
            </a:pPr>
            <a:endParaRPr lang="en-US" altLang="zh-CN" b="1" dirty="0"/>
          </a:p>
          <a:p>
            <a:pPr algn="ctr" eaLnBrk="1" hangingPunct="1">
              <a:buNone/>
            </a:pPr>
            <a:endParaRPr lang="en-US" altLang="zh-CN" b="1" dirty="0"/>
          </a:p>
          <a:p>
            <a:pPr algn="ctr" eaLnBrk="1" hangingPunct="1">
              <a:buNone/>
            </a:pPr>
            <a:endParaRPr lang="en-US" altLang="zh-CN" sz="2400" b="1" dirty="0">
              <a:effectLst/>
            </a:endParaRPr>
          </a:p>
          <a:p>
            <a:pPr algn="ctr" eaLnBrk="1" hangingPunct="1">
              <a:buNone/>
            </a:pPr>
            <a:r>
              <a:rPr lang="zh-CN" altLang="en-US" sz="2400" b="1" dirty="0">
                <a:effectLst/>
              </a:rPr>
              <a:t>聂建辉</a:t>
            </a:r>
            <a:endParaRPr lang="en-US" altLang="zh-CN" sz="2400" b="1" dirty="0">
              <a:effectLst/>
            </a:endParaRPr>
          </a:p>
          <a:p>
            <a:pPr algn="ctr" eaLnBrk="1" hangingPunct="1">
              <a:buNone/>
            </a:pPr>
            <a:r>
              <a:rPr lang="zh-CN" altLang="en-US" sz="2400" b="1" dirty="0">
                <a:effectLst/>
              </a:rPr>
              <a:t>自动化学科楼</a:t>
            </a:r>
            <a:r>
              <a:rPr lang="en-US" altLang="zh-CN" sz="2400" b="1" dirty="0">
                <a:effectLst/>
              </a:rPr>
              <a:t>313</a:t>
            </a:r>
          </a:p>
          <a:p>
            <a:pPr algn="ctr" eaLnBrk="1" hangingPunct="1">
              <a:buNone/>
            </a:pPr>
            <a:r>
              <a:rPr lang="en-US" altLang="zh-CN" sz="2400" b="1" dirty="0">
                <a:effectLst/>
              </a:rPr>
              <a:t>njh19@163.com</a:t>
            </a:r>
            <a:endParaRPr lang="zh-CN" altLang="en-US" sz="2400" b="1" dirty="0">
              <a:effectLst/>
            </a:endParaRPr>
          </a:p>
        </p:txBody>
      </p:sp>
      <p:sp>
        <p:nvSpPr>
          <p:cNvPr id="13316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r>
              <a:rPr lang="en-US" altLang="zh-CN" dirty="0"/>
              <a:t>2018</a:t>
            </a:r>
            <a:r>
              <a:rPr lang="zh-CN" altLang="en-US" dirty="0"/>
              <a:t>年</a:t>
            </a:r>
            <a:r>
              <a:rPr lang="en-US" altLang="zh-CN" dirty="0"/>
              <a:t>9</a:t>
            </a:r>
            <a:r>
              <a:rPr lang="zh-CN" altLang="en-US" dirty="0"/>
              <a:t>月</a:t>
            </a:r>
            <a:r>
              <a:rPr lang="en-US" altLang="zh-CN" dirty="0"/>
              <a:t>25</a:t>
            </a:r>
            <a:r>
              <a:rPr lang="zh-CN" altLang="en-US" dirty="0"/>
              <a:t>日</a:t>
            </a:r>
            <a:endParaRPr lang="en-US" altLang="zh-CN" dirty="0"/>
          </a:p>
        </p:txBody>
      </p:sp>
      <p:sp>
        <p:nvSpPr>
          <p:cNvPr id="13318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10BA1B31-02B6-402B-998B-8597692F9F2E}" type="slidenum">
              <a:rPr lang="en-US" altLang="zh-CN"/>
              <a:pPr/>
              <a:t>1</a:t>
            </a:fld>
            <a:endParaRPr lang="en-US" altLang="zh-C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课程安排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 altLang="zh-CN" sz="320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eaLnBrk="1" hangingPunct="1">
              <a:defRPr/>
            </a:pPr>
            <a:r>
              <a:rPr lang="zh-CN" altLang="en-US" sz="28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共</a:t>
            </a:r>
            <a:r>
              <a:rPr lang="en-US" altLang="zh-CN" sz="28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32</a:t>
            </a:r>
            <a:r>
              <a:rPr lang="zh-CN" altLang="en-US" sz="28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学时，每周</a:t>
            </a:r>
            <a:r>
              <a:rPr lang="en-US" altLang="zh-CN" sz="28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2</a:t>
            </a:r>
            <a:r>
              <a:rPr lang="zh-CN" altLang="en-US" sz="28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学时</a:t>
            </a:r>
            <a:endParaRPr lang="en-US" altLang="zh-CN" sz="280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eaLnBrk="1" hangingPunct="1">
              <a:defRPr/>
            </a:pPr>
            <a:endParaRPr lang="zh-CN" altLang="en-US" sz="280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eaLnBrk="1" hangingPunct="1">
              <a:defRPr/>
            </a:pPr>
            <a:r>
              <a:rPr lang="zh-CN" altLang="en-US" sz="28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答疑地点：</a:t>
            </a:r>
            <a:r>
              <a:rPr lang="en-US" altLang="zh-CN" sz="28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2</a:t>
            </a:r>
            <a:r>
              <a:rPr lang="zh-CN" altLang="en-US" sz="28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号学科楼</a:t>
            </a:r>
            <a:r>
              <a:rPr lang="en-US" altLang="zh-CN" sz="28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313</a:t>
            </a:r>
          </a:p>
          <a:p>
            <a:pPr eaLnBrk="1" hangingPunct="1">
              <a:defRPr/>
            </a:pPr>
            <a:endParaRPr lang="en-US" altLang="zh-CN" sz="280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eaLnBrk="1" hangingPunct="1">
              <a:defRPr/>
            </a:pPr>
            <a:r>
              <a:rPr lang="zh-CN" altLang="en-US" sz="28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答疑时间：周二下午</a:t>
            </a:r>
            <a:r>
              <a:rPr lang="en-US" altLang="zh-CN" sz="28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14:00-15:00</a:t>
            </a:r>
          </a:p>
          <a:p>
            <a:pPr eaLnBrk="1" hangingPunct="1">
              <a:buNone/>
              <a:defRPr/>
            </a:pPr>
            <a:endParaRPr lang="en-US" altLang="zh-CN" sz="280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eaLnBrk="1" hangingPunct="1">
              <a:defRPr/>
            </a:pPr>
            <a:r>
              <a:rPr lang="zh-CN" altLang="en-US" sz="28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成绩评定：平时成绩</a:t>
            </a:r>
            <a:r>
              <a:rPr lang="en-US" altLang="zh-CN" sz="2800" u="sng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30%</a:t>
            </a:r>
            <a:r>
              <a:rPr lang="en-US" altLang="zh-CN" sz="28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zh-CN" altLang="en-US" sz="28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，考试</a:t>
            </a:r>
            <a:r>
              <a:rPr lang="en-US" altLang="zh-CN" sz="2800" u="sng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70%</a:t>
            </a:r>
            <a:r>
              <a:rPr lang="en-US" altLang="zh-CN" sz="28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endParaRPr lang="zh-CN" altLang="en-US" sz="280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2018</a:t>
            </a:r>
            <a:r>
              <a:rPr lang="zh-CN" altLang="en-US"/>
              <a:t>年</a:t>
            </a:r>
            <a:r>
              <a:rPr lang="en-US" altLang="zh-CN"/>
              <a:t>9</a:t>
            </a:r>
            <a:r>
              <a:rPr lang="zh-CN" altLang="en-US"/>
              <a:t>月</a:t>
            </a:r>
            <a:r>
              <a:rPr lang="en-US" altLang="zh-CN"/>
              <a:t>25</a:t>
            </a:r>
            <a:r>
              <a:rPr lang="zh-CN" altLang="en-US"/>
              <a:t>日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1651D8A-E98E-4E1D-8D6E-76007C920617}" type="slidenum">
              <a:rPr lang="en-US" altLang="zh-CN" smtClean="0"/>
              <a:pPr>
                <a:defRPr/>
              </a:pPr>
              <a:t>2</a:t>
            </a:fld>
            <a:endParaRPr lang="en-US" altLang="zh-C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课程内容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66738" y="1198017"/>
            <a:ext cx="8001000" cy="4967287"/>
          </a:xfrm>
        </p:spPr>
        <p:txBody>
          <a:bodyPr/>
          <a:lstStyle/>
          <a:p>
            <a:pPr>
              <a:spcBef>
                <a:spcPts val="2400"/>
              </a:spcBef>
            </a:pPr>
            <a:r>
              <a:rPr lang="en-US" altLang="zh-CN" b="1" dirty="0"/>
              <a:t>Python</a:t>
            </a:r>
            <a:r>
              <a:rPr lang="zh-CN" altLang="en-US" b="1" dirty="0"/>
              <a:t>语言</a:t>
            </a:r>
            <a:endParaRPr lang="en-US" altLang="zh-CN" b="1" dirty="0"/>
          </a:p>
          <a:p>
            <a:pPr lvl="1">
              <a:lnSpc>
                <a:spcPct val="150000"/>
              </a:lnSpc>
              <a:buFont typeface="Wingdings" pitchFamily="2" charset="2"/>
              <a:buChar char="l"/>
            </a:pPr>
            <a:r>
              <a:rPr lang="en-US" altLang="zh-CN" sz="18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Python</a:t>
            </a:r>
            <a:r>
              <a:rPr lang="zh-CN" altLang="zh-CN" sz="18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数据类型</a:t>
            </a:r>
            <a:endParaRPr lang="en-US" altLang="zh-CN" sz="18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lvl="1">
              <a:lnSpc>
                <a:spcPct val="150000"/>
              </a:lnSpc>
              <a:buFont typeface="Wingdings" pitchFamily="2" charset="2"/>
              <a:buChar char="l"/>
            </a:pPr>
            <a:r>
              <a:rPr lang="en-US" altLang="zh-CN" sz="18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Python</a:t>
            </a:r>
            <a:r>
              <a:rPr lang="zh-CN" altLang="zh-CN" sz="18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语法基础</a:t>
            </a:r>
            <a:endParaRPr lang="en-US" altLang="zh-CN" sz="18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lvl="1">
              <a:lnSpc>
                <a:spcPct val="150000"/>
              </a:lnSpc>
              <a:buFont typeface="Wingdings" pitchFamily="2" charset="2"/>
              <a:buChar char="l"/>
            </a:pPr>
            <a:r>
              <a:rPr lang="en-US" altLang="zh-CN" sz="18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Python</a:t>
            </a:r>
            <a:r>
              <a:rPr lang="zh-CN" altLang="zh-CN" sz="18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函数编程</a:t>
            </a:r>
            <a:endParaRPr lang="en-US" altLang="zh-CN" sz="18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lvl="1">
              <a:lnSpc>
                <a:spcPct val="150000"/>
              </a:lnSpc>
              <a:buFont typeface="Wingdings" pitchFamily="2" charset="2"/>
              <a:buChar char="l"/>
            </a:pPr>
            <a:r>
              <a:rPr lang="en-US" altLang="zh-CN" sz="18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Python</a:t>
            </a:r>
            <a:r>
              <a:rPr lang="zh-CN" altLang="zh-CN" sz="18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面向对象编程</a:t>
            </a:r>
            <a:endParaRPr lang="en-US" altLang="zh-CN" sz="1800" dirty="0"/>
          </a:p>
          <a:p>
            <a:pPr>
              <a:spcBef>
                <a:spcPts val="2400"/>
              </a:spcBef>
            </a:pPr>
            <a:r>
              <a:rPr lang="en-US" altLang="zh-CN" b="1" dirty="0"/>
              <a:t>Python</a:t>
            </a:r>
            <a:r>
              <a:rPr lang="zh-CN" altLang="en-US" b="1" dirty="0"/>
              <a:t>扩展包</a:t>
            </a:r>
            <a:endParaRPr lang="en-US" altLang="zh-CN" b="1" dirty="0"/>
          </a:p>
          <a:p>
            <a:pPr lvl="1">
              <a:lnSpc>
                <a:spcPct val="150000"/>
              </a:lnSpc>
              <a:buFont typeface="Wingdings" pitchFamily="2" charset="2"/>
              <a:buChar char="l"/>
            </a:pPr>
            <a:r>
              <a:rPr lang="en-US" altLang="zh-CN" sz="1800" dirty="0">
                <a:cs typeface="+mn-cs"/>
              </a:rPr>
              <a:t>Python</a:t>
            </a:r>
            <a:r>
              <a:rPr lang="zh-CN" altLang="zh-CN" sz="1800" dirty="0">
                <a:cs typeface="+mn-cs"/>
              </a:rPr>
              <a:t>矩阵运算</a:t>
            </a:r>
            <a:r>
              <a:rPr lang="en-US" altLang="zh-CN" sz="1800" dirty="0">
                <a:cs typeface="+mn-cs"/>
              </a:rPr>
              <a:t>-</a:t>
            </a:r>
            <a:r>
              <a:rPr lang="en-US" altLang="zh-CN" sz="1800" dirty="0" err="1">
                <a:cs typeface="+mn-cs"/>
              </a:rPr>
              <a:t>Numpy</a:t>
            </a:r>
            <a:endParaRPr lang="zh-CN" altLang="zh-CN" sz="1800" dirty="0">
              <a:cs typeface="+mn-cs"/>
            </a:endParaRPr>
          </a:p>
          <a:p>
            <a:pPr lvl="1">
              <a:lnSpc>
                <a:spcPct val="150000"/>
              </a:lnSpc>
              <a:buFont typeface="Wingdings" pitchFamily="2" charset="2"/>
              <a:buChar char="l"/>
            </a:pPr>
            <a:r>
              <a:rPr lang="en-US" altLang="zh-CN" sz="1800" dirty="0">
                <a:cs typeface="+mn-cs"/>
              </a:rPr>
              <a:t>Python</a:t>
            </a:r>
            <a:r>
              <a:rPr lang="zh-CN" altLang="zh-CN" sz="1800" dirty="0">
                <a:cs typeface="+mn-cs"/>
              </a:rPr>
              <a:t>符号计算</a:t>
            </a:r>
            <a:r>
              <a:rPr lang="en-US" altLang="zh-CN" sz="1800" dirty="0">
                <a:cs typeface="+mn-cs"/>
              </a:rPr>
              <a:t>-</a:t>
            </a:r>
            <a:r>
              <a:rPr lang="en-US" altLang="zh-CN" sz="1800" dirty="0" err="1">
                <a:cs typeface="+mn-cs"/>
              </a:rPr>
              <a:t>Sympy</a:t>
            </a:r>
            <a:endParaRPr lang="zh-CN" altLang="zh-CN" sz="1800" dirty="0">
              <a:cs typeface="+mn-cs"/>
            </a:endParaRPr>
          </a:p>
          <a:p>
            <a:pPr lvl="1">
              <a:lnSpc>
                <a:spcPct val="150000"/>
              </a:lnSpc>
              <a:buFont typeface="Wingdings" pitchFamily="2" charset="2"/>
              <a:buChar char="l"/>
            </a:pPr>
            <a:r>
              <a:rPr lang="en-US" altLang="zh-CN" sz="1800" dirty="0">
                <a:cs typeface="+mn-cs"/>
              </a:rPr>
              <a:t>Python</a:t>
            </a:r>
            <a:r>
              <a:rPr lang="zh-CN" altLang="zh-CN" sz="1800" dirty="0">
                <a:cs typeface="+mn-cs"/>
              </a:rPr>
              <a:t>绘图</a:t>
            </a:r>
            <a:r>
              <a:rPr lang="en-US" altLang="zh-CN" sz="1800" dirty="0">
                <a:cs typeface="+mn-cs"/>
              </a:rPr>
              <a:t>-</a:t>
            </a:r>
            <a:r>
              <a:rPr lang="en-US" altLang="zh-CN" sz="1800" dirty="0" err="1">
                <a:cs typeface="+mn-cs"/>
              </a:rPr>
              <a:t>Matplotlib</a:t>
            </a:r>
            <a:endParaRPr lang="zh-CN" altLang="zh-CN" sz="1800" dirty="0">
              <a:cs typeface="+mn-cs"/>
            </a:endParaRPr>
          </a:p>
          <a:p>
            <a:pPr lvl="1">
              <a:lnSpc>
                <a:spcPct val="150000"/>
              </a:lnSpc>
              <a:buFont typeface="Wingdings" pitchFamily="2" charset="2"/>
              <a:buChar char="l"/>
            </a:pPr>
            <a:r>
              <a:rPr lang="en-US" altLang="zh-CN" sz="1800" dirty="0">
                <a:cs typeface="+mn-cs"/>
              </a:rPr>
              <a:t>Python</a:t>
            </a:r>
            <a:r>
              <a:rPr lang="zh-CN" altLang="zh-CN" sz="1800" dirty="0">
                <a:cs typeface="+mn-cs"/>
              </a:rPr>
              <a:t>与深度学习</a:t>
            </a:r>
          </a:p>
          <a:p>
            <a:pPr>
              <a:buNone/>
            </a:pPr>
            <a:endParaRPr lang="zh-CN" altLang="en-US" b="1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2018</a:t>
            </a:r>
            <a:r>
              <a:rPr lang="zh-CN" altLang="en-US"/>
              <a:t>年</a:t>
            </a:r>
            <a:r>
              <a:rPr lang="en-US" altLang="zh-CN"/>
              <a:t>9</a:t>
            </a:r>
            <a:r>
              <a:rPr lang="zh-CN" altLang="en-US"/>
              <a:t>月</a:t>
            </a:r>
            <a:r>
              <a:rPr lang="en-US" altLang="zh-CN"/>
              <a:t>25</a:t>
            </a:r>
            <a:r>
              <a:rPr lang="zh-CN" altLang="en-US"/>
              <a:t>日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1651D8A-E98E-4E1D-8D6E-76007C920617}" type="slidenum">
              <a:rPr lang="en-US" altLang="zh-CN" smtClean="0"/>
              <a:pPr>
                <a:defRPr/>
              </a:pPr>
              <a:t>3</a:t>
            </a:fld>
            <a:endParaRPr lang="en-US" altLang="zh-C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9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 altLang="zh-CN"/>
              <a:t>1.Python</a:t>
            </a:r>
            <a:r>
              <a:rPr lang="zh-CN" altLang="en-US"/>
              <a:t>语言简介</a:t>
            </a:r>
          </a:p>
        </p:txBody>
      </p:sp>
      <p:sp>
        <p:nvSpPr>
          <p:cNvPr id="39940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58E9DA09-4BB9-45C8-AC78-32F96BF88BD1}" type="slidenum">
              <a:rPr lang="en-US" altLang="zh-CN"/>
              <a:pPr/>
              <a:t>4</a:t>
            </a:fld>
            <a:endParaRPr lang="en-US" altLang="zh-CN"/>
          </a:p>
        </p:txBody>
      </p:sp>
      <p:sp>
        <p:nvSpPr>
          <p:cNvPr id="3994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66738" y="1052513"/>
            <a:ext cx="8181975" cy="4967287"/>
          </a:xfrm>
        </p:spPr>
        <p:txBody>
          <a:bodyPr/>
          <a:lstStyle/>
          <a:p>
            <a:pPr eaLnBrk="1" hangingPunct="1"/>
            <a:r>
              <a:rPr lang="zh-CN" altLang="en-US" sz="2800" b="1" dirty="0">
                <a:latin typeface="Times New Roman" pitchFamily="18" charset="0"/>
              </a:rPr>
              <a:t>参考教材</a:t>
            </a:r>
          </a:p>
          <a:p>
            <a:pPr lvl="1" eaLnBrk="1" hangingPunct="1"/>
            <a:r>
              <a:rPr lang="en-US" altLang="zh-CN" sz="2400" dirty="0">
                <a:latin typeface="Times New Roman" pitchFamily="18" charset="0"/>
              </a:rPr>
              <a:t>Python </a:t>
            </a:r>
            <a:r>
              <a:rPr lang="zh-CN" altLang="en-US" sz="2400" dirty="0">
                <a:latin typeface="Times New Roman" pitchFamily="18" charset="0"/>
              </a:rPr>
              <a:t>基础教程（第二版）人民邮电出版社</a:t>
            </a:r>
            <a:r>
              <a:rPr lang="en-US" altLang="zh-CN" sz="2400" dirty="0">
                <a:latin typeface="Times New Roman" pitchFamily="18" charset="0"/>
              </a:rPr>
              <a:t>2011.11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altLang="zh-CN" sz="2400" dirty="0">
                <a:latin typeface="Times New Roman" pitchFamily="18" charset="0"/>
              </a:rPr>
              <a:t>      [</a:t>
            </a:r>
            <a:r>
              <a:rPr lang="zh-CN" altLang="en-US" sz="2400" dirty="0">
                <a:latin typeface="Times New Roman" pitchFamily="18" charset="0"/>
              </a:rPr>
              <a:t>挪</a:t>
            </a:r>
            <a:r>
              <a:rPr lang="en-US" altLang="zh-CN" sz="2400" dirty="0">
                <a:latin typeface="Times New Roman" pitchFamily="18" charset="0"/>
              </a:rPr>
              <a:t>]Magnus Lie </a:t>
            </a:r>
            <a:r>
              <a:rPr lang="en-US" altLang="zh-CN" sz="2400" dirty="0" err="1">
                <a:latin typeface="Times New Roman" pitchFamily="18" charset="0"/>
              </a:rPr>
              <a:t>Hetland</a:t>
            </a:r>
            <a:r>
              <a:rPr lang="en-US" altLang="zh-CN" sz="2400" dirty="0">
                <a:latin typeface="Times New Roman" pitchFamily="18" charset="0"/>
              </a:rPr>
              <a:t>  </a:t>
            </a:r>
            <a:r>
              <a:rPr lang="zh-CN" altLang="en-US" sz="2400" dirty="0">
                <a:latin typeface="Times New Roman" pitchFamily="18" charset="0"/>
              </a:rPr>
              <a:t>司维，曾军崴，谭颖华 </a:t>
            </a:r>
            <a:r>
              <a:rPr lang="en-US" altLang="zh-CN" sz="2400" dirty="0">
                <a:latin typeface="Times New Roman" pitchFamily="18" charset="0"/>
              </a:rPr>
              <a:t>[</a:t>
            </a:r>
            <a:r>
              <a:rPr lang="zh-CN" altLang="en-US" sz="2400" dirty="0">
                <a:latin typeface="Times New Roman" pitchFamily="18" charset="0"/>
              </a:rPr>
              <a:t>译</a:t>
            </a:r>
            <a:r>
              <a:rPr lang="en-US" altLang="zh-CN" sz="2400" dirty="0">
                <a:latin typeface="Times New Roman" pitchFamily="18" charset="0"/>
              </a:rPr>
              <a:t>] 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altLang="zh-CN" sz="2400" dirty="0">
                <a:latin typeface="Times New Roman" pitchFamily="18" charset="0"/>
              </a:rPr>
              <a:t>      Beginning Python From Novice to Professional</a:t>
            </a:r>
          </a:p>
          <a:p>
            <a:pPr lvl="1" eaLnBrk="1" hangingPunct="1"/>
            <a:r>
              <a:rPr lang="en-US" altLang="zh-CN" sz="2400" dirty="0">
                <a:latin typeface="Times New Roman" pitchFamily="18" charset="0"/>
              </a:rPr>
              <a:t>Python</a:t>
            </a:r>
            <a:r>
              <a:rPr lang="zh-CN" altLang="en-US" sz="2400" dirty="0">
                <a:latin typeface="Times New Roman" pitchFamily="18" charset="0"/>
              </a:rPr>
              <a:t>学习手册（第四版）机械工业出版社</a:t>
            </a:r>
            <a:r>
              <a:rPr lang="en-US" altLang="zh-CN" sz="2400" dirty="0">
                <a:latin typeface="Times New Roman" pitchFamily="18" charset="0"/>
              </a:rPr>
              <a:t>2011.1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altLang="zh-CN" sz="2400" dirty="0">
                <a:latin typeface="Times New Roman" pitchFamily="18" charset="0"/>
              </a:rPr>
              <a:t>      [</a:t>
            </a:r>
            <a:r>
              <a:rPr lang="zh-CN" altLang="en-US" sz="2400" dirty="0">
                <a:latin typeface="Times New Roman" pitchFamily="18" charset="0"/>
              </a:rPr>
              <a:t>美</a:t>
            </a:r>
            <a:r>
              <a:rPr lang="en-US" altLang="zh-CN" sz="2400" dirty="0">
                <a:latin typeface="Times New Roman" pitchFamily="18" charset="0"/>
              </a:rPr>
              <a:t>]Mark Lutz  </a:t>
            </a:r>
            <a:r>
              <a:rPr lang="zh-CN" altLang="en-US" sz="2400" dirty="0">
                <a:latin typeface="Times New Roman" pitchFamily="18" charset="0"/>
              </a:rPr>
              <a:t>侯靖 等</a:t>
            </a:r>
            <a:r>
              <a:rPr lang="en-US" altLang="zh-CN" sz="2400" dirty="0">
                <a:latin typeface="Times New Roman" pitchFamily="18" charset="0"/>
              </a:rPr>
              <a:t>[</a:t>
            </a:r>
            <a:r>
              <a:rPr lang="zh-CN" altLang="en-US" sz="2400" dirty="0">
                <a:latin typeface="Times New Roman" pitchFamily="18" charset="0"/>
              </a:rPr>
              <a:t>译</a:t>
            </a:r>
            <a:r>
              <a:rPr lang="en-US" altLang="zh-CN" sz="2400" dirty="0">
                <a:latin typeface="Times New Roman" pitchFamily="18" charset="0"/>
              </a:rPr>
              <a:t>]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altLang="zh-CN" sz="2400" dirty="0">
                <a:latin typeface="Times New Roman" pitchFamily="18" charset="0"/>
              </a:rPr>
              <a:t>      Learning Python</a:t>
            </a:r>
          </a:p>
          <a:p>
            <a:pPr lvl="1" eaLnBrk="1" hangingPunct="1"/>
            <a:r>
              <a:rPr lang="en-US" altLang="zh-CN" sz="2400" dirty="0">
                <a:latin typeface="Times New Roman" pitchFamily="18" charset="0"/>
              </a:rPr>
              <a:t>Python</a:t>
            </a:r>
            <a:r>
              <a:rPr lang="zh-CN" altLang="en-US" sz="2400" dirty="0">
                <a:latin typeface="Times New Roman" pitchFamily="18" charset="0"/>
              </a:rPr>
              <a:t>核心编程（第二版）人民邮电出版社</a:t>
            </a:r>
            <a:r>
              <a:rPr lang="en-US" altLang="zh-CN" sz="2400" dirty="0">
                <a:latin typeface="Times New Roman" pitchFamily="18" charset="0"/>
              </a:rPr>
              <a:t>2011.1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altLang="zh-CN" sz="2400" dirty="0">
                <a:latin typeface="Times New Roman" pitchFamily="18" charset="0"/>
              </a:rPr>
              <a:t>      [</a:t>
            </a:r>
            <a:r>
              <a:rPr lang="zh-CN" altLang="en-US" sz="2400" dirty="0">
                <a:latin typeface="Times New Roman" pitchFamily="18" charset="0"/>
              </a:rPr>
              <a:t>美</a:t>
            </a:r>
            <a:r>
              <a:rPr lang="en-US" altLang="zh-CN" sz="2400" dirty="0">
                <a:latin typeface="Times New Roman" pitchFamily="18" charset="0"/>
              </a:rPr>
              <a:t>]Wesley J. Chun   </a:t>
            </a:r>
            <a:r>
              <a:rPr lang="zh-CN" altLang="en-US" sz="2400" dirty="0">
                <a:latin typeface="Times New Roman" pitchFamily="18" charset="0"/>
              </a:rPr>
              <a:t>宋吉广</a:t>
            </a:r>
            <a:r>
              <a:rPr lang="en-US" altLang="zh-CN" sz="2400" dirty="0">
                <a:latin typeface="Times New Roman" pitchFamily="18" charset="0"/>
              </a:rPr>
              <a:t>[</a:t>
            </a:r>
            <a:r>
              <a:rPr lang="zh-CN" altLang="en-US" sz="2400" dirty="0">
                <a:latin typeface="Times New Roman" pitchFamily="18" charset="0"/>
              </a:rPr>
              <a:t>译</a:t>
            </a:r>
            <a:r>
              <a:rPr lang="en-US" altLang="zh-CN" sz="2400" dirty="0">
                <a:latin typeface="Times New Roman" pitchFamily="18" charset="0"/>
              </a:rPr>
              <a:t>]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altLang="zh-CN" sz="2400" dirty="0">
                <a:latin typeface="Times New Roman" pitchFamily="18" charset="0"/>
              </a:rPr>
              <a:t>      Core Python Programming</a:t>
            </a:r>
            <a:endParaRPr lang="en-US" altLang="zh-CN" sz="2400" b="1" dirty="0">
              <a:latin typeface="Times New Roman" pitchFamily="18" charset="0"/>
            </a:endParaRPr>
          </a:p>
        </p:txBody>
      </p:sp>
      <p:pic>
        <p:nvPicPr>
          <p:cNvPr id="39942" name="Picture 4" descr="untitled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40625" y="5084763"/>
            <a:ext cx="919163" cy="1223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9943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724525" y="5084763"/>
            <a:ext cx="920750" cy="1216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9944" name="Picture 7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615113" y="5084763"/>
            <a:ext cx="909637" cy="1195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日期占位符 3"/>
          <p:cNvSpPr>
            <a:spLocks noGrp="1"/>
          </p:cNvSpPr>
          <p:nvPr>
            <p:ph type="dt" sz="quarter" idx="10"/>
          </p:nvPr>
        </p:nvSpPr>
        <p:spPr>
          <a:xfrm>
            <a:off x="609600" y="6381750"/>
            <a:ext cx="1981200" cy="339725"/>
          </a:xfrm>
          <a:noFill/>
        </p:spPr>
        <p:txBody>
          <a:bodyPr/>
          <a:lstStyle/>
          <a:p>
            <a:r>
              <a:rPr lang="en-US" altLang="zh-CN" dirty="0"/>
              <a:t>2018</a:t>
            </a:r>
            <a:r>
              <a:rPr lang="zh-CN" altLang="en-US" dirty="0"/>
              <a:t>年</a:t>
            </a:r>
            <a:r>
              <a:rPr lang="en-US" altLang="zh-CN" dirty="0"/>
              <a:t>9</a:t>
            </a:r>
            <a:r>
              <a:rPr lang="zh-CN" altLang="en-US" dirty="0"/>
              <a:t>月</a:t>
            </a:r>
            <a:r>
              <a:rPr lang="en-US" altLang="zh-CN" dirty="0"/>
              <a:t>25</a:t>
            </a:r>
            <a:r>
              <a:rPr lang="zh-CN" altLang="en-US" dirty="0"/>
              <a:t>日</a:t>
            </a:r>
            <a:endParaRPr lang="en-US" altLang="zh-C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195736" y="2924944"/>
            <a:ext cx="5256583" cy="939800"/>
          </a:xfrm>
        </p:spPr>
        <p:txBody>
          <a:bodyPr/>
          <a:lstStyle/>
          <a:p>
            <a:pPr eaLnBrk="1" hangingPunct="1"/>
            <a:r>
              <a:rPr lang="zh-CN" altLang="en-US" dirty="0">
                <a:solidFill>
                  <a:schemeClr val="tx1"/>
                </a:solidFill>
              </a:rPr>
              <a:t>第</a:t>
            </a:r>
            <a:r>
              <a:rPr lang="en-US" altLang="zh-CN" dirty="0">
                <a:solidFill>
                  <a:schemeClr val="tx1"/>
                </a:solidFill>
              </a:rPr>
              <a:t>1</a:t>
            </a:r>
            <a:r>
              <a:rPr lang="zh-CN" altLang="en-US" dirty="0">
                <a:solidFill>
                  <a:schemeClr val="tx1"/>
                </a:solidFill>
              </a:rPr>
              <a:t>章</a:t>
            </a:r>
            <a:r>
              <a:rPr lang="en-US" altLang="zh-CN" dirty="0">
                <a:solidFill>
                  <a:schemeClr val="tx1"/>
                </a:solidFill>
              </a:rPr>
              <a:t> Python</a:t>
            </a:r>
            <a:r>
              <a:rPr lang="zh-CN" altLang="en-US" dirty="0">
                <a:solidFill>
                  <a:schemeClr val="tx1"/>
                </a:solidFill>
              </a:rPr>
              <a:t>语言简介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 altLang="zh-CN"/>
              <a:t>1.Python</a:t>
            </a:r>
            <a:r>
              <a:rPr lang="zh-CN" altLang="en-US"/>
              <a:t>语言简介</a:t>
            </a:r>
          </a:p>
        </p:txBody>
      </p:sp>
      <p:sp>
        <p:nvSpPr>
          <p:cNvPr id="15364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4C8E6D4B-E5D8-4563-85B7-F8990F27F83B}" type="slidenum">
              <a:rPr lang="en-US" altLang="zh-CN"/>
              <a:pPr/>
              <a:t>6</a:t>
            </a:fld>
            <a:endParaRPr lang="en-US" altLang="zh-CN"/>
          </a:p>
        </p:txBody>
      </p:sp>
      <p:sp>
        <p:nvSpPr>
          <p:cNvPr id="1536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31640" y="1556792"/>
            <a:ext cx="3673475" cy="4537075"/>
          </a:xfrm>
        </p:spPr>
        <p:txBody>
          <a:bodyPr/>
          <a:lstStyle/>
          <a:p>
            <a:pPr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en-US" altLang="zh-CN" sz="3200" b="1" dirty="0">
                <a:latin typeface="Times New Roman" pitchFamily="18" charset="0"/>
              </a:rPr>
              <a:t>1.1  Python </a:t>
            </a:r>
            <a:r>
              <a:rPr lang="zh-CN" altLang="en-US" sz="3200" b="1" dirty="0">
                <a:latin typeface="Times New Roman" pitchFamily="18" charset="0"/>
              </a:rPr>
              <a:t>简介</a:t>
            </a:r>
          </a:p>
          <a:p>
            <a:pPr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en-US" altLang="zh-CN" sz="3200" b="1" dirty="0">
                <a:latin typeface="Times New Roman" pitchFamily="18" charset="0"/>
              </a:rPr>
              <a:t>1.2  Python </a:t>
            </a:r>
            <a:r>
              <a:rPr lang="zh-CN" altLang="en-US" sz="3200" b="1" dirty="0">
                <a:latin typeface="Times New Roman" pitchFamily="18" charset="0"/>
              </a:rPr>
              <a:t>安装</a:t>
            </a:r>
          </a:p>
          <a:p>
            <a:pPr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en-US" altLang="zh-CN" sz="3200" b="1" dirty="0">
                <a:latin typeface="Times New Roman" pitchFamily="18" charset="0"/>
              </a:rPr>
              <a:t>1.3  IDE </a:t>
            </a:r>
            <a:r>
              <a:rPr lang="zh-CN" altLang="en-US" sz="3200" b="1" dirty="0">
                <a:latin typeface="Times New Roman" pitchFamily="18" charset="0"/>
              </a:rPr>
              <a:t>使用</a:t>
            </a:r>
          </a:p>
          <a:p>
            <a:pPr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en-US" altLang="zh-CN" sz="3200" b="1" dirty="0">
                <a:latin typeface="Times New Roman" pitchFamily="18" charset="0"/>
              </a:rPr>
              <a:t>1.4  Python </a:t>
            </a:r>
            <a:r>
              <a:rPr lang="zh-CN" altLang="en-US" sz="3200" b="1" dirty="0">
                <a:latin typeface="Times New Roman" pitchFamily="18" charset="0"/>
              </a:rPr>
              <a:t>编程</a:t>
            </a:r>
          </a:p>
        </p:txBody>
      </p:sp>
      <p:sp>
        <p:nvSpPr>
          <p:cNvPr id="15366" name="Rectangle 5"/>
          <p:cNvSpPr>
            <a:spLocks noChangeArrowheads="1"/>
          </p:cNvSpPr>
          <p:nvPr/>
        </p:nvSpPr>
        <p:spPr bwMode="auto">
          <a:xfrm>
            <a:off x="755650" y="0"/>
            <a:ext cx="5648325" cy="93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r>
              <a:rPr lang="en-US" altLang="zh-CN" sz="4000" b="1">
                <a:latin typeface="Times New Roman" pitchFamily="18" charset="0"/>
              </a:rPr>
              <a:t>1. Python</a:t>
            </a:r>
            <a:r>
              <a:rPr lang="zh-CN" altLang="en-US" sz="4000" b="1">
                <a:latin typeface="Times New Roman" pitchFamily="18" charset="0"/>
              </a:rPr>
              <a:t>语言简介</a:t>
            </a:r>
          </a:p>
        </p:txBody>
      </p:sp>
      <p:sp>
        <p:nvSpPr>
          <p:cNvPr id="8" name="日期占位符 3"/>
          <p:cNvSpPr>
            <a:spLocks noGrp="1"/>
          </p:cNvSpPr>
          <p:nvPr>
            <p:ph type="dt" sz="quarter" idx="10"/>
          </p:nvPr>
        </p:nvSpPr>
        <p:spPr>
          <a:xfrm>
            <a:off x="609600" y="6381750"/>
            <a:ext cx="1981200" cy="339725"/>
          </a:xfrm>
          <a:noFill/>
        </p:spPr>
        <p:txBody>
          <a:bodyPr/>
          <a:lstStyle/>
          <a:p>
            <a:r>
              <a:rPr lang="en-US" altLang="zh-CN" dirty="0"/>
              <a:t>2018</a:t>
            </a:r>
            <a:r>
              <a:rPr lang="zh-CN" altLang="en-US" dirty="0"/>
              <a:t>年</a:t>
            </a:r>
            <a:r>
              <a:rPr lang="en-US" altLang="zh-CN" dirty="0"/>
              <a:t>9</a:t>
            </a:r>
            <a:r>
              <a:rPr lang="zh-CN" altLang="en-US" dirty="0"/>
              <a:t>月</a:t>
            </a:r>
            <a:r>
              <a:rPr lang="en-US" altLang="zh-CN" dirty="0"/>
              <a:t>25</a:t>
            </a:r>
            <a:r>
              <a:rPr lang="zh-CN" altLang="en-US" dirty="0"/>
              <a:t>日</a:t>
            </a:r>
            <a:endParaRPr lang="en-US" altLang="zh-CN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 altLang="zh-CN"/>
              <a:t>1.Python</a:t>
            </a:r>
            <a:r>
              <a:rPr lang="zh-CN" altLang="en-US"/>
              <a:t>语言简介</a:t>
            </a:r>
          </a:p>
        </p:txBody>
      </p:sp>
      <p:sp>
        <p:nvSpPr>
          <p:cNvPr id="16388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AB2D3ACA-EB4C-44BC-9387-56D1A013B7C7}" type="slidenum">
              <a:rPr lang="en-US" altLang="zh-CN"/>
              <a:pPr/>
              <a:t>7</a:t>
            </a:fld>
            <a:endParaRPr lang="en-US" altLang="zh-CN"/>
          </a:p>
        </p:txBody>
      </p:sp>
      <p:sp>
        <p:nvSpPr>
          <p:cNvPr id="1638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200" b="1">
                <a:latin typeface="Times New Roman" pitchFamily="18" charset="0"/>
              </a:rPr>
              <a:t>1.1 Python </a:t>
            </a:r>
            <a:r>
              <a:rPr lang="zh-CN" altLang="en-US" sz="3200" b="1"/>
              <a:t>简介</a:t>
            </a:r>
          </a:p>
        </p:txBody>
      </p:sp>
      <p:sp>
        <p:nvSpPr>
          <p:cNvPr id="1639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9750" y="1196975"/>
            <a:ext cx="8001000" cy="4967288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Times New Roman" pitchFamily="18" charset="0"/>
              </a:rPr>
              <a:t>Python </a:t>
            </a:r>
            <a:r>
              <a:rPr lang="zh-CN" altLang="en-US" sz="2800" b="1" dirty="0"/>
              <a:t>语言是历史的选择（三个三）</a:t>
            </a:r>
          </a:p>
          <a:p>
            <a:pPr lvl="1" eaLnBrk="1" hangingPunct="1"/>
            <a:r>
              <a:rPr lang="zh-CN" altLang="en-US" sz="2400" dirty="0"/>
              <a:t>三大名校的选择：</a:t>
            </a:r>
            <a:r>
              <a:rPr lang="en-US" altLang="zh-CN" sz="2400" dirty="0">
                <a:latin typeface="Times New Roman" pitchFamily="18" charset="0"/>
              </a:rPr>
              <a:t>MIT</a:t>
            </a:r>
            <a:r>
              <a:rPr lang="zh-CN" altLang="en-US" sz="2400" dirty="0">
                <a:latin typeface="Times New Roman" pitchFamily="18" charset="0"/>
              </a:rPr>
              <a:t>，</a:t>
            </a:r>
            <a:r>
              <a:rPr lang="en-US" altLang="zh-CN" sz="2400" dirty="0">
                <a:latin typeface="Times New Roman" pitchFamily="18" charset="0"/>
              </a:rPr>
              <a:t>Stanford</a:t>
            </a:r>
            <a:r>
              <a:rPr lang="zh-CN" altLang="en-US" sz="2400" dirty="0">
                <a:latin typeface="Times New Roman" pitchFamily="18" charset="0"/>
              </a:rPr>
              <a:t>，</a:t>
            </a:r>
            <a:r>
              <a:rPr lang="en-US" altLang="zh-CN" sz="2400" dirty="0">
                <a:latin typeface="Times New Roman" pitchFamily="18" charset="0"/>
              </a:rPr>
              <a:t>UCB</a:t>
            </a:r>
          </a:p>
          <a:p>
            <a:pPr lvl="1" eaLnBrk="1" hangingPunct="1"/>
            <a:r>
              <a:rPr lang="zh-CN" altLang="en-US" sz="2400" dirty="0"/>
              <a:t>三大名企的选择：</a:t>
            </a:r>
            <a:r>
              <a:rPr lang="en-US" altLang="zh-CN" sz="2400" dirty="0">
                <a:latin typeface="Times New Roman" pitchFamily="18" charset="0"/>
              </a:rPr>
              <a:t>Google</a:t>
            </a:r>
            <a:r>
              <a:rPr lang="zh-CN" altLang="en-US" sz="2400" dirty="0">
                <a:latin typeface="Times New Roman" pitchFamily="18" charset="0"/>
              </a:rPr>
              <a:t>，</a:t>
            </a:r>
            <a:r>
              <a:rPr lang="en-US" altLang="zh-CN" sz="2400" dirty="0">
                <a:latin typeface="Times New Roman" pitchFamily="18" charset="0"/>
              </a:rPr>
              <a:t>Oracle</a:t>
            </a:r>
            <a:r>
              <a:rPr lang="zh-CN" altLang="en-US" sz="2400" dirty="0">
                <a:latin typeface="Times New Roman" pitchFamily="18" charset="0"/>
              </a:rPr>
              <a:t>，</a:t>
            </a:r>
            <a:r>
              <a:rPr lang="en-US" altLang="zh-CN" sz="2400" dirty="0" err="1">
                <a:latin typeface="Times New Roman" pitchFamily="18" charset="0"/>
              </a:rPr>
              <a:t>Facebook</a:t>
            </a:r>
            <a:endParaRPr lang="en-US" altLang="zh-CN" sz="2400" dirty="0">
              <a:latin typeface="Times New Roman" pitchFamily="18" charset="0"/>
            </a:endParaRPr>
          </a:p>
          <a:p>
            <a:pPr lvl="1" eaLnBrk="1" hangingPunct="1"/>
            <a:r>
              <a:rPr lang="zh-CN" altLang="en-US" sz="2400" dirty="0"/>
              <a:t>三大名人的选择：</a:t>
            </a:r>
            <a:r>
              <a:rPr lang="en-US" altLang="zh-CN" sz="2400" dirty="0">
                <a:latin typeface="Times New Roman" pitchFamily="18" charset="0"/>
              </a:rPr>
              <a:t>Microsoft</a:t>
            </a:r>
            <a:r>
              <a:rPr lang="zh-CN" altLang="en-US" sz="2400" dirty="0">
                <a:latin typeface="Times New Roman" pitchFamily="18" charset="0"/>
              </a:rPr>
              <a:t>，</a:t>
            </a:r>
            <a:r>
              <a:rPr lang="en-US" altLang="zh-CN" sz="2400" dirty="0">
                <a:latin typeface="Times New Roman" pitchFamily="18" charset="0"/>
              </a:rPr>
              <a:t>Apple</a:t>
            </a:r>
            <a:r>
              <a:rPr lang="zh-CN" altLang="en-US" sz="2400" dirty="0">
                <a:latin typeface="Times New Roman" pitchFamily="18" charset="0"/>
              </a:rPr>
              <a:t>，</a:t>
            </a:r>
            <a:r>
              <a:rPr lang="en-US" altLang="zh-CN" sz="2400" dirty="0" err="1">
                <a:latin typeface="Times New Roman" pitchFamily="18" charset="0"/>
              </a:rPr>
              <a:t>Baidu</a:t>
            </a:r>
            <a:endParaRPr lang="en-US" altLang="zh-CN" sz="2400" dirty="0">
              <a:latin typeface="Times New Roman" pitchFamily="18" charset="0"/>
            </a:endParaRPr>
          </a:p>
          <a:p>
            <a:pPr lvl="1" eaLnBrk="1" hangingPunct="1"/>
            <a:endParaRPr lang="en-US" altLang="zh-CN" sz="2000" dirty="0"/>
          </a:p>
          <a:p>
            <a:pPr eaLnBrk="1" hangingPunct="1"/>
            <a:r>
              <a:rPr lang="en-US" altLang="zh-CN" sz="2800" b="1" dirty="0">
                <a:latin typeface="Times New Roman" pitchFamily="18" charset="0"/>
              </a:rPr>
              <a:t>Python</a:t>
            </a:r>
            <a:r>
              <a:rPr lang="en-US" altLang="zh-CN" sz="2800" b="1" dirty="0"/>
              <a:t> </a:t>
            </a:r>
            <a:r>
              <a:rPr lang="zh-CN" altLang="en-US" sz="2800" b="1" dirty="0"/>
              <a:t>语言特点</a:t>
            </a:r>
            <a:endParaRPr lang="zh-CN" altLang="en-US" sz="2500" dirty="0"/>
          </a:p>
          <a:p>
            <a:pPr eaLnBrk="1" hangingPunct="1">
              <a:buFont typeface="Wingdings" pitchFamily="2" charset="2"/>
              <a:buNone/>
            </a:pPr>
            <a:r>
              <a:rPr lang="zh-CN" altLang="en-US" sz="2500" dirty="0"/>
              <a:t> </a:t>
            </a:r>
            <a:r>
              <a:rPr lang="zh-CN" altLang="en-US" sz="2400" b="1" dirty="0">
                <a:solidFill>
                  <a:srgbClr val="6600FF"/>
                </a:solidFill>
                <a:latin typeface="宋体" pitchFamily="2" charset="-122"/>
              </a:rPr>
              <a:t>易用性</a:t>
            </a:r>
            <a:r>
              <a:rPr lang="en-US" altLang="zh-CN" sz="2400" b="1" dirty="0">
                <a:solidFill>
                  <a:srgbClr val="6600FF"/>
                </a:solidFill>
                <a:latin typeface="宋体" pitchFamily="2" charset="-122"/>
              </a:rPr>
              <a:t>:</a:t>
            </a:r>
          </a:p>
          <a:p>
            <a:pPr lvl="1" eaLnBrk="1" hangingPunct="1"/>
            <a:r>
              <a:rPr lang="en-US" altLang="zh-CN" sz="2400" dirty="0">
                <a:latin typeface="Times New Roman" pitchFamily="18" charset="0"/>
              </a:rPr>
              <a:t>Python</a:t>
            </a:r>
            <a:r>
              <a:rPr lang="en-US" altLang="zh-CN" sz="2400" dirty="0"/>
              <a:t> </a:t>
            </a:r>
            <a:r>
              <a:rPr lang="zh-CN" altLang="en-US" sz="2400" dirty="0"/>
              <a:t>很容易上手，但它是一门真正的编程语言，相对于 </a:t>
            </a:r>
            <a:r>
              <a:rPr lang="en-US" altLang="zh-CN" sz="2400" dirty="0">
                <a:latin typeface="Times New Roman" pitchFamily="18" charset="0"/>
              </a:rPr>
              <a:t>Shell</a:t>
            </a:r>
            <a:r>
              <a:rPr lang="en-US" altLang="zh-CN" sz="2400" dirty="0"/>
              <a:t> </a:t>
            </a:r>
            <a:r>
              <a:rPr lang="zh-CN" altLang="en-US" sz="2400" dirty="0"/>
              <a:t>，它提供的针对大型程序的支持和结构要多得多。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CN" sz="2600" b="1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quarter" idx="10"/>
          </p:nvPr>
        </p:nvSpPr>
        <p:spPr>
          <a:xfrm>
            <a:off x="609600" y="6381750"/>
            <a:ext cx="1981200" cy="339725"/>
          </a:xfrm>
          <a:noFill/>
        </p:spPr>
        <p:txBody>
          <a:bodyPr/>
          <a:lstStyle/>
          <a:p>
            <a:r>
              <a:rPr lang="en-US" altLang="zh-CN" dirty="0"/>
              <a:t>2018</a:t>
            </a:r>
            <a:r>
              <a:rPr lang="zh-CN" altLang="en-US" dirty="0"/>
              <a:t>年</a:t>
            </a:r>
            <a:r>
              <a:rPr lang="en-US" altLang="zh-CN" dirty="0"/>
              <a:t>9</a:t>
            </a:r>
            <a:r>
              <a:rPr lang="zh-CN" altLang="en-US" dirty="0"/>
              <a:t>月</a:t>
            </a:r>
            <a:r>
              <a:rPr lang="en-US" altLang="zh-CN" dirty="0"/>
              <a:t>25</a:t>
            </a:r>
            <a:r>
              <a:rPr lang="zh-CN" altLang="en-US" dirty="0"/>
              <a:t>日</a:t>
            </a:r>
            <a:endParaRPr lang="en-US" altLang="zh-CN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 altLang="zh-CN"/>
              <a:t>1.Python</a:t>
            </a:r>
            <a:r>
              <a:rPr lang="zh-CN" altLang="en-US"/>
              <a:t>语言简介</a:t>
            </a:r>
          </a:p>
        </p:txBody>
      </p:sp>
      <p:sp>
        <p:nvSpPr>
          <p:cNvPr id="17412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D4163BC7-7805-4473-AD04-BEFD5F21B258}" type="slidenum">
              <a:rPr lang="en-US" altLang="zh-CN"/>
              <a:pPr/>
              <a:t>8</a:t>
            </a:fld>
            <a:endParaRPr lang="en-US" altLang="zh-CN"/>
          </a:p>
        </p:txBody>
      </p:sp>
      <p:sp>
        <p:nvSpPr>
          <p:cNvPr id="1741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125538"/>
            <a:ext cx="8253412" cy="4967287"/>
          </a:xfrm>
        </p:spPr>
        <p:txBody>
          <a:bodyPr/>
          <a:lstStyle/>
          <a:p>
            <a:pPr lvl="1" eaLnBrk="1" hangingPunct="1">
              <a:lnSpc>
                <a:spcPct val="90000"/>
              </a:lnSpc>
            </a:pPr>
            <a:r>
              <a:rPr lang="en-US" altLang="zh-CN" sz="2400" dirty="0">
                <a:latin typeface="Times New Roman" pitchFamily="18" charset="0"/>
              </a:rPr>
              <a:t>Python</a:t>
            </a:r>
            <a:r>
              <a:rPr lang="en-US" altLang="zh-CN" sz="2400" dirty="0"/>
              <a:t> </a:t>
            </a:r>
            <a:r>
              <a:rPr lang="zh-CN" altLang="en-US" sz="2400" dirty="0"/>
              <a:t>可以写出很紧凑的，可读性很强的程序。 </a:t>
            </a:r>
          </a:p>
          <a:p>
            <a:pPr lvl="2" eaLnBrk="1" hangingPunct="1">
              <a:lnSpc>
                <a:spcPct val="90000"/>
              </a:lnSpc>
              <a:buFont typeface="Wingdings" pitchFamily="2" charset="2"/>
              <a:buChar char="u"/>
            </a:pPr>
            <a:r>
              <a:rPr lang="zh-CN" altLang="en-US" sz="2400" dirty="0"/>
              <a:t>高级数据结构使你可以在一个单独的语言中表达出很复杂的操作； </a:t>
            </a:r>
          </a:p>
          <a:p>
            <a:pPr lvl="2" eaLnBrk="1" hangingPunct="1">
              <a:lnSpc>
                <a:spcPct val="90000"/>
              </a:lnSpc>
              <a:buFont typeface="Wingdings" pitchFamily="2" charset="2"/>
              <a:buChar char="u"/>
            </a:pPr>
            <a:r>
              <a:rPr lang="zh-CN" altLang="en-US" sz="2400" dirty="0"/>
              <a:t>语句的组织依赖于缩进而不是 开始</a:t>
            </a:r>
            <a:r>
              <a:rPr lang="en-US" altLang="zh-CN" sz="2400" dirty="0"/>
              <a:t>/</a:t>
            </a:r>
            <a:r>
              <a:rPr lang="zh-CN" altLang="en-US" sz="2400" dirty="0"/>
              <a:t>结束（类似 </a:t>
            </a:r>
            <a:r>
              <a:rPr lang="en-US" altLang="zh-CN" sz="2400" dirty="0"/>
              <a:t>C </a:t>
            </a:r>
            <a:r>
              <a:rPr lang="zh-CN" altLang="en-US" sz="2400" dirty="0"/>
              <a:t>族语言的 </a:t>
            </a:r>
            <a:r>
              <a:rPr lang="en-US" altLang="zh-CN" sz="2400" dirty="0"/>
              <a:t>{} </a:t>
            </a:r>
            <a:r>
              <a:rPr lang="zh-CN" altLang="en-US" sz="2400" dirty="0"/>
              <a:t>符号或 </a:t>
            </a:r>
            <a:r>
              <a:rPr lang="en-US" altLang="zh-CN" sz="2400" dirty="0">
                <a:latin typeface="Times New Roman" pitchFamily="18" charset="0"/>
              </a:rPr>
              <a:t>Pascal </a:t>
            </a:r>
            <a:r>
              <a:rPr lang="zh-CN" altLang="en-US" sz="2400" dirty="0"/>
              <a:t>的</a:t>
            </a:r>
            <a:r>
              <a:rPr lang="zh-CN" altLang="en-US" sz="2400" dirty="0">
                <a:latin typeface="Times New Roman" pitchFamily="18" charset="0"/>
              </a:rPr>
              <a:t> </a:t>
            </a:r>
            <a:r>
              <a:rPr lang="en-US" altLang="zh-CN" sz="2400" dirty="0">
                <a:latin typeface="Times New Roman" pitchFamily="18" charset="0"/>
              </a:rPr>
              <a:t>begin/end </a:t>
            </a:r>
            <a:r>
              <a:rPr lang="zh-CN" altLang="en-US" sz="2400" dirty="0"/>
              <a:t>关键字）标记块； </a:t>
            </a:r>
          </a:p>
          <a:p>
            <a:pPr lvl="2" eaLnBrk="1" hangingPunct="1">
              <a:lnSpc>
                <a:spcPct val="90000"/>
              </a:lnSpc>
              <a:buFont typeface="Wingdings" pitchFamily="2" charset="2"/>
              <a:buChar char="u"/>
            </a:pPr>
            <a:r>
              <a:rPr lang="zh-CN" altLang="en-US" sz="2400" dirty="0"/>
              <a:t>参数或变量不需要声明</a:t>
            </a:r>
            <a:r>
              <a:rPr lang="zh-CN" altLang="en-US" dirty="0"/>
              <a:t>。</a:t>
            </a:r>
          </a:p>
          <a:p>
            <a:pPr lvl="2" eaLnBrk="1" hangingPunct="1">
              <a:lnSpc>
                <a:spcPct val="90000"/>
              </a:lnSpc>
              <a:buFont typeface="Wingdings" pitchFamily="2" charset="2"/>
              <a:buNone/>
            </a:pPr>
            <a:endParaRPr lang="zh-CN" altLang="en-US" dirty="0"/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400" b="1" dirty="0">
                <a:solidFill>
                  <a:srgbClr val="6600FF"/>
                </a:solidFill>
              </a:rPr>
              <a:t>扩展性</a:t>
            </a:r>
            <a:r>
              <a:rPr lang="en-US" altLang="zh-CN" sz="2400" b="1" dirty="0">
                <a:solidFill>
                  <a:srgbClr val="6600FF"/>
                </a:solidFill>
              </a:rPr>
              <a:t>: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sz="2400" dirty="0"/>
              <a:t>它提供了比 </a:t>
            </a:r>
            <a:r>
              <a:rPr lang="en-US" altLang="zh-CN" sz="2400" dirty="0"/>
              <a:t>C </a:t>
            </a:r>
            <a:r>
              <a:rPr lang="zh-CN" altLang="en-US" sz="2400" dirty="0"/>
              <a:t>更多的错误检查，作为一门 </a:t>
            </a:r>
            <a:r>
              <a:rPr lang="zh-CN" altLang="en-US" sz="2400" i="1" dirty="0">
                <a:solidFill>
                  <a:srgbClr val="FF0000"/>
                </a:solidFill>
              </a:rPr>
              <a:t>非常高级的语言</a:t>
            </a:r>
            <a:r>
              <a:rPr lang="zh-CN" altLang="en-US" sz="2400" dirty="0"/>
              <a:t> ，它拥有内置的高级数据结构类型，例如可变数组和字典。拥有更多的通用数据类型，</a:t>
            </a:r>
            <a:r>
              <a:rPr lang="zh-CN" altLang="en-US" sz="2400" dirty="0">
                <a:latin typeface="Times New Roman" pitchFamily="18" charset="0"/>
              </a:rPr>
              <a:t> </a:t>
            </a:r>
            <a:r>
              <a:rPr lang="en-US" altLang="zh-CN" sz="2400" dirty="0">
                <a:latin typeface="Times New Roman" pitchFamily="18" charset="0"/>
              </a:rPr>
              <a:t>Python </a:t>
            </a:r>
            <a:r>
              <a:rPr lang="zh-CN" altLang="en-US" sz="2400" dirty="0"/>
              <a:t>适合比</a:t>
            </a:r>
            <a:r>
              <a:rPr lang="zh-CN" altLang="en-US" sz="2400" dirty="0">
                <a:latin typeface="Times New Roman" pitchFamily="18" charset="0"/>
              </a:rPr>
              <a:t> </a:t>
            </a:r>
            <a:r>
              <a:rPr lang="en-US" altLang="zh-CN" sz="2400" dirty="0" err="1">
                <a:latin typeface="Times New Roman" pitchFamily="18" charset="0"/>
              </a:rPr>
              <a:t>Awk</a:t>
            </a:r>
            <a:r>
              <a:rPr lang="en-US" altLang="zh-CN" sz="2400" dirty="0">
                <a:latin typeface="Times New Roman" pitchFamily="18" charset="0"/>
              </a:rPr>
              <a:t> </a:t>
            </a:r>
            <a:r>
              <a:rPr lang="zh-CN" altLang="en-US" sz="2400" dirty="0"/>
              <a:t>甚至</a:t>
            </a:r>
            <a:r>
              <a:rPr lang="zh-CN" altLang="en-US" sz="2400" dirty="0">
                <a:latin typeface="Times New Roman" pitchFamily="18" charset="0"/>
              </a:rPr>
              <a:t> </a:t>
            </a:r>
            <a:r>
              <a:rPr lang="en-US" altLang="zh-CN" sz="2400" dirty="0">
                <a:latin typeface="Times New Roman" pitchFamily="18" charset="0"/>
              </a:rPr>
              <a:t>Perl</a:t>
            </a:r>
            <a:r>
              <a:rPr lang="en-US" altLang="zh-CN" sz="2400" dirty="0"/>
              <a:t> </a:t>
            </a:r>
            <a:r>
              <a:rPr lang="zh-CN" altLang="en-US" sz="2400" dirty="0"/>
              <a:t>更广泛的问题领域。</a:t>
            </a:r>
            <a:endParaRPr lang="zh-CN" altLang="en-US" dirty="0"/>
          </a:p>
        </p:txBody>
      </p:sp>
      <p:sp>
        <p:nvSpPr>
          <p:cNvPr id="6" name="日期占位符 3"/>
          <p:cNvSpPr>
            <a:spLocks noGrp="1"/>
          </p:cNvSpPr>
          <p:nvPr>
            <p:ph type="dt" sz="quarter" idx="10"/>
          </p:nvPr>
        </p:nvSpPr>
        <p:spPr>
          <a:xfrm>
            <a:off x="609600" y="6381750"/>
            <a:ext cx="1981200" cy="339725"/>
          </a:xfrm>
          <a:noFill/>
        </p:spPr>
        <p:txBody>
          <a:bodyPr/>
          <a:lstStyle/>
          <a:p>
            <a:r>
              <a:rPr lang="en-US" altLang="zh-CN" dirty="0"/>
              <a:t>2018</a:t>
            </a:r>
            <a:r>
              <a:rPr lang="zh-CN" altLang="en-US" dirty="0"/>
              <a:t>年</a:t>
            </a:r>
            <a:r>
              <a:rPr lang="en-US" altLang="zh-CN" dirty="0"/>
              <a:t>9</a:t>
            </a:r>
            <a:r>
              <a:rPr lang="zh-CN" altLang="en-US" dirty="0"/>
              <a:t>月</a:t>
            </a:r>
            <a:r>
              <a:rPr lang="en-US" altLang="zh-CN" dirty="0"/>
              <a:t>25</a:t>
            </a:r>
            <a:r>
              <a:rPr lang="zh-CN" altLang="en-US" dirty="0"/>
              <a:t>日</a:t>
            </a:r>
            <a:endParaRPr lang="en-US" altLang="zh-CN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 altLang="zh-CN"/>
              <a:t>1.Python</a:t>
            </a:r>
            <a:r>
              <a:rPr lang="zh-CN" altLang="en-US"/>
              <a:t>语言简介</a:t>
            </a:r>
          </a:p>
        </p:txBody>
      </p:sp>
      <p:sp>
        <p:nvSpPr>
          <p:cNvPr id="18436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860B8C66-A2CB-4019-9135-10C3888ADEF0}" type="slidenum">
              <a:rPr lang="en-US" altLang="zh-CN"/>
              <a:pPr/>
              <a:t>9</a:t>
            </a:fld>
            <a:endParaRPr lang="en-US" altLang="zh-CN"/>
          </a:p>
        </p:txBody>
      </p:sp>
      <p:sp>
        <p:nvSpPr>
          <p:cNvPr id="1843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9750" y="981075"/>
            <a:ext cx="8280400" cy="5184775"/>
          </a:xfrm>
        </p:spPr>
        <p:txBody>
          <a:bodyPr/>
          <a:lstStyle/>
          <a:p>
            <a:pPr lvl="1" eaLnBrk="1" hangingPunct="1"/>
            <a:r>
              <a:rPr lang="zh-CN" altLang="en-US" sz="2400"/>
              <a:t>在其它的很多领域， </a:t>
            </a:r>
            <a:r>
              <a:rPr lang="en-US" altLang="zh-CN" sz="2400"/>
              <a:t>Python </a:t>
            </a:r>
            <a:r>
              <a:rPr lang="zh-CN" altLang="en-US" sz="2400"/>
              <a:t>至少比别的语言要易用得多。 </a:t>
            </a:r>
          </a:p>
          <a:p>
            <a:pPr lvl="1" eaLnBrk="1" hangingPunct="1"/>
            <a:r>
              <a:rPr lang="en-US" altLang="zh-CN" sz="2400">
                <a:latin typeface="Times New Roman" pitchFamily="18" charset="0"/>
              </a:rPr>
              <a:t>Python </a:t>
            </a:r>
            <a:r>
              <a:rPr lang="zh-CN" altLang="en-US" sz="2400"/>
              <a:t>运行环境、库文件等都是开源的。</a:t>
            </a:r>
          </a:p>
          <a:p>
            <a:pPr lvl="1" eaLnBrk="1" hangingPunct="1"/>
            <a:r>
              <a:rPr lang="zh-CN" altLang="en-US" sz="2400"/>
              <a:t>可以将 </a:t>
            </a:r>
            <a:r>
              <a:rPr lang="en-US" altLang="zh-CN" sz="2400">
                <a:latin typeface="Times New Roman" pitchFamily="18" charset="0"/>
              </a:rPr>
              <a:t>Python</a:t>
            </a:r>
            <a:r>
              <a:rPr lang="en-US" altLang="zh-CN" sz="2400"/>
              <a:t> </a:t>
            </a:r>
            <a:r>
              <a:rPr lang="zh-CN" altLang="en-US" sz="2400"/>
              <a:t>集成进由 </a:t>
            </a:r>
            <a:r>
              <a:rPr lang="en-US" altLang="zh-CN" sz="2400"/>
              <a:t>C </a:t>
            </a:r>
            <a:r>
              <a:rPr lang="zh-CN" altLang="en-US" sz="2400"/>
              <a:t>写成的程序，把 </a:t>
            </a:r>
            <a:r>
              <a:rPr lang="en-US" altLang="zh-CN" sz="2400">
                <a:latin typeface="Times New Roman" pitchFamily="18" charset="0"/>
              </a:rPr>
              <a:t>Python</a:t>
            </a:r>
            <a:r>
              <a:rPr lang="en-US" altLang="zh-CN" sz="2400"/>
              <a:t> </a:t>
            </a:r>
            <a:r>
              <a:rPr lang="zh-CN" altLang="en-US" sz="2400"/>
              <a:t>当做是这个程序的扩展或命令行语言。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400" b="1">
                <a:solidFill>
                  <a:srgbClr val="6600FF"/>
                </a:solidFill>
              </a:rPr>
              <a:t>面向对象</a:t>
            </a:r>
          </a:p>
          <a:p>
            <a:pPr lvl="1" eaLnBrk="1" hangingPunct="1"/>
            <a:r>
              <a:rPr lang="zh-CN" altLang="en-US" sz="2400">
                <a:latin typeface="宋体" pitchFamily="2" charset="-122"/>
              </a:rPr>
              <a:t>使用面向对象的方式。</a:t>
            </a:r>
            <a:r>
              <a:rPr lang="en-US" altLang="zh-CN" sz="2400">
                <a:latin typeface="Times New Roman" pitchFamily="18" charset="0"/>
              </a:rPr>
              <a:t>Python</a:t>
            </a:r>
            <a:r>
              <a:rPr lang="zh-CN" altLang="en-US" sz="2400">
                <a:latin typeface="宋体" pitchFamily="2" charset="-122"/>
              </a:rPr>
              <a:t>即支持面向过程的编程，也支持面向对象的编程。在 </a:t>
            </a:r>
            <a:r>
              <a:rPr lang="zh-CN" altLang="en-US" sz="2400" b="1" i="1">
                <a:solidFill>
                  <a:srgbClr val="6600FF"/>
                </a:solidFill>
                <a:latin typeface="宋体" pitchFamily="2" charset="-122"/>
              </a:rPr>
              <a:t>面向过程</a:t>
            </a:r>
            <a:r>
              <a:rPr lang="zh-CN" altLang="en-US" sz="2400">
                <a:latin typeface="宋体" pitchFamily="2" charset="-122"/>
              </a:rPr>
              <a:t> 的语言中，程序是由过程或仅仅是可重用代码的函数构建起来的。在 </a:t>
            </a:r>
            <a:r>
              <a:rPr lang="zh-CN" altLang="en-US" sz="2400" b="1" i="1">
                <a:solidFill>
                  <a:srgbClr val="6600FF"/>
                </a:solidFill>
                <a:latin typeface="宋体" pitchFamily="2" charset="-122"/>
              </a:rPr>
              <a:t>面向对象</a:t>
            </a:r>
            <a:r>
              <a:rPr lang="zh-CN" altLang="en-US" sz="2400">
                <a:latin typeface="宋体" pitchFamily="2" charset="-122"/>
              </a:rPr>
              <a:t> 的语言中，程序是由数据和功能组合而成的对象构建起来的。与其他主要的语言如</a:t>
            </a:r>
            <a:r>
              <a:rPr lang="en-US" altLang="zh-CN" sz="2400">
                <a:latin typeface="Times New Roman" pitchFamily="18" charset="0"/>
              </a:rPr>
              <a:t>C++</a:t>
            </a:r>
            <a:r>
              <a:rPr lang="zh-CN" altLang="en-US" sz="2400">
                <a:latin typeface="宋体" pitchFamily="2" charset="-122"/>
              </a:rPr>
              <a:t>和</a:t>
            </a:r>
            <a:r>
              <a:rPr lang="en-US" altLang="zh-CN" sz="2400">
                <a:latin typeface="Times New Roman" pitchFamily="18" charset="0"/>
              </a:rPr>
              <a:t>Java</a:t>
            </a:r>
            <a:r>
              <a:rPr lang="zh-CN" altLang="en-US" sz="2400">
                <a:latin typeface="宋体" pitchFamily="2" charset="-122"/>
              </a:rPr>
              <a:t>相比，</a:t>
            </a:r>
            <a:r>
              <a:rPr lang="en-US" altLang="zh-CN" sz="2400">
                <a:latin typeface="Times New Roman" pitchFamily="18" charset="0"/>
              </a:rPr>
              <a:t>Python</a:t>
            </a:r>
            <a:r>
              <a:rPr lang="zh-CN" altLang="en-US" sz="2400">
                <a:latin typeface="宋体" pitchFamily="2" charset="-122"/>
              </a:rPr>
              <a:t>以一种非常强大又简单的方式实现面向对象编程。</a:t>
            </a:r>
            <a:endParaRPr lang="zh-CN" altLang="en-US" sz="2000">
              <a:latin typeface="宋体" pitchFamily="2" charset="-122"/>
            </a:endParaRPr>
          </a:p>
        </p:txBody>
      </p:sp>
      <p:sp>
        <p:nvSpPr>
          <p:cNvPr id="6" name="日期占位符 3"/>
          <p:cNvSpPr>
            <a:spLocks noGrp="1"/>
          </p:cNvSpPr>
          <p:nvPr>
            <p:ph type="dt" sz="quarter" idx="10"/>
          </p:nvPr>
        </p:nvSpPr>
        <p:spPr>
          <a:xfrm>
            <a:off x="609600" y="6381750"/>
            <a:ext cx="1981200" cy="339725"/>
          </a:xfrm>
          <a:noFill/>
        </p:spPr>
        <p:txBody>
          <a:bodyPr/>
          <a:lstStyle/>
          <a:p>
            <a:r>
              <a:rPr lang="en-US" altLang="zh-CN" dirty="0"/>
              <a:t>2018</a:t>
            </a:r>
            <a:r>
              <a:rPr lang="zh-CN" altLang="en-US" dirty="0"/>
              <a:t>年</a:t>
            </a:r>
            <a:r>
              <a:rPr lang="en-US" altLang="zh-CN" dirty="0"/>
              <a:t>9</a:t>
            </a:r>
            <a:r>
              <a:rPr lang="zh-CN" altLang="en-US" dirty="0"/>
              <a:t>月</a:t>
            </a:r>
            <a:r>
              <a:rPr lang="en-US" altLang="zh-CN" dirty="0"/>
              <a:t>25</a:t>
            </a:r>
            <a:r>
              <a:rPr lang="zh-CN" altLang="en-US" dirty="0"/>
              <a:t>日</a:t>
            </a:r>
            <a:endParaRPr lang="en-US" altLang="zh-CN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 altLang="zh-CN"/>
              <a:t>1.Python</a:t>
            </a:r>
            <a:r>
              <a:rPr lang="zh-CN" altLang="en-US"/>
              <a:t>语言简介</a:t>
            </a:r>
          </a:p>
        </p:txBody>
      </p:sp>
      <p:sp>
        <p:nvSpPr>
          <p:cNvPr id="19460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0FBB8735-E683-4515-8592-ABE990C44C98}" type="slidenum">
              <a:rPr lang="en-US" altLang="zh-CN"/>
              <a:pPr/>
              <a:t>10</a:t>
            </a:fld>
            <a:endParaRPr lang="en-US" altLang="zh-CN"/>
          </a:p>
        </p:txBody>
      </p:sp>
      <p:sp>
        <p:nvSpPr>
          <p:cNvPr id="1946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9750" y="1196975"/>
            <a:ext cx="8001000" cy="5038725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zh-CN" altLang="en-US" sz="2400" b="1" dirty="0">
                <a:solidFill>
                  <a:srgbClr val="6600FF"/>
                </a:solidFill>
              </a:rPr>
              <a:t>丰富的库</a:t>
            </a:r>
          </a:p>
          <a:p>
            <a:pPr lvl="1" eaLnBrk="1" hangingPunct="1"/>
            <a:r>
              <a:rPr lang="en-US" altLang="zh-CN" sz="2400" dirty="0">
                <a:latin typeface="Times New Roman" pitchFamily="18" charset="0"/>
              </a:rPr>
              <a:t>Python </a:t>
            </a:r>
            <a:r>
              <a:rPr lang="zh-CN" altLang="en-US" sz="2400" dirty="0">
                <a:latin typeface="Times New Roman" pitchFamily="18" charset="0"/>
              </a:rPr>
              <a:t>标准库确实很庞大。它可以帮助你处理各种工作，包括正则表达式、文档生成、单元测试、线程、数据库、网页浏览器、</a:t>
            </a:r>
            <a:r>
              <a:rPr lang="en-US" altLang="zh-CN" sz="2400" dirty="0">
                <a:latin typeface="Times New Roman" pitchFamily="18" charset="0"/>
              </a:rPr>
              <a:t>CGI</a:t>
            </a:r>
            <a:r>
              <a:rPr lang="zh-CN" altLang="en-US" sz="2400" dirty="0">
                <a:latin typeface="Times New Roman" pitchFamily="18" charset="0"/>
              </a:rPr>
              <a:t>、 </a:t>
            </a:r>
            <a:r>
              <a:rPr lang="en-US" altLang="zh-CN" sz="2400" dirty="0">
                <a:latin typeface="Times New Roman" pitchFamily="18" charset="0"/>
              </a:rPr>
              <a:t>FTP</a:t>
            </a:r>
            <a:r>
              <a:rPr lang="zh-CN" altLang="en-US" sz="2400" dirty="0">
                <a:latin typeface="Times New Roman" pitchFamily="18" charset="0"/>
              </a:rPr>
              <a:t>、电子邮件、</a:t>
            </a:r>
            <a:r>
              <a:rPr lang="en-US" altLang="zh-CN" sz="2400" dirty="0">
                <a:latin typeface="Times New Roman" pitchFamily="18" charset="0"/>
              </a:rPr>
              <a:t>XML</a:t>
            </a:r>
            <a:r>
              <a:rPr lang="zh-CN" altLang="en-US" sz="2400" dirty="0">
                <a:latin typeface="Times New Roman" pitchFamily="18" charset="0"/>
              </a:rPr>
              <a:t>、</a:t>
            </a:r>
            <a:r>
              <a:rPr lang="en-US" altLang="zh-CN" sz="2400" dirty="0">
                <a:latin typeface="Times New Roman" pitchFamily="18" charset="0"/>
              </a:rPr>
              <a:t>XML-RPC</a:t>
            </a:r>
            <a:r>
              <a:rPr lang="zh-CN" altLang="en-US" sz="2400" dirty="0">
                <a:latin typeface="Times New Roman" pitchFamily="18" charset="0"/>
              </a:rPr>
              <a:t>、</a:t>
            </a:r>
            <a:r>
              <a:rPr lang="en-US" altLang="zh-CN" sz="2400" dirty="0">
                <a:latin typeface="Times New Roman" pitchFamily="18" charset="0"/>
              </a:rPr>
              <a:t>HTML</a:t>
            </a:r>
            <a:r>
              <a:rPr lang="zh-CN" altLang="en-US" sz="2400" dirty="0">
                <a:latin typeface="Times New Roman" pitchFamily="18" charset="0"/>
              </a:rPr>
              <a:t>、</a:t>
            </a:r>
            <a:r>
              <a:rPr lang="en-US" altLang="zh-CN" sz="2400" dirty="0">
                <a:latin typeface="Times New Roman" pitchFamily="18" charset="0"/>
              </a:rPr>
              <a:t>WAV</a:t>
            </a:r>
            <a:r>
              <a:rPr lang="zh-CN" altLang="en-US" sz="2400" dirty="0">
                <a:latin typeface="Times New Roman" pitchFamily="18" charset="0"/>
              </a:rPr>
              <a:t>文件、密码系统、</a:t>
            </a:r>
            <a:r>
              <a:rPr lang="en-US" altLang="zh-CN" sz="2400" dirty="0">
                <a:latin typeface="Times New Roman" pitchFamily="18" charset="0"/>
              </a:rPr>
              <a:t>GUI</a:t>
            </a:r>
            <a:r>
              <a:rPr lang="zh-CN" altLang="en-US" sz="2400" dirty="0">
                <a:latin typeface="Times New Roman" pitchFamily="18" charset="0"/>
              </a:rPr>
              <a:t>（图形用户界面）、</a:t>
            </a:r>
            <a:r>
              <a:rPr lang="en-US" altLang="zh-CN" sz="2400" dirty="0" err="1">
                <a:latin typeface="Times New Roman" pitchFamily="18" charset="0"/>
              </a:rPr>
              <a:t>Tk</a:t>
            </a:r>
            <a:r>
              <a:rPr lang="zh-CN" altLang="en-US" sz="2400" dirty="0">
                <a:latin typeface="Times New Roman" pitchFamily="18" charset="0"/>
              </a:rPr>
              <a:t>和其他与系统有关的操作。</a:t>
            </a:r>
          </a:p>
          <a:p>
            <a:pPr lvl="1" eaLnBrk="1" hangingPunct="1"/>
            <a:r>
              <a:rPr lang="zh-CN" altLang="en-US" sz="2400" dirty="0">
                <a:latin typeface="Times New Roman" pitchFamily="18" charset="0"/>
              </a:rPr>
              <a:t>只要安装了 </a:t>
            </a:r>
            <a:r>
              <a:rPr lang="en-US" altLang="zh-CN" sz="2400" dirty="0">
                <a:latin typeface="Times New Roman" pitchFamily="18" charset="0"/>
              </a:rPr>
              <a:t>Python</a:t>
            </a:r>
            <a:r>
              <a:rPr lang="zh-CN" altLang="en-US" sz="2400" dirty="0">
                <a:latin typeface="Times New Roman" pitchFamily="18" charset="0"/>
              </a:rPr>
              <a:t>，所有这些功能都是可用的。这被称作</a:t>
            </a:r>
            <a:r>
              <a:rPr lang="en-US" altLang="zh-CN" sz="2400" dirty="0">
                <a:latin typeface="Times New Roman" pitchFamily="18" charset="0"/>
              </a:rPr>
              <a:t>Python</a:t>
            </a:r>
            <a:r>
              <a:rPr lang="zh-CN" altLang="en-US" sz="2400" dirty="0">
                <a:latin typeface="Times New Roman" pitchFamily="18" charset="0"/>
              </a:rPr>
              <a:t>的“功能齐全”理念。</a:t>
            </a:r>
          </a:p>
          <a:p>
            <a:pPr lvl="1" eaLnBrk="1" hangingPunct="1"/>
            <a:r>
              <a:rPr lang="zh-CN" altLang="en-US" sz="2400" dirty="0">
                <a:latin typeface="Times New Roman" pitchFamily="18" charset="0"/>
              </a:rPr>
              <a:t>除了标准库以外，还有许多其他高质量的库，如</a:t>
            </a:r>
            <a:r>
              <a:rPr lang="en-US" altLang="zh-CN" sz="2400" dirty="0" err="1">
                <a:latin typeface="Times New Roman" pitchFamily="18" charset="0"/>
                <a:hlinkClick r:id="rId2"/>
              </a:rPr>
              <a:t>wxPython</a:t>
            </a:r>
            <a:r>
              <a:rPr lang="zh-CN" altLang="en-US" sz="2400" dirty="0">
                <a:latin typeface="Times New Roman" pitchFamily="18" charset="0"/>
              </a:rPr>
              <a:t>、</a:t>
            </a:r>
            <a:r>
              <a:rPr lang="en-US" altLang="zh-CN" sz="2400" dirty="0">
                <a:latin typeface="Times New Roman" pitchFamily="18" charset="0"/>
                <a:hlinkClick r:id="rId3"/>
              </a:rPr>
              <a:t>Twisted</a:t>
            </a:r>
            <a:r>
              <a:rPr lang="en-US" altLang="zh-CN" sz="2400" dirty="0">
                <a:latin typeface="Times New Roman" pitchFamily="18" charset="0"/>
              </a:rPr>
              <a:t> </a:t>
            </a:r>
            <a:r>
              <a:rPr lang="zh-CN" altLang="en-US" sz="2400" dirty="0">
                <a:latin typeface="Times New Roman" pitchFamily="18" charset="0"/>
              </a:rPr>
              <a:t>、</a:t>
            </a:r>
            <a:r>
              <a:rPr lang="en-US" altLang="zh-CN" sz="2400" dirty="0" err="1">
                <a:solidFill>
                  <a:schemeClr val="hlink"/>
                </a:solidFill>
                <a:latin typeface="Times New Roman" pitchFamily="18" charset="0"/>
              </a:rPr>
              <a:t>Pygame</a:t>
            </a:r>
            <a:r>
              <a:rPr lang="zh-CN" altLang="en-US" sz="2400" dirty="0">
                <a:latin typeface="Times New Roman" pitchFamily="18" charset="0"/>
              </a:rPr>
              <a:t>和 </a:t>
            </a:r>
            <a:r>
              <a:rPr lang="en-US" altLang="zh-CN" sz="2400" dirty="0">
                <a:latin typeface="Times New Roman" pitchFamily="18" charset="0"/>
                <a:hlinkClick r:id="rId4"/>
              </a:rPr>
              <a:t>Python</a:t>
            </a:r>
            <a:r>
              <a:rPr lang="zh-CN" altLang="en-US" sz="2400" dirty="0">
                <a:latin typeface="Times New Roman" pitchFamily="18" charset="0"/>
                <a:hlinkClick r:id="rId4"/>
              </a:rPr>
              <a:t>图像库</a:t>
            </a:r>
            <a:r>
              <a:rPr lang="zh-CN" altLang="en-US" sz="2400" dirty="0">
                <a:latin typeface="Times New Roman" pitchFamily="18" charset="0"/>
              </a:rPr>
              <a:t> 等等。</a:t>
            </a:r>
          </a:p>
          <a:p>
            <a:pPr eaLnBrk="1" hangingPunct="1"/>
            <a:endParaRPr lang="en-US" altLang="zh-CN" sz="2400" dirty="0">
              <a:latin typeface="Times New Roman" pitchFamily="18" charset="0"/>
            </a:endParaRPr>
          </a:p>
        </p:txBody>
      </p:sp>
      <p:sp>
        <p:nvSpPr>
          <p:cNvPr id="6" name="日期占位符 3"/>
          <p:cNvSpPr>
            <a:spLocks noGrp="1"/>
          </p:cNvSpPr>
          <p:nvPr>
            <p:ph type="dt" sz="quarter" idx="10"/>
          </p:nvPr>
        </p:nvSpPr>
        <p:spPr>
          <a:xfrm>
            <a:off x="609600" y="6381750"/>
            <a:ext cx="1981200" cy="339725"/>
          </a:xfrm>
          <a:noFill/>
        </p:spPr>
        <p:txBody>
          <a:bodyPr/>
          <a:lstStyle/>
          <a:p>
            <a:r>
              <a:rPr lang="en-US" altLang="zh-CN" dirty="0"/>
              <a:t>2018</a:t>
            </a:r>
            <a:r>
              <a:rPr lang="zh-CN" altLang="en-US" dirty="0"/>
              <a:t>年</a:t>
            </a:r>
            <a:r>
              <a:rPr lang="en-US" altLang="zh-CN" dirty="0"/>
              <a:t>9</a:t>
            </a:r>
            <a:r>
              <a:rPr lang="zh-CN" altLang="en-US" dirty="0"/>
              <a:t>月</a:t>
            </a:r>
            <a:r>
              <a:rPr lang="en-US" altLang="zh-CN" dirty="0"/>
              <a:t>25</a:t>
            </a:r>
            <a:r>
              <a:rPr lang="zh-CN" altLang="en-US" dirty="0"/>
              <a:t>日</a:t>
            </a:r>
            <a:endParaRPr lang="en-US" altLang="zh-CN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 altLang="zh-CN"/>
              <a:t>1.Python</a:t>
            </a:r>
            <a:r>
              <a:rPr lang="zh-CN" altLang="en-US"/>
              <a:t>语言简介</a:t>
            </a:r>
          </a:p>
        </p:txBody>
      </p:sp>
      <p:sp>
        <p:nvSpPr>
          <p:cNvPr id="20484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FCC87255-8454-4CBD-857A-5F35DABE71BC}" type="slidenum">
              <a:rPr lang="en-US" altLang="zh-CN"/>
              <a:pPr/>
              <a:t>11</a:t>
            </a:fld>
            <a:endParaRPr lang="en-US" altLang="zh-CN"/>
          </a:p>
        </p:txBody>
      </p:sp>
      <p:sp>
        <p:nvSpPr>
          <p:cNvPr id="2048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9750" y="1125538"/>
            <a:ext cx="7966075" cy="5111750"/>
          </a:xfrm>
        </p:spPr>
        <p:txBody>
          <a:bodyPr/>
          <a:lstStyle/>
          <a:p>
            <a:pPr eaLnBrk="1" hangingPunct="1"/>
            <a:r>
              <a:rPr lang="en-US" altLang="zh-CN" sz="2800" b="1">
                <a:latin typeface="Times New Roman" pitchFamily="18" charset="0"/>
              </a:rPr>
              <a:t>Python </a:t>
            </a:r>
            <a:r>
              <a:rPr lang="zh-CN" altLang="en-US" sz="2800" b="1">
                <a:latin typeface="Times New Roman" pitchFamily="18" charset="0"/>
              </a:rPr>
              <a:t>语言能够做什么？</a:t>
            </a:r>
          </a:p>
          <a:p>
            <a:pPr eaLnBrk="1" hangingPunct="1"/>
            <a:endParaRPr lang="zh-CN" altLang="en-US" sz="2800" b="1">
              <a:latin typeface="Times New Roman" pitchFamily="18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400" b="1">
                <a:solidFill>
                  <a:srgbClr val="6600FF"/>
                </a:solidFill>
              </a:rPr>
              <a:t>系统编程</a:t>
            </a:r>
          </a:p>
          <a:p>
            <a:pPr lvl="1" eaLnBrk="1" hangingPunct="1"/>
            <a:r>
              <a:rPr lang="en-US" altLang="zh-CN" sz="2400">
                <a:latin typeface="Times New Roman" pitchFamily="18" charset="0"/>
              </a:rPr>
              <a:t>Python</a:t>
            </a:r>
            <a:r>
              <a:rPr lang="zh-CN" altLang="en-US" sz="2400">
                <a:latin typeface="Times New Roman" pitchFamily="18" charset="0"/>
              </a:rPr>
              <a:t>对操作系统服务的内置接口，使其成为编写可移植的维护操作系统的管理工具和部件的理想工具。</a:t>
            </a:r>
            <a:r>
              <a:rPr lang="en-US" altLang="zh-CN" sz="2400">
                <a:latin typeface="Times New Roman" pitchFamily="18" charset="0"/>
              </a:rPr>
              <a:t>Python</a:t>
            </a:r>
            <a:r>
              <a:rPr lang="zh-CN" altLang="en-US" sz="2400">
                <a:latin typeface="Times New Roman" pitchFamily="18" charset="0"/>
              </a:rPr>
              <a:t>程序可以搜索文件和目录树，可以运行其他程序，用进程或线程进行并行处理等。</a:t>
            </a:r>
          </a:p>
          <a:p>
            <a:pPr lvl="1" eaLnBrk="1" hangingPunct="1"/>
            <a:r>
              <a:rPr lang="en-US" altLang="zh-CN" sz="2400">
                <a:latin typeface="Times New Roman" pitchFamily="18" charset="0"/>
              </a:rPr>
              <a:t>Python </a:t>
            </a:r>
            <a:r>
              <a:rPr lang="zh-CN" altLang="en-US" sz="2400">
                <a:latin typeface="Times New Roman" pitchFamily="18" charset="0"/>
              </a:rPr>
              <a:t>的标准库绑定了 </a:t>
            </a:r>
            <a:r>
              <a:rPr lang="en-US" altLang="zh-CN" sz="2400">
                <a:latin typeface="Times New Roman" pitchFamily="18" charset="0"/>
              </a:rPr>
              <a:t>POSIX </a:t>
            </a:r>
            <a:r>
              <a:rPr lang="zh-CN" altLang="en-US" sz="2400">
                <a:latin typeface="Times New Roman" pitchFamily="18" charset="0"/>
              </a:rPr>
              <a:t>以及其他常规操作系统工具：环境变量、文件、套接字、管道、进程、多线程、正则表达式、命令行参数、标准流接口、</a:t>
            </a:r>
            <a:r>
              <a:rPr lang="en-US" altLang="zh-CN" sz="2400">
                <a:latin typeface="Times New Roman" pitchFamily="18" charset="0"/>
              </a:rPr>
              <a:t>Shell</a:t>
            </a:r>
            <a:r>
              <a:rPr lang="zh-CN" altLang="en-US" sz="2400">
                <a:latin typeface="Times New Roman" pitchFamily="18" charset="0"/>
              </a:rPr>
              <a:t>命令启动器、文件名扩展等。</a:t>
            </a:r>
          </a:p>
        </p:txBody>
      </p:sp>
      <p:sp>
        <p:nvSpPr>
          <p:cNvPr id="6" name="日期占位符 3"/>
          <p:cNvSpPr>
            <a:spLocks noGrp="1"/>
          </p:cNvSpPr>
          <p:nvPr>
            <p:ph type="dt" sz="quarter" idx="10"/>
          </p:nvPr>
        </p:nvSpPr>
        <p:spPr>
          <a:xfrm>
            <a:off x="609600" y="6381750"/>
            <a:ext cx="1981200" cy="339725"/>
          </a:xfrm>
          <a:noFill/>
        </p:spPr>
        <p:txBody>
          <a:bodyPr/>
          <a:lstStyle/>
          <a:p>
            <a:r>
              <a:rPr lang="en-US" altLang="zh-CN" dirty="0"/>
              <a:t>2018</a:t>
            </a:r>
            <a:r>
              <a:rPr lang="zh-CN" altLang="en-US" dirty="0"/>
              <a:t>年</a:t>
            </a:r>
            <a:r>
              <a:rPr lang="en-US" altLang="zh-CN" dirty="0"/>
              <a:t>9</a:t>
            </a:r>
            <a:r>
              <a:rPr lang="zh-CN" altLang="en-US" dirty="0"/>
              <a:t>月</a:t>
            </a:r>
            <a:r>
              <a:rPr lang="en-US" altLang="zh-CN" dirty="0"/>
              <a:t>25</a:t>
            </a:r>
            <a:r>
              <a:rPr lang="zh-CN" altLang="en-US" dirty="0"/>
              <a:t>日</a:t>
            </a:r>
            <a:endParaRPr lang="en-US" altLang="zh-CN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 altLang="zh-CN"/>
              <a:t>1.Python</a:t>
            </a:r>
            <a:r>
              <a:rPr lang="zh-CN" altLang="en-US"/>
              <a:t>语言简介</a:t>
            </a:r>
          </a:p>
        </p:txBody>
      </p:sp>
      <p:sp>
        <p:nvSpPr>
          <p:cNvPr id="21508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3D14BE2D-2424-4E62-847B-807E817F58F7}" type="slidenum">
              <a:rPr lang="en-US" altLang="zh-CN"/>
              <a:pPr/>
              <a:t>12</a:t>
            </a:fld>
            <a:endParaRPr lang="en-US" altLang="zh-CN"/>
          </a:p>
        </p:txBody>
      </p:sp>
      <p:sp>
        <p:nvSpPr>
          <p:cNvPr id="2150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4213" y="1268413"/>
            <a:ext cx="8001000" cy="4967287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zh-CN" altLang="en-US" sz="2400" b="1">
                <a:solidFill>
                  <a:srgbClr val="6600FF"/>
                </a:solidFill>
              </a:rPr>
              <a:t>用户图形接口</a:t>
            </a:r>
          </a:p>
          <a:p>
            <a:pPr lvl="1" eaLnBrk="1" hangingPunct="1"/>
            <a:r>
              <a:rPr lang="en-US" altLang="zh-CN" sz="2400">
                <a:latin typeface="Times New Roman" pitchFamily="18" charset="0"/>
              </a:rPr>
              <a:t>Python</a:t>
            </a:r>
            <a:r>
              <a:rPr lang="zh-CN" altLang="en-US" sz="2400">
                <a:latin typeface="Times New Roman" pitchFamily="18" charset="0"/>
              </a:rPr>
              <a:t>的简洁以及快速的开发周期十分适合开发</a:t>
            </a:r>
            <a:r>
              <a:rPr lang="en-US" altLang="zh-CN" sz="2400">
                <a:latin typeface="Times New Roman" pitchFamily="18" charset="0"/>
              </a:rPr>
              <a:t>GUI</a:t>
            </a:r>
            <a:r>
              <a:rPr lang="zh-CN" altLang="en-US" sz="2400">
                <a:latin typeface="Times New Roman" pitchFamily="18" charset="0"/>
              </a:rPr>
              <a:t>程序。</a:t>
            </a:r>
          </a:p>
          <a:p>
            <a:pPr lvl="1" eaLnBrk="1" hangingPunct="1"/>
            <a:r>
              <a:rPr lang="zh-CN" altLang="en-US" sz="2400">
                <a:latin typeface="Times New Roman" pitchFamily="18" charset="0"/>
              </a:rPr>
              <a:t>内置了</a:t>
            </a:r>
            <a:r>
              <a:rPr lang="en-US" altLang="zh-CN" sz="2400">
                <a:latin typeface="Times New Roman" pitchFamily="18" charset="0"/>
              </a:rPr>
              <a:t>Tk GUIAPI</a:t>
            </a:r>
            <a:r>
              <a:rPr lang="zh-CN" altLang="en-US" sz="2400">
                <a:latin typeface="Times New Roman" pitchFamily="18" charset="0"/>
              </a:rPr>
              <a:t>，可以生成可移植的本地观感的</a:t>
            </a:r>
            <a:r>
              <a:rPr lang="en-US" altLang="zh-CN" sz="2400">
                <a:latin typeface="Times New Roman" pitchFamily="18" charset="0"/>
              </a:rPr>
              <a:t>GUI</a:t>
            </a:r>
            <a:r>
              <a:rPr lang="zh-CN" altLang="en-US" sz="2400">
                <a:latin typeface="Times New Roman" pitchFamily="18" charset="0"/>
              </a:rPr>
              <a:t>，可以不做任何改变就可以运行在</a:t>
            </a:r>
            <a:r>
              <a:rPr lang="en-US" altLang="zh-CN" sz="2400">
                <a:latin typeface="Times New Roman" pitchFamily="18" charset="0"/>
              </a:rPr>
              <a:t>Windows</a:t>
            </a:r>
            <a:r>
              <a:rPr lang="zh-CN" altLang="en-US" sz="2400">
                <a:latin typeface="Times New Roman" pitchFamily="18" charset="0"/>
              </a:rPr>
              <a:t>、</a:t>
            </a:r>
            <a:r>
              <a:rPr lang="en-US" altLang="zh-CN" sz="2400">
                <a:latin typeface="Times New Roman" pitchFamily="18" charset="0"/>
              </a:rPr>
              <a:t>Xwindows</a:t>
            </a:r>
            <a:r>
              <a:rPr lang="zh-CN" altLang="en-US" sz="2400">
                <a:latin typeface="Times New Roman" pitchFamily="18" charset="0"/>
              </a:rPr>
              <a:t>、</a:t>
            </a:r>
            <a:r>
              <a:rPr lang="en-US" altLang="zh-CN" sz="2400">
                <a:latin typeface="Times New Roman" pitchFamily="18" charset="0"/>
              </a:rPr>
              <a:t>MacOS</a:t>
            </a:r>
            <a:r>
              <a:rPr lang="zh-CN" altLang="en-US" sz="2400">
                <a:latin typeface="Times New Roman" pitchFamily="18" charset="0"/>
              </a:rPr>
              <a:t>等平台。</a:t>
            </a:r>
          </a:p>
          <a:p>
            <a:pPr lvl="1" eaLnBrk="1" hangingPunct="1"/>
            <a:r>
              <a:rPr lang="en-US" altLang="zh-CN" sz="2400">
                <a:latin typeface="Times New Roman" pitchFamily="18" charset="0"/>
              </a:rPr>
              <a:t>wxPython GUI API</a:t>
            </a:r>
            <a:r>
              <a:rPr lang="zh-CN" altLang="en-US" sz="2400">
                <a:latin typeface="Times New Roman" pitchFamily="18" charset="0"/>
              </a:rPr>
              <a:t>。</a:t>
            </a:r>
          </a:p>
          <a:p>
            <a:pPr lvl="1" eaLnBrk="1" hangingPunct="1"/>
            <a:r>
              <a:rPr lang="en-US" altLang="zh-CN" sz="2400">
                <a:latin typeface="Times New Roman" pitchFamily="18" charset="0"/>
              </a:rPr>
              <a:t>PythonCard</a:t>
            </a:r>
            <a:r>
              <a:rPr lang="zh-CN" altLang="en-US" sz="2400">
                <a:latin typeface="Times New Roman" pitchFamily="18" charset="0"/>
              </a:rPr>
              <a:t>、</a:t>
            </a:r>
            <a:r>
              <a:rPr lang="en-US" altLang="zh-CN" sz="2400">
                <a:latin typeface="Times New Roman" pitchFamily="18" charset="0"/>
              </a:rPr>
              <a:t>Dabo</a:t>
            </a:r>
            <a:r>
              <a:rPr lang="zh-CN" altLang="en-US" sz="2400">
                <a:latin typeface="Times New Roman" pitchFamily="18" charset="0"/>
              </a:rPr>
              <a:t>等构建在</a:t>
            </a:r>
            <a:r>
              <a:rPr lang="en-US" altLang="zh-CN" sz="2400">
                <a:latin typeface="Times New Roman" pitchFamily="18" charset="0"/>
              </a:rPr>
              <a:t>wxPython </a:t>
            </a:r>
            <a:r>
              <a:rPr lang="zh-CN" altLang="en-US" sz="2400">
                <a:latin typeface="Times New Roman" pitchFamily="18" charset="0"/>
              </a:rPr>
              <a:t>和</a:t>
            </a:r>
            <a:r>
              <a:rPr lang="en-US" altLang="zh-CN" sz="2400">
                <a:latin typeface="Times New Roman" pitchFamily="18" charset="0"/>
              </a:rPr>
              <a:t>Tkinter</a:t>
            </a:r>
            <a:r>
              <a:rPr lang="zh-CN" altLang="en-US" sz="2400">
                <a:latin typeface="Times New Roman" pitchFamily="18" charset="0"/>
              </a:rPr>
              <a:t>基础上的高级工具包。</a:t>
            </a:r>
          </a:p>
          <a:p>
            <a:pPr lvl="1" eaLnBrk="1" hangingPunct="1"/>
            <a:r>
              <a:rPr lang="zh-CN" altLang="en-US" sz="2400">
                <a:latin typeface="Times New Roman" pitchFamily="18" charset="0"/>
              </a:rPr>
              <a:t>通过适当的库，可以使用其他</a:t>
            </a:r>
            <a:r>
              <a:rPr lang="en-US" altLang="zh-CN" sz="2400">
                <a:latin typeface="Times New Roman" pitchFamily="18" charset="0"/>
              </a:rPr>
              <a:t>GUI</a:t>
            </a:r>
            <a:r>
              <a:rPr lang="zh-CN" altLang="en-US" sz="2400">
                <a:latin typeface="Times New Roman" pitchFamily="18" charset="0"/>
              </a:rPr>
              <a:t>工具包。</a:t>
            </a:r>
          </a:p>
          <a:p>
            <a:pPr eaLnBrk="1" hangingPunct="1"/>
            <a:endParaRPr lang="en-US" altLang="zh-CN" sz="2400">
              <a:latin typeface="Times New Roman" pitchFamily="18" charset="0"/>
            </a:endParaRPr>
          </a:p>
        </p:txBody>
      </p:sp>
      <p:sp>
        <p:nvSpPr>
          <p:cNvPr id="6" name="日期占位符 3"/>
          <p:cNvSpPr>
            <a:spLocks noGrp="1"/>
          </p:cNvSpPr>
          <p:nvPr>
            <p:ph type="dt" sz="quarter" idx="10"/>
          </p:nvPr>
        </p:nvSpPr>
        <p:spPr>
          <a:xfrm>
            <a:off x="609600" y="6381750"/>
            <a:ext cx="1981200" cy="339725"/>
          </a:xfrm>
          <a:noFill/>
        </p:spPr>
        <p:txBody>
          <a:bodyPr/>
          <a:lstStyle/>
          <a:p>
            <a:r>
              <a:rPr lang="en-US" altLang="zh-CN" dirty="0"/>
              <a:t>2018</a:t>
            </a:r>
            <a:r>
              <a:rPr lang="zh-CN" altLang="en-US" dirty="0"/>
              <a:t>年</a:t>
            </a:r>
            <a:r>
              <a:rPr lang="en-US" altLang="zh-CN" dirty="0"/>
              <a:t>9</a:t>
            </a:r>
            <a:r>
              <a:rPr lang="zh-CN" altLang="en-US" dirty="0"/>
              <a:t>月</a:t>
            </a:r>
            <a:r>
              <a:rPr lang="en-US" altLang="zh-CN" dirty="0"/>
              <a:t>25</a:t>
            </a:r>
            <a:r>
              <a:rPr lang="zh-CN" altLang="en-US" dirty="0"/>
              <a:t>日</a:t>
            </a:r>
            <a:endParaRPr lang="en-US" altLang="zh-CN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 altLang="zh-CN"/>
              <a:t>1.Python</a:t>
            </a:r>
            <a:r>
              <a:rPr lang="zh-CN" altLang="en-US"/>
              <a:t>语言简介</a:t>
            </a:r>
          </a:p>
        </p:txBody>
      </p:sp>
      <p:sp>
        <p:nvSpPr>
          <p:cNvPr id="22532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22ABE31A-0714-498F-8C28-1A4B869F880B}" type="slidenum">
              <a:rPr lang="en-US" altLang="zh-CN"/>
              <a:pPr/>
              <a:t>13</a:t>
            </a:fld>
            <a:endParaRPr lang="en-US" altLang="zh-CN"/>
          </a:p>
        </p:txBody>
      </p:sp>
      <p:sp>
        <p:nvSpPr>
          <p:cNvPr id="2253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9750" y="1268413"/>
            <a:ext cx="8001000" cy="4967287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altLang="zh-CN" sz="2400" b="1">
                <a:solidFill>
                  <a:srgbClr val="6600FF"/>
                </a:solidFill>
                <a:latin typeface="Times New Roman" pitchFamily="18" charset="0"/>
              </a:rPr>
              <a:t>Internet</a:t>
            </a:r>
            <a:r>
              <a:rPr lang="zh-CN" altLang="en-US" sz="2400" b="1">
                <a:solidFill>
                  <a:srgbClr val="6600FF"/>
                </a:solidFill>
                <a:latin typeface="Times New Roman" pitchFamily="18" charset="0"/>
              </a:rPr>
              <a:t>通信</a:t>
            </a:r>
          </a:p>
          <a:p>
            <a:pPr lvl="1" eaLnBrk="1" hangingPunct="1"/>
            <a:r>
              <a:rPr lang="en-US" altLang="zh-CN" sz="2400">
                <a:latin typeface="Times New Roman" pitchFamily="18" charset="0"/>
              </a:rPr>
              <a:t>Python</a:t>
            </a:r>
            <a:r>
              <a:rPr lang="zh-CN" altLang="en-US" sz="2400">
                <a:latin typeface="Times New Roman" pitchFamily="18" charset="0"/>
              </a:rPr>
              <a:t>提供了标准 </a:t>
            </a:r>
            <a:r>
              <a:rPr lang="en-US" altLang="zh-CN" sz="2400">
                <a:latin typeface="Times New Roman" pitchFamily="18" charset="0"/>
              </a:rPr>
              <a:t>Internet </a:t>
            </a:r>
            <a:r>
              <a:rPr lang="zh-CN" altLang="en-US" sz="2400">
                <a:latin typeface="Times New Roman" pitchFamily="18" charset="0"/>
              </a:rPr>
              <a:t>模块，可以广泛应用到各种网络任务中，无论服务端还是在客户端。</a:t>
            </a:r>
          </a:p>
          <a:p>
            <a:pPr lvl="1" eaLnBrk="1" hangingPunct="1"/>
            <a:r>
              <a:rPr lang="zh-CN" altLang="en-US" sz="2400">
                <a:latin typeface="Times New Roman" pitchFamily="18" charset="0"/>
              </a:rPr>
              <a:t>套接字。</a:t>
            </a:r>
          </a:p>
          <a:p>
            <a:pPr lvl="1" eaLnBrk="1" hangingPunct="1"/>
            <a:r>
              <a:rPr lang="en-US" altLang="zh-CN" sz="2400">
                <a:latin typeface="Times New Roman" pitchFamily="18" charset="0"/>
              </a:rPr>
              <a:t>XML-RPC</a:t>
            </a:r>
            <a:r>
              <a:rPr lang="zh-CN" altLang="en-US" sz="2400">
                <a:latin typeface="Times New Roman" pitchFamily="18" charset="0"/>
              </a:rPr>
              <a:t>、</a:t>
            </a:r>
            <a:r>
              <a:rPr lang="en-US" altLang="zh-CN" sz="2400">
                <a:latin typeface="Times New Roman" pitchFamily="18" charset="0"/>
              </a:rPr>
              <a:t>SOAP</a:t>
            </a:r>
            <a:r>
              <a:rPr lang="zh-CN" altLang="en-US" sz="2400">
                <a:latin typeface="Times New Roman" pitchFamily="18" charset="0"/>
              </a:rPr>
              <a:t>、</a:t>
            </a:r>
            <a:r>
              <a:rPr lang="en-US" altLang="zh-CN" sz="2400">
                <a:latin typeface="Times New Roman" pitchFamily="18" charset="0"/>
              </a:rPr>
              <a:t>Telnet</a:t>
            </a:r>
            <a:r>
              <a:rPr lang="zh-CN" altLang="en-US" sz="2400">
                <a:latin typeface="Times New Roman" pitchFamily="18" charset="0"/>
              </a:rPr>
              <a:t>等通信。</a:t>
            </a:r>
          </a:p>
          <a:p>
            <a:pPr lvl="1" eaLnBrk="1" hangingPunct="1"/>
            <a:r>
              <a:rPr lang="en-US" altLang="zh-CN" sz="2400">
                <a:latin typeface="Times New Roman" pitchFamily="18" charset="0"/>
              </a:rPr>
              <a:t>Twisted </a:t>
            </a:r>
            <a:r>
              <a:rPr lang="zh-CN" altLang="en-US" sz="2400">
                <a:latin typeface="Times New Roman" pitchFamily="18" charset="0"/>
              </a:rPr>
              <a:t>网络编程框架。</a:t>
            </a:r>
          </a:p>
          <a:p>
            <a:pPr lvl="1" eaLnBrk="1" hangingPunct="1"/>
            <a:r>
              <a:rPr lang="zh-CN" altLang="en-US" sz="2400">
                <a:latin typeface="Times New Roman" pitchFamily="18" charset="0"/>
              </a:rPr>
              <a:t>网站编程第三方工具：</a:t>
            </a:r>
            <a:r>
              <a:rPr lang="en-US" altLang="zh-CN" sz="2400">
                <a:latin typeface="Times New Roman" pitchFamily="18" charset="0"/>
              </a:rPr>
              <a:t>HTMLGen</a:t>
            </a:r>
            <a:r>
              <a:rPr lang="zh-CN" altLang="en-US" sz="2400">
                <a:latin typeface="Times New Roman" pitchFamily="18" charset="0"/>
              </a:rPr>
              <a:t>、</a:t>
            </a:r>
            <a:r>
              <a:rPr lang="en-US" altLang="zh-CN" sz="2400">
                <a:latin typeface="Times New Roman" pitchFamily="18" charset="0"/>
              </a:rPr>
              <a:t>mod_python</a:t>
            </a:r>
            <a:r>
              <a:rPr lang="zh-CN" altLang="en-US" sz="2400">
                <a:latin typeface="Times New Roman" pitchFamily="18" charset="0"/>
              </a:rPr>
              <a:t>、</a:t>
            </a:r>
            <a:r>
              <a:rPr lang="en-US" altLang="zh-CN" sz="2400">
                <a:latin typeface="Times New Roman" pitchFamily="18" charset="0"/>
              </a:rPr>
              <a:t>Django</a:t>
            </a:r>
            <a:r>
              <a:rPr lang="zh-CN" altLang="en-US" sz="2400">
                <a:latin typeface="Times New Roman" pitchFamily="18" charset="0"/>
              </a:rPr>
              <a:t>、</a:t>
            </a:r>
            <a:r>
              <a:rPr lang="en-US" altLang="zh-CN" sz="2400">
                <a:latin typeface="Times New Roman" pitchFamily="18" charset="0"/>
              </a:rPr>
              <a:t>TurboGears</a:t>
            </a:r>
            <a:r>
              <a:rPr lang="zh-CN" altLang="en-US" sz="2400">
                <a:latin typeface="Times New Roman" pitchFamily="18" charset="0"/>
              </a:rPr>
              <a:t>、</a:t>
            </a:r>
            <a:r>
              <a:rPr lang="en-US" altLang="zh-CN" sz="2400">
                <a:latin typeface="Times New Roman" pitchFamily="18" charset="0"/>
              </a:rPr>
              <a:t>Zop</a:t>
            </a:r>
            <a:r>
              <a:rPr lang="zh-CN" altLang="en-US" sz="2400">
                <a:latin typeface="Times New Roman" pitchFamily="18" charset="0"/>
              </a:rPr>
              <a:t>，使</a:t>
            </a:r>
            <a:r>
              <a:rPr lang="en-US" altLang="zh-CN" sz="2400">
                <a:latin typeface="Times New Roman" pitchFamily="18" charset="0"/>
              </a:rPr>
              <a:t>Python</a:t>
            </a:r>
            <a:r>
              <a:rPr lang="zh-CN" altLang="en-US" sz="2400">
                <a:latin typeface="Times New Roman" pitchFamily="18" charset="0"/>
              </a:rPr>
              <a:t>能够快速构建功能完善和高质量的网站。</a:t>
            </a:r>
          </a:p>
          <a:p>
            <a:pPr eaLnBrk="1" hangingPunct="1"/>
            <a:endParaRPr lang="en-US" altLang="zh-CN" sz="2400">
              <a:latin typeface="Times New Roman" pitchFamily="18" charset="0"/>
            </a:endParaRPr>
          </a:p>
        </p:txBody>
      </p:sp>
      <p:sp>
        <p:nvSpPr>
          <p:cNvPr id="6" name="日期占位符 3"/>
          <p:cNvSpPr>
            <a:spLocks noGrp="1"/>
          </p:cNvSpPr>
          <p:nvPr>
            <p:ph type="dt" sz="quarter" idx="10"/>
          </p:nvPr>
        </p:nvSpPr>
        <p:spPr>
          <a:xfrm>
            <a:off x="609600" y="6381750"/>
            <a:ext cx="1981200" cy="339725"/>
          </a:xfrm>
          <a:noFill/>
        </p:spPr>
        <p:txBody>
          <a:bodyPr/>
          <a:lstStyle/>
          <a:p>
            <a:r>
              <a:rPr lang="en-US" altLang="zh-CN" dirty="0"/>
              <a:t>2018</a:t>
            </a:r>
            <a:r>
              <a:rPr lang="zh-CN" altLang="en-US" dirty="0"/>
              <a:t>年</a:t>
            </a:r>
            <a:r>
              <a:rPr lang="en-US" altLang="zh-CN" dirty="0"/>
              <a:t>9</a:t>
            </a:r>
            <a:r>
              <a:rPr lang="zh-CN" altLang="en-US" dirty="0"/>
              <a:t>月</a:t>
            </a:r>
            <a:r>
              <a:rPr lang="en-US" altLang="zh-CN" dirty="0"/>
              <a:t>25</a:t>
            </a:r>
            <a:r>
              <a:rPr lang="zh-CN" altLang="en-US" dirty="0"/>
              <a:t>日</a:t>
            </a:r>
            <a:endParaRPr lang="en-US" altLang="zh-CN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 altLang="zh-CN"/>
              <a:t>1.Python</a:t>
            </a:r>
            <a:r>
              <a:rPr lang="zh-CN" altLang="en-US"/>
              <a:t>语言简介</a:t>
            </a:r>
          </a:p>
        </p:txBody>
      </p:sp>
      <p:sp>
        <p:nvSpPr>
          <p:cNvPr id="23556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24F903FC-DB4A-4ED4-A13C-F2962D1CE8DB}" type="slidenum">
              <a:rPr lang="en-US" altLang="zh-CN"/>
              <a:pPr/>
              <a:t>14</a:t>
            </a:fld>
            <a:endParaRPr lang="en-US" altLang="zh-CN"/>
          </a:p>
        </p:txBody>
      </p:sp>
      <p:sp>
        <p:nvSpPr>
          <p:cNvPr id="2355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58775" y="981075"/>
            <a:ext cx="8785225" cy="532765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400" b="1">
                <a:solidFill>
                  <a:srgbClr val="6600FF"/>
                </a:solidFill>
              </a:rPr>
              <a:t>组件集成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>
                <a:latin typeface="Times New Roman" pitchFamily="18" charset="0"/>
              </a:rPr>
              <a:t>Python</a:t>
            </a:r>
            <a:r>
              <a:rPr lang="zh-CN" altLang="en-US" sz="2400">
                <a:latin typeface="Times New Roman" pitchFamily="18" charset="0"/>
              </a:rPr>
              <a:t>可以通过</a:t>
            </a:r>
            <a:r>
              <a:rPr lang="en-US" altLang="zh-CN" sz="2400">
                <a:latin typeface="Times New Roman" pitchFamily="18" charset="0"/>
              </a:rPr>
              <a:t>c/c++</a:t>
            </a:r>
            <a:r>
              <a:rPr lang="zh-CN" altLang="en-US" sz="2400">
                <a:latin typeface="Times New Roman" pitchFamily="18" charset="0"/>
              </a:rPr>
              <a:t>进行扩展，并能够嵌套</a:t>
            </a:r>
            <a:r>
              <a:rPr lang="en-US" altLang="zh-CN" sz="2400">
                <a:latin typeface="Times New Roman" pitchFamily="18" charset="0"/>
              </a:rPr>
              <a:t>c/c++</a:t>
            </a:r>
            <a:r>
              <a:rPr lang="zh-CN" altLang="en-US" sz="2400">
                <a:latin typeface="Times New Roman" pitchFamily="18" charset="0"/>
              </a:rPr>
              <a:t>系统的特性，使其能够作为一种灵活的粘合语言，脚本化处理其他系统和组件的行为。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sz="2400">
                <a:latin typeface="Times New Roman" pitchFamily="18" charset="0"/>
              </a:rPr>
              <a:t>调用其他现有组件，如</a:t>
            </a:r>
            <a:r>
              <a:rPr lang="en-US" altLang="zh-CN" sz="2400">
                <a:latin typeface="Times New Roman" pitchFamily="18" charset="0"/>
              </a:rPr>
              <a:t>COM</a:t>
            </a:r>
            <a:r>
              <a:rPr lang="zh-CN" altLang="en-US" sz="2400">
                <a:latin typeface="Times New Roman" pitchFamily="18" charset="0"/>
              </a:rPr>
              <a:t>、基于</a:t>
            </a:r>
            <a:r>
              <a:rPr lang="en-US" altLang="zh-CN" sz="2400">
                <a:latin typeface="Times New Roman" pitchFamily="18" charset="0"/>
              </a:rPr>
              <a:t>Java</a:t>
            </a:r>
            <a:r>
              <a:rPr lang="zh-CN" altLang="en-US" sz="2400">
                <a:latin typeface="Times New Roman" pitchFamily="18" charset="0"/>
              </a:rPr>
              <a:t>实现的</a:t>
            </a:r>
            <a:r>
              <a:rPr lang="en-US" altLang="zh-CN" sz="2400">
                <a:latin typeface="Times New Roman" pitchFamily="18" charset="0"/>
              </a:rPr>
              <a:t>Jython</a:t>
            </a:r>
            <a:r>
              <a:rPr lang="zh-CN" altLang="en-US" sz="2400">
                <a:latin typeface="Times New Roman" pitchFamily="18" charset="0"/>
              </a:rPr>
              <a:t>、基于</a:t>
            </a:r>
            <a:r>
              <a:rPr lang="en-US" altLang="zh-CN" sz="2400">
                <a:latin typeface="Times New Roman" pitchFamily="18" charset="0"/>
              </a:rPr>
              <a:t>.NET</a:t>
            </a:r>
            <a:r>
              <a:rPr lang="zh-CN" altLang="en-US" sz="2400">
                <a:latin typeface="Times New Roman" pitchFamily="18" charset="0"/>
              </a:rPr>
              <a:t>实现的</a:t>
            </a:r>
            <a:r>
              <a:rPr lang="en-US" altLang="zh-CN" sz="2400">
                <a:latin typeface="Times New Roman" pitchFamily="18" charset="0"/>
              </a:rPr>
              <a:t>IronPython</a:t>
            </a:r>
            <a:r>
              <a:rPr lang="zh-CN" altLang="en-US" sz="2400">
                <a:latin typeface="Times New Roman" pitchFamily="18" charset="0"/>
              </a:rPr>
              <a:t>、各种</a:t>
            </a:r>
            <a:r>
              <a:rPr lang="en-US" altLang="zh-CN" sz="2400">
                <a:latin typeface="Times New Roman" pitchFamily="18" charset="0"/>
              </a:rPr>
              <a:t>Corba</a:t>
            </a:r>
            <a:r>
              <a:rPr lang="zh-CN" altLang="en-US" sz="2400">
                <a:latin typeface="Times New Roman" pitchFamily="18" charset="0"/>
              </a:rPr>
              <a:t>工具包等。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400" b="1">
                <a:solidFill>
                  <a:srgbClr val="6600FF"/>
                </a:solidFill>
              </a:rPr>
              <a:t>数据库编程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sz="2400">
                <a:latin typeface="Times New Roman" pitchFamily="18" charset="0"/>
              </a:rPr>
              <a:t>支持所有主流数据库：</a:t>
            </a:r>
            <a:r>
              <a:rPr lang="en-US" altLang="zh-CN" sz="2400">
                <a:latin typeface="Times New Roman" pitchFamily="18" charset="0"/>
              </a:rPr>
              <a:t>Oracle</a:t>
            </a:r>
            <a:r>
              <a:rPr lang="zh-CN" altLang="en-US" sz="2400">
                <a:latin typeface="Times New Roman" pitchFamily="18" charset="0"/>
              </a:rPr>
              <a:t>、</a:t>
            </a:r>
            <a:r>
              <a:rPr lang="en-US" altLang="zh-CN" sz="2400">
                <a:latin typeface="Times New Roman" pitchFamily="18" charset="0"/>
              </a:rPr>
              <a:t>Sybase</a:t>
            </a:r>
            <a:r>
              <a:rPr lang="zh-CN" altLang="en-US" sz="2400">
                <a:latin typeface="Times New Roman" pitchFamily="18" charset="0"/>
              </a:rPr>
              <a:t>、</a:t>
            </a:r>
            <a:r>
              <a:rPr lang="en-US" altLang="zh-CN" sz="2400">
                <a:latin typeface="Times New Roman" pitchFamily="18" charset="0"/>
              </a:rPr>
              <a:t>MySQL</a:t>
            </a:r>
            <a:r>
              <a:rPr lang="zh-CN" altLang="en-US" sz="2400">
                <a:latin typeface="Times New Roman" pitchFamily="18" charset="0"/>
              </a:rPr>
              <a:t>、</a:t>
            </a:r>
            <a:r>
              <a:rPr lang="en-US" altLang="zh-CN" sz="2400">
                <a:latin typeface="Times New Roman" pitchFamily="18" charset="0"/>
              </a:rPr>
              <a:t>PostgreSQL</a:t>
            </a:r>
            <a:r>
              <a:rPr lang="zh-CN" altLang="en-US" sz="2400">
                <a:latin typeface="Times New Roman" pitchFamily="18" charset="0"/>
              </a:rPr>
              <a:t>、</a:t>
            </a:r>
            <a:r>
              <a:rPr lang="en-US" altLang="zh-CN" sz="2400">
                <a:latin typeface="Times New Roman" pitchFamily="18" charset="0"/>
              </a:rPr>
              <a:t>Informix</a:t>
            </a:r>
            <a:r>
              <a:rPr lang="zh-CN" altLang="en-US" sz="2400">
                <a:latin typeface="Times New Roman" pitchFamily="18" charset="0"/>
              </a:rPr>
              <a:t>、</a:t>
            </a:r>
            <a:r>
              <a:rPr lang="en-US" altLang="zh-CN" sz="2400">
                <a:latin typeface="Times New Roman" pitchFamily="18" charset="0"/>
              </a:rPr>
              <a:t>SQLite</a:t>
            </a:r>
            <a:r>
              <a:rPr lang="zh-CN" altLang="en-US" sz="2400">
                <a:latin typeface="Times New Roman" pitchFamily="18" charset="0"/>
              </a:rPr>
              <a:t>。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sz="2400">
                <a:latin typeface="Times New Roman" pitchFamily="18" charset="0"/>
              </a:rPr>
              <a:t>定义了标准的、可移植的数据库</a:t>
            </a:r>
            <a:r>
              <a:rPr lang="en-US" altLang="zh-CN" sz="2400">
                <a:latin typeface="Times New Roman" pitchFamily="18" charset="0"/>
              </a:rPr>
              <a:t>API</a:t>
            </a:r>
            <a:r>
              <a:rPr lang="zh-CN" altLang="en-US" sz="2400">
                <a:latin typeface="Times New Roman" pitchFamily="18" charset="0"/>
              </a:rPr>
              <a:t>。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>
                <a:latin typeface="Times New Roman" pitchFamily="18" charset="0"/>
              </a:rPr>
              <a:t>Pickle </a:t>
            </a:r>
            <a:r>
              <a:rPr lang="zh-CN" altLang="en-US" sz="2400">
                <a:latin typeface="Times New Roman" pitchFamily="18" charset="0"/>
              </a:rPr>
              <a:t>进行打包与存储。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sz="2400">
                <a:latin typeface="Times New Roman" pitchFamily="18" charset="0"/>
              </a:rPr>
              <a:t>面向对象数据库系统：</a:t>
            </a:r>
            <a:r>
              <a:rPr lang="en-US" altLang="zh-CN" sz="2400">
                <a:latin typeface="Times New Roman" pitchFamily="18" charset="0"/>
              </a:rPr>
              <a:t>ZODB</a:t>
            </a:r>
            <a:r>
              <a:rPr lang="zh-CN" altLang="en-US" sz="2400">
                <a:latin typeface="Times New Roman" pitchFamily="18" charset="0"/>
              </a:rPr>
              <a:t>。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sz="2400">
                <a:latin typeface="Times New Roman" pitchFamily="18" charset="0"/>
              </a:rPr>
              <a:t>从关系数据库映射到</a:t>
            </a:r>
            <a:r>
              <a:rPr lang="en-US" altLang="zh-CN" sz="2400">
                <a:latin typeface="Times New Roman" pitchFamily="18" charset="0"/>
              </a:rPr>
              <a:t>Python</a:t>
            </a:r>
            <a:r>
              <a:rPr lang="zh-CN" altLang="en-US" sz="2400">
                <a:latin typeface="Times New Roman" pitchFamily="18" charset="0"/>
              </a:rPr>
              <a:t>类（</a:t>
            </a:r>
            <a:r>
              <a:rPr lang="en-US" altLang="zh-CN" sz="2400">
                <a:latin typeface="Times New Roman" pitchFamily="18" charset="0"/>
              </a:rPr>
              <a:t>ORM</a:t>
            </a:r>
            <a:r>
              <a:rPr lang="zh-CN" altLang="en-US" sz="2400">
                <a:latin typeface="Times New Roman" pitchFamily="18" charset="0"/>
              </a:rPr>
              <a:t>）： </a:t>
            </a:r>
            <a:r>
              <a:rPr lang="en-US" altLang="zh-CN" sz="2400">
                <a:latin typeface="Times New Roman" pitchFamily="18" charset="0"/>
              </a:rPr>
              <a:t>SQLAlchemy </a:t>
            </a:r>
            <a:r>
              <a:rPr lang="zh-CN" altLang="en-US" sz="2400">
                <a:latin typeface="Times New Roman" pitchFamily="18" charset="0"/>
              </a:rPr>
              <a:t>、</a:t>
            </a:r>
            <a:r>
              <a:rPr lang="en-US" altLang="zh-CN" sz="2400">
                <a:latin typeface="Times New Roman" pitchFamily="18" charset="0"/>
              </a:rPr>
              <a:t>SQLObject</a:t>
            </a:r>
            <a:r>
              <a:rPr lang="zh-CN" altLang="en-US" sz="2400">
                <a:latin typeface="Times New Roman" pitchFamily="18" charset="0"/>
              </a:rPr>
              <a:t>。</a:t>
            </a:r>
            <a:endParaRPr lang="zh-CN" altLang="en-US" sz="2000">
              <a:latin typeface="Times New Roman" pitchFamily="18" charset="0"/>
            </a:endParaRPr>
          </a:p>
        </p:txBody>
      </p:sp>
      <p:sp>
        <p:nvSpPr>
          <p:cNvPr id="6" name="日期占位符 3"/>
          <p:cNvSpPr>
            <a:spLocks noGrp="1"/>
          </p:cNvSpPr>
          <p:nvPr>
            <p:ph type="dt" sz="quarter" idx="10"/>
          </p:nvPr>
        </p:nvSpPr>
        <p:spPr>
          <a:xfrm>
            <a:off x="609600" y="6381750"/>
            <a:ext cx="1981200" cy="339725"/>
          </a:xfrm>
          <a:noFill/>
        </p:spPr>
        <p:txBody>
          <a:bodyPr/>
          <a:lstStyle/>
          <a:p>
            <a:r>
              <a:rPr lang="en-US" altLang="zh-CN" dirty="0"/>
              <a:t>2018</a:t>
            </a:r>
            <a:r>
              <a:rPr lang="zh-CN" altLang="en-US" dirty="0"/>
              <a:t>年</a:t>
            </a:r>
            <a:r>
              <a:rPr lang="en-US" altLang="zh-CN" dirty="0"/>
              <a:t>9</a:t>
            </a:r>
            <a:r>
              <a:rPr lang="zh-CN" altLang="en-US" dirty="0"/>
              <a:t>月</a:t>
            </a:r>
            <a:r>
              <a:rPr lang="en-US" altLang="zh-CN" dirty="0"/>
              <a:t>25</a:t>
            </a:r>
            <a:r>
              <a:rPr lang="zh-CN" altLang="en-US" dirty="0"/>
              <a:t>日</a:t>
            </a:r>
            <a:endParaRPr lang="en-US" altLang="zh-CN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 altLang="zh-CN"/>
              <a:t>1.Python</a:t>
            </a:r>
            <a:r>
              <a:rPr lang="zh-CN" altLang="en-US"/>
              <a:t>语言简介</a:t>
            </a:r>
          </a:p>
        </p:txBody>
      </p:sp>
      <p:sp>
        <p:nvSpPr>
          <p:cNvPr id="24580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2F001EC9-64E6-4109-A0A1-780E79A8AA6C}" type="slidenum">
              <a:rPr lang="en-US" altLang="zh-CN"/>
              <a:pPr/>
              <a:t>15</a:t>
            </a:fld>
            <a:endParaRPr lang="en-US" altLang="zh-CN"/>
          </a:p>
        </p:txBody>
      </p:sp>
      <p:sp>
        <p:nvSpPr>
          <p:cNvPr id="2458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1188" y="981075"/>
            <a:ext cx="8280400" cy="5256213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zh-CN" altLang="en-US" sz="2400">
                <a:solidFill>
                  <a:srgbClr val="6600FF"/>
                </a:solidFill>
                <a:latin typeface="Times New Roman" pitchFamily="18" charset="0"/>
              </a:rPr>
              <a:t>快速原型</a:t>
            </a:r>
          </a:p>
          <a:p>
            <a:pPr lvl="1" eaLnBrk="1" hangingPunct="1"/>
            <a:r>
              <a:rPr lang="zh-CN" altLang="en-US" sz="2400">
                <a:latin typeface="Times New Roman" pitchFamily="18" charset="0"/>
              </a:rPr>
              <a:t>对</a:t>
            </a:r>
            <a:r>
              <a:rPr lang="en-US" altLang="zh-CN" sz="2400">
                <a:latin typeface="Times New Roman" pitchFamily="18" charset="0"/>
              </a:rPr>
              <a:t>Python</a:t>
            </a:r>
            <a:r>
              <a:rPr lang="zh-CN" altLang="en-US" sz="2400">
                <a:latin typeface="Times New Roman" pitchFamily="18" charset="0"/>
              </a:rPr>
              <a:t>程序来说，</a:t>
            </a:r>
            <a:r>
              <a:rPr lang="en-US" altLang="zh-CN" sz="2400">
                <a:latin typeface="Times New Roman" pitchFamily="18" charset="0"/>
              </a:rPr>
              <a:t>Python</a:t>
            </a:r>
            <a:r>
              <a:rPr lang="zh-CN" altLang="en-US" sz="2400">
                <a:latin typeface="Times New Roman" pitchFamily="18" charset="0"/>
              </a:rPr>
              <a:t>和</a:t>
            </a:r>
            <a:r>
              <a:rPr lang="en-US" altLang="zh-CN" sz="2400">
                <a:latin typeface="Times New Roman" pitchFamily="18" charset="0"/>
              </a:rPr>
              <a:t>C</a:t>
            </a:r>
            <a:r>
              <a:rPr lang="zh-CN" altLang="en-US" sz="2400">
                <a:latin typeface="Times New Roman" pitchFamily="18" charset="0"/>
              </a:rPr>
              <a:t>编写的模块看起来是一样的，因此，可以在一开始利用</a:t>
            </a:r>
            <a:r>
              <a:rPr lang="en-US" altLang="zh-CN" sz="2400">
                <a:latin typeface="Times New Roman" pitchFamily="18" charset="0"/>
              </a:rPr>
              <a:t>Python</a:t>
            </a:r>
            <a:r>
              <a:rPr lang="zh-CN" altLang="en-US" sz="2400">
                <a:latin typeface="Times New Roman" pitchFamily="18" charset="0"/>
              </a:rPr>
              <a:t>做系统原型、之后再将组件移植到</a:t>
            </a:r>
            <a:r>
              <a:rPr lang="en-US" altLang="zh-CN" sz="2400">
                <a:latin typeface="Times New Roman" pitchFamily="18" charset="0"/>
              </a:rPr>
              <a:t>C/C++</a:t>
            </a:r>
            <a:r>
              <a:rPr lang="zh-CN" altLang="en-US" sz="2400">
                <a:latin typeface="Times New Roman" pitchFamily="18" charset="0"/>
              </a:rPr>
              <a:t>。</a:t>
            </a:r>
          </a:p>
          <a:p>
            <a:pPr lvl="1" eaLnBrk="1" hangingPunct="1"/>
            <a:r>
              <a:rPr lang="zh-CN" altLang="en-US" sz="2400">
                <a:latin typeface="Times New Roman" pitchFamily="18" charset="0"/>
              </a:rPr>
              <a:t>移植时</a:t>
            </a:r>
            <a:r>
              <a:rPr lang="en-US" altLang="zh-CN" sz="2400">
                <a:latin typeface="Times New Roman" pitchFamily="18" charset="0"/>
              </a:rPr>
              <a:t>Python</a:t>
            </a:r>
            <a:r>
              <a:rPr lang="zh-CN" altLang="en-US" sz="2400">
                <a:latin typeface="Times New Roman" pitchFamily="18" charset="0"/>
              </a:rPr>
              <a:t>代码不需要重写，系统中不需要变成</a:t>
            </a:r>
            <a:r>
              <a:rPr lang="en-US" altLang="zh-CN" sz="2400">
                <a:latin typeface="Times New Roman" pitchFamily="18" charset="0"/>
              </a:rPr>
              <a:t>C/C++</a:t>
            </a:r>
            <a:r>
              <a:rPr lang="zh-CN" altLang="en-US" sz="2400">
                <a:latin typeface="Times New Roman" pitchFamily="18" charset="0"/>
              </a:rPr>
              <a:t>的部分可以保持不变，从而使维护和使用变得轻松起来。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400" b="1">
                <a:solidFill>
                  <a:srgbClr val="6600FF"/>
                </a:solidFill>
                <a:latin typeface="Times New Roman" pitchFamily="18" charset="0"/>
              </a:rPr>
              <a:t>游戏、图像、人工智能、机器人、计算等</a:t>
            </a:r>
          </a:p>
          <a:p>
            <a:pPr lvl="1" eaLnBrk="1" hangingPunct="1"/>
            <a:r>
              <a:rPr lang="en-US" altLang="zh-CN" sz="2400">
                <a:latin typeface="Times New Roman" pitchFamily="18" charset="0"/>
              </a:rPr>
              <a:t>Pygame/Bigworld</a:t>
            </a:r>
            <a:r>
              <a:rPr lang="zh-CN" altLang="en-US" sz="2400">
                <a:latin typeface="Times New Roman" pitchFamily="18" charset="0"/>
              </a:rPr>
              <a:t>： 游戏编程库。</a:t>
            </a:r>
          </a:p>
          <a:p>
            <a:pPr lvl="1" eaLnBrk="1" hangingPunct="1"/>
            <a:r>
              <a:rPr lang="en-US" altLang="zh-CN" sz="2400">
                <a:latin typeface="Times New Roman" pitchFamily="18" charset="0"/>
              </a:rPr>
              <a:t>PIL</a:t>
            </a:r>
            <a:r>
              <a:rPr lang="zh-CN" altLang="en-US" sz="2400">
                <a:latin typeface="Times New Roman" pitchFamily="18" charset="0"/>
              </a:rPr>
              <a:t>：</a:t>
            </a:r>
            <a:r>
              <a:rPr lang="en-US" altLang="zh-CN" sz="2400">
                <a:latin typeface="Times New Roman" pitchFamily="18" charset="0"/>
              </a:rPr>
              <a:t>Python Imaging Library</a:t>
            </a:r>
            <a:r>
              <a:rPr lang="zh-CN" altLang="en-US" sz="2400">
                <a:latin typeface="Times New Roman" pitchFamily="18" charset="0"/>
              </a:rPr>
              <a:t>图像处理库 。</a:t>
            </a:r>
          </a:p>
          <a:p>
            <a:pPr lvl="1" eaLnBrk="1" hangingPunct="1"/>
            <a:r>
              <a:rPr lang="en-US" altLang="zh-CN" sz="2400">
                <a:latin typeface="Times New Roman" pitchFamily="18" charset="0"/>
              </a:rPr>
              <a:t>PyRO</a:t>
            </a:r>
            <a:r>
              <a:rPr lang="zh-CN" altLang="en-US" sz="2400">
                <a:latin typeface="Times New Roman" pitchFamily="18" charset="0"/>
              </a:rPr>
              <a:t>：</a:t>
            </a:r>
            <a:r>
              <a:rPr lang="en-US" altLang="zh-CN" sz="2400">
                <a:latin typeface="Times New Roman" pitchFamily="18" charset="0"/>
              </a:rPr>
              <a:t>Python Robotics </a:t>
            </a:r>
            <a:r>
              <a:rPr lang="zh-CN" altLang="en-US" sz="2400">
                <a:latin typeface="Times New Roman" pitchFamily="18" charset="0"/>
              </a:rPr>
              <a:t>机器人控制。</a:t>
            </a:r>
          </a:p>
          <a:p>
            <a:pPr lvl="1" eaLnBrk="1" hangingPunct="1"/>
            <a:r>
              <a:rPr lang="en-US" altLang="zh-CN" sz="2400">
                <a:latin typeface="Times New Roman" pitchFamily="18" charset="0"/>
              </a:rPr>
              <a:t>NLTK</a:t>
            </a:r>
            <a:r>
              <a:rPr lang="zh-CN" altLang="en-US" sz="2400">
                <a:latin typeface="Times New Roman" pitchFamily="18" charset="0"/>
              </a:rPr>
              <a:t>：</a:t>
            </a:r>
            <a:r>
              <a:rPr lang="en-US" altLang="zh-CN" sz="2400">
                <a:latin typeface="Times New Roman" pitchFamily="18" charset="0"/>
              </a:rPr>
              <a:t>Nature Language Toolkit</a:t>
            </a:r>
            <a:r>
              <a:rPr lang="zh-CN" altLang="en-US" sz="2400">
                <a:latin typeface="Times New Roman" pitchFamily="18" charset="0"/>
              </a:rPr>
              <a:t>自然语言分析。</a:t>
            </a:r>
          </a:p>
          <a:p>
            <a:pPr lvl="1" eaLnBrk="1" hangingPunct="1"/>
            <a:r>
              <a:rPr lang="en-US" altLang="zh-CN" sz="2400">
                <a:latin typeface="Times New Roman" pitchFamily="18" charset="0"/>
              </a:rPr>
              <a:t>NumPy</a:t>
            </a:r>
            <a:r>
              <a:rPr lang="zh-CN" altLang="en-US" sz="2400">
                <a:latin typeface="Times New Roman" pitchFamily="18" charset="0"/>
              </a:rPr>
              <a:t>：</a:t>
            </a:r>
            <a:r>
              <a:rPr lang="en-US" altLang="zh-CN" sz="2400">
                <a:latin typeface="Times New Roman" pitchFamily="18" charset="0"/>
              </a:rPr>
              <a:t>Python</a:t>
            </a:r>
            <a:r>
              <a:rPr lang="zh-CN" altLang="en-US" sz="2400">
                <a:latin typeface="Times New Roman" pitchFamily="18" charset="0"/>
              </a:rPr>
              <a:t>科学计算包。</a:t>
            </a:r>
          </a:p>
        </p:txBody>
      </p:sp>
      <p:sp>
        <p:nvSpPr>
          <p:cNvPr id="6" name="日期占位符 3"/>
          <p:cNvSpPr>
            <a:spLocks noGrp="1"/>
          </p:cNvSpPr>
          <p:nvPr>
            <p:ph type="dt" sz="quarter" idx="10"/>
          </p:nvPr>
        </p:nvSpPr>
        <p:spPr>
          <a:xfrm>
            <a:off x="609600" y="6381750"/>
            <a:ext cx="1981200" cy="339725"/>
          </a:xfrm>
          <a:noFill/>
        </p:spPr>
        <p:txBody>
          <a:bodyPr/>
          <a:lstStyle/>
          <a:p>
            <a:r>
              <a:rPr lang="en-US" altLang="zh-CN" dirty="0"/>
              <a:t>2018</a:t>
            </a:r>
            <a:r>
              <a:rPr lang="zh-CN" altLang="en-US" dirty="0"/>
              <a:t>年</a:t>
            </a:r>
            <a:r>
              <a:rPr lang="en-US" altLang="zh-CN" dirty="0"/>
              <a:t>9</a:t>
            </a:r>
            <a:r>
              <a:rPr lang="zh-CN" altLang="en-US" dirty="0"/>
              <a:t>月</a:t>
            </a:r>
            <a:r>
              <a:rPr lang="en-US" altLang="zh-CN" dirty="0"/>
              <a:t>25</a:t>
            </a:r>
            <a:r>
              <a:rPr lang="zh-CN" altLang="en-US" dirty="0"/>
              <a:t>日</a:t>
            </a:r>
            <a:endParaRPr lang="en-US" altLang="zh-CN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 altLang="zh-CN"/>
              <a:t>1.Python</a:t>
            </a:r>
            <a:r>
              <a:rPr lang="zh-CN" altLang="en-US"/>
              <a:t>语言简介</a:t>
            </a:r>
          </a:p>
        </p:txBody>
      </p:sp>
      <p:sp>
        <p:nvSpPr>
          <p:cNvPr id="25604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C5CF3A96-6BF7-4920-B16F-9C94728B7D80}" type="slidenum">
              <a:rPr lang="en-US" altLang="zh-CN"/>
              <a:pPr/>
              <a:t>16</a:t>
            </a:fld>
            <a:endParaRPr lang="en-US" altLang="zh-CN"/>
          </a:p>
        </p:txBody>
      </p:sp>
      <p:sp>
        <p:nvSpPr>
          <p:cNvPr id="2560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9750" y="1052513"/>
            <a:ext cx="8181975" cy="4967287"/>
          </a:xfrm>
        </p:spPr>
        <p:txBody>
          <a:bodyPr/>
          <a:lstStyle/>
          <a:p>
            <a:pPr eaLnBrk="1" hangingPunct="1"/>
            <a:r>
              <a:rPr lang="en-US" altLang="zh-CN" sz="2800" b="1">
                <a:latin typeface="Times New Roman" pitchFamily="18" charset="0"/>
              </a:rPr>
              <a:t>Python</a:t>
            </a:r>
            <a:r>
              <a:rPr lang="zh-CN" altLang="en-US" sz="2800" b="1">
                <a:latin typeface="Times New Roman" pitchFamily="18" charset="0"/>
              </a:rPr>
              <a:t>与其他语言的对比</a:t>
            </a:r>
          </a:p>
          <a:p>
            <a:pPr eaLnBrk="1" hangingPunct="1"/>
            <a:endParaRPr lang="zh-CN" altLang="en-US" sz="2800" b="1">
              <a:latin typeface="Times New Roman" pitchFamily="18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400" b="1">
                <a:solidFill>
                  <a:srgbClr val="6600FF"/>
                </a:solidFill>
                <a:latin typeface="Times New Roman" pitchFamily="18" charset="0"/>
              </a:rPr>
              <a:t>编译型语言</a:t>
            </a:r>
          </a:p>
          <a:p>
            <a:pPr lvl="1" eaLnBrk="1" hangingPunct="1"/>
            <a:r>
              <a:rPr lang="en-US" altLang="zh-CN" sz="2400">
                <a:latin typeface="Times New Roman" pitchFamily="18" charset="0"/>
              </a:rPr>
              <a:t>C/C++/C#/Java</a:t>
            </a:r>
            <a:r>
              <a:rPr lang="zh-CN" altLang="en-US" sz="2400">
                <a:latin typeface="Times New Roman" pitchFamily="18" charset="0"/>
              </a:rPr>
              <a:t>编写</a:t>
            </a:r>
            <a:r>
              <a:rPr lang="en-US" altLang="zh-CN" sz="2400">
                <a:latin typeface="Times New Roman" pitchFamily="18" charset="0"/>
              </a:rPr>
              <a:t>/</a:t>
            </a:r>
            <a:r>
              <a:rPr lang="zh-CN" altLang="en-US" sz="2400">
                <a:latin typeface="Times New Roman" pitchFamily="18" charset="0"/>
              </a:rPr>
              <a:t>编译</a:t>
            </a:r>
            <a:r>
              <a:rPr lang="en-US" altLang="zh-CN" sz="2400">
                <a:latin typeface="Times New Roman" pitchFamily="18" charset="0"/>
              </a:rPr>
              <a:t>/</a:t>
            </a:r>
            <a:r>
              <a:rPr lang="zh-CN" altLang="en-US" sz="2400">
                <a:latin typeface="Times New Roman" pitchFamily="18" charset="0"/>
              </a:rPr>
              <a:t>测试</a:t>
            </a:r>
            <a:r>
              <a:rPr lang="en-US" altLang="zh-CN" sz="2400">
                <a:latin typeface="Times New Roman" pitchFamily="18" charset="0"/>
              </a:rPr>
              <a:t>/</a:t>
            </a:r>
            <a:r>
              <a:rPr lang="zh-CN" altLang="en-US" sz="2400">
                <a:latin typeface="Times New Roman" pitchFamily="18" charset="0"/>
              </a:rPr>
              <a:t>重编译周期长；</a:t>
            </a:r>
          </a:p>
          <a:p>
            <a:pPr lvl="1" eaLnBrk="1" hangingPunct="1"/>
            <a:r>
              <a:rPr lang="zh-CN" altLang="en-US" sz="2400">
                <a:latin typeface="Times New Roman" pitchFamily="18" charset="0"/>
              </a:rPr>
              <a:t>调试复杂。</a:t>
            </a:r>
          </a:p>
          <a:p>
            <a:pPr lvl="1" eaLnBrk="1" hangingPunct="1"/>
            <a:endParaRPr lang="zh-CN" altLang="en-US" sz="2400">
              <a:latin typeface="Times New Roman" pitchFamily="18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400" b="1">
                <a:solidFill>
                  <a:srgbClr val="6600FF"/>
                </a:solidFill>
                <a:latin typeface="Times New Roman" pitchFamily="18" charset="0"/>
              </a:rPr>
              <a:t>脚本语言</a:t>
            </a:r>
          </a:p>
          <a:p>
            <a:pPr lvl="1" eaLnBrk="1" hangingPunct="1"/>
            <a:r>
              <a:rPr lang="en-US" altLang="zh-CN" sz="2400">
                <a:latin typeface="Times New Roman" pitchFamily="18" charset="0"/>
              </a:rPr>
              <a:t>Batch/Shell/VBScript</a:t>
            </a:r>
            <a:r>
              <a:rPr lang="zh-CN" altLang="en-US" sz="2400">
                <a:latin typeface="Times New Roman" pitchFamily="18" charset="0"/>
              </a:rPr>
              <a:t>等；</a:t>
            </a:r>
          </a:p>
          <a:p>
            <a:pPr lvl="1" eaLnBrk="1" hangingPunct="1"/>
            <a:r>
              <a:rPr lang="zh-CN" altLang="en-US" sz="2400">
                <a:latin typeface="Times New Roman" pitchFamily="18" charset="0"/>
              </a:rPr>
              <a:t>与操作系统密切相关；</a:t>
            </a:r>
          </a:p>
          <a:p>
            <a:pPr lvl="1" eaLnBrk="1" hangingPunct="1"/>
            <a:r>
              <a:rPr lang="zh-CN" altLang="en-US" sz="2400">
                <a:latin typeface="Times New Roman" pitchFamily="18" charset="0"/>
              </a:rPr>
              <a:t>扩展性差。</a:t>
            </a:r>
          </a:p>
          <a:p>
            <a:pPr eaLnBrk="1" hangingPunct="1"/>
            <a:endParaRPr lang="en-US" altLang="zh-CN" sz="2400">
              <a:latin typeface="Times New Roman" pitchFamily="18" charset="0"/>
            </a:endParaRPr>
          </a:p>
        </p:txBody>
      </p:sp>
      <p:sp>
        <p:nvSpPr>
          <p:cNvPr id="6" name="日期占位符 3"/>
          <p:cNvSpPr>
            <a:spLocks noGrp="1"/>
          </p:cNvSpPr>
          <p:nvPr>
            <p:ph type="dt" sz="quarter" idx="10"/>
          </p:nvPr>
        </p:nvSpPr>
        <p:spPr>
          <a:xfrm>
            <a:off x="609600" y="6381750"/>
            <a:ext cx="1981200" cy="339725"/>
          </a:xfrm>
          <a:noFill/>
        </p:spPr>
        <p:txBody>
          <a:bodyPr/>
          <a:lstStyle/>
          <a:p>
            <a:r>
              <a:rPr lang="en-US" altLang="zh-CN" dirty="0"/>
              <a:t>2018</a:t>
            </a:r>
            <a:r>
              <a:rPr lang="zh-CN" altLang="en-US" dirty="0"/>
              <a:t>年</a:t>
            </a:r>
            <a:r>
              <a:rPr lang="en-US" altLang="zh-CN" dirty="0"/>
              <a:t>9</a:t>
            </a:r>
            <a:r>
              <a:rPr lang="zh-CN" altLang="en-US" dirty="0"/>
              <a:t>月</a:t>
            </a:r>
            <a:r>
              <a:rPr lang="en-US" altLang="zh-CN" dirty="0"/>
              <a:t>25</a:t>
            </a:r>
            <a:r>
              <a:rPr lang="zh-CN" altLang="en-US" dirty="0"/>
              <a:t>日</a:t>
            </a:r>
            <a:endParaRPr lang="en-US" altLang="zh-CN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 altLang="zh-CN"/>
              <a:t>1.Python</a:t>
            </a:r>
            <a:r>
              <a:rPr lang="zh-CN" altLang="en-US"/>
              <a:t>语言简介</a:t>
            </a:r>
          </a:p>
        </p:txBody>
      </p:sp>
      <p:sp>
        <p:nvSpPr>
          <p:cNvPr id="26628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2EA29CE9-7E00-4E41-B5E0-E5A7426BC0A1}" type="slidenum">
              <a:rPr lang="en-US" altLang="zh-CN"/>
              <a:pPr/>
              <a:t>17</a:t>
            </a:fld>
            <a:endParaRPr lang="en-US" altLang="zh-CN"/>
          </a:p>
        </p:txBody>
      </p:sp>
      <p:sp>
        <p:nvSpPr>
          <p:cNvPr id="2662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9750" y="1196975"/>
            <a:ext cx="7920038" cy="4967288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zh-CN" altLang="en-US" sz="2400" b="1">
                <a:solidFill>
                  <a:srgbClr val="6600FF"/>
                </a:solidFill>
                <a:latin typeface="Times New Roman" pitchFamily="18" charset="0"/>
              </a:rPr>
              <a:t>关于编程语言</a:t>
            </a:r>
          </a:p>
          <a:p>
            <a:pPr lvl="1" eaLnBrk="1" hangingPunct="1"/>
            <a:r>
              <a:rPr lang="zh-CN" altLang="en-US" sz="2400">
                <a:latin typeface="Times New Roman" pitchFamily="18" charset="0"/>
              </a:rPr>
              <a:t>没有最好的语言，只有最合适的语言；</a:t>
            </a:r>
          </a:p>
          <a:p>
            <a:pPr lvl="1" eaLnBrk="1" hangingPunct="1"/>
            <a:r>
              <a:rPr lang="zh-CN" altLang="en-US" sz="2400">
                <a:latin typeface="Times New Roman" pitchFamily="18" charset="0"/>
              </a:rPr>
              <a:t>没有糟糕的语言，只有糟糕的程序员；</a:t>
            </a:r>
          </a:p>
          <a:p>
            <a:pPr lvl="1" eaLnBrk="1" hangingPunct="1"/>
            <a:r>
              <a:rPr lang="zh-CN" altLang="en-US" sz="2400">
                <a:latin typeface="Times New Roman" pitchFamily="18" charset="0"/>
              </a:rPr>
              <a:t>没有一种语言是万能的，只会一种语言是万万不能的；</a:t>
            </a:r>
          </a:p>
          <a:p>
            <a:pPr lvl="1" eaLnBrk="1" hangingPunct="1"/>
            <a:r>
              <a:rPr lang="zh-CN" altLang="en-US" sz="2400">
                <a:latin typeface="Times New Roman" pitchFamily="18" charset="0"/>
              </a:rPr>
              <a:t>废除对语言的宗教信仰，建立对语言的哲学思维； </a:t>
            </a:r>
          </a:p>
          <a:p>
            <a:pPr lvl="1" eaLnBrk="1" hangingPunct="1"/>
            <a:r>
              <a:rPr lang="zh-CN" altLang="en-US" sz="2400">
                <a:latin typeface="Times New Roman" pitchFamily="18" charset="0"/>
              </a:rPr>
              <a:t>编程就是在人脑和电脑之间寻找最佳平衡点的过程。</a:t>
            </a:r>
          </a:p>
          <a:p>
            <a:pPr eaLnBrk="1" hangingPunct="1"/>
            <a:endParaRPr lang="en-US" altLang="zh-CN" sz="2400">
              <a:latin typeface="Times New Roman" pitchFamily="18" charset="0"/>
            </a:endParaRPr>
          </a:p>
        </p:txBody>
      </p:sp>
      <p:sp>
        <p:nvSpPr>
          <p:cNvPr id="6" name="日期占位符 3"/>
          <p:cNvSpPr>
            <a:spLocks noGrp="1"/>
          </p:cNvSpPr>
          <p:nvPr>
            <p:ph type="dt" sz="quarter" idx="10"/>
          </p:nvPr>
        </p:nvSpPr>
        <p:spPr>
          <a:xfrm>
            <a:off x="609600" y="6381750"/>
            <a:ext cx="1981200" cy="339725"/>
          </a:xfrm>
          <a:noFill/>
        </p:spPr>
        <p:txBody>
          <a:bodyPr/>
          <a:lstStyle/>
          <a:p>
            <a:r>
              <a:rPr lang="en-US" altLang="zh-CN" dirty="0"/>
              <a:t>2018</a:t>
            </a:r>
            <a:r>
              <a:rPr lang="zh-CN" altLang="en-US" dirty="0"/>
              <a:t>年</a:t>
            </a:r>
            <a:r>
              <a:rPr lang="en-US" altLang="zh-CN" dirty="0"/>
              <a:t>9</a:t>
            </a:r>
            <a:r>
              <a:rPr lang="zh-CN" altLang="en-US" dirty="0"/>
              <a:t>月</a:t>
            </a:r>
            <a:r>
              <a:rPr lang="en-US" altLang="zh-CN" dirty="0"/>
              <a:t>25</a:t>
            </a:r>
            <a:r>
              <a:rPr lang="zh-CN" altLang="en-US" dirty="0"/>
              <a:t>日</a:t>
            </a:r>
            <a:endParaRPr lang="en-US" altLang="zh-CN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 altLang="zh-CN"/>
              <a:t>1.Python</a:t>
            </a:r>
            <a:r>
              <a:rPr lang="zh-CN" altLang="en-US"/>
              <a:t>语言简介</a:t>
            </a:r>
          </a:p>
        </p:txBody>
      </p:sp>
      <p:sp>
        <p:nvSpPr>
          <p:cNvPr id="27652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24DC1D78-014D-4944-943B-CF94C5ADF9AF}" type="slidenum">
              <a:rPr lang="en-US" altLang="zh-CN"/>
              <a:pPr/>
              <a:t>18</a:t>
            </a:fld>
            <a:endParaRPr lang="en-US" altLang="zh-CN"/>
          </a:p>
        </p:txBody>
      </p:sp>
      <p:sp>
        <p:nvSpPr>
          <p:cNvPr id="27653" name="Rectangle 2"/>
          <p:cNvSpPr>
            <a:spLocks noGrp="1" noChangeArrowheads="1"/>
          </p:cNvSpPr>
          <p:nvPr>
            <p:ph type="title"/>
          </p:nvPr>
        </p:nvSpPr>
        <p:spPr>
          <a:xfrm>
            <a:off x="539750" y="333375"/>
            <a:ext cx="8001000" cy="603250"/>
          </a:xfrm>
        </p:spPr>
        <p:txBody>
          <a:bodyPr/>
          <a:lstStyle/>
          <a:p>
            <a:pPr eaLnBrk="1" hangingPunct="1"/>
            <a:r>
              <a:rPr lang="en-US" altLang="zh-CN" sz="3200" b="1" dirty="0">
                <a:latin typeface="Times New Roman" pitchFamily="18" charset="0"/>
              </a:rPr>
              <a:t>1.2  Python </a:t>
            </a:r>
            <a:r>
              <a:rPr lang="zh-CN" altLang="en-US" sz="3200" b="1" dirty="0">
                <a:latin typeface="Times New Roman" pitchFamily="18" charset="0"/>
              </a:rPr>
              <a:t>安装</a:t>
            </a:r>
            <a:r>
              <a:rPr lang="en-US" altLang="zh-CN" sz="3200" b="1" dirty="0">
                <a:latin typeface="Times New Roman" pitchFamily="18" charset="0"/>
              </a:rPr>
              <a:t> – Python Only</a:t>
            </a:r>
            <a:endParaRPr lang="zh-CN" altLang="en-US" sz="3200" b="1" dirty="0">
              <a:latin typeface="Times New Roman" pitchFamily="18" charset="0"/>
            </a:endParaRPr>
          </a:p>
        </p:txBody>
      </p:sp>
      <p:sp>
        <p:nvSpPr>
          <p:cNvPr id="2765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288" y="1052513"/>
            <a:ext cx="8748712" cy="518477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 sz="2800" b="1" dirty="0">
                <a:hlinkClick r:id="rId2"/>
              </a:rPr>
              <a:t>http://www.python.org/download/</a:t>
            </a:r>
            <a:r>
              <a:rPr lang="zh-CN" altLang="en-US" sz="2800" b="1" dirty="0"/>
              <a:t>下载安装程序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z="2800" b="1" dirty="0"/>
              <a:t>Windows</a:t>
            </a:r>
            <a:r>
              <a:rPr lang="zh-CN" altLang="en-US" sz="2800" b="1" dirty="0"/>
              <a:t>上安装方法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sz="2400" dirty="0">
                <a:latin typeface="Times New Roman" pitchFamily="18" charset="0"/>
              </a:rPr>
              <a:t>选择安装路径，一路</a:t>
            </a:r>
            <a:r>
              <a:rPr lang="en-US" altLang="zh-CN" sz="2400" dirty="0">
                <a:latin typeface="Times New Roman" pitchFamily="18" charset="0"/>
              </a:rPr>
              <a:t>next</a:t>
            </a:r>
            <a:r>
              <a:rPr lang="zh-CN" altLang="en-US" sz="2400" dirty="0">
                <a:latin typeface="Times New Roman" pitchFamily="18" charset="0"/>
              </a:rPr>
              <a:t>即可。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sz="2400" dirty="0">
                <a:latin typeface="Times New Roman" pitchFamily="18" charset="0"/>
              </a:rPr>
              <a:t>建议安装 </a:t>
            </a:r>
            <a:r>
              <a:rPr lang="en-US" altLang="zh-CN" sz="2400" dirty="0" err="1">
                <a:latin typeface="Times New Roman" pitchFamily="18" charset="0"/>
              </a:rPr>
              <a:t>ActivePython</a:t>
            </a:r>
            <a:r>
              <a:rPr lang="en-US" altLang="zh-CN" sz="2400" dirty="0">
                <a:latin typeface="Times New Roman" pitchFamily="18" charset="0"/>
              </a:rPr>
              <a:t> (</a:t>
            </a:r>
            <a:r>
              <a:rPr lang="zh-CN" altLang="en-US" sz="2400" dirty="0">
                <a:latin typeface="Times New Roman" pitchFamily="18" charset="0"/>
              </a:rPr>
              <a:t>一个方便的</a:t>
            </a:r>
            <a:r>
              <a:rPr lang="en-US" altLang="zh-CN" sz="2400" dirty="0">
                <a:latin typeface="Times New Roman" pitchFamily="18" charset="0"/>
              </a:rPr>
              <a:t>IDE)</a:t>
            </a:r>
            <a:r>
              <a:rPr lang="zh-CN" altLang="en-US" sz="2400" dirty="0">
                <a:latin typeface="Times New Roman" pitchFamily="18" charset="0"/>
              </a:rPr>
              <a:t>。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z="2800" b="1" dirty="0"/>
              <a:t>Linux</a:t>
            </a:r>
            <a:r>
              <a:rPr lang="zh-CN" altLang="en-US" sz="2800" b="1" dirty="0"/>
              <a:t>上的安装方法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dirty="0"/>
              <a:t>Linux</a:t>
            </a:r>
            <a:r>
              <a:rPr lang="zh-CN" altLang="en-US" sz="2400" dirty="0"/>
              <a:t>默认已经安装。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sz="2400" dirty="0"/>
              <a:t>如未安装，可用</a:t>
            </a:r>
            <a:r>
              <a:rPr lang="en-US" altLang="zh-CN" sz="2400" dirty="0"/>
              <a:t>rpm</a:t>
            </a:r>
            <a:r>
              <a:rPr lang="zh-CN" altLang="en-US" sz="2400" dirty="0"/>
              <a:t>或直接编译源代码。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sz="2800" b="1" dirty="0"/>
              <a:t>验证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dirty="0">
                <a:latin typeface="Times New Roman" pitchFamily="18" charset="0"/>
              </a:rPr>
              <a:t>python –V </a:t>
            </a:r>
            <a:r>
              <a:rPr lang="zh-CN" altLang="en-US" sz="2400" dirty="0">
                <a:latin typeface="Times New Roman" pitchFamily="18" charset="0"/>
              </a:rPr>
              <a:t>可打印出</a:t>
            </a:r>
            <a:r>
              <a:rPr lang="en-US" altLang="zh-CN" sz="2400" dirty="0">
                <a:latin typeface="Times New Roman" pitchFamily="18" charset="0"/>
              </a:rPr>
              <a:t>python</a:t>
            </a:r>
            <a:r>
              <a:rPr lang="zh-CN" altLang="en-US" sz="2400" dirty="0">
                <a:latin typeface="Times New Roman" pitchFamily="18" charset="0"/>
              </a:rPr>
              <a:t>的版本信息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sz="2400" dirty="0">
                <a:latin typeface="Times New Roman" pitchFamily="18" charset="0"/>
              </a:rPr>
              <a:t>如出现“‘</a:t>
            </a:r>
            <a:r>
              <a:rPr lang="en-US" altLang="zh-CN" sz="2400" dirty="0">
                <a:latin typeface="Times New Roman" pitchFamily="18" charset="0"/>
              </a:rPr>
              <a:t>python’ </a:t>
            </a:r>
            <a:r>
              <a:rPr lang="zh-CN" altLang="en-US" sz="2400" dirty="0">
                <a:latin typeface="Times New Roman" pitchFamily="18" charset="0"/>
              </a:rPr>
              <a:t>不是内部或外部命令，也不是可运行的程序或批处理文件。”说明未安装或路径设置不正确。</a:t>
            </a:r>
          </a:p>
          <a:p>
            <a:pPr eaLnBrk="1" hangingPunct="1">
              <a:lnSpc>
                <a:spcPct val="90000"/>
              </a:lnSpc>
            </a:pPr>
            <a:endParaRPr lang="en-US" altLang="zh-CN" sz="2400" dirty="0">
              <a:latin typeface="Times New Roman" pitchFamily="18" charset="0"/>
            </a:endParaRPr>
          </a:p>
        </p:txBody>
      </p:sp>
      <p:sp>
        <p:nvSpPr>
          <p:cNvPr id="7" name="日期占位符 3"/>
          <p:cNvSpPr>
            <a:spLocks noGrp="1"/>
          </p:cNvSpPr>
          <p:nvPr>
            <p:ph type="dt" sz="quarter" idx="10"/>
          </p:nvPr>
        </p:nvSpPr>
        <p:spPr>
          <a:xfrm>
            <a:off x="609600" y="6381750"/>
            <a:ext cx="1981200" cy="339725"/>
          </a:xfrm>
          <a:noFill/>
        </p:spPr>
        <p:txBody>
          <a:bodyPr/>
          <a:lstStyle/>
          <a:p>
            <a:r>
              <a:rPr lang="en-US" altLang="zh-CN" dirty="0"/>
              <a:t>2018</a:t>
            </a:r>
            <a:r>
              <a:rPr lang="zh-CN" altLang="en-US" dirty="0"/>
              <a:t>年</a:t>
            </a:r>
            <a:r>
              <a:rPr lang="en-US" altLang="zh-CN" dirty="0"/>
              <a:t>9</a:t>
            </a:r>
            <a:r>
              <a:rPr lang="zh-CN" altLang="en-US" dirty="0"/>
              <a:t>月</a:t>
            </a:r>
            <a:r>
              <a:rPr lang="en-US" altLang="zh-CN" dirty="0"/>
              <a:t>25</a:t>
            </a:r>
            <a:r>
              <a:rPr lang="zh-CN" altLang="en-US" dirty="0"/>
              <a:t>日</a:t>
            </a:r>
            <a:endParaRPr lang="en-US" altLang="zh-CN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 altLang="zh-CN"/>
              <a:t>1.Python</a:t>
            </a:r>
            <a:r>
              <a:rPr lang="zh-CN" altLang="en-US"/>
              <a:t>语言简介</a:t>
            </a:r>
          </a:p>
        </p:txBody>
      </p:sp>
      <p:sp>
        <p:nvSpPr>
          <p:cNvPr id="28676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80F86A54-56E7-4ACD-A6E5-535F04250D0C}" type="slidenum">
              <a:rPr lang="en-US" altLang="zh-CN"/>
              <a:pPr/>
              <a:t>19</a:t>
            </a:fld>
            <a:endParaRPr lang="en-US" altLang="zh-CN"/>
          </a:p>
        </p:txBody>
      </p:sp>
      <p:sp>
        <p:nvSpPr>
          <p:cNvPr id="28677" name="Rectangle 8"/>
          <p:cNvSpPr>
            <a:spLocks noGrp="1" noChangeArrowheads="1"/>
          </p:cNvSpPr>
          <p:nvPr>
            <p:ph type="title"/>
          </p:nvPr>
        </p:nvSpPr>
        <p:spPr>
          <a:xfrm>
            <a:off x="539750" y="1196975"/>
            <a:ext cx="8064500" cy="1079500"/>
          </a:xfrm>
          <a:noFill/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Times New Roman" pitchFamily="18" charset="0"/>
              </a:rPr>
              <a:t>       </a:t>
            </a:r>
            <a:r>
              <a:rPr lang="zh-CN" altLang="en-US" sz="2800" b="1" dirty="0">
                <a:latin typeface="Times New Roman" pitchFamily="18" charset="0"/>
              </a:rPr>
              <a:t>下图是在</a:t>
            </a:r>
            <a:r>
              <a:rPr lang="en-US" altLang="zh-CN" sz="2800" b="1" dirty="0" err="1">
                <a:latin typeface="Times New Roman" pitchFamily="18" charset="0"/>
              </a:rPr>
              <a:t>winows</a:t>
            </a:r>
            <a:r>
              <a:rPr lang="zh-CN" altLang="en-US" sz="2800" b="1" dirty="0">
                <a:latin typeface="Times New Roman" pitchFamily="18" charset="0"/>
              </a:rPr>
              <a:t>下安装</a:t>
            </a:r>
            <a:r>
              <a:rPr lang="en-US" altLang="zh-CN" sz="2800" b="1" dirty="0">
                <a:latin typeface="Times New Roman" pitchFamily="18" charset="0"/>
              </a:rPr>
              <a:t>Python3.2</a:t>
            </a:r>
            <a:r>
              <a:rPr lang="zh-CN" altLang="en-US" sz="2800" b="1" dirty="0">
                <a:latin typeface="Times New Roman" pitchFamily="18" charset="0"/>
              </a:rPr>
              <a:t>时运行</a:t>
            </a:r>
            <a:r>
              <a:rPr lang="en-US" altLang="zh-CN" sz="2800" b="1" dirty="0">
                <a:latin typeface="Times New Roman" pitchFamily="18" charset="0"/>
              </a:rPr>
              <a:t>IDLE</a:t>
            </a:r>
            <a:r>
              <a:rPr lang="zh-CN" altLang="en-US" sz="2800" b="1" dirty="0">
                <a:latin typeface="Times New Roman" pitchFamily="18" charset="0"/>
              </a:rPr>
              <a:t>后的</a:t>
            </a:r>
            <a:r>
              <a:rPr lang="en-US" altLang="zh-CN" sz="2800" b="1" dirty="0">
                <a:latin typeface="Times New Roman" pitchFamily="18" charset="0"/>
              </a:rPr>
              <a:t>Python</a:t>
            </a:r>
            <a:r>
              <a:rPr lang="zh-CN" altLang="en-US" sz="2800" b="1" dirty="0">
                <a:latin typeface="Times New Roman" pitchFamily="18" charset="0"/>
              </a:rPr>
              <a:t>交叉解释器的图形：</a:t>
            </a:r>
          </a:p>
        </p:txBody>
      </p:sp>
      <p:grpSp>
        <p:nvGrpSpPr>
          <p:cNvPr id="28678" name="Group 12"/>
          <p:cNvGrpSpPr>
            <a:grpSpLocks/>
          </p:cNvGrpSpPr>
          <p:nvPr/>
        </p:nvGrpSpPr>
        <p:grpSpPr bwMode="auto">
          <a:xfrm>
            <a:off x="250825" y="2636838"/>
            <a:ext cx="8604250" cy="3529012"/>
            <a:chOff x="158" y="1661"/>
            <a:chExt cx="5420" cy="2223"/>
          </a:xfrm>
        </p:grpSpPr>
        <p:pic>
          <p:nvPicPr>
            <p:cNvPr id="28679" name="Picture 6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58" y="2496"/>
              <a:ext cx="5420" cy="13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grpSp>
          <p:nvGrpSpPr>
            <p:cNvPr id="28680" name="Group 9"/>
            <p:cNvGrpSpPr>
              <a:grpSpLocks/>
            </p:cNvGrpSpPr>
            <p:nvPr/>
          </p:nvGrpSpPr>
          <p:grpSpPr bwMode="auto">
            <a:xfrm>
              <a:off x="2835" y="1661"/>
              <a:ext cx="1497" cy="681"/>
              <a:chOff x="4422" y="845"/>
              <a:chExt cx="1157" cy="681"/>
            </a:xfrm>
          </p:grpSpPr>
          <p:sp>
            <p:nvSpPr>
              <p:cNvPr id="28681" name="AutoShape 10"/>
              <p:cNvSpPr>
                <a:spLocks noChangeArrowheads="1"/>
              </p:cNvSpPr>
              <p:nvPr/>
            </p:nvSpPr>
            <p:spPr bwMode="auto">
              <a:xfrm>
                <a:off x="4422" y="845"/>
                <a:ext cx="1157" cy="681"/>
              </a:xfrm>
              <a:prstGeom prst="wedgeRoundRectCallout">
                <a:avLst>
                  <a:gd name="adj1" fmla="val -75065"/>
                  <a:gd name="adj2" fmla="val 97870"/>
                  <a:gd name="adj3" fmla="val 16667"/>
                </a:avLst>
              </a:prstGeom>
              <a:solidFill>
                <a:schemeClr val="bg1">
                  <a:alpha val="0"/>
                </a:schemeClr>
              </a:solid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/>
                <a:endParaRPr lang="zh-CN" altLang="zh-CN"/>
              </a:p>
            </p:txBody>
          </p:sp>
          <p:sp>
            <p:nvSpPr>
              <p:cNvPr id="28682" name="Text Box 11"/>
              <p:cNvSpPr txBox="1">
                <a:spLocks noChangeArrowheads="1"/>
              </p:cNvSpPr>
              <p:nvPr/>
            </p:nvSpPr>
            <p:spPr bwMode="auto">
              <a:xfrm>
                <a:off x="4468" y="1071"/>
                <a:ext cx="1089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/>
                  <a:t> </a:t>
                </a:r>
                <a:r>
                  <a:rPr lang="en-US" altLang="zh-CN" sz="2400">
                    <a:solidFill>
                      <a:srgbClr val="FF0000"/>
                    </a:solidFill>
                  </a:rPr>
                  <a:t>Python Shell</a:t>
                </a:r>
              </a:p>
            </p:txBody>
          </p:sp>
        </p:grpSp>
      </p:grpSp>
      <p:sp>
        <p:nvSpPr>
          <p:cNvPr id="12" name="日期占位符 3"/>
          <p:cNvSpPr>
            <a:spLocks noGrp="1"/>
          </p:cNvSpPr>
          <p:nvPr>
            <p:ph type="dt" sz="quarter" idx="10"/>
          </p:nvPr>
        </p:nvSpPr>
        <p:spPr>
          <a:xfrm>
            <a:off x="609600" y="6381750"/>
            <a:ext cx="1981200" cy="339725"/>
          </a:xfrm>
          <a:noFill/>
        </p:spPr>
        <p:txBody>
          <a:bodyPr/>
          <a:lstStyle/>
          <a:p>
            <a:r>
              <a:rPr lang="en-US" altLang="zh-CN" dirty="0"/>
              <a:t>2018</a:t>
            </a:r>
            <a:r>
              <a:rPr lang="zh-CN" altLang="en-US" dirty="0"/>
              <a:t>年</a:t>
            </a:r>
            <a:r>
              <a:rPr lang="en-US" altLang="zh-CN" dirty="0"/>
              <a:t>9</a:t>
            </a:r>
            <a:r>
              <a:rPr lang="zh-CN" altLang="en-US" dirty="0"/>
              <a:t>月</a:t>
            </a:r>
            <a:r>
              <a:rPr lang="en-US" altLang="zh-CN" dirty="0"/>
              <a:t>25</a:t>
            </a:r>
            <a:r>
              <a:rPr lang="zh-CN" altLang="en-US" dirty="0"/>
              <a:t>日</a:t>
            </a:r>
            <a:endParaRPr lang="en-US" altLang="zh-CN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 altLang="zh-CN"/>
              <a:t>1.Python</a:t>
            </a:r>
            <a:r>
              <a:rPr lang="zh-CN" altLang="en-US"/>
              <a:t>语言简介</a:t>
            </a:r>
          </a:p>
        </p:txBody>
      </p:sp>
      <p:sp>
        <p:nvSpPr>
          <p:cNvPr id="29700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6692D3ED-7570-4458-814E-49351EDFD69A}" type="slidenum">
              <a:rPr lang="en-US" altLang="zh-CN"/>
              <a:pPr/>
              <a:t>20</a:t>
            </a:fld>
            <a:endParaRPr lang="en-US" altLang="zh-CN"/>
          </a:p>
        </p:txBody>
      </p:sp>
      <p:sp>
        <p:nvSpPr>
          <p:cNvPr id="2970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200" b="1">
                <a:latin typeface="Times New Roman" pitchFamily="18" charset="0"/>
              </a:rPr>
              <a:t>1.3  IDE </a:t>
            </a:r>
            <a:r>
              <a:rPr lang="zh-CN" altLang="en-US" sz="3200" b="1">
                <a:latin typeface="Times New Roman" pitchFamily="18" charset="0"/>
              </a:rPr>
              <a:t>使用</a:t>
            </a:r>
          </a:p>
        </p:txBody>
      </p:sp>
      <p:sp>
        <p:nvSpPr>
          <p:cNvPr id="2970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9750" y="1125538"/>
            <a:ext cx="8001000" cy="4967287"/>
          </a:xfrm>
        </p:spPr>
        <p:txBody>
          <a:bodyPr/>
          <a:lstStyle/>
          <a:p>
            <a:pPr eaLnBrk="1" hangingPunct="1"/>
            <a:r>
              <a:rPr lang="zh-CN" altLang="en-US" sz="2800" b="1">
                <a:latin typeface="Times New Roman" pitchFamily="18" charset="0"/>
              </a:rPr>
              <a:t>运行</a:t>
            </a:r>
            <a:r>
              <a:rPr lang="en-US" altLang="zh-CN" sz="2800" b="1">
                <a:latin typeface="Times New Roman" pitchFamily="18" charset="0"/>
              </a:rPr>
              <a:t>Python</a:t>
            </a:r>
            <a:r>
              <a:rPr lang="zh-CN" altLang="en-US" sz="2800" b="1">
                <a:latin typeface="Times New Roman" pitchFamily="18" charset="0"/>
              </a:rPr>
              <a:t>的</a:t>
            </a:r>
            <a:r>
              <a:rPr lang="en-US" altLang="zh-CN" sz="2800" b="1">
                <a:latin typeface="Times New Roman" pitchFamily="18" charset="0"/>
              </a:rPr>
              <a:t>IDLE</a:t>
            </a:r>
          </a:p>
          <a:p>
            <a:pPr lvl="1" eaLnBrk="1" hangingPunct="1"/>
            <a:r>
              <a:rPr lang="zh-CN" altLang="en-US" sz="2400">
                <a:latin typeface="Times New Roman" pitchFamily="18" charset="0"/>
              </a:rPr>
              <a:t>文件 </a:t>
            </a:r>
            <a:r>
              <a:rPr lang="en-US" altLang="zh-CN" sz="2400">
                <a:latin typeface="Times New Roman" pitchFamily="18" charset="0"/>
              </a:rPr>
              <a:t>File</a:t>
            </a:r>
          </a:p>
          <a:p>
            <a:pPr lvl="1" eaLnBrk="1" hangingPunct="1"/>
            <a:r>
              <a:rPr lang="zh-CN" altLang="en-US" sz="2400">
                <a:latin typeface="Times New Roman" pitchFamily="18" charset="0"/>
              </a:rPr>
              <a:t>编辑 </a:t>
            </a:r>
            <a:r>
              <a:rPr lang="en-US" altLang="zh-CN" sz="2400">
                <a:latin typeface="Times New Roman" pitchFamily="18" charset="0"/>
              </a:rPr>
              <a:t>Edit</a:t>
            </a:r>
          </a:p>
          <a:p>
            <a:pPr lvl="1" eaLnBrk="1" hangingPunct="1"/>
            <a:r>
              <a:rPr lang="zh-CN" altLang="en-US" sz="2400">
                <a:latin typeface="Times New Roman" pitchFamily="18" charset="0"/>
              </a:rPr>
              <a:t>命令 </a:t>
            </a:r>
            <a:r>
              <a:rPr lang="en-US" altLang="zh-CN" sz="2400">
                <a:latin typeface="Times New Roman" pitchFamily="18" charset="0"/>
              </a:rPr>
              <a:t>Shell</a:t>
            </a:r>
          </a:p>
          <a:p>
            <a:pPr lvl="1" eaLnBrk="1" hangingPunct="1"/>
            <a:r>
              <a:rPr lang="zh-CN" altLang="en-US" sz="2400">
                <a:latin typeface="Times New Roman" pitchFamily="18" charset="0"/>
              </a:rPr>
              <a:t>调试 </a:t>
            </a:r>
            <a:r>
              <a:rPr lang="en-US" altLang="zh-CN" sz="2400">
                <a:latin typeface="Times New Roman" pitchFamily="18" charset="0"/>
              </a:rPr>
              <a:t>Debug</a:t>
            </a:r>
          </a:p>
          <a:p>
            <a:pPr lvl="1" eaLnBrk="1" hangingPunct="1"/>
            <a:r>
              <a:rPr lang="zh-CN" altLang="en-US" sz="2400">
                <a:latin typeface="Times New Roman" pitchFamily="18" charset="0"/>
              </a:rPr>
              <a:t>选择 </a:t>
            </a:r>
            <a:r>
              <a:rPr lang="en-US" altLang="zh-CN" sz="2400">
                <a:latin typeface="Times New Roman" pitchFamily="18" charset="0"/>
              </a:rPr>
              <a:t>Options</a:t>
            </a:r>
          </a:p>
          <a:p>
            <a:pPr lvl="1" eaLnBrk="1" hangingPunct="1"/>
            <a:r>
              <a:rPr lang="zh-CN" altLang="en-US" sz="2400">
                <a:latin typeface="Times New Roman" pitchFamily="18" charset="0"/>
              </a:rPr>
              <a:t>窗口 </a:t>
            </a:r>
            <a:r>
              <a:rPr lang="en-US" altLang="zh-CN" sz="2400">
                <a:latin typeface="Times New Roman" pitchFamily="18" charset="0"/>
              </a:rPr>
              <a:t>Windows</a:t>
            </a:r>
          </a:p>
          <a:p>
            <a:pPr lvl="1" eaLnBrk="1" hangingPunct="1"/>
            <a:r>
              <a:rPr lang="zh-CN" altLang="en-US" sz="2400">
                <a:latin typeface="Times New Roman" pitchFamily="18" charset="0"/>
              </a:rPr>
              <a:t>帮助 </a:t>
            </a:r>
            <a:r>
              <a:rPr lang="en-US" altLang="zh-CN" sz="2400">
                <a:latin typeface="Times New Roman" pitchFamily="18" charset="0"/>
              </a:rPr>
              <a:t>Help</a:t>
            </a:r>
          </a:p>
        </p:txBody>
      </p:sp>
      <p:grpSp>
        <p:nvGrpSpPr>
          <p:cNvPr id="29703" name="Group 9"/>
          <p:cNvGrpSpPr>
            <a:grpSpLocks/>
          </p:cNvGrpSpPr>
          <p:nvPr/>
        </p:nvGrpSpPr>
        <p:grpSpPr bwMode="auto">
          <a:xfrm>
            <a:off x="1908175" y="3284538"/>
            <a:ext cx="6551613" cy="3046412"/>
            <a:chOff x="1202" y="2069"/>
            <a:chExt cx="4127" cy="1919"/>
          </a:xfrm>
        </p:grpSpPr>
        <p:pic>
          <p:nvPicPr>
            <p:cNvPr id="29704" name="Picture 4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202" y="2931"/>
              <a:ext cx="4127" cy="105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9705" name="AutoShape 6"/>
            <p:cNvSpPr>
              <a:spLocks noChangeArrowheads="1"/>
            </p:cNvSpPr>
            <p:nvPr/>
          </p:nvSpPr>
          <p:spPr bwMode="auto">
            <a:xfrm>
              <a:off x="3560" y="2069"/>
              <a:ext cx="1044" cy="591"/>
            </a:xfrm>
            <a:prstGeom prst="wedgeRoundRectCallout">
              <a:avLst>
                <a:gd name="adj1" fmla="val -75065"/>
                <a:gd name="adj2" fmla="val 97870"/>
                <a:gd name="adj3" fmla="val 16667"/>
              </a:avLst>
            </a:prstGeom>
            <a:solidFill>
              <a:schemeClr val="bg1">
                <a:alpha val="0"/>
              </a:schemeClr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/>
              <a:endParaRPr lang="en-US" altLang="zh-CN"/>
            </a:p>
            <a:p>
              <a:pPr algn="ctr"/>
              <a:r>
                <a:rPr lang="en-US" altLang="zh-CN"/>
                <a:t> </a:t>
              </a:r>
              <a:r>
                <a:rPr lang="en-US" altLang="zh-CN" sz="2400">
                  <a:solidFill>
                    <a:srgbClr val="FF0000"/>
                  </a:solidFill>
                </a:rPr>
                <a:t>IDLE</a:t>
              </a:r>
            </a:p>
          </p:txBody>
        </p:sp>
      </p:grpSp>
      <p:sp>
        <p:nvSpPr>
          <p:cNvPr id="10" name="日期占位符 3"/>
          <p:cNvSpPr>
            <a:spLocks noGrp="1"/>
          </p:cNvSpPr>
          <p:nvPr>
            <p:ph type="dt" sz="quarter" idx="10"/>
          </p:nvPr>
        </p:nvSpPr>
        <p:spPr>
          <a:xfrm>
            <a:off x="609600" y="6381750"/>
            <a:ext cx="1981200" cy="339725"/>
          </a:xfrm>
          <a:noFill/>
        </p:spPr>
        <p:txBody>
          <a:bodyPr/>
          <a:lstStyle/>
          <a:p>
            <a:r>
              <a:rPr lang="en-US" altLang="zh-CN" dirty="0"/>
              <a:t>2018</a:t>
            </a:r>
            <a:r>
              <a:rPr lang="zh-CN" altLang="en-US" dirty="0"/>
              <a:t>年</a:t>
            </a:r>
            <a:r>
              <a:rPr lang="en-US" altLang="zh-CN" dirty="0"/>
              <a:t>9</a:t>
            </a:r>
            <a:r>
              <a:rPr lang="zh-CN" altLang="en-US" dirty="0"/>
              <a:t>月</a:t>
            </a:r>
            <a:r>
              <a:rPr lang="en-US" altLang="zh-CN" dirty="0"/>
              <a:t>25</a:t>
            </a:r>
            <a:r>
              <a:rPr lang="zh-CN" altLang="en-US" dirty="0"/>
              <a:t>日</a:t>
            </a:r>
            <a:endParaRPr lang="en-US" altLang="zh-CN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 altLang="zh-CN"/>
              <a:t>1.Python</a:t>
            </a:r>
            <a:r>
              <a:rPr lang="zh-CN" altLang="en-US"/>
              <a:t>语言简介</a:t>
            </a:r>
          </a:p>
        </p:txBody>
      </p:sp>
      <p:sp>
        <p:nvSpPr>
          <p:cNvPr id="30724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8D859CFA-6C2C-4882-8279-9CC005F2D556}" type="slidenum">
              <a:rPr lang="en-US" altLang="zh-CN"/>
              <a:pPr/>
              <a:t>21</a:t>
            </a:fld>
            <a:endParaRPr lang="en-US" altLang="zh-CN"/>
          </a:p>
        </p:txBody>
      </p:sp>
      <p:grpSp>
        <p:nvGrpSpPr>
          <p:cNvPr id="30725" name="Group 13"/>
          <p:cNvGrpSpPr>
            <a:grpSpLocks/>
          </p:cNvGrpSpPr>
          <p:nvPr/>
        </p:nvGrpSpPr>
        <p:grpSpPr bwMode="auto">
          <a:xfrm>
            <a:off x="611188" y="1052513"/>
            <a:ext cx="8029575" cy="5243512"/>
            <a:chOff x="385" y="663"/>
            <a:chExt cx="5058" cy="3303"/>
          </a:xfrm>
        </p:grpSpPr>
        <p:pic>
          <p:nvPicPr>
            <p:cNvPr id="30726" name="Picture 4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385" y="663"/>
              <a:ext cx="3947" cy="330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grpSp>
          <p:nvGrpSpPr>
            <p:cNvPr id="30727" name="Group 11"/>
            <p:cNvGrpSpPr>
              <a:grpSpLocks/>
            </p:cNvGrpSpPr>
            <p:nvPr/>
          </p:nvGrpSpPr>
          <p:grpSpPr bwMode="auto">
            <a:xfrm>
              <a:off x="4286" y="981"/>
              <a:ext cx="1157" cy="681"/>
              <a:chOff x="4422" y="845"/>
              <a:chExt cx="1157" cy="681"/>
            </a:xfrm>
          </p:grpSpPr>
          <p:sp>
            <p:nvSpPr>
              <p:cNvPr id="30728" name="AutoShape 5"/>
              <p:cNvSpPr>
                <a:spLocks noChangeArrowheads="1"/>
              </p:cNvSpPr>
              <p:nvPr/>
            </p:nvSpPr>
            <p:spPr bwMode="auto">
              <a:xfrm>
                <a:off x="4422" y="845"/>
                <a:ext cx="1157" cy="681"/>
              </a:xfrm>
              <a:prstGeom prst="wedgeRoundRectCallout">
                <a:avLst>
                  <a:gd name="adj1" fmla="val -75065"/>
                  <a:gd name="adj2" fmla="val 97870"/>
                  <a:gd name="adj3" fmla="val 16667"/>
                </a:avLst>
              </a:prstGeom>
              <a:solidFill>
                <a:schemeClr val="bg1">
                  <a:alpha val="0"/>
                </a:schemeClr>
              </a:solid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/>
                <a:endParaRPr lang="zh-CN" altLang="zh-CN"/>
              </a:p>
            </p:txBody>
          </p:sp>
          <p:sp>
            <p:nvSpPr>
              <p:cNvPr id="30729" name="Text Box 6"/>
              <p:cNvSpPr txBox="1">
                <a:spLocks noChangeArrowheads="1"/>
              </p:cNvSpPr>
              <p:nvPr/>
            </p:nvSpPr>
            <p:spPr bwMode="auto">
              <a:xfrm>
                <a:off x="4468" y="1071"/>
                <a:ext cx="1089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/>
                  <a:t>  </a:t>
                </a:r>
                <a:r>
                  <a:rPr lang="en-US" altLang="zh-CN" sz="2400">
                    <a:solidFill>
                      <a:srgbClr val="FF0000"/>
                    </a:solidFill>
                    <a:latin typeface="Times New Roman" pitchFamily="18" charset="0"/>
                  </a:rPr>
                  <a:t>Help Idle</a:t>
                </a:r>
              </a:p>
            </p:txBody>
          </p:sp>
        </p:grpSp>
      </p:grpSp>
      <p:sp>
        <p:nvSpPr>
          <p:cNvPr id="10" name="日期占位符 3"/>
          <p:cNvSpPr>
            <a:spLocks noGrp="1"/>
          </p:cNvSpPr>
          <p:nvPr>
            <p:ph type="dt" sz="quarter" idx="10"/>
          </p:nvPr>
        </p:nvSpPr>
        <p:spPr>
          <a:xfrm>
            <a:off x="609600" y="6381750"/>
            <a:ext cx="1981200" cy="339725"/>
          </a:xfrm>
          <a:noFill/>
        </p:spPr>
        <p:txBody>
          <a:bodyPr/>
          <a:lstStyle/>
          <a:p>
            <a:r>
              <a:rPr lang="en-US" altLang="zh-CN" dirty="0"/>
              <a:t>2018</a:t>
            </a:r>
            <a:r>
              <a:rPr lang="zh-CN" altLang="en-US" dirty="0"/>
              <a:t>年</a:t>
            </a:r>
            <a:r>
              <a:rPr lang="en-US" altLang="zh-CN" dirty="0"/>
              <a:t>9</a:t>
            </a:r>
            <a:r>
              <a:rPr lang="zh-CN" altLang="en-US" dirty="0"/>
              <a:t>月</a:t>
            </a:r>
            <a:r>
              <a:rPr lang="en-US" altLang="zh-CN" dirty="0"/>
              <a:t>25</a:t>
            </a:r>
            <a:r>
              <a:rPr lang="zh-CN" altLang="en-US" dirty="0"/>
              <a:t>日</a:t>
            </a:r>
            <a:endParaRPr lang="en-US" altLang="zh-CN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7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 altLang="zh-CN"/>
              <a:t>1.Python</a:t>
            </a:r>
            <a:r>
              <a:rPr lang="zh-CN" altLang="en-US"/>
              <a:t>语言简介</a:t>
            </a:r>
          </a:p>
        </p:txBody>
      </p:sp>
      <p:sp>
        <p:nvSpPr>
          <p:cNvPr id="31748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C293D414-AEFC-4E41-82AF-59D217712157}" type="slidenum">
              <a:rPr lang="en-US" altLang="zh-CN"/>
              <a:pPr/>
              <a:t>22</a:t>
            </a:fld>
            <a:endParaRPr lang="en-US" altLang="zh-CN"/>
          </a:p>
        </p:txBody>
      </p:sp>
      <p:sp>
        <p:nvSpPr>
          <p:cNvPr id="3174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9750" y="1196975"/>
            <a:ext cx="8208963" cy="4967288"/>
          </a:xfrm>
        </p:spPr>
        <p:txBody>
          <a:bodyPr/>
          <a:lstStyle/>
          <a:p>
            <a:pPr eaLnBrk="1" hangingPunct="1"/>
            <a:r>
              <a:rPr lang="zh-CN" altLang="en-US" sz="2800" b="1">
                <a:latin typeface="Times New Roman" pitchFamily="18" charset="0"/>
              </a:rPr>
              <a:t>运行</a:t>
            </a:r>
            <a:r>
              <a:rPr lang="en-US" altLang="zh-CN" sz="2800" b="1">
                <a:latin typeface="Times New Roman" pitchFamily="18" charset="0"/>
              </a:rPr>
              <a:t>PyScripter</a:t>
            </a:r>
          </a:p>
          <a:p>
            <a:pPr lvl="1" eaLnBrk="1" hangingPunct="1"/>
            <a:r>
              <a:rPr lang="zh-CN" altLang="en-US" sz="2400">
                <a:latin typeface="Times New Roman" pitchFamily="18" charset="0"/>
              </a:rPr>
              <a:t>文件目录</a:t>
            </a:r>
          </a:p>
          <a:p>
            <a:pPr lvl="1" eaLnBrk="1" hangingPunct="1"/>
            <a:r>
              <a:rPr lang="zh-CN" altLang="en-US" sz="2400">
                <a:latin typeface="Times New Roman" pitchFamily="18" charset="0"/>
              </a:rPr>
              <a:t>编辑窗口</a:t>
            </a:r>
          </a:p>
          <a:p>
            <a:pPr lvl="1" eaLnBrk="1" hangingPunct="1"/>
            <a:r>
              <a:rPr lang="zh-CN" altLang="en-US" sz="2400">
                <a:latin typeface="Times New Roman" pitchFamily="18" charset="0"/>
              </a:rPr>
              <a:t>命令解释</a:t>
            </a:r>
          </a:p>
          <a:p>
            <a:pPr lvl="1" eaLnBrk="1" hangingPunct="1"/>
            <a:endParaRPr lang="zh-CN" altLang="en-US" sz="2400">
              <a:latin typeface="Times New Roman" pitchFamily="18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400">
                <a:latin typeface="Times New Roman" pitchFamily="18" charset="0"/>
              </a:rPr>
              <a:t>             关于</a:t>
            </a:r>
            <a:r>
              <a:rPr lang="en-US" altLang="zh-CN" sz="2400">
                <a:latin typeface="Times New Roman" pitchFamily="18" charset="0"/>
              </a:rPr>
              <a:t>Python</a:t>
            </a:r>
            <a:r>
              <a:rPr lang="zh-CN" altLang="en-US" sz="2400">
                <a:latin typeface="Times New Roman" pitchFamily="18" charset="0"/>
              </a:rPr>
              <a:t>的集成开发环境有许多工具可以使用，除了上面的</a:t>
            </a:r>
            <a:r>
              <a:rPr lang="en-US" altLang="zh-CN" sz="2400">
                <a:latin typeface="Times New Roman" pitchFamily="18" charset="0"/>
              </a:rPr>
              <a:t>Python</a:t>
            </a:r>
            <a:r>
              <a:rPr lang="zh-CN" altLang="en-US" sz="2400">
                <a:latin typeface="Times New Roman" pitchFamily="18" charset="0"/>
              </a:rPr>
              <a:t>自带的</a:t>
            </a:r>
            <a:r>
              <a:rPr lang="en-US" altLang="zh-CN" sz="2400">
                <a:latin typeface="Times New Roman" pitchFamily="18" charset="0"/>
              </a:rPr>
              <a:t>IDLE</a:t>
            </a:r>
            <a:r>
              <a:rPr lang="zh-CN" altLang="en-US" sz="2400">
                <a:latin typeface="Times New Roman" pitchFamily="18" charset="0"/>
              </a:rPr>
              <a:t>，还有</a:t>
            </a:r>
            <a:r>
              <a:rPr lang="en-US" altLang="zh-CN" sz="2400">
                <a:latin typeface="Times New Roman" pitchFamily="18" charset="0"/>
              </a:rPr>
              <a:t>Google</a:t>
            </a:r>
            <a:r>
              <a:rPr lang="zh-CN" altLang="en-US" sz="2400">
                <a:latin typeface="Times New Roman" pitchFamily="18" charset="0"/>
              </a:rPr>
              <a:t>的</a:t>
            </a:r>
            <a:r>
              <a:rPr lang="en-US" altLang="zh-CN" sz="2400">
                <a:latin typeface="Times New Roman" pitchFamily="18" charset="0"/>
              </a:rPr>
              <a:t>PyScripter…</a:t>
            </a:r>
            <a:r>
              <a:rPr lang="zh-CN" altLang="en-US" sz="2400">
                <a:latin typeface="Times New Roman" pitchFamily="18" charset="0"/>
              </a:rPr>
              <a:t>这里推荐使用</a:t>
            </a:r>
            <a:r>
              <a:rPr lang="en-US" altLang="zh-CN" sz="2400">
                <a:latin typeface="Times New Roman" pitchFamily="18" charset="0"/>
              </a:rPr>
              <a:t>IDLE </a:t>
            </a:r>
            <a:r>
              <a:rPr lang="zh-CN" altLang="en-US" sz="2400">
                <a:latin typeface="Times New Roman" pitchFamily="18" charset="0"/>
              </a:rPr>
              <a:t>或者</a:t>
            </a:r>
            <a:r>
              <a:rPr lang="en-US" altLang="zh-CN" sz="2400">
                <a:latin typeface="Times New Roman" pitchFamily="18" charset="0"/>
              </a:rPr>
              <a:t>PyScipter</a:t>
            </a:r>
            <a:r>
              <a:rPr lang="zh-CN" altLang="en-US" sz="2400">
                <a:latin typeface="Times New Roman" pitchFamily="18" charset="0"/>
              </a:rPr>
              <a:t>：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400">
                <a:latin typeface="Times New Roman" pitchFamily="18" charset="0"/>
              </a:rPr>
              <a:t>               </a:t>
            </a:r>
            <a:r>
              <a:rPr lang="en-US" altLang="zh-CN" sz="2400">
                <a:latin typeface="Times New Roman" pitchFamily="18" charset="0"/>
              </a:rPr>
              <a:t>http://code.google.com/p/pyscripter/</a:t>
            </a:r>
          </a:p>
          <a:p>
            <a:pPr lvl="1" eaLnBrk="1" hangingPunct="1"/>
            <a:endParaRPr lang="en-US" altLang="zh-CN" sz="2400">
              <a:latin typeface="Times New Roman" pitchFamily="18" charset="0"/>
            </a:endParaRPr>
          </a:p>
          <a:p>
            <a:pPr eaLnBrk="1" hangingPunct="1"/>
            <a:endParaRPr lang="en-US" altLang="zh-CN"/>
          </a:p>
        </p:txBody>
      </p:sp>
      <p:sp>
        <p:nvSpPr>
          <p:cNvPr id="6" name="日期占位符 3"/>
          <p:cNvSpPr>
            <a:spLocks noGrp="1"/>
          </p:cNvSpPr>
          <p:nvPr>
            <p:ph type="dt" sz="quarter" idx="10"/>
          </p:nvPr>
        </p:nvSpPr>
        <p:spPr>
          <a:xfrm>
            <a:off x="609600" y="6381750"/>
            <a:ext cx="1981200" cy="339725"/>
          </a:xfrm>
          <a:noFill/>
        </p:spPr>
        <p:txBody>
          <a:bodyPr/>
          <a:lstStyle/>
          <a:p>
            <a:r>
              <a:rPr lang="en-US" altLang="zh-CN" dirty="0"/>
              <a:t>2018</a:t>
            </a:r>
            <a:r>
              <a:rPr lang="zh-CN" altLang="en-US" dirty="0"/>
              <a:t>年</a:t>
            </a:r>
            <a:r>
              <a:rPr lang="en-US" altLang="zh-CN" dirty="0"/>
              <a:t>9</a:t>
            </a:r>
            <a:r>
              <a:rPr lang="zh-CN" altLang="en-US" dirty="0"/>
              <a:t>月</a:t>
            </a:r>
            <a:r>
              <a:rPr lang="en-US" altLang="zh-CN" dirty="0"/>
              <a:t>25</a:t>
            </a:r>
            <a:r>
              <a:rPr lang="zh-CN" altLang="en-US" dirty="0"/>
              <a:t>日</a:t>
            </a:r>
            <a:endParaRPr lang="en-US" altLang="zh-CN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 altLang="zh-CN"/>
              <a:t>1.Python</a:t>
            </a:r>
            <a:r>
              <a:rPr lang="zh-CN" altLang="en-US"/>
              <a:t>语言简介</a:t>
            </a:r>
          </a:p>
        </p:txBody>
      </p:sp>
      <p:sp>
        <p:nvSpPr>
          <p:cNvPr id="32772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7107436B-1E4C-465E-81B3-7480E142A12D}" type="slidenum">
              <a:rPr lang="en-US" altLang="zh-CN"/>
              <a:pPr/>
              <a:t>23</a:t>
            </a:fld>
            <a:endParaRPr lang="en-US" altLang="zh-CN"/>
          </a:p>
        </p:txBody>
      </p:sp>
      <p:grpSp>
        <p:nvGrpSpPr>
          <p:cNvPr id="32773" name="Group 8"/>
          <p:cNvGrpSpPr>
            <a:grpSpLocks/>
          </p:cNvGrpSpPr>
          <p:nvPr/>
        </p:nvGrpSpPr>
        <p:grpSpPr bwMode="auto">
          <a:xfrm>
            <a:off x="611188" y="1016000"/>
            <a:ext cx="8245475" cy="5268913"/>
            <a:chOff x="385" y="640"/>
            <a:chExt cx="5194" cy="3319"/>
          </a:xfrm>
        </p:grpSpPr>
        <p:pic>
          <p:nvPicPr>
            <p:cNvPr id="32774" name="Picture 4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385" y="640"/>
              <a:ext cx="4400" cy="331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grpSp>
          <p:nvGrpSpPr>
            <p:cNvPr id="32775" name="Group 7"/>
            <p:cNvGrpSpPr>
              <a:grpSpLocks/>
            </p:cNvGrpSpPr>
            <p:nvPr/>
          </p:nvGrpSpPr>
          <p:grpSpPr bwMode="auto">
            <a:xfrm>
              <a:off x="4286" y="1071"/>
              <a:ext cx="1293" cy="681"/>
              <a:chOff x="4422" y="845"/>
              <a:chExt cx="1157" cy="681"/>
            </a:xfrm>
          </p:grpSpPr>
          <p:sp>
            <p:nvSpPr>
              <p:cNvPr id="32776" name="AutoShape 5"/>
              <p:cNvSpPr>
                <a:spLocks noChangeArrowheads="1"/>
              </p:cNvSpPr>
              <p:nvPr/>
            </p:nvSpPr>
            <p:spPr bwMode="auto">
              <a:xfrm>
                <a:off x="4422" y="845"/>
                <a:ext cx="1157" cy="681"/>
              </a:xfrm>
              <a:prstGeom prst="wedgeRoundRectCallout">
                <a:avLst>
                  <a:gd name="adj1" fmla="val -75065"/>
                  <a:gd name="adj2" fmla="val 97870"/>
                  <a:gd name="adj3" fmla="val 16667"/>
                </a:avLst>
              </a:prstGeom>
              <a:solidFill>
                <a:schemeClr val="bg1">
                  <a:alpha val="0"/>
                </a:schemeClr>
              </a:solid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/>
                <a:endParaRPr lang="zh-CN" altLang="zh-CN"/>
              </a:p>
            </p:txBody>
          </p:sp>
          <p:sp>
            <p:nvSpPr>
              <p:cNvPr id="32777" name="Text Box 6"/>
              <p:cNvSpPr txBox="1">
                <a:spLocks noChangeArrowheads="1"/>
              </p:cNvSpPr>
              <p:nvPr/>
            </p:nvSpPr>
            <p:spPr bwMode="auto">
              <a:xfrm>
                <a:off x="4468" y="1071"/>
                <a:ext cx="1089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/>
                  <a:t>   </a:t>
                </a:r>
                <a:r>
                  <a:rPr lang="en-US" altLang="zh-CN" sz="2400">
                    <a:solidFill>
                      <a:srgbClr val="FF0000"/>
                    </a:solidFill>
                    <a:latin typeface="Times New Roman" pitchFamily="18" charset="0"/>
                  </a:rPr>
                  <a:t>PyScripter</a:t>
                </a:r>
              </a:p>
            </p:txBody>
          </p:sp>
        </p:grpSp>
      </p:grpSp>
      <p:sp>
        <p:nvSpPr>
          <p:cNvPr id="10" name="日期占位符 3"/>
          <p:cNvSpPr>
            <a:spLocks noGrp="1"/>
          </p:cNvSpPr>
          <p:nvPr>
            <p:ph type="dt" sz="quarter" idx="10"/>
          </p:nvPr>
        </p:nvSpPr>
        <p:spPr>
          <a:xfrm>
            <a:off x="609600" y="6381750"/>
            <a:ext cx="1981200" cy="339725"/>
          </a:xfrm>
          <a:noFill/>
        </p:spPr>
        <p:txBody>
          <a:bodyPr/>
          <a:lstStyle/>
          <a:p>
            <a:r>
              <a:rPr lang="en-US" altLang="zh-CN" dirty="0"/>
              <a:t>2018</a:t>
            </a:r>
            <a:r>
              <a:rPr lang="zh-CN" altLang="en-US" dirty="0"/>
              <a:t>年</a:t>
            </a:r>
            <a:r>
              <a:rPr lang="en-US" altLang="zh-CN" dirty="0"/>
              <a:t>9</a:t>
            </a:r>
            <a:r>
              <a:rPr lang="zh-CN" altLang="en-US" dirty="0"/>
              <a:t>月</a:t>
            </a:r>
            <a:r>
              <a:rPr lang="en-US" altLang="zh-CN" dirty="0"/>
              <a:t>25</a:t>
            </a:r>
            <a:r>
              <a:rPr lang="zh-CN" altLang="en-US" dirty="0"/>
              <a:t>日</a:t>
            </a:r>
            <a:endParaRPr lang="en-US" altLang="zh-CN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下载网址</a:t>
            </a:r>
            <a:endParaRPr lang="en-US" altLang="zh-CN" dirty="0"/>
          </a:p>
          <a:p>
            <a:pPr>
              <a:buNone/>
            </a:pPr>
            <a:r>
              <a:rPr lang="en-US" altLang="zh-CN" sz="2000" dirty="0"/>
              <a:t>     </a:t>
            </a:r>
            <a:r>
              <a:rPr lang="en-US" altLang="zh-CN" sz="2000" dirty="0">
                <a:hlinkClick r:id="rId2"/>
              </a:rPr>
              <a:t>https://www.anaconda.com/download/</a:t>
            </a:r>
            <a:endParaRPr lang="en-US" altLang="zh-CN" sz="2000" dirty="0"/>
          </a:p>
          <a:p>
            <a:pPr>
              <a:buNone/>
            </a:pPr>
            <a:r>
              <a:rPr lang="en-US" altLang="zh-CN" sz="2000" dirty="0"/>
              <a:t>     </a:t>
            </a:r>
            <a:r>
              <a:rPr lang="en-US" altLang="zh-CN" sz="2000" dirty="0">
                <a:hlinkClick r:id="rId3"/>
              </a:rPr>
              <a:t>https://mirrors.tuna.tsinghua.edu.cn/help/anaconda/</a:t>
            </a:r>
            <a:endParaRPr lang="en-US" altLang="zh-CN" sz="2000" dirty="0"/>
          </a:p>
          <a:p>
            <a:pPr>
              <a:buNone/>
            </a:pPr>
            <a:endParaRPr lang="zh-CN" altLang="en-US" sz="200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2018</a:t>
            </a:r>
            <a:r>
              <a:rPr lang="zh-CN" altLang="en-US"/>
              <a:t>年</a:t>
            </a:r>
            <a:r>
              <a:rPr lang="en-US" altLang="zh-CN"/>
              <a:t>9</a:t>
            </a:r>
            <a:r>
              <a:rPr lang="zh-CN" altLang="en-US"/>
              <a:t>月</a:t>
            </a:r>
            <a:r>
              <a:rPr lang="en-US" altLang="zh-CN"/>
              <a:t>25</a:t>
            </a:r>
            <a:r>
              <a:rPr lang="zh-CN" altLang="en-US"/>
              <a:t>日</a:t>
            </a: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1.Python</a:t>
            </a:r>
            <a:r>
              <a:rPr lang="zh-CN" altLang="en-US"/>
              <a:t>语言简介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1651D8A-E98E-4E1D-8D6E-76007C920617}" type="slidenum">
              <a:rPr lang="en-US" altLang="zh-CN" smtClean="0"/>
              <a:pPr>
                <a:defRPr/>
              </a:pPr>
              <a:t>24</a:t>
            </a:fld>
            <a:endParaRPr lang="en-US" altLang="zh-CN"/>
          </a:p>
        </p:txBody>
      </p:sp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>
          <a:xfrm>
            <a:off x="539750" y="333375"/>
            <a:ext cx="8001000" cy="603250"/>
          </a:xfrm>
        </p:spPr>
        <p:txBody>
          <a:bodyPr/>
          <a:lstStyle/>
          <a:p>
            <a:pPr eaLnBrk="1" hangingPunct="1"/>
            <a:r>
              <a:rPr lang="en-US" altLang="zh-CN" sz="3200" b="1" dirty="0">
                <a:latin typeface="Times New Roman" pitchFamily="18" charset="0"/>
              </a:rPr>
              <a:t>1.2  Python </a:t>
            </a:r>
            <a:r>
              <a:rPr lang="zh-CN" altLang="en-US" sz="3200" b="1" dirty="0">
                <a:latin typeface="Times New Roman" pitchFamily="18" charset="0"/>
              </a:rPr>
              <a:t>安装</a:t>
            </a:r>
            <a:r>
              <a:rPr lang="en-US" altLang="zh-CN" sz="3200" b="1" dirty="0">
                <a:latin typeface="Times New Roman" pitchFamily="18" charset="0"/>
              </a:rPr>
              <a:t> – Anaconda</a:t>
            </a:r>
            <a:endParaRPr lang="zh-CN" altLang="en-US" sz="3200" b="1" dirty="0">
              <a:latin typeface="Times New Roman" pitchFamily="18" charset="0"/>
            </a:endParaRPr>
          </a:p>
        </p:txBody>
      </p:sp>
      <p:pic>
        <p:nvPicPr>
          <p:cNvPr id="62466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043608" y="2420887"/>
            <a:ext cx="3546149" cy="378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2467" name="Picture 3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788024" y="2420888"/>
            <a:ext cx="3573818" cy="378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安装过程</a:t>
            </a:r>
            <a:endParaRPr lang="en-US" altLang="zh-CN" dirty="0"/>
          </a:p>
          <a:p>
            <a:pPr>
              <a:buNone/>
            </a:pPr>
            <a:r>
              <a:rPr lang="en-US" altLang="zh-CN" sz="2400" dirty="0"/>
              <a:t>1. </a:t>
            </a:r>
            <a:r>
              <a:rPr lang="zh-CN" altLang="en-US" sz="2400" dirty="0"/>
              <a:t>首先从官网下载</a:t>
            </a:r>
            <a:r>
              <a:rPr lang="en-US" altLang="zh-CN" sz="2400" dirty="0"/>
              <a:t>Python 3.6 version</a:t>
            </a:r>
            <a:r>
              <a:rPr lang="zh-CN" altLang="en-US" sz="2400" dirty="0"/>
              <a:t>的安装包，新版多了一些功能，推荐使用</a:t>
            </a:r>
            <a:endParaRPr lang="en-US" altLang="zh-CN" sz="2400" dirty="0"/>
          </a:p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2018</a:t>
            </a:r>
            <a:r>
              <a:rPr lang="zh-CN" altLang="en-US"/>
              <a:t>年</a:t>
            </a:r>
            <a:r>
              <a:rPr lang="en-US" altLang="zh-CN"/>
              <a:t>9</a:t>
            </a:r>
            <a:r>
              <a:rPr lang="zh-CN" altLang="en-US"/>
              <a:t>月</a:t>
            </a:r>
            <a:r>
              <a:rPr lang="en-US" altLang="zh-CN"/>
              <a:t>25</a:t>
            </a:r>
            <a:r>
              <a:rPr lang="zh-CN" altLang="en-US"/>
              <a:t>日</a:t>
            </a: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1.Python</a:t>
            </a:r>
            <a:r>
              <a:rPr lang="zh-CN" altLang="en-US"/>
              <a:t>语言简介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1651D8A-E98E-4E1D-8D6E-76007C920617}" type="slidenum">
              <a:rPr lang="en-US" altLang="zh-CN" smtClean="0"/>
              <a:pPr>
                <a:defRPr/>
              </a:pPr>
              <a:t>25</a:t>
            </a:fld>
            <a:endParaRPr lang="en-US" altLang="zh-CN"/>
          </a:p>
        </p:txBody>
      </p:sp>
      <p:pic>
        <p:nvPicPr>
          <p:cNvPr id="6349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71600" y="2564904"/>
            <a:ext cx="7516713" cy="34153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内容占位符 1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400" dirty="0"/>
              <a:t>2. </a:t>
            </a:r>
            <a:r>
              <a:rPr lang="zh-CN" altLang="en-US" sz="2400" dirty="0"/>
              <a:t>默认选项安装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2018</a:t>
            </a:r>
            <a:r>
              <a:rPr lang="zh-CN" altLang="en-US"/>
              <a:t>年</a:t>
            </a:r>
            <a:r>
              <a:rPr lang="en-US" altLang="zh-CN"/>
              <a:t>9</a:t>
            </a:r>
            <a:r>
              <a:rPr lang="zh-CN" altLang="en-US"/>
              <a:t>月</a:t>
            </a:r>
            <a:r>
              <a:rPr lang="en-US" altLang="zh-CN"/>
              <a:t>25</a:t>
            </a:r>
            <a:r>
              <a:rPr lang="zh-CN" altLang="en-US"/>
              <a:t>日</a:t>
            </a: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1.Python</a:t>
            </a:r>
            <a:r>
              <a:rPr lang="zh-CN" altLang="en-US"/>
              <a:t>语言简介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1651D8A-E98E-4E1D-8D6E-76007C920617}" type="slidenum">
              <a:rPr lang="en-US" altLang="zh-CN" smtClean="0"/>
              <a:pPr>
                <a:defRPr/>
              </a:pPr>
              <a:t>26</a:t>
            </a:fld>
            <a:endParaRPr lang="en-US" altLang="zh-CN"/>
          </a:p>
        </p:txBody>
      </p:sp>
      <p:pic>
        <p:nvPicPr>
          <p:cNvPr id="6451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03648" y="1557312"/>
            <a:ext cx="5986753" cy="468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2018</a:t>
            </a:r>
            <a:r>
              <a:rPr lang="zh-CN" altLang="en-US"/>
              <a:t>年</a:t>
            </a:r>
            <a:r>
              <a:rPr lang="en-US" altLang="zh-CN"/>
              <a:t>9</a:t>
            </a:r>
            <a:r>
              <a:rPr lang="zh-CN" altLang="en-US"/>
              <a:t>月</a:t>
            </a:r>
            <a:r>
              <a:rPr lang="en-US" altLang="zh-CN"/>
              <a:t>25</a:t>
            </a:r>
            <a:r>
              <a:rPr lang="zh-CN" altLang="en-US"/>
              <a:t>日</a:t>
            </a: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1.Python</a:t>
            </a:r>
            <a:r>
              <a:rPr lang="zh-CN" altLang="en-US"/>
              <a:t>语言简介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1651D8A-E98E-4E1D-8D6E-76007C920617}" type="slidenum">
              <a:rPr lang="en-US" altLang="zh-CN" smtClean="0"/>
              <a:pPr>
                <a:defRPr/>
              </a:pPr>
              <a:t>27</a:t>
            </a:fld>
            <a:endParaRPr lang="en-US" altLang="zh-CN"/>
          </a:p>
        </p:txBody>
      </p:sp>
      <p:pic>
        <p:nvPicPr>
          <p:cNvPr id="7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47664" y="1340768"/>
            <a:ext cx="6039895" cy="468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内容占位符 2"/>
          <p:cNvSpPr>
            <a:spLocks noGrp="1"/>
          </p:cNvSpPr>
          <p:nvPr>
            <p:ph idx="1"/>
          </p:nvPr>
        </p:nvSpPr>
        <p:spPr>
          <a:xfrm>
            <a:off x="566738" y="1052513"/>
            <a:ext cx="8001000" cy="4967287"/>
          </a:xfrm>
        </p:spPr>
        <p:txBody>
          <a:bodyPr/>
          <a:lstStyle/>
          <a:p>
            <a:r>
              <a:rPr lang="en-US" altLang="zh-CN" sz="2400" dirty="0"/>
              <a:t>3.</a:t>
            </a:r>
            <a:r>
              <a:rPr lang="zh-CN" altLang="en-US" sz="2400" dirty="0"/>
              <a:t>安装完成后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2018</a:t>
            </a:r>
            <a:r>
              <a:rPr lang="zh-CN" altLang="en-US"/>
              <a:t>年</a:t>
            </a:r>
            <a:r>
              <a:rPr lang="en-US" altLang="zh-CN"/>
              <a:t>9</a:t>
            </a:r>
            <a:r>
              <a:rPr lang="zh-CN" altLang="en-US"/>
              <a:t>月</a:t>
            </a:r>
            <a:r>
              <a:rPr lang="en-US" altLang="zh-CN"/>
              <a:t>25</a:t>
            </a:r>
            <a:r>
              <a:rPr lang="zh-CN" altLang="en-US"/>
              <a:t>日</a:t>
            </a: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1.Python</a:t>
            </a:r>
            <a:r>
              <a:rPr lang="zh-CN" altLang="en-US"/>
              <a:t>语言简介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1651D8A-E98E-4E1D-8D6E-76007C920617}" type="slidenum">
              <a:rPr lang="en-US" altLang="zh-CN" smtClean="0"/>
              <a:pPr>
                <a:defRPr/>
              </a:pPr>
              <a:t>28</a:t>
            </a:fld>
            <a:endParaRPr lang="en-US" altLang="zh-CN"/>
          </a:p>
        </p:txBody>
      </p:sp>
      <p:pic>
        <p:nvPicPr>
          <p:cNvPr id="65539" name="Picture 3"/>
          <p:cNvPicPr>
            <a:picLocks noChangeAspect="1" noChangeArrowheads="1"/>
          </p:cNvPicPr>
          <p:nvPr/>
        </p:nvPicPr>
        <p:blipFill>
          <a:blip r:embed="rId2" cstate="print"/>
          <a:srcRect r="3116"/>
          <a:stretch>
            <a:fillRect/>
          </a:stretch>
        </p:blipFill>
        <p:spPr bwMode="auto">
          <a:xfrm>
            <a:off x="3707904" y="1412776"/>
            <a:ext cx="2880320" cy="4703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400" dirty="0"/>
              <a:t>安装包管理</a:t>
            </a:r>
            <a:r>
              <a:rPr lang="en-US" altLang="zh-CN" sz="2400" dirty="0"/>
              <a:t>- Anaconda navigator</a:t>
            </a:r>
            <a:endParaRPr lang="zh-CN" altLang="en-US" sz="240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2018</a:t>
            </a:r>
            <a:r>
              <a:rPr lang="zh-CN" altLang="en-US"/>
              <a:t>年</a:t>
            </a:r>
            <a:r>
              <a:rPr lang="en-US" altLang="zh-CN"/>
              <a:t>9</a:t>
            </a:r>
            <a:r>
              <a:rPr lang="zh-CN" altLang="en-US"/>
              <a:t>月</a:t>
            </a:r>
            <a:r>
              <a:rPr lang="en-US" altLang="zh-CN"/>
              <a:t>25</a:t>
            </a:r>
            <a:r>
              <a:rPr lang="zh-CN" altLang="en-US"/>
              <a:t>日</a:t>
            </a: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1.Python</a:t>
            </a:r>
            <a:r>
              <a:rPr lang="zh-CN" altLang="en-US"/>
              <a:t>语言简介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1651D8A-E98E-4E1D-8D6E-76007C920617}" type="slidenum">
              <a:rPr lang="en-US" altLang="zh-CN" smtClean="0"/>
              <a:pPr>
                <a:defRPr/>
              </a:pPr>
              <a:t>29</a:t>
            </a:fld>
            <a:endParaRPr lang="en-US" altLang="zh-CN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 cstate="print"/>
          <a:srcRect l="867"/>
          <a:stretch>
            <a:fillRect/>
          </a:stretch>
        </p:blipFill>
        <p:spPr bwMode="auto">
          <a:xfrm>
            <a:off x="914568" y="1628800"/>
            <a:ext cx="7689880" cy="44392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2018</a:t>
            </a:r>
            <a:r>
              <a:rPr lang="zh-CN" altLang="en-US"/>
              <a:t>年</a:t>
            </a:r>
            <a:r>
              <a:rPr lang="en-US" altLang="zh-CN"/>
              <a:t>9</a:t>
            </a:r>
            <a:r>
              <a:rPr lang="zh-CN" altLang="en-US"/>
              <a:t>月</a:t>
            </a:r>
            <a:r>
              <a:rPr lang="en-US" altLang="zh-CN"/>
              <a:t>25</a:t>
            </a:r>
            <a:r>
              <a:rPr lang="zh-CN" altLang="en-US"/>
              <a:t>日</a:t>
            </a: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1.Python</a:t>
            </a:r>
            <a:r>
              <a:rPr lang="zh-CN" altLang="en-US"/>
              <a:t>语言简介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1651D8A-E98E-4E1D-8D6E-76007C920617}" type="slidenum">
              <a:rPr lang="en-US" altLang="zh-CN" smtClean="0"/>
              <a:pPr>
                <a:defRPr/>
              </a:pPr>
              <a:t>30</a:t>
            </a:fld>
            <a:endParaRPr lang="en-US" altLang="zh-CN"/>
          </a:p>
        </p:txBody>
      </p:sp>
      <p:pic>
        <p:nvPicPr>
          <p:cNvPr id="6656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520" y="1484784"/>
            <a:ext cx="8755494" cy="43204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400" dirty="0"/>
              <a:t>IDE</a:t>
            </a:r>
            <a:r>
              <a:rPr lang="zh-CN" altLang="en-US" sz="2400" dirty="0"/>
              <a:t> </a:t>
            </a:r>
            <a:r>
              <a:rPr lang="en-US" altLang="zh-CN" sz="2400" dirty="0"/>
              <a:t>– </a:t>
            </a:r>
            <a:r>
              <a:rPr lang="en-US" altLang="zh-CN" sz="2400" dirty="0" err="1"/>
              <a:t>Spyder</a:t>
            </a:r>
            <a:endParaRPr lang="en-US" altLang="zh-CN" sz="2400" dirty="0"/>
          </a:p>
          <a:p>
            <a:endParaRPr lang="en-US" altLang="zh-CN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2018</a:t>
            </a:r>
            <a:r>
              <a:rPr lang="zh-CN" altLang="en-US"/>
              <a:t>年</a:t>
            </a:r>
            <a:r>
              <a:rPr lang="en-US" altLang="zh-CN"/>
              <a:t>9</a:t>
            </a:r>
            <a:r>
              <a:rPr lang="zh-CN" altLang="en-US"/>
              <a:t>月</a:t>
            </a:r>
            <a:r>
              <a:rPr lang="en-US" altLang="zh-CN"/>
              <a:t>25</a:t>
            </a:r>
            <a:r>
              <a:rPr lang="zh-CN" altLang="en-US"/>
              <a:t>日</a:t>
            </a: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1.Python</a:t>
            </a:r>
            <a:r>
              <a:rPr lang="zh-CN" altLang="en-US"/>
              <a:t>语言简介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1651D8A-E98E-4E1D-8D6E-76007C920617}" type="slidenum">
              <a:rPr lang="en-US" altLang="zh-CN" smtClean="0"/>
              <a:pPr>
                <a:defRPr/>
              </a:pPr>
              <a:t>31</a:t>
            </a:fld>
            <a:endParaRPr lang="en-US" altLang="zh-CN"/>
          </a:p>
        </p:txBody>
      </p:sp>
      <p:pic>
        <p:nvPicPr>
          <p:cNvPr id="6758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3568" y="1772816"/>
            <a:ext cx="7854545" cy="43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400" b="1" dirty="0"/>
              <a:t>IDE - Visual Studio + Python</a:t>
            </a:r>
            <a:r>
              <a:rPr lang="zh-CN" altLang="en-US" sz="2400" b="1" dirty="0"/>
              <a:t>插件</a:t>
            </a:r>
            <a:r>
              <a:rPr lang="en-US" altLang="zh-CN" sz="2400" b="1" dirty="0"/>
              <a:t>(PTVS)</a:t>
            </a:r>
          </a:p>
          <a:p>
            <a:pPr>
              <a:buNone/>
            </a:pPr>
            <a:r>
              <a:rPr lang="en-US" altLang="zh-CN" sz="2400" dirty="0"/>
              <a:t>1. </a:t>
            </a:r>
            <a:r>
              <a:rPr lang="zh-CN" altLang="en-US" sz="2400" dirty="0"/>
              <a:t>安装</a:t>
            </a:r>
            <a:r>
              <a:rPr lang="en-US" altLang="zh-CN" sz="2400" dirty="0"/>
              <a:t>VS2015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2018</a:t>
            </a:r>
            <a:r>
              <a:rPr lang="zh-CN" altLang="en-US"/>
              <a:t>年</a:t>
            </a:r>
            <a:r>
              <a:rPr lang="en-US" altLang="zh-CN"/>
              <a:t>9</a:t>
            </a:r>
            <a:r>
              <a:rPr lang="zh-CN" altLang="en-US"/>
              <a:t>月</a:t>
            </a:r>
            <a:r>
              <a:rPr lang="en-US" altLang="zh-CN"/>
              <a:t>25</a:t>
            </a:r>
            <a:r>
              <a:rPr lang="zh-CN" altLang="en-US"/>
              <a:t>日</a:t>
            </a: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1.Python</a:t>
            </a:r>
            <a:r>
              <a:rPr lang="zh-CN" altLang="en-US"/>
              <a:t>语言简介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1651D8A-E98E-4E1D-8D6E-76007C920617}" type="slidenum">
              <a:rPr lang="en-US" altLang="zh-CN" smtClean="0"/>
              <a:pPr>
                <a:defRPr/>
              </a:pPr>
              <a:t>32</a:t>
            </a:fld>
            <a:endParaRPr lang="en-US" altLang="zh-CN"/>
          </a:p>
        </p:txBody>
      </p:sp>
      <p:pic>
        <p:nvPicPr>
          <p:cNvPr id="6861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75656" y="2060848"/>
            <a:ext cx="2948865" cy="41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8612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921680" y="2060848"/>
            <a:ext cx="2962688" cy="41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400" dirty="0"/>
              <a:t>2. </a:t>
            </a:r>
            <a:r>
              <a:rPr lang="zh-CN" altLang="en-US" sz="2400" dirty="0"/>
              <a:t>安装后配置</a:t>
            </a:r>
            <a:r>
              <a:rPr lang="en-US" altLang="zh-CN" sz="2400" dirty="0"/>
              <a:t>Python</a:t>
            </a:r>
            <a:r>
              <a:rPr lang="zh-CN" altLang="en-US" sz="2400" dirty="0"/>
              <a:t>环境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2018</a:t>
            </a:r>
            <a:r>
              <a:rPr lang="zh-CN" altLang="en-US"/>
              <a:t>年</a:t>
            </a:r>
            <a:r>
              <a:rPr lang="en-US" altLang="zh-CN"/>
              <a:t>9</a:t>
            </a:r>
            <a:r>
              <a:rPr lang="zh-CN" altLang="en-US"/>
              <a:t>月</a:t>
            </a:r>
            <a:r>
              <a:rPr lang="en-US" altLang="zh-CN"/>
              <a:t>25</a:t>
            </a:r>
            <a:r>
              <a:rPr lang="zh-CN" altLang="en-US"/>
              <a:t>日</a:t>
            </a: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1.Python</a:t>
            </a:r>
            <a:r>
              <a:rPr lang="zh-CN" altLang="en-US"/>
              <a:t>语言简介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1651D8A-E98E-4E1D-8D6E-76007C920617}" type="slidenum">
              <a:rPr lang="en-US" altLang="zh-CN" smtClean="0"/>
              <a:pPr>
                <a:defRPr/>
              </a:pPr>
              <a:t>33</a:t>
            </a:fld>
            <a:endParaRPr lang="en-US" altLang="zh-CN"/>
          </a:p>
        </p:txBody>
      </p:sp>
      <p:pic>
        <p:nvPicPr>
          <p:cNvPr id="7168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5536" y="2204864"/>
            <a:ext cx="8154495" cy="33123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400" dirty="0"/>
              <a:t>填写</a:t>
            </a:r>
            <a:r>
              <a:rPr lang="en-US" altLang="zh-CN" sz="2400" dirty="0"/>
              <a:t>Python</a:t>
            </a:r>
            <a:r>
              <a:rPr lang="zh-CN" altLang="en-US" sz="2400" dirty="0"/>
              <a:t>路径后，</a:t>
            </a:r>
            <a:r>
              <a:rPr lang="en-US" altLang="zh-CN" sz="2400" dirty="0"/>
              <a:t>Auto Detect</a:t>
            </a:r>
            <a:endParaRPr lang="zh-CN" altLang="en-US" sz="240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2018</a:t>
            </a:r>
            <a:r>
              <a:rPr lang="zh-CN" altLang="en-US"/>
              <a:t>年</a:t>
            </a:r>
            <a:r>
              <a:rPr lang="en-US" altLang="zh-CN"/>
              <a:t>9</a:t>
            </a:r>
            <a:r>
              <a:rPr lang="zh-CN" altLang="en-US"/>
              <a:t>月</a:t>
            </a:r>
            <a:r>
              <a:rPr lang="en-US" altLang="zh-CN"/>
              <a:t>25</a:t>
            </a:r>
            <a:r>
              <a:rPr lang="zh-CN" altLang="en-US"/>
              <a:t>日</a:t>
            </a: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1.Python</a:t>
            </a:r>
            <a:r>
              <a:rPr lang="zh-CN" altLang="en-US"/>
              <a:t>语言简介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1651D8A-E98E-4E1D-8D6E-76007C920617}" type="slidenum">
              <a:rPr lang="en-US" altLang="zh-CN" smtClean="0"/>
              <a:pPr>
                <a:defRPr/>
              </a:pPr>
              <a:t>34</a:t>
            </a:fld>
            <a:endParaRPr lang="en-US" altLang="zh-CN"/>
          </a:p>
        </p:txBody>
      </p:sp>
      <p:pic>
        <p:nvPicPr>
          <p:cNvPr id="7270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39752" y="1617449"/>
            <a:ext cx="4274617" cy="44758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400" dirty="0"/>
              <a:t>更新</a:t>
            </a:r>
            <a:r>
              <a:rPr lang="en-US" altLang="zh-CN" sz="2400" dirty="0"/>
              <a:t>Intelligence</a:t>
            </a:r>
          </a:p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2018</a:t>
            </a:r>
            <a:r>
              <a:rPr lang="zh-CN" altLang="en-US"/>
              <a:t>年</a:t>
            </a:r>
            <a:r>
              <a:rPr lang="en-US" altLang="zh-CN"/>
              <a:t>9</a:t>
            </a:r>
            <a:r>
              <a:rPr lang="zh-CN" altLang="en-US"/>
              <a:t>月</a:t>
            </a:r>
            <a:r>
              <a:rPr lang="en-US" altLang="zh-CN"/>
              <a:t>25</a:t>
            </a:r>
            <a:r>
              <a:rPr lang="zh-CN" altLang="en-US"/>
              <a:t>日</a:t>
            </a: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1.Python</a:t>
            </a:r>
            <a:r>
              <a:rPr lang="zh-CN" altLang="en-US"/>
              <a:t>语言简介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1651D8A-E98E-4E1D-8D6E-76007C920617}" type="slidenum">
              <a:rPr lang="en-US" altLang="zh-CN" smtClean="0"/>
              <a:pPr>
                <a:defRPr/>
              </a:pPr>
              <a:t>35</a:t>
            </a:fld>
            <a:endParaRPr lang="en-US" altLang="zh-CN"/>
          </a:p>
        </p:txBody>
      </p:sp>
      <p:pic>
        <p:nvPicPr>
          <p:cNvPr id="73730" name="Picture 2"/>
          <p:cNvPicPr>
            <a:picLocks noChangeAspect="1" noChangeArrowheads="1"/>
          </p:cNvPicPr>
          <p:nvPr/>
        </p:nvPicPr>
        <p:blipFill>
          <a:blip r:embed="rId2" cstate="print"/>
          <a:srcRect b="54519"/>
          <a:stretch>
            <a:fillRect/>
          </a:stretch>
        </p:blipFill>
        <p:spPr bwMode="auto">
          <a:xfrm>
            <a:off x="3455368" y="1628800"/>
            <a:ext cx="5688632" cy="4608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400" dirty="0"/>
              <a:t>新建</a:t>
            </a:r>
            <a:r>
              <a:rPr lang="en-US" altLang="zh-CN" sz="2400" dirty="0"/>
              <a:t>Python</a:t>
            </a:r>
            <a:r>
              <a:rPr lang="zh-CN" altLang="en-US" sz="2400" dirty="0"/>
              <a:t>项目</a:t>
            </a:r>
            <a:endParaRPr lang="en-US" altLang="zh-CN" sz="240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2018</a:t>
            </a:r>
            <a:r>
              <a:rPr lang="zh-CN" altLang="en-US"/>
              <a:t>年</a:t>
            </a:r>
            <a:r>
              <a:rPr lang="en-US" altLang="zh-CN"/>
              <a:t>9</a:t>
            </a:r>
            <a:r>
              <a:rPr lang="zh-CN" altLang="en-US"/>
              <a:t>月</a:t>
            </a:r>
            <a:r>
              <a:rPr lang="en-US" altLang="zh-CN"/>
              <a:t>25</a:t>
            </a:r>
            <a:r>
              <a:rPr lang="zh-CN" altLang="en-US"/>
              <a:t>日</a:t>
            </a: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1.Python</a:t>
            </a:r>
            <a:r>
              <a:rPr lang="zh-CN" altLang="en-US"/>
              <a:t>语言简介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1651D8A-E98E-4E1D-8D6E-76007C920617}" type="slidenum">
              <a:rPr lang="en-US" altLang="zh-CN" smtClean="0"/>
              <a:pPr>
                <a:defRPr/>
              </a:pPr>
              <a:t>36</a:t>
            </a:fld>
            <a:endParaRPr lang="en-US" altLang="zh-CN"/>
          </a:p>
        </p:txBody>
      </p:sp>
      <p:pic>
        <p:nvPicPr>
          <p:cNvPr id="7065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15616" y="1772816"/>
            <a:ext cx="7226992" cy="43987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2018</a:t>
            </a:r>
            <a:r>
              <a:rPr lang="zh-CN" altLang="en-US"/>
              <a:t>年</a:t>
            </a:r>
            <a:r>
              <a:rPr lang="en-US" altLang="zh-CN"/>
              <a:t>9</a:t>
            </a:r>
            <a:r>
              <a:rPr lang="zh-CN" altLang="en-US"/>
              <a:t>月</a:t>
            </a:r>
            <a:r>
              <a:rPr lang="en-US" altLang="zh-CN"/>
              <a:t>25</a:t>
            </a:r>
            <a:r>
              <a:rPr lang="zh-CN" altLang="en-US"/>
              <a:t>日</a:t>
            </a: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1.Python</a:t>
            </a:r>
            <a:r>
              <a:rPr lang="zh-CN" altLang="en-US"/>
              <a:t>语言简介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1651D8A-E98E-4E1D-8D6E-76007C920617}" type="slidenum">
              <a:rPr lang="en-US" altLang="zh-CN" smtClean="0"/>
              <a:pPr>
                <a:defRPr/>
              </a:pPr>
              <a:t>37</a:t>
            </a:fld>
            <a:endParaRPr lang="en-US" altLang="zh-CN"/>
          </a:p>
        </p:txBody>
      </p:sp>
      <p:pic>
        <p:nvPicPr>
          <p:cNvPr id="6963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3568" y="1052736"/>
            <a:ext cx="7560840" cy="52252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400" dirty="0"/>
              <a:t>编写程序（自动提示）</a:t>
            </a:r>
            <a:endParaRPr lang="en-US" altLang="zh-CN" sz="2400" dirty="0"/>
          </a:p>
          <a:p>
            <a:pPr>
              <a:buNone/>
            </a:pPr>
            <a:endParaRPr lang="zh-CN" altLang="en-US" sz="240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2018</a:t>
            </a:r>
            <a:r>
              <a:rPr lang="zh-CN" altLang="en-US"/>
              <a:t>年</a:t>
            </a:r>
            <a:r>
              <a:rPr lang="en-US" altLang="zh-CN"/>
              <a:t>9</a:t>
            </a:r>
            <a:r>
              <a:rPr lang="zh-CN" altLang="en-US"/>
              <a:t>月</a:t>
            </a:r>
            <a:r>
              <a:rPr lang="en-US" altLang="zh-CN"/>
              <a:t>25</a:t>
            </a:r>
            <a:r>
              <a:rPr lang="zh-CN" altLang="en-US"/>
              <a:t>日</a:t>
            </a: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1.Python</a:t>
            </a:r>
            <a:r>
              <a:rPr lang="zh-CN" altLang="en-US"/>
              <a:t>语言简介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1651D8A-E98E-4E1D-8D6E-76007C920617}" type="slidenum">
              <a:rPr lang="en-US" altLang="zh-CN" smtClean="0"/>
              <a:pPr>
                <a:defRPr/>
              </a:pPr>
              <a:t>38</a:t>
            </a:fld>
            <a:endParaRPr lang="en-US" altLang="zh-CN"/>
          </a:p>
        </p:txBody>
      </p:sp>
      <p:pic>
        <p:nvPicPr>
          <p:cNvPr id="7475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95736" y="1556792"/>
            <a:ext cx="5396657" cy="46883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400" dirty="0"/>
              <a:t>示例代码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2018</a:t>
            </a:r>
            <a:r>
              <a:rPr lang="zh-CN" altLang="en-US"/>
              <a:t>年</a:t>
            </a:r>
            <a:r>
              <a:rPr lang="en-US" altLang="zh-CN"/>
              <a:t>9</a:t>
            </a:r>
            <a:r>
              <a:rPr lang="zh-CN" altLang="en-US"/>
              <a:t>月</a:t>
            </a:r>
            <a:r>
              <a:rPr lang="en-US" altLang="zh-CN"/>
              <a:t>25</a:t>
            </a:r>
            <a:r>
              <a:rPr lang="zh-CN" altLang="en-US"/>
              <a:t>日</a:t>
            </a: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1.Python</a:t>
            </a:r>
            <a:r>
              <a:rPr lang="zh-CN" altLang="en-US"/>
              <a:t>语言简介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1651D8A-E98E-4E1D-8D6E-76007C920617}" type="slidenum">
              <a:rPr lang="en-US" altLang="zh-CN" smtClean="0"/>
              <a:pPr>
                <a:defRPr/>
              </a:pPr>
              <a:t>39</a:t>
            </a:fld>
            <a:endParaRPr lang="en-US" altLang="zh-CN"/>
          </a:p>
        </p:txBody>
      </p:sp>
      <p:pic>
        <p:nvPicPr>
          <p:cNvPr id="7577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71600" y="1628800"/>
            <a:ext cx="7324725" cy="4371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2018</a:t>
            </a:r>
            <a:r>
              <a:rPr lang="zh-CN" altLang="en-US"/>
              <a:t>年</a:t>
            </a:r>
            <a:r>
              <a:rPr lang="en-US" altLang="zh-CN"/>
              <a:t>9</a:t>
            </a:r>
            <a:r>
              <a:rPr lang="zh-CN" altLang="en-US"/>
              <a:t>月</a:t>
            </a:r>
            <a:r>
              <a:rPr lang="en-US" altLang="zh-CN"/>
              <a:t>25</a:t>
            </a:r>
            <a:r>
              <a:rPr lang="zh-CN" altLang="en-US"/>
              <a:t>日</a:t>
            </a: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1.Python</a:t>
            </a:r>
            <a:r>
              <a:rPr lang="zh-CN" altLang="en-US"/>
              <a:t>语言简介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1651D8A-E98E-4E1D-8D6E-76007C920617}" type="slidenum">
              <a:rPr lang="en-US" altLang="zh-CN" smtClean="0"/>
              <a:pPr>
                <a:defRPr/>
              </a:pPr>
              <a:t>40</a:t>
            </a:fld>
            <a:endParaRPr lang="en-US" altLang="zh-CN"/>
          </a:p>
        </p:txBody>
      </p:sp>
      <p:pic>
        <p:nvPicPr>
          <p:cNvPr id="7680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59632" y="1052736"/>
            <a:ext cx="6192688" cy="51489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5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 altLang="zh-CN"/>
              <a:t>1.Python</a:t>
            </a:r>
            <a:r>
              <a:rPr lang="zh-CN" altLang="en-US"/>
              <a:t>语言简介</a:t>
            </a:r>
          </a:p>
        </p:txBody>
      </p:sp>
      <p:sp>
        <p:nvSpPr>
          <p:cNvPr id="33796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1051F50D-122B-4698-9CCD-10A6FB9DA261}" type="slidenum">
              <a:rPr lang="en-US" altLang="zh-CN"/>
              <a:pPr/>
              <a:t>41</a:t>
            </a:fld>
            <a:endParaRPr lang="en-US" altLang="zh-CN"/>
          </a:p>
        </p:txBody>
      </p:sp>
      <p:sp>
        <p:nvSpPr>
          <p:cNvPr id="3379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200" b="1" dirty="0">
                <a:latin typeface="Times New Roman" pitchFamily="18" charset="0"/>
              </a:rPr>
              <a:t>1.4  Python </a:t>
            </a:r>
            <a:r>
              <a:rPr lang="zh-CN" altLang="en-US" sz="3200" b="1" dirty="0">
                <a:latin typeface="Times New Roman" pitchFamily="18" charset="0"/>
              </a:rPr>
              <a:t>编程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quarter" idx="10"/>
          </p:nvPr>
        </p:nvSpPr>
        <p:spPr>
          <a:xfrm>
            <a:off x="609600" y="6381750"/>
            <a:ext cx="1981200" cy="339725"/>
          </a:xfrm>
          <a:noFill/>
        </p:spPr>
        <p:txBody>
          <a:bodyPr/>
          <a:lstStyle/>
          <a:p>
            <a:r>
              <a:rPr lang="en-US" altLang="zh-CN" dirty="0"/>
              <a:t>2018</a:t>
            </a:r>
            <a:r>
              <a:rPr lang="zh-CN" altLang="en-US" dirty="0"/>
              <a:t>年</a:t>
            </a:r>
            <a:r>
              <a:rPr lang="en-US" altLang="zh-CN" dirty="0"/>
              <a:t>9</a:t>
            </a:r>
            <a:r>
              <a:rPr lang="zh-CN" altLang="en-US" dirty="0"/>
              <a:t>月</a:t>
            </a:r>
            <a:r>
              <a:rPr lang="en-US" altLang="zh-CN" dirty="0"/>
              <a:t>25</a:t>
            </a:r>
            <a:r>
              <a:rPr lang="zh-CN" altLang="en-US" dirty="0"/>
              <a:t>日</a:t>
            </a:r>
            <a:endParaRPr lang="en-US" altLang="zh-CN" dirty="0"/>
          </a:p>
        </p:txBody>
      </p:sp>
      <p:sp>
        <p:nvSpPr>
          <p:cNvPr id="8" name="内容占位符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1547664" y="1340768"/>
            <a:ext cx="4680991" cy="3888457"/>
          </a:xfrm>
          <a:prstGeom prst="rect">
            <a:avLst/>
          </a:prstGeom>
          <a:solidFill>
            <a:schemeClr val="hlink"/>
          </a:solidFill>
          <a:ln w="9525" algn="ctr">
            <a:solidFill>
              <a:srgbClr val="3C3C3C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marL="800100" lvl="1" indent="-342900">
              <a:lnSpc>
                <a:spcPct val="180000"/>
              </a:lnSpc>
              <a:buFontTx/>
              <a:buAutoNum type="arabicPeriod"/>
            </a:pPr>
            <a:r>
              <a:rPr lang="zh-CN" altLang="en-US" sz="2400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编码风格</a:t>
            </a:r>
          </a:p>
          <a:p>
            <a:pPr marL="800100" lvl="1" indent="-342900">
              <a:lnSpc>
                <a:spcPct val="180000"/>
              </a:lnSpc>
              <a:buFontTx/>
              <a:buAutoNum type="arabicPeriod"/>
            </a:pPr>
            <a:r>
              <a:rPr lang="zh-CN" altLang="en-US" sz="2400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标示符</a:t>
            </a:r>
          </a:p>
          <a:p>
            <a:pPr marL="800100" lvl="1" indent="-342900">
              <a:lnSpc>
                <a:spcPct val="180000"/>
              </a:lnSpc>
              <a:buFontTx/>
              <a:buAutoNum type="arabicPeriod"/>
            </a:pPr>
            <a:r>
              <a:rPr lang="zh-CN" altLang="en-US" sz="2400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关键字</a:t>
            </a:r>
          </a:p>
          <a:p>
            <a:pPr marL="800100" lvl="1" indent="-342900">
              <a:lnSpc>
                <a:spcPct val="180000"/>
              </a:lnSpc>
              <a:buFontTx/>
              <a:buAutoNum type="arabicPeriod"/>
            </a:pPr>
            <a:r>
              <a:rPr lang="zh-CN" altLang="en-US" sz="2400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运算符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页脚占位符 4"/>
          <p:cNvSpPr>
            <a:spLocks noGrp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altLang="zh-CN" dirty="0"/>
              <a:t>1.Python</a:t>
            </a:r>
            <a:r>
              <a:rPr lang="zh-CN" altLang="en-US" dirty="0"/>
              <a:t>语言简介</a:t>
            </a: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5728F44-2DE5-47CC-A4C3-76A327240003}" type="slidenum">
              <a:rPr lang="zh-CN" altLang="en-US"/>
              <a:pPr>
                <a:defRPr/>
              </a:pPr>
              <a:t>42</a:t>
            </a:fld>
            <a:endParaRPr lang="zh-CN" altLang="en-US" dirty="0"/>
          </a:p>
        </p:txBody>
      </p:sp>
      <p:sp>
        <p:nvSpPr>
          <p:cNvPr id="14340" name="Rectangle 3"/>
          <p:cNvSpPr>
            <a:spLocks noGrp="1"/>
          </p:cNvSpPr>
          <p:nvPr>
            <p:ph type="body" idx="1"/>
          </p:nvPr>
        </p:nvSpPr>
        <p:spPr>
          <a:xfrm>
            <a:off x="566738" y="1342033"/>
            <a:ext cx="8001000" cy="4967287"/>
          </a:xfrm>
        </p:spPr>
        <p:txBody>
          <a:bodyPr/>
          <a:lstStyle/>
          <a:p>
            <a:pPr eaLnBrk="1" hangingPunct="1"/>
            <a:r>
              <a:rPr lang="zh-CN" altLang="en-US" b="0" dirty="0">
                <a:latin typeface="微软雅黑" pitchFamily="34" charset="-122"/>
              </a:rPr>
              <a:t>以“</a:t>
            </a:r>
            <a:r>
              <a:rPr lang="en-US" altLang="zh-CN" b="0" dirty="0">
                <a:latin typeface="微软雅黑" pitchFamily="34" charset="-122"/>
              </a:rPr>
              <a:t>#”</a:t>
            </a:r>
            <a:r>
              <a:rPr lang="zh-CN" altLang="en-US" b="0" dirty="0">
                <a:latin typeface="微软雅黑" pitchFamily="34" charset="-122"/>
              </a:rPr>
              <a:t>号开头的内容为注释，</a:t>
            </a:r>
            <a:r>
              <a:rPr lang="en-US" altLang="zh-CN" b="0" dirty="0">
                <a:latin typeface="微软雅黑" pitchFamily="34" charset="-122"/>
              </a:rPr>
              <a:t>python</a:t>
            </a:r>
            <a:r>
              <a:rPr lang="zh-CN" altLang="en-US" b="0" dirty="0">
                <a:latin typeface="微软雅黑" pitchFamily="34" charset="-122"/>
              </a:rPr>
              <a:t>解释器会忽略该行内容。</a:t>
            </a:r>
            <a:endParaRPr lang="en-US" altLang="zh-CN" b="0" dirty="0">
              <a:latin typeface="微软雅黑" pitchFamily="34" charset="-122"/>
            </a:endParaRPr>
          </a:p>
          <a:p>
            <a:pPr eaLnBrk="1" hangingPunct="1"/>
            <a:endParaRPr lang="zh-CN" altLang="en-US" b="0" dirty="0">
              <a:latin typeface="微软雅黑" pitchFamily="34" charset="-122"/>
            </a:endParaRPr>
          </a:p>
          <a:p>
            <a:pPr eaLnBrk="1" hangingPunct="1"/>
            <a:r>
              <a:rPr lang="zh-CN" altLang="en-US" b="0" dirty="0">
                <a:latin typeface="微软雅黑" pitchFamily="34" charset="-122"/>
              </a:rPr>
              <a:t>在</a:t>
            </a:r>
            <a:r>
              <a:rPr lang="en-US" altLang="zh-CN" b="0" dirty="0">
                <a:latin typeface="微软雅黑" pitchFamily="34" charset="-122"/>
              </a:rPr>
              <a:t>Python</a:t>
            </a:r>
            <a:r>
              <a:rPr lang="zh-CN" altLang="en-US" b="0" dirty="0">
                <a:latin typeface="微软雅黑" pitchFamily="34" charset="-122"/>
              </a:rPr>
              <a:t>中是以</a:t>
            </a:r>
            <a:r>
              <a:rPr lang="zh-CN" altLang="en-US" b="0" dirty="0">
                <a:solidFill>
                  <a:srgbClr val="CC0000"/>
                </a:solidFill>
                <a:latin typeface="微软雅黑" pitchFamily="34" charset="-122"/>
              </a:rPr>
              <a:t>缩进</a:t>
            </a:r>
            <a:r>
              <a:rPr lang="en-US" altLang="zh-CN" b="0" dirty="0">
                <a:solidFill>
                  <a:srgbClr val="CC0000"/>
                </a:solidFill>
                <a:latin typeface="微软雅黑" pitchFamily="34" charset="-122"/>
              </a:rPr>
              <a:t>(indent)</a:t>
            </a:r>
            <a:r>
              <a:rPr lang="zh-CN" altLang="en-US" b="0" dirty="0">
                <a:solidFill>
                  <a:srgbClr val="CC0000"/>
                </a:solidFill>
                <a:latin typeface="微软雅黑" pitchFamily="34" charset="-122"/>
              </a:rPr>
              <a:t>来区分程序功能块</a:t>
            </a:r>
            <a:r>
              <a:rPr lang="zh-CN" altLang="en-US" b="0" dirty="0">
                <a:latin typeface="微软雅黑" pitchFamily="34" charset="-122"/>
              </a:rPr>
              <a:t>的，缩进的长度不受限制，但就一个功能块来讲，最好保持一致的缩进量。 </a:t>
            </a:r>
            <a:endParaRPr lang="en-US" altLang="zh-CN" b="0" dirty="0">
              <a:latin typeface="微软雅黑" pitchFamily="34" charset="-122"/>
            </a:endParaRPr>
          </a:p>
          <a:p>
            <a:pPr eaLnBrk="1" hangingPunct="1"/>
            <a:endParaRPr lang="zh-CN" altLang="en-US" b="0" dirty="0">
              <a:latin typeface="微软雅黑" pitchFamily="34" charset="-122"/>
            </a:endParaRPr>
          </a:p>
          <a:p>
            <a:pPr eaLnBrk="1" hangingPunct="1"/>
            <a:r>
              <a:rPr lang="zh-CN" altLang="en-US" b="0" dirty="0">
                <a:latin typeface="微软雅黑" pitchFamily="34" charset="-122"/>
              </a:rPr>
              <a:t>如果一行中有多条语句，语句间要以分号（</a:t>
            </a:r>
            <a:r>
              <a:rPr lang="en-US" altLang="zh-CN" b="0" dirty="0">
                <a:latin typeface="微软雅黑" pitchFamily="34" charset="-122"/>
              </a:rPr>
              <a:t>;</a:t>
            </a:r>
            <a:r>
              <a:rPr lang="zh-CN" altLang="en-US" b="0" dirty="0">
                <a:latin typeface="微软雅黑" pitchFamily="34" charset="-122"/>
              </a:rPr>
              <a:t>）分隔。 </a:t>
            </a:r>
          </a:p>
        </p:txBody>
      </p:sp>
      <p:sp>
        <p:nvSpPr>
          <p:cNvPr id="14341" name="标题 6"/>
          <p:cNvSpPr>
            <a:spLocks/>
          </p:cNvSpPr>
          <p:nvPr/>
        </p:nvSpPr>
        <p:spPr bwMode="auto">
          <a:xfrm>
            <a:off x="1619250" y="260350"/>
            <a:ext cx="6013450" cy="576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zh-CN" altLang="en-US" sz="2800" b="1">
                <a:latin typeface="Arial Black" pitchFamily="34" charset="0"/>
                <a:ea typeface="微软雅黑" pitchFamily="34" charset="-122"/>
              </a:rPr>
              <a:t>编码风格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页脚占位符 4"/>
          <p:cNvSpPr>
            <a:spLocks noGrp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altLang="zh-CN" dirty="0"/>
              <a:t>1.Python</a:t>
            </a:r>
            <a:r>
              <a:rPr lang="zh-CN" altLang="en-US" dirty="0"/>
              <a:t>语言简介</a:t>
            </a: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DFEFAC4-D9DA-4D9B-915B-3757B8E687C2}" type="slidenum">
              <a:rPr lang="zh-CN" altLang="en-US"/>
              <a:pPr>
                <a:defRPr/>
              </a:pPr>
              <a:t>43</a:t>
            </a:fld>
            <a:endParaRPr lang="zh-CN" altLang="en-US" dirty="0"/>
          </a:p>
        </p:txBody>
      </p:sp>
      <p:sp>
        <p:nvSpPr>
          <p:cNvPr id="15364" name="标题 6"/>
          <p:cNvSpPr>
            <a:spLocks/>
          </p:cNvSpPr>
          <p:nvPr/>
        </p:nvSpPr>
        <p:spPr bwMode="auto">
          <a:xfrm>
            <a:off x="1619250" y="260350"/>
            <a:ext cx="6013450" cy="576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zh-CN" altLang="en-US" sz="2800" b="1">
                <a:latin typeface="Arial Black" pitchFamily="34" charset="0"/>
                <a:ea typeface="微软雅黑" pitchFamily="34" charset="-122"/>
              </a:rPr>
              <a:t>标识符</a:t>
            </a:r>
          </a:p>
        </p:txBody>
      </p:sp>
      <p:sp>
        <p:nvSpPr>
          <p:cNvPr id="15365" name="Rectangle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en-US" altLang="zh-CN" b="0"/>
              <a:t>python</a:t>
            </a:r>
            <a:r>
              <a:rPr lang="zh-CN" altLang="en-US" b="0"/>
              <a:t>中的标识符是区分大小写的。</a:t>
            </a:r>
          </a:p>
          <a:p>
            <a:pPr eaLnBrk="1" hangingPunct="1">
              <a:lnSpc>
                <a:spcPct val="150000"/>
              </a:lnSpc>
            </a:pPr>
            <a:r>
              <a:rPr lang="zh-CN" altLang="en-US" b="0"/>
              <a:t>标示符以字母或下划线开头，可包括字母，下划线和数字。</a:t>
            </a:r>
          </a:p>
          <a:p>
            <a:pPr eaLnBrk="1" hangingPunct="1">
              <a:lnSpc>
                <a:spcPct val="150000"/>
              </a:lnSpc>
            </a:pPr>
            <a:r>
              <a:rPr lang="zh-CN" altLang="en-US" b="0"/>
              <a:t>以下划线开头的标识符是有特殊意义的。</a:t>
            </a:r>
          </a:p>
          <a:p>
            <a:pPr eaLnBrk="1" hangingPunct="1">
              <a:lnSpc>
                <a:spcPct val="150000"/>
              </a:lnSpc>
            </a:pPr>
            <a:r>
              <a:rPr lang="zh-CN" altLang="en-US" b="0"/>
              <a:t>在交互模式下运行</a:t>
            </a:r>
            <a:r>
              <a:rPr lang="en-US" altLang="zh-CN" b="0"/>
              <a:t>python</a:t>
            </a:r>
            <a:r>
              <a:rPr lang="zh-CN" altLang="en-US" b="0"/>
              <a:t>时，一个下划线字符</a:t>
            </a:r>
            <a:r>
              <a:rPr lang="en-US" altLang="zh-CN" b="0"/>
              <a:t>(_)</a:t>
            </a:r>
            <a:r>
              <a:rPr lang="zh-CN" altLang="en-US" b="0"/>
              <a:t>是特殊标识符，它保留了表达式的最后一个计算结果。</a:t>
            </a:r>
          </a:p>
          <a:p>
            <a:pPr eaLnBrk="1" hangingPunct="1">
              <a:lnSpc>
                <a:spcPct val="150000"/>
              </a:lnSpc>
            </a:pPr>
            <a:endParaRPr lang="zh-CN" altLang="en-US" b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页脚占位符 4"/>
          <p:cNvSpPr>
            <a:spLocks noGrp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altLang="zh-CN" dirty="0"/>
              <a:t>1.Python</a:t>
            </a:r>
            <a:r>
              <a:rPr lang="zh-CN" altLang="en-US" dirty="0"/>
              <a:t>语言简介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8695FDC-4598-4D77-8459-70E7E8EF5D28}" type="slidenum">
              <a:rPr lang="zh-CN" altLang="en-US"/>
              <a:pPr>
                <a:defRPr/>
              </a:pPr>
              <a:t>44</a:t>
            </a:fld>
            <a:endParaRPr lang="zh-CN" altLang="en-US" dirty="0"/>
          </a:p>
        </p:txBody>
      </p:sp>
      <p:sp>
        <p:nvSpPr>
          <p:cNvPr id="16388" name="标题 6"/>
          <p:cNvSpPr>
            <a:spLocks/>
          </p:cNvSpPr>
          <p:nvPr/>
        </p:nvSpPr>
        <p:spPr bwMode="auto">
          <a:xfrm>
            <a:off x="1619250" y="260350"/>
            <a:ext cx="6013450" cy="576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zh-CN" altLang="en-US" sz="2800" b="1">
                <a:latin typeface="Arial Black" pitchFamily="34" charset="0"/>
                <a:ea typeface="微软雅黑" pitchFamily="34" charset="-122"/>
              </a:rPr>
              <a:t>关键字</a:t>
            </a:r>
            <a:r>
              <a:rPr lang="en-US" altLang="zh-CN" sz="2800" b="1">
                <a:latin typeface="Arial Black" pitchFamily="34" charset="0"/>
                <a:ea typeface="微软雅黑" pitchFamily="34" charset="-122"/>
              </a:rPr>
              <a:t>(</a:t>
            </a:r>
            <a:r>
              <a:rPr lang="zh-CN" altLang="en-US" sz="2800" b="1">
                <a:latin typeface="Arial Black" pitchFamily="34" charset="0"/>
                <a:ea typeface="微软雅黑" pitchFamily="34" charset="-122"/>
              </a:rPr>
              <a:t>共</a:t>
            </a:r>
            <a:r>
              <a:rPr lang="en-US" altLang="zh-CN" sz="2800" b="1">
                <a:latin typeface="Arial Black" pitchFamily="34" charset="0"/>
                <a:ea typeface="微软雅黑" pitchFamily="34" charset="-122"/>
              </a:rPr>
              <a:t>31</a:t>
            </a:r>
            <a:r>
              <a:rPr lang="zh-CN" altLang="en-US" sz="2800" b="1">
                <a:latin typeface="Arial Black" pitchFamily="34" charset="0"/>
                <a:ea typeface="微软雅黑" pitchFamily="34" charset="-122"/>
              </a:rPr>
              <a:t>个</a:t>
            </a:r>
            <a:r>
              <a:rPr lang="en-US" altLang="zh-CN" sz="2800" b="1">
                <a:latin typeface="Arial Black" pitchFamily="34" charset="0"/>
                <a:ea typeface="微软雅黑" pitchFamily="34" charset="-122"/>
              </a:rPr>
              <a:t>)</a:t>
            </a:r>
          </a:p>
        </p:txBody>
      </p:sp>
      <p:sp>
        <p:nvSpPr>
          <p:cNvPr id="16389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622300" y="1198017"/>
            <a:ext cx="4310063" cy="4967287"/>
          </a:xfrm>
        </p:spPr>
        <p:txBody>
          <a:bodyPr/>
          <a:lstStyle/>
          <a:p>
            <a:pPr eaLnBrk="1" hangingPunct="1"/>
            <a:r>
              <a:rPr lang="zh-CN" altLang="en-US" dirty="0"/>
              <a:t>逻辑运算</a:t>
            </a:r>
            <a:r>
              <a:rPr lang="en-US" altLang="zh-CN" dirty="0"/>
              <a:t>—3</a:t>
            </a:r>
            <a:r>
              <a:rPr lang="zh-CN" altLang="en-US" dirty="0"/>
              <a:t>个</a:t>
            </a:r>
          </a:p>
          <a:p>
            <a:pPr lvl="1" eaLnBrk="1" hangingPunct="1">
              <a:buFont typeface="Wingdings" pitchFamily="2" charset="2"/>
              <a:buChar char="l"/>
            </a:pPr>
            <a:r>
              <a:rPr lang="en-US" altLang="zh-CN" sz="2400" dirty="0"/>
              <a:t>and/or/not</a:t>
            </a:r>
          </a:p>
          <a:p>
            <a:pPr eaLnBrk="1" hangingPunct="1"/>
            <a:r>
              <a:rPr lang="zh-CN" altLang="en-US" b="1" dirty="0"/>
              <a:t>流程控制</a:t>
            </a:r>
            <a:r>
              <a:rPr lang="en-US" altLang="zh-CN" b="1" dirty="0"/>
              <a:t>—12</a:t>
            </a:r>
            <a:r>
              <a:rPr lang="zh-CN" altLang="en-US" b="1" dirty="0"/>
              <a:t>个</a:t>
            </a:r>
          </a:p>
          <a:p>
            <a:pPr lvl="1" eaLnBrk="1" hangingPunct="1">
              <a:buFont typeface="Wingdings" pitchFamily="2" charset="2"/>
              <a:buChar char="l"/>
            </a:pPr>
            <a:r>
              <a:rPr lang="en-US" altLang="zh-CN" sz="2400" dirty="0"/>
              <a:t>if/</a:t>
            </a:r>
            <a:r>
              <a:rPr lang="en-US" altLang="zh-CN" sz="2400" dirty="0" err="1"/>
              <a:t>elif</a:t>
            </a:r>
            <a:r>
              <a:rPr lang="en-US" altLang="zh-CN" sz="2400" dirty="0"/>
              <a:t>/while/for/else</a:t>
            </a:r>
          </a:p>
          <a:p>
            <a:pPr lvl="1" eaLnBrk="1" hangingPunct="1">
              <a:buFont typeface="Wingdings" pitchFamily="2" charset="2"/>
              <a:buChar char="l"/>
            </a:pPr>
            <a:r>
              <a:rPr lang="en-US" altLang="zh-CN" sz="2400" dirty="0"/>
              <a:t>break/continue/pass</a:t>
            </a:r>
          </a:p>
          <a:p>
            <a:pPr lvl="1" eaLnBrk="1" hangingPunct="1">
              <a:buFont typeface="Wingdings" pitchFamily="2" charset="2"/>
              <a:buChar char="l"/>
            </a:pPr>
            <a:r>
              <a:rPr lang="en-US" altLang="zh-CN" sz="2400" dirty="0"/>
              <a:t>return/yield</a:t>
            </a:r>
          </a:p>
          <a:p>
            <a:pPr lvl="1" eaLnBrk="1" hangingPunct="1">
              <a:buFont typeface="Wingdings" pitchFamily="2" charset="2"/>
              <a:buChar char="l"/>
            </a:pPr>
            <a:r>
              <a:rPr lang="en-US" altLang="zh-CN" sz="2400" dirty="0"/>
              <a:t>with/as</a:t>
            </a:r>
          </a:p>
          <a:p>
            <a:pPr eaLnBrk="1" hangingPunct="1"/>
            <a:r>
              <a:rPr lang="zh-CN" altLang="en-US" b="1" dirty="0"/>
              <a:t>异常处理</a:t>
            </a:r>
            <a:r>
              <a:rPr lang="en-US" altLang="zh-CN" b="1" dirty="0"/>
              <a:t>—5</a:t>
            </a:r>
            <a:r>
              <a:rPr lang="zh-CN" altLang="en-US" b="1" dirty="0"/>
              <a:t>个</a:t>
            </a:r>
          </a:p>
          <a:p>
            <a:pPr lvl="1" eaLnBrk="1" hangingPunct="1">
              <a:buFont typeface="Wingdings" pitchFamily="2" charset="2"/>
              <a:buChar char="l"/>
            </a:pPr>
            <a:r>
              <a:rPr lang="en-US" altLang="zh-CN" sz="2400" dirty="0"/>
              <a:t>try/except/finally</a:t>
            </a:r>
          </a:p>
          <a:p>
            <a:pPr lvl="1" eaLnBrk="1" hangingPunct="1">
              <a:buFont typeface="Wingdings" pitchFamily="2" charset="2"/>
              <a:buChar char="l"/>
            </a:pPr>
            <a:r>
              <a:rPr lang="en-US" altLang="zh-CN" sz="2400" dirty="0"/>
              <a:t>raise/assert</a:t>
            </a:r>
          </a:p>
        </p:txBody>
      </p:sp>
      <p:sp>
        <p:nvSpPr>
          <p:cNvPr id="16390" name="Rectangle 7"/>
          <p:cNvSpPr>
            <a:spLocks noChangeArrowheads="1"/>
          </p:cNvSpPr>
          <p:nvPr/>
        </p:nvSpPr>
        <p:spPr bwMode="auto">
          <a:xfrm>
            <a:off x="5292080" y="1197223"/>
            <a:ext cx="3122612" cy="4967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 fontAlgn="ctr">
              <a:spcAft>
                <a:spcPts val="400"/>
              </a:spcAft>
              <a:buClr>
                <a:schemeClr val="accent2"/>
              </a:buClr>
              <a:buSzPct val="100000"/>
              <a:buFont typeface="Wingdings" pitchFamily="2" charset="2"/>
              <a:buChar char="p"/>
            </a:pPr>
            <a:r>
              <a:rPr lang="zh-CN" altLang="en-US" sz="3000" b="1" dirty="0">
                <a:latin typeface="+mn-lt"/>
                <a:ea typeface="+mn-ea"/>
              </a:rPr>
              <a:t>定义等</a:t>
            </a:r>
            <a:r>
              <a:rPr lang="en-US" altLang="zh-CN" sz="3000" b="1" dirty="0">
                <a:ea typeface="微软雅黑" pitchFamily="34" charset="-122"/>
              </a:rPr>
              <a:t>—6</a:t>
            </a:r>
            <a:r>
              <a:rPr lang="zh-CN" altLang="en-US" sz="3000" b="1" dirty="0">
                <a:ea typeface="微软雅黑" pitchFamily="34" charset="-122"/>
              </a:rPr>
              <a:t>个</a:t>
            </a:r>
          </a:p>
          <a:p>
            <a:pPr marL="742950" lvl="1" indent="-285750" fontAlgn="ctr">
              <a:spcAft>
                <a:spcPts val="400"/>
              </a:spcAft>
              <a:buClr>
                <a:schemeClr val="accent2"/>
              </a:buClr>
              <a:buSzPct val="100000"/>
              <a:buFont typeface="Wingdings" pitchFamily="2" charset="2"/>
              <a:buChar char="l"/>
            </a:pPr>
            <a:r>
              <a:rPr lang="en-US" altLang="zh-CN" sz="2400" dirty="0">
                <a:ea typeface="微软雅黑" pitchFamily="34" charset="-122"/>
              </a:rPr>
              <a:t>Class</a:t>
            </a:r>
          </a:p>
          <a:p>
            <a:pPr marL="742950" lvl="1" indent="-285750" fontAlgn="ctr">
              <a:spcAft>
                <a:spcPts val="400"/>
              </a:spcAft>
              <a:buClr>
                <a:schemeClr val="accent2"/>
              </a:buClr>
              <a:buSzPct val="100000"/>
              <a:buFont typeface="Wingdings" pitchFamily="2" charset="2"/>
              <a:buChar char="l"/>
            </a:pPr>
            <a:r>
              <a:rPr lang="en-US" altLang="zh-CN" sz="2400" dirty="0">
                <a:ea typeface="微软雅黑" pitchFamily="34" charset="-122"/>
              </a:rPr>
              <a:t>Global</a:t>
            </a:r>
          </a:p>
          <a:p>
            <a:pPr marL="742950" lvl="1" indent="-285750" fontAlgn="ctr">
              <a:spcAft>
                <a:spcPts val="400"/>
              </a:spcAft>
              <a:buClr>
                <a:schemeClr val="accent2"/>
              </a:buClr>
              <a:buSzPct val="100000"/>
              <a:buFont typeface="Wingdings" pitchFamily="2" charset="2"/>
              <a:buChar char="l"/>
            </a:pPr>
            <a:r>
              <a:rPr lang="en-US" altLang="zh-CN" sz="2400" dirty="0">
                <a:ea typeface="微软雅黑" pitchFamily="34" charset="-122"/>
              </a:rPr>
              <a:t>def/lambda</a:t>
            </a:r>
          </a:p>
          <a:p>
            <a:pPr marL="742950" lvl="1" indent="-285750" fontAlgn="ctr">
              <a:spcAft>
                <a:spcPts val="400"/>
              </a:spcAft>
              <a:buClr>
                <a:schemeClr val="accent2"/>
              </a:buClr>
              <a:buSzPct val="100000"/>
              <a:buFont typeface="Wingdings" pitchFamily="2" charset="2"/>
              <a:buChar char="l"/>
            </a:pPr>
            <a:r>
              <a:rPr lang="en-US" altLang="zh-CN" sz="2400" dirty="0">
                <a:ea typeface="微软雅黑" pitchFamily="34" charset="-122"/>
              </a:rPr>
              <a:t>import/from</a:t>
            </a:r>
          </a:p>
          <a:p>
            <a:pPr marL="342900" indent="-342900" fontAlgn="ctr">
              <a:lnSpc>
                <a:spcPct val="90000"/>
              </a:lnSpc>
              <a:spcAft>
                <a:spcPts val="400"/>
              </a:spcAft>
              <a:buClr>
                <a:schemeClr val="accent2"/>
              </a:buClr>
              <a:buSzPct val="100000"/>
              <a:buFont typeface="Wingdings" pitchFamily="2" charset="2"/>
              <a:buChar char="p"/>
            </a:pPr>
            <a:r>
              <a:rPr lang="zh-CN" altLang="en-US" sz="3000" b="1" dirty="0">
                <a:latin typeface="+mn-lt"/>
                <a:ea typeface="+mn-ea"/>
              </a:rPr>
              <a:t>判断</a:t>
            </a:r>
            <a:r>
              <a:rPr lang="en-US" altLang="zh-CN" sz="3000" b="1" dirty="0">
                <a:ea typeface="微软雅黑" pitchFamily="34" charset="-122"/>
              </a:rPr>
              <a:t>—2</a:t>
            </a:r>
            <a:r>
              <a:rPr lang="zh-CN" altLang="en-US" sz="3000" b="1" dirty="0">
                <a:ea typeface="微软雅黑" pitchFamily="34" charset="-122"/>
              </a:rPr>
              <a:t>个</a:t>
            </a:r>
          </a:p>
          <a:p>
            <a:pPr marL="742950" lvl="1" indent="-285750" fontAlgn="ctr">
              <a:lnSpc>
                <a:spcPct val="90000"/>
              </a:lnSpc>
              <a:spcAft>
                <a:spcPts val="400"/>
              </a:spcAft>
              <a:buClr>
                <a:schemeClr val="accent2"/>
              </a:buClr>
              <a:buSzPct val="100000"/>
              <a:buFont typeface="Wingdings" pitchFamily="2" charset="2"/>
              <a:buChar char="l"/>
            </a:pPr>
            <a:r>
              <a:rPr lang="en-US" altLang="zh-CN" sz="2400" dirty="0">
                <a:ea typeface="微软雅黑" pitchFamily="34" charset="-122"/>
              </a:rPr>
              <a:t>is</a:t>
            </a:r>
          </a:p>
          <a:p>
            <a:pPr marL="742950" lvl="1" indent="-285750" fontAlgn="ctr">
              <a:lnSpc>
                <a:spcPct val="90000"/>
              </a:lnSpc>
              <a:spcAft>
                <a:spcPts val="400"/>
              </a:spcAft>
              <a:buClr>
                <a:schemeClr val="accent2"/>
              </a:buClr>
              <a:buSzPct val="100000"/>
              <a:buFont typeface="Wingdings" pitchFamily="2" charset="2"/>
              <a:buChar char="l"/>
            </a:pPr>
            <a:r>
              <a:rPr lang="en-US" altLang="zh-CN" sz="2400" dirty="0">
                <a:ea typeface="微软雅黑" pitchFamily="34" charset="-122"/>
              </a:rPr>
              <a:t>in</a:t>
            </a:r>
          </a:p>
          <a:p>
            <a:pPr marL="342900" indent="-342900" fontAlgn="ctr">
              <a:lnSpc>
                <a:spcPct val="90000"/>
              </a:lnSpc>
              <a:spcAft>
                <a:spcPts val="400"/>
              </a:spcAft>
              <a:buClr>
                <a:schemeClr val="accent2"/>
              </a:buClr>
              <a:buSzPct val="100000"/>
              <a:buFont typeface="Wingdings" pitchFamily="2" charset="2"/>
              <a:buChar char="p"/>
            </a:pPr>
            <a:r>
              <a:rPr lang="zh-CN" altLang="en-US" sz="3000" b="1" dirty="0">
                <a:latin typeface="+mn-lt"/>
                <a:ea typeface="+mn-ea"/>
              </a:rPr>
              <a:t>其他</a:t>
            </a:r>
            <a:r>
              <a:rPr lang="en-US" altLang="zh-CN" sz="3000" b="1" dirty="0">
                <a:ea typeface="微软雅黑" pitchFamily="34" charset="-122"/>
              </a:rPr>
              <a:t>—3</a:t>
            </a:r>
            <a:r>
              <a:rPr lang="zh-CN" altLang="en-US" sz="3000" b="1" dirty="0">
                <a:ea typeface="微软雅黑" pitchFamily="34" charset="-122"/>
              </a:rPr>
              <a:t>个</a:t>
            </a:r>
          </a:p>
          <a:p>
            <a:pPr marL="742950" lvl="1" indent="-285750" fontAlgn="ctr">
              <a:lnSpc>
                <a:spcPct val="90000"/>
              </a:lnSpc>
              <a:spcAft>
                <a:spcPts val="400"/>
              </a:spcAft>
              <a:buClr>
                <a:schemeClr val="accent2"/>
              </a:buClr>
              <a:buSzPct val="100000"/>
              <a:buFont typeface="Wingdings" pitchFamily="2" charset="2"/>
              <a:buChar char="l"/>
            </a:pPr>
            <a:r>
              <a:rPr lang="en-US" altLang="zh-CN" sz="2400" dirty="0">
                <a:ea typeface="微软雅黑" pitchFamily="34" charset="-122"/>
              </a:rPr>
              <a:t>del/print</a:t>
            </a:r>
          </a:p>
          <a:p>
            <a:pPr marL="742950" lvl="1" indent="-285750" fontAlgn="ctr">
              <a:lnSpc>
                <a:spcPct val="90000"/>
              </a:lnSpc>
              <a:spcAft>
                <a:spcPts val="400"/>
              </a:spcAft>
              <a:buClr>
                <a:schemeClr val="accent2"/>
              </a:buClr>
              <a:buSzPct val="100000"/>
              <a:buFont typeface="Wingdings" pitchFamily="2" charset="2"/>
              <a:buChar char="l"/>
            </a:pPr>
            <a:r>
              <a:rPr lang="en-US" altLang="zh-CN" sz="2400" dirty="0">
                <a:ea typeface="微软雅黑" pitchFamily="34" charset="-122"/>
              </a:rPr>
              <a:t>exec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页脚占位符 4"/>
          <p:cNvSpPr>
            <a:spLocks noGrp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altLang="zh-CN" dirty="0"/>
              <a:t>1.Python</a:t>
            </a:r>
            <a:r>
              <a:rPr lang="zh-CN" altLang="en-US" dirty="0"/>
              <a:t>语言简介</a:t>
            </a: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9ECADD1-9E3F-4AE4-9654-937D723B8732}" type="slidenum">
              <a:rPr lang="zh-CN" altLang="en-US"/>
              <a:pPr>
                <a:defRPr/>
              </a:pPr>
              <a:t>45</a:t>
            </a:fld>
            <a:endParaRPr lang="zh-CN" altLang="en-US" dirty="0"/>
          </a:p>
        </p:txBody>
      </p:sp>
      <p:sp>
        <p:nvSpPr>
          <p:cNvPr id="17412" name="标题 6"/>
          <p:cNvSpPr>
            <a:spLocks/>
          </p:cNvSpPr>
          <p:nvPr/>
        </p:nvSpPr>
        <p:spPr bwMode="auto">
          <a:xfrm>
            <a:off x="1619250" y="260350"/>
            <a:ext cx="6013450" cy="576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zh-CN" altLang="zh-CN" sz="2800" b="1">
                <a:latin typeface="Arial Black" pitchFamily="34" charset="0"/>
                <a:ea typeface="微软雅黑" pitchFamily="34" charset="-122"/>
              </a:rPr>
              <a:t>运算符</a:t>
            </a:r>
            <a:endParaRPr lang="en-US" altLang="zh-CN" sz="2800" b="1">
              <a:latin typeface="Arial Black" pitchFamily="34" charset="0"/>
              <a:ea typeface="微软雅黑" pitchFamily="34" charset="-122"/>
            </a:endParaRPr>
          </a:p>
        </p:txBody>
      </p:sp>
      <p:sp>
        <p:nvSpPr>
          <p:cNvPr id="17413" name="Rectangle 27"/>
          <p:cNvSpPr>
            <a:spLocks noChangeArrowheads="1"/>
          </p:cNvSpPr>
          <p:nvPr/>
        </p:nvSpPr>
        <p:spPr bwMode="auto">
          <a:xfrm>
            <a:off x="1046163" y="1412527"/>
            <a:ext cx="7197725" cy="576263"/>
          </a:xfrm>
          <a:prstGeom prst="rect">
            <a:avLst/>
          </a:prstGeom>
          <a:solidFill>
            <a:schemeClr val="hlink"/>
          </a:solidFill>
          <a:ln w="9525" algn="ctr">
            <a:solidFill>
              <a:srgbClr val="3C3C3C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zh-CN" sz="2400" dirty="0" err="1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x+y</a:t>
            </a:r>
            <a:r>
              <a:rPr lang="zh-CN" altLang="en-US" sz="2400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en-US" altLang="zh-CN" sz="2400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x-y</a:t>
            </a:r>
            <a:r>
              <a:rPr lang="zh-CN" altLang="en-US" sz="2400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en-US" altLang="zh-CN" sz="2400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x*y</a:t>
            </a:r>
            <a:r>
              <a:rPr lang="zh-CN" altLang="en-US" sz="2400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en-US" altLang="zh-CN" sz="2400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x**y</a:t>
            </a:r>
            <a:r>
              <a:rPr lang="zh-CN" altLang="en-US" sz="2400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en-US" altLang="zh-CN" sz="2400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x/y</a:t>
            </a:r>
            <a:r>
              <a:rPr lang="zh-CN" altLang="en-US" sz="2400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en-US" altLang="zh-CN" sz="2400" dirty="0" err="1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x%y</a:t>
            </a:r>
            <a:r>
              <a:rPr lang="zh-CN" altLang="en-US" sz="2400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：算术运算</a:t>
            </a:r>
          </a:p>
        </p:txBody>
      </p:sp>
      <p:sp>
        <p:nvSpPr>
          <p:cNvPr id="17414" name="Rectangle 28"/>
          <p:cNvSpPr>
            <a:spLocks noChangeArrowheads="1"/>
          </p:cNvSpPr>
          <p:nvPr/>
        </p:nvSpPr>
        <p:spPr bwMode="auto">
          <a:xfrm>
            <a:off x="1046163" y="3884265"/>
            <a:ext cx="7197725" cy="576262"/>
          </a:xfrm>
          <a:prstGeom prst="rect">
            <a:avLst/>
          </a:prstGeom>
          <a:solidFill>
            <a:schemeClr val="hlink"/>
          </a:solidFill>
          <a:ln w="9525" algn="ctr">
            <a:solidFill>
              <a:srgbClr val="3C3C3C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zh-CN" sz="240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&lt;</a:t>
            </a:r>
            <a:r>
              <a:rPr lang="zh-CN" altLang="en-US" sz="240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en-US" altLang="zh-CN" sz="240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&lt;=</a:t>
            </a:r>
            <a:r>
              <a:rPr lang="zh-CN" altLang="en-US" sz="240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en-US" altLang="zh-CN" sz="240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&gt;</a:t>
            </a:r>
            <a:r>
              <a:rPr lang="zh-CN" altLang="en-US" sz="240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en-US" altLang="zh-CN" sz="240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&gt;=</a:t>
            </a:r>
            <a:r>
              <a:rPr lang="zh-CN" altLang="en-US" sz="240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en-US" altLang="zh-CN" sz="240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==</a:t>
            </a:r>
            <a:r>
              <a:rPr lang="zh-CN" altLang="en-US" sz="240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en-US" altLang="zh-CN" sz="240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&lt;&gt;</a:t>
            </a:r>
            <a:r>
              <a:rPr lang="zh-CN" altLang="en-US" sz="240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en-US" altLang="zh-CN" sz="240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!=</a:t>
            </a:r>
            <a:r>
              <a:rPr lang="zh-CN" altLang="en-US" sz="240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：比较运算</a:t>
            </a:r>
          </a:p>
        </p:txBody>
      </p:sp>
      <p:sp>
        <p:nvSpPr>
          <p:cNvPr id="17415" name="Rectangle 29"/>
          <p:cNvSpPr>
            <a:spLocks noChangeArrowheads="1"/>
          </p:cNvSpPr>
          <p:nvPr/>
        </p:nvSpPr>
        <p:spPr bwMode="auto">
          <a:xfrm>
            <a:off x="1046163" y="2539652"/>
            <a:ext cx="7197725" cy="792163"/>
          </a:xfrm>
          <a:prstGeom prst="rect">
            <a:avLst/>
          </a:prstGeom>
          <a:solidFill>
            <a:schemeClr val="hlink"/>
          </a:solidFill>
          <a:ln w="9525" algn="ctr">
            <a:solidFill>
              <a:srgbClr val="3C3C3C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zh-CN" sz="240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+=</a:t>
            </a:r>
            <a:r>
              <a:rPr lang="zh-CN" altLang="en-US" sz="240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en-US" altLang="zh-CN" sz="240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-=</a:t>
            </a:r>
            <a:r>
              <a:rPr lang="zh-CN" altLang="en-US" sz="240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，*</a:t>
            </a:r>
            <a:r>
              <a:rPr lang="en-US" altLang="zh-CN" sz="240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=</a:t>
            </a:r>
            <a:r>
              <a:rPr lang="zh-CN" altLang="en-US" sz="240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en-US" altLang="zh-CN" sz="240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/=</a:t>
            </a:r>
            <a:r>
              <a:rPr lang="zh-CN" altLang="en-US" sz="240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en-US" altLang="zh-CN" sz="240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%=</a:t>
            </a:r>
            <a:r>
              <a:rPr lang="zh-CN" altLang="en-US" sz="240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，**</a:t>
            </a:r>
            <a:r>
              <a:rPr lang="en-US" altLang="zh-CN" sz="240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=</a:t>
            </a:r>
            <a:r>
              <a:rPr lang="zh-CN" altLang="en-US" sz="240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en-US" altLang="zh-CN" sz="240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&lt;&lt;=</a:t>
            </a:r>
            <a:r>
              <a:rPr lang="zh-CN" altLang="en-US" sz="240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en-US" altLang="zh-CN" sz="240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&gt;&gt;=</a:t>
            </a:r>
            <a:r>
              <a:rPr lang="zh-CN" altLang="en-US" sz="240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en-US" altLang="zh-CN" sz="240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&amp;=</a:t>
            </a:r>
            <a:r>
              <a:rPr lang="zh-CN" altLang="en-US" sz="240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en-US" altLang="zh-CN" sz="240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^=</a:t>
            </a:r>
            <a:r>
              <a:rPr lang="zh-CN" altLang="en-US" sz="240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en-US" altLang="zh-CN" sz="240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|=</a:t>
            </a:r>
            <a:r>
              <a:rPr lang="zh-CN" altLang="en-US" sz="240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：自变运算</a:t>
            </a:r>
          </a:p>
        </p:txBody>
      </p:sp>
      <p:sp>
        <p:nvSpPr>
          <p:cNvPr id="17416" name="Rectangle 32"/>
          <p:cNvSpPr>
            <a:spLocks noChangeArrowheads="1"/>
          </p:cNvSpPr>
          <p:nvPr/>
        </p:nvSpPr>
        <p:spPr bwMode="auto">
          <a:xfrm>
            <a:off x="1046163" y="5012977"/>
            <a:ext cx="7197725" cy="576263"/>
          </a:xfrm>
          <a:prstGeom prst="rect">
            <a:avLst/>
          </a:prstGeom>
          <a:solidFill>
            <a:schemeClr val="hlink"/>
          </a:solidFill>
          <a:ln w="9525" algn="ctr">
            <a:solidFill>
              <a:srgbClr val="3C3C3C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zh-CN" sz="240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or</a:t>
            </a:r>
            <a:r>
              <a:rPr lang="zh-CN" altLang="en-US" sz="240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en-US" altLang="zh-CN" sz="240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and</a:t>
            </a:r>
            <a:r>
              <a:rPr lang="zh-CN" altLang="en-US" sz="240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en-US" altLang="zh-CN" sz="240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not</a:t>
            </a:r>
            <a:r>
              <a:rPr lang="zh-CN" altLang="en-US" sz="240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：逻辑运算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页脚占位符 4"/>
          <p:cNvSpPr>
            <a:spLocks noGrp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altLang="zh-CN" dirty="0"/>
              <a:t>1.Python</a:t>
            </a:r>
            <a:r>
              <a:rPr lang="zh-CN" altLang="en-US" dirty="0"/>
              <a:t>语言简介</a:t>
            </a: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8054237-F71F-4299-8132-46E4858C9CF9}" type="slidenum">
              <a:rPr lang="zh-CN" altLang="en-US"/>
              <a:pPr>
                <a:defRPr/>
              </a:pPr>
              <a:t>46</a:t>
            </a:fld>
            <a:endParaRPr lang="zh-CN" altLang="en-US" dirty="0"/>
          </a:p>
        </p:txBody>
      </p:sp>
      <p:sp>
        <p:nvSpPr>
          <p:cNvPr id="18436" name="标题 6"/>
          <p:cNvSpPr>
            <a:spLocks/>
          </p:cNvSpPr>
          <p:nvPr/>
        </p:nvSpPr>
        <p:spPr bwMode="auto">
          <a:xfrm>
            <a:off x="1619250" y="260350"/>
            <a:ext cx="6013450" cy="576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zh-CN" altLang="zh-CN" sz="2800" b="1">
                <a:latin typeface="Arial Black" pitchFamily="34" charset="0"/>
                <a:ea typeface="微软雅黑" pitchFamily="34" charset="-122"/>
              </a:rPr>
              <a:t>运算符</a:t>
            </a:r>
            <a:endParaRPr lang="en-US" altLang="zh-CN" sz="2800" b="1">
              <a:latin typeface="Arial Black" pitchFamily="34" charset="0"/>
              <a:ea typeface="微软雅黑" pitchFamily="34" charset="-122"/>
            </a:endParaRPr>
          </a:p>
        </p:txBody>
      </p:sp>
      <p:sp>
        <p:nvSpPr>
          <p:cNvPr id="18437" name="Rectangle 3"/>
          <p:cNvSpPr>
            <a:spLocks noChangeArrowheads="1"/>
          </p:cNvSpPr>
          <p:nvPr/>
        </p:nvSpPr>
        <p:spPr bwMode="auto">
          <a:xfrm>
            <a:off x="971550" y="3836764"/>
            <a:ext cx="7197725" cy="576262"/>
          </a:xfrm>
          <a:prstGeom prst="rect">
            <a:avLst/>
          </a:prstGeom>
          <a:solidFill>
            <a:schemeClr val="hlink"/>
          </a:solidFill>
          <a:ln w="9525" algn="ctr">
            <a:solidFill>
              <a:srgbClr val="3C3C3C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zh-CN" sz="240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(...)</a:t>
            </a:r>
            <a:r>
              <a:rPr lang="zh-CN" altLang="en-US" sz="240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en-US" altLang="zh-CN" sz="240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[...]</a:t>
            </a:r>
            <a:r>
              <a:rPr lang="zh-CN" altLang="en-US" sz="240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en-US" altLang="zh-CN" sz="240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{...}</a:t>
            </a:r>
            <a:r>
              <a:rPr lang="zh-CN" altLang="en-US" sz="240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en-US" altLang="zh-CN" sz="240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‘...’</a:t>
            </a:r>
            <a:r>
              <a:rPr lang="zh-CN" altLang="en-US" sz="240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：元组、列表、字典、字符串</a:t>
            </a:r>
          </a:p>
        </p:txBody>
      </p:sp>
      <p:sp>
        <p:nvSpPr>
          <p:cNvPr id="18438" name="Rectangle 7"/>
          <p:cNvSpPr>
            <a:spLocks noChangeArrowheads="1"/>
          </p:cNvSpPr>
          <p:nvPr/>
        </p:nvSpPr>
        <p:spPr bwMode="auto">
          <a:xfrm>
            <a:off x="971550" y="1485676"/>
            <a:ext cx="7197725" cy="576263"/>
          </a:xfrm>
          <a:prstGeom prst="rect">
            <a:avLst/>
          </a:prstGeom>
          <a:solidFill>
            <a:schemeClr val="hlink"/>
          </a:solidFill>
          <a:ln w="9525" algn="ctr">
            <a:solidFill>
              <a:srgbClr val="3C3C3C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zh-CN" sz="240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is, is not</a:t>
            </a:r>
            <a:r>
              <a:rPr lang="zh-CN" altLang="en-US" sz="240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：等同测试</a:t>
            </a:r>
          </a:p>
        </p:txBody>
      </p:sp>
      <p:sp>
        <p:nvSpPr>
          <p:cNvPr id="18439" name="Rectangle 8"/>
          <p:cNvSpPr>
            <a:spLocks noChangeArrowheads="1"/>
          </p:cNvSpPr>
          <p:nvPr/>
        </p:nvSpPr>
        <p:spPr bwMode="auto">
          <a:xfrm>
            <a:off x="971550" y="2660426"/>
            <a:ext cx="7197725" cy="576263"/>
          </a:xfrm>
          <a:prstGeom prst="rect">
            <a:avLst/>
          </a:prstGeom>
          <a:solidFill>
            <a:schemeClr val="hlink"/>
          </a:solidFill>
          <a:ln w="9525" algn="ctr">
            <a:solidFill>
              <a:srgbClr val="3C3C3C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zh-CN" sz="240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in, not in</a:t>
            </a:r>
            <a:r>
              <a:rPr lang="zh-CN" altLang="en-US" sz="240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：是否为成员测试</a:t>
            </a:r>
          </a:p>
        </p:txBody>
      </p:sp>
      <p:sp>
        <p:nvSpPr>
          <p:cNvPr id="18440" name="Rectangle 10"/>
          <p:cNvSpPr>
            <a:spLocks noChangeArrowheads="1"/>
          </p:cNvSpPr>
          <p:nvPr/>
        </p:nvSpPr>
        <p:spPr bwMode="auto">
          <a:xfrm>
            <a:off x="971550" y="5013101"/>
            <a:ext cx="7197725" cy="792163"/>
          </a:xfrm>
          <a:prstGeom prst="rect">
            <a:avLst/>
          </a:prstGeom>
          <a:solidFill>
            <a:schemeClr val="hlink"/>
          </a:solidFill>
          <a:ln w="9525" algn="ctr">
            <a:solidFill>
              <a:srgbClr val="3C3C3C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zh-CN" sz="240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x[i]</a:t>
            </a:r>
            <a:r>
              <a:rPr lang="zh-CN" altLang="en-US" sz="240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en-US" altLang="zh-CN" sz="240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x[i:j]</a:t>
            </a:r>
            <a:r>
              <a:rPr lang="zh-CN" altLang="en-US" sz="240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en-US" altLang="zh-CN" sz="240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x.y</a:t>
            </a:r>
            <a:r>
              <a:rPr lang="zh-CN" altLang="en-US" sz="240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en-US" altLang="zh-CN" sz="240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x(...)</a:t>
            </a:r>
            <a:r>
              <a:rPr lang="zh-CN" altLang="en-US" sz="240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：索引、分片、引用、函数调用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页脚占位符 2"/>
          <p:cNvSpPr>
            <a:spLocks noGrp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altLang="zh-CN" dirty="0"/>
              <a:t>1.Python</a:t>
            </a:r>
            <a:r>
              <a:rPr lang="zh-CN" altLang="en-US" dirty="0"/>
              <a:t>语言简介</a:t>
            </a:r>
          </a:p>
        </p:txBody>
      </p:sp>
      <p:sp>
        <p:nvSpPr>
          <p:cNvPr id="6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421445-DFCF-4520-B0B7-FF4DBC8E1A9E}" type="slidenum">
              <a:rPr lang="zh-CN" altLang="en-US"/>
              <a:pPr>
                <a:defRPr/>
              </a:pPr>
              <a:t>47</a:t>
            </a:fld>
            <a:endParaRPr lang="zh-CN" altLang="en-US" dirty="0"/>
          </a:p>
        </p:txBody>
      </p:sp>
      <p:sp>
        <p:nvSpPr>
          <p:cNvPr id="4" name="灯片编号占位符 3"/>
          <p:cNvSpPr txBox="1">
            <a:spLocks noGrp="1"/>
          </p:cNvSpPr>
          <p:nvPr/>
        </p:nvSpPr>
        <p:spPr>
          <a:xfrm>
            <a:off x="6615113" y="6453188"/>
            <a:ext cx="2133600" cy="268287"/>
          </a:xfrm>
          <a:prstGeom prst="rect">
            <a:avLst/>
          </a:prstGeom>
          <a:noFill/>
        </p:spPr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fld id="{BECC5CCD-8AF4-4694-B957-3AE08822506A}" type="slidenum">
              <a:rPr lang="zh-CN" alt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</a:rPr>
              <a:pPr algn="r" fontAlgn="auto">
                <a:spcBef>
                  <a:spcPts val="0"/>
                </a:spcBef>
                <a:spcAft>
                  <a:spcPts val="0"/>
                </a:spcAft>
                <a:defRPr/>
              </a:pPr>
              <a:t>47</a:t>
            </a:fld>
            <a:endParaRPr lang="zh-CN" altLang="en-US" sz="1200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9461" name="标题 6"/>
          <p:cNvSpPr>
            <a:spLocks noGrp="1"/>
          </p:cNvSpPr>
          <p:nvPr>
            <p:ph type="title" idx="4294967295"/>
          </p:nvPr>
        </p:nvSpPr>
        <p:spPr>
          <a:xfrm>
            <a:off x="1619250" y="260350"/>
            <a:ext cx="6013450" cy="576263"/>
          </a:xfrm>
        </p:spPr>
        <p:txBody>
          <a:bodyPr anchor="t"/>
          <a:lstStyle/>
          <a:p>
            <a:pPr algn="ctr" eaLnBrk="1" hangingPunct="1"/>
            <a:r>
              <a:rPr lang="zh-CN" altLang="en-US" sz="2800" b="1"/>
              <a:t>数据结构</a:t>
            </a:r>
          </a:p>
        </p:txBody>
      </p:sp>
      <p:sp>
        <p:nvSpPr>
          <p:cNvPr id="19462" name="Rectangle 4"/>
          <p:cNvSpPr>
            <a:spLocks noChangeArrowheads="1"/>
          </p:cNvSpPr>
          <p:nvPr/>
        </p:nvSpPr>
        <p:spPr bwMode="auto">
          <a:xfrm>
            <a:off x="755576" y="1700808"/>
            <a:ext cx="7632451" cy="3095798"/>
          </a:xfrm>
          <a:prstGeom prst="rect">
            <a:avLst/>
          </a:prstGeom>
          <a:solidFill>
            <a:schemeClr val="hlink"/>
          </a:solidFill>
          <a:ln w="9525" algn="ctr">
            <a:solidFill>
              <a:srgbClr val="3C3C3C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marL="800100" lvl="1" indent="-342900">
              <a:lnSpc>
                <a:spcPct val="180000"/>
              </a:lnSpc>
              <a:buFontTx/>
              <a:buAutoNum type="arabicPeriod"/>
            </a:pPr>
            <a:r>
              <a:rPr lang="zh-CN" altLang="en-US" sz="2400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丰富的数据类型：整型、浮点型、复数、字符串、元组、列表、字典、数组</a:t>
            </a:r>
          </a:p>
          <a:p>
            <a:pPr marL="800100" lvl="1" indent="-342900">
              <a:lnSpc>
                <a:spcPct val="180000"/>
              </a:lnSpc>
              <a:buFontTx/>
              <a:buAutoNum type="arabicPeriod"/>
            </a:pPr>
            <a:r>
              <a:rPr lang="zh-CN" altLang="en-US" sz="2400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简单的定义方式：赋值的同时进行定义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 altLang="zh-CN" dirty="0"/>
              <a:t>1.Python</a:t>
            </a:r>
            <a:r>
              <a:rPr lang="zh-CN" altLang="en-US" dirty="0"/>
              <a:t>语言简介</a:t>
            </a:r>
          </a:p>
        </p:txBody>
      </p:sp>
      <p:sp>
        <p:nvSpPr>
          <p:cNvPr id="15364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4C8E6D4B-E5D8-4563-85B7-F8990F27F83B}" type="slidenum">
              <a:rPr lang="en-US" altLang="zh-CN"/>
              <a:pPr/>
              <a:t>48</a:t>
            </a:fld>
            <a:endParaRPr lang="en-US" altLang="zh-CN"/>
          </a:p>
        </p:txBody>
      </p:sp>
      <p:sp>
        <p:nvSpPr>
          <p:cNvPr id="1536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31640" y="1556792"/>
            <a:ext cx="3673475" cy="4537075"/>
          </a:xfrm>
        </p:spPr>
        <p:txBody>
          <a:bodyPr/>
          <a:lstStyle/>
          <a:p>
            <a:pPr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en-US" altLang="zh-CN" sz="3200" b="1" dirty="0">
                <a:latin typeface="Times New Roman" pitchFamily="18" charset="0"/>
              </a:rPr>
              <a:t>1  Python </a:t>
            </a:r>
            <a:r>
              <a:rPr lang="zh-CN" altLang="en-US" sz="3200" b="1" dirty="0">
                <a:latin typeface="Times New Roman" pitchFamily="18" charset="0"/>
              </a:rPr>
              <a:t>简介</a:t>
            </a:r>
          </a:p>
          <a:p>
            <a:pPr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en-US" altLang="zh-CN" sz="3200" b="1" dirty="0">
                <a:latin typeface="Times New Roman" pitchFamily="18" charset="0"/>
              </a:rPr>
              <a:t>2  Python </a:t>
            </a:r>
            <a:r>
              <a:rPr lang="zh-CN" altLang="en-US" sz="3200" b="1" dirty="0">
                <a:latin typeface="Times New Roman" pitchFamily="18" charset="0"/>
              </a:rPr>
              <a:t>安装</a:t>
            </a:r>
          </a:p>
          <a:p>
            <a:pPr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en-US" altLang="zh-CN" sz="3200" b="1" dirty="0">
                <a:latin typeface="Times New Roman" pitchFamily="18" charset="0"/>
              </a:rPr>
              <a:t>3  IDE </a:t>
            </a:r>
            <a:r>
              <a:rPr lang="zh-CN" altLang="en-US" sz="3200" b="1" dirty="0">
                <a:latin typeface="Times New Roman" pitchFamily="18" charset="0"/>
              </a:rPr>
              <a:t>使用</a:t>
            </a:r>
          </a:p>
          <a:p>
            <a:pPr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en-US" altLang="zh-CN" sz="3200" b="1" dirty="0">
                <a:latin typeface="Times New Roman" pitchFamily="18" charset="0"/>
              </a:rPr>
              <a:t>4  Python </a:t>
            </a:r>
            <a:r>
              <a:rPr lang="zh-CN" altLang="en-US" sz="3200" b="1" dirty="0">
                <a:latin typeface="Times New Roman" pitchFamily="18" charset="0"/>
              </a:rPr>
              <a:t>编程</a:t>
            </a:r>
          </a:p>
        </p:txBody>
      </p:sp>
      <p:sp>
        <p:nvSpPr>
          <p:cNvPr id="15366" name="Rectangle 5"/>
          <p:cNvSpPr>
            <a:spLocks noChangeArrowheads="1"/>
          </p:cNvSpPr>
          <p:nvPr/>
        </p:nvSpPr>
        <p:spPr bwMode="auto">
          <a:xfrm>
            <a:off x="755650" y="0"/>
            <a:ext cx="5648325" cy="93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r>
              <a:rPr lang="zh-CN" altLang="en-US" sz="4000" b="1" dirty="0">
                <a:latin typeface="Times New Roman" pitchFamily="18" charset="0"/>
              </a:rPr>
              <a:t>小结</a:t>
            </a:r>
          </a:p>
        </p:txBody>
      </p:sp>
      <p:sp>
        <p:nvSpPr>
          <p:cNvPr id="8" name="日期占位符 3"/>
          <p:cNvSpPr>
            <a:spLocks noGrp="1"/>
          </p:cNvSpPr>
          <p:nvPr>
            <p:ph type="dt" sz="quarter" idx="10"/>
          </p:nvPr>
        </p:nvSpPr>
        <p:spPr>
          <a:xfrm>
            <a:off x="609600" y="6381750"/>
            <a:ext cx="1981200" cy="339725"/>
          </a:xfrm>
          <a:noFill/>
        </p:spPr>
        <p:txBody>
          <a:bodyPr/>
          <a:lstStyle/>
          <a:p>
            <a:r>
              <a:rPr lang="en-US" altLang="zh-CN" dirty="0"/>
              <a:t>2018</a:t>
            </a:r>
            <a:r>
              <a:rPr lang="zh-CN" altLang="en-US" dirty="0"/>
              <a:t>年</a:t>
            </a:r>
            <a:r>
              <a:rPr lang="en-US" altLang="zh-CN" dirty="0"/>
              <a:t>9</a:t>
            </a:r>
            <a:r>
              <a:rPr lang="zh-CN" altLang="en-US" dirty="0"/>
              <a:t>月</a:t>
            </a:r>
            <a:r>
              <a:rPr lang="en-US" altLang="zh-CN" dirty="0"/>
              <a:t>25</a:t>
            </a:r>
            <a:r>
              <a:rPr lang="zh-CN" altLang="en-US" dirty="0"/>
              <a:t>日</a:t>
            </a:r>
            <a:endParaRPr lang="en-US" altLang="zh-CN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5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 altLang="zh-CN"/>
              <a:t>1.Python</a:t>
            </a:r>
            <a:r>
              <a:rPr lang="zh-CN" altLang="en-US"/>
              <a:t>语言简介</a:t>
            </a:r>
          </a:p>
        </p:txBody>
      </p:sp>
      <p:sp>
        <p:nvSpPr>
          <p:cNvPr id="33796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1051F50D-122B-4698-9CCD-10A6FB9DA261}" type="slidenum">
              <a:rPr lang="en-US" altLang="zh-CN"/>
              <a:pPr/>
              <a:t>49</a:t>
            </a:fld>
            <a:endParaRPr lang="en-US" altLang="zh-CN"/>
          </a:p>
        </p:txBody>
      </p:sp>
      <p:sp>
        <p:nvSpPr>
          <p:cNvPr id="3379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 sz="3200" b="1" dirty="0">
                <a:latin typeface="Times New Roman" pitchFamily="18" charset="0"/>
              </a:rPr>
              <a:t>作业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quarter" idx="10"/>
          </p:nvPr>
        </p:nvSpPr>
        <p:spPr>
          <a:xfrm>
            <a:off x="609600" y="6381750"/>
            <a:ext cx="1981200" cy="339725"/>
          </a:xfrm>
          <a:noFill/>
        </p:spPr>
        <p:txBody>
          <a:bodyPr/>
          <a:lstStyle/>
          <a:p>
            <a:r>
              <a:rPr lang="en-US" altLang="zh-CN" dirty="0"/>
              <a:t>2018</a:t>
            </a:r>
            <a:r>
              <a:rPr lang="zh-CN" altLang="en-US" dirty="0"/>
              <a:t>年</a:t>
            </a:r>
            <a:r>
              <a:rPr lang="en-US" altLang="zh-CN" dirty="0"/>
              <a:t>9</a:t>
            </a:r>
            <a:r>
              <a:rPr lang="zh-CN" altLang="en-US" dirty="0"/>
              <a:t>月</a:t>
            </a:r>
            <a:r>
              <a:rPr lang="en-US" altLang="zh-CN" dirty="0"/>
              <a:t>25</a:t>
            </a:r>
            <a:r>
              <a:rPr lang="zh-CN" altLang="en-US" dirty="0"/>
              <a:t>日</a:t>
            </a:r>
            <a:endParaRPr lang="en-US" altLang="zh-CN" dirty="0"/>
          </a:p>
        </p:txBody>
      </p:sp>
      <p:sp>
        <p:nvSpPr>
          <p:cNvPr id="8" name="内容占位符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采用</a:t>
            </a:r>
            <a:r>
              <a:rPr lang="en-US" altLang="zh-CN" dirty="0"/>
              <a:t>Anaconda + VS2015</a:t>
            </a:r>
            <a:r>
              <a:rPr lang="zh-CN" altLang="en-US" dirty="0"/>
              <a:t>方式安装并配置</a:t>
            </a:r>
            <a:r>
              <a:rPr lang="en-US" altLang="zh-CN" dirty="0"/>
              <a:t>Python</a:t>
            </a:r>
            <a:r>
              <a:rPr lang="zh-CN" altLang="en-US" dirty="0"/>
              <a:t>编程环境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Profile">
      <a:majorFont>
        <a:latin typeface="Verdana"/>
        <a:ea typeface="宋体"/>
        <a:cs typeface=""/>
      </a:majorFont>
      <a:minorFont>
        <a:latin typeface="Verdan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Profile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file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Profile</Template>
  <TotalTime>4424</TotalTime>
  <Words>3301</Words>
  <Application>Microsoft Office PowerPoint</Application>
  <PresentationFormat>全屏显示(4:3)</PresentationFormat>
  <Paragraphs>398</Paragraphs>
  <Slides>49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49</vt:i4>
      </vt:variant>
    </vt:vector>
  </HeadingPairs>
  <TitlesOfParts>
    <vt:vector size="57" baseType="lpstr">
      <vt:lpstr>宋体</vt:lpstr>
      <vt:lpstr>微软雅黑</vt:lpstr>
      <vt:lpstr>Arial</vt:lpstr>
      <vt:lpstr>Arial Black</vt:lpstr>
      <vt:lpstr>Times New Roman</vt:lpstr>
      <vt:lpstr>Verdana</vt:lpstr>
      <vt:lpstr>Wingdings</vt:lpstr>
      <vt:lpstr>Profile</vt:lpstr>
      <vt:lpstr>PowerPoint 演示文稿</vt:lpstr>
      <vt:lpstr>课程安排</vt:lpstr>
      <vt:lpstr>课程内容</vt:lpstr>
      <vt:lpstr>PowerPoint 演示文稿</vt:lpstr>
      <vt:lpstr>第1章 Python语言简介</vt:lpstr>
      <vt:lpstr>PowerPoint 演示文稿</vt:lpstr>
      <vt:lpstr>1.1 Python 简介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1.2  Python 安装 – Python Only</vt:lpstr>
      <vt:lpstr>       下图是在winows下安装Python3.2时运行IDLE后的Python交叉解释器的图形：</vt:lpstr>
      <vt:lpstr>1.3  IDE 使用</vt:lpstr>
      <vt:lpstr>PowerPoint 演示文稿</vt:lpstr>
      <vt:lpstr>PowerPoint 演示文稿</vt:lpstr>
      <vt:lpstr>PowerPoint 演示文稿</vt:lpstr>
      <vt:lpstr>1.2  Python 安装 – Anaconda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1.4  Python 编程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数据结构</vt:lpstr>
      <vt:lpstr>PowerPoint 演示文稿</vt:lpstr>
      <vt:lpstr>作业</vt:lpstr>
    </vt:vector>
  </TitlesOfParts>
  <Company>NEC-AS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zhangxiao</dc:creator>
  <cp:lastModifiedBy>Mengqi Xue</cp:lastModifiedBy>
  <cp:revision>149</cp:revision>
  <dcterms:created xsi:type="dcterms:W3CDTF">2009-08-17T07:43:16Z</dcterms:created>
  <dcterms:modified xsi:type="dcterms:W3CDTF">2025-12-29T12:23:12Z</dcterms:modified>
</cp:coreProperties>
</file>