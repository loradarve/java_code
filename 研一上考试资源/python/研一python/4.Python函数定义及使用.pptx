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8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9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0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1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2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3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4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5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6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8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9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20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21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2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23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24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25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26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7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28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29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30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31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32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33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34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35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36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37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38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39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40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41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42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43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44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45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46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47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48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49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notesMasterIdLst>
    <p:notesMasterId r:id="rId52"/>
  </p:notesMasterIdLst>
  <p:sldIdLst>
    <p:sldId id="264" r:id="rId2"/>
    <p:sldId id="286" r:id="rId3"/>
    <p:sldId id="287" r:id="rId4"/>
    <p:sldId id="296" r:id="rId5"/>
    <p:sldId id="297" r:id="rId6"/>
    <p:sldId id="298" r:id="rId7"/>
    <p:sldId id="299" r:id="rId8"/>
    <p:sldId id="300" r:id="rId9"/>
    <p:sldId id="303" r:id="rId10"/>
    <p:sldId id="301" r:id="rId11"/>
    <p:sldId id="302" r:id="rId12"/>
    <p:sldId id="305" r:id="rId13"/>
    <p:sldId id="306" r:id="rId14"/>
    <p:sldId id="304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5" r:id="rId23"/>
    <p:sldId id="314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8" r:id="rId36"/>
    <p:sldId id="327" r:id="rId37"/>
    <p:sldId id="329" r:id="rId38"/>
    <p:sldId id="330" r:id="rId39"/>
    <p:sldId id="332" r:id="rId40"/>
    <p:sldId id="331" r:id="rId41"/>
    <p:sldId id="333" r:id="rId42"/>
    <p:sldId id="334" r:id="rId43"/>
    <p:sldId id="335" r:id="rId44"/>
    <p:sldId id="336" r:id="rId45"/>
    <p:sldId id="338" r:id="rId46"/>
    <p:sldId id="337" r:id="rId47"/>
    <p:sldId id="339" r:id="rId48"/>
    <p:sldId id="340" r:id="rId49"/>
    <p:sldId id="341" r:id="rId50"/>
    <p:sldId id="280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4B4"/>
    <a:srgbClr val="4868A2"/>
    <a:srgbClr val="FFFFFF"/>
    <a:srgbClr val="D8E8F3"/>
    <a:srgbClr val="FB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97" autoAdjust="0"/>
    <p:restoredTop sz="94474" autoAdjust="0"/>
  </p:normalViewPr>
  <p:slideViewPr>
    <p:cSldViewPr snapToGrid="0">
      <p:cViewPr varScale="1">
        <p:scale>
          <a:sx n="97" d="100"/>
          <a:sy n="97" d="100"/>
        </p:scale>
        <p:origin x="92" y="2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87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0B2C0C-1FFB-426F-943D-49D393611648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769E8-19F7-47D4-AFC6-D17EEAD4A98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745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3719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1455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0673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9059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899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5602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5191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9251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8981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1094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5138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485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19682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094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4081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22427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49730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7640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55002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6094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75823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94799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34969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66127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4941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39325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52502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53979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68073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06008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15657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66824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44304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62208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78743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89344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96973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40110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480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33500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20691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52873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008493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69718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1932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39185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821515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993774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9F7857-DF68-40E9-B3B1-43E21ECBFB2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44268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769E8-19F7-47D4-AFC6-D17EEAD4A98C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51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microsoft.com/office/2007/relationships/hdphoto" Target="../media/hdphoto1.wd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685800" y="5349903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508000" y="4853412"/>
            <a:ext cx="11277600" cy="1222375"/>
          </a:xfrm>
        </p:spPr>
        <p:txBody>
          <a:bodyPr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508000" y="3886200"/>
            <a:ext cx="112776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10972800" y="6473952"/>
            <a:ext cx="1011936" cy="246888"/>
          </a:xfrm>
        </p:spPr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-17670" y="-26504"/>
            <a:ext cx="12209670" cy="6886714"/>
            <a:chOff x="-17670" y="-26504"/>
            <a:chExt cx="12209670" cy="6886714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 rotWithShape="1">
            <a:blip r:embed="rId2" cstate="email"/>
            <a:srcRect t="-386" b="-1"/>
            <a:stretch>
              <a:fillRect/>
            </a:stretch>
          </p:blipFill>
          <p:spPr>
            <a:xfrm>
              <a:off x="-17669" y="-26504"/>
              <a:ext cx="12209669" cy="688450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3" cstate="email"/>
            <a:srcRect b="-703"/>
            <a:stretch>
              <a:fillRect/>
            </a:stretch>
          </p:blipFill>
          <p:spPr>
            <a:xfrm rot="10800000">
              <a:off x="-1" y="-13253"/>
              <a:ext cx="5989984" cy="6871251"/>
            </a:xfrm>
            <a:prstGeom prst="rect">
              <a:avLst/>
            </a:prstGeom>
          </p:spPr>
        </p:pic>
        <p:sp>
          <p:nvSpPr>
            <p:cNvPr id="12" name="矩形 11"/>
            <p:cNvSpPr/>
            <p:nvPr userDrawn="1"/>
          </p:nvSpPr>
          <p:spPr>
            <a:xfrm>
              <a:off x="-17670" y="-11040"/>
              <a:ext cx="12209669" cy="6871250"/>
            </a:xfrm>
            <a:prstGeom prst="rect">
              <a:avLst/>
            </a:prstGeom>
            <a:solidFill>
              <a:srgbClr val="1A67A6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aseline="0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3801441" y="1416845"/>
              <a:ext cx="4351959" cy="4108554"/>
            </a:xfrm>
            <a:prstGeom prst="ellipse">
              <a:avLst/>
            </a:prstGeom>
            <a:solidFill>
              <a:srgbClr val="FFFFFF">
                <a:alpha val="8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aseline="0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4" name="任意多边形 13"/>
            <p:cNvSpPr/>
            <p:nvPr userDrawn="1"/>
          </p:nvSpPr>
          <p:spPr>
            <a:xfrm>
              <a:off x="3198495" y="3477830"/>
              <a:ext cx="1162963" cy="1900516"/>
            </a:xfrm>
            <a:custGeom>
              <a:avLst/>
              <a:gdLst>
                <a:gd name="connsiteX0" fmla="*/ 2082 w 1161136"/>
                <a:gd name="connsiteY0" fmla="*/ 0 h 1735954"/>
                <a:gd name="connsiteX1" fmla="*/ 212502 w 1161136"/>
                <a:gd name="connsiteY1" fmla="*/ 0 h 1735954"/>
                <a:gd name="connsiteX2" fmla="*/ 210423 w 1161136"/>
                <a:gd name="connsiteY2" fmla="*/ 41759 h 1735954"/>
                <a:gd name="connsiteX3" fmla="*/ 1068588 w 1161136"/>
                <a:gd name="connsiteY3" fmla="*/ 1678924 h 1735954"/>
                <a:gd name="connsiteX4" fmla="*/ 1161136 w 1161136"/>
                <a:gd name="connsiteY4" fmla="*/ 1735954 h 1735954"/>
                <a:gd name="connsiteX5" fmla="*/ 795874 w 1161136"/>
                <a:gd name="connsiteY5" fmla="*/ 1735954 h 1735954"/>
                <a:gd name="connsiteX6" fmla="*/ 784897 w 1161136"/>
                <a:gd name="connsiteY6" fmla="*/ 1727639 h 1735954"/>
                <a:gd name="connsiteX7" fmla="*/ 0 w 1161136"/>
                <a:gd name="connsiteY7" fmla="*/ 41759 h 1735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1136" h="1735954">
                  <a:moveTo>
                    <a:pt x="2082" y="0"/>
                  </a:moveTo>
                  <a:lnTo>
                    <a:pt x="212502" y="0"/>
                  </a:lnTo>
                  <a:lnTo>
                    <a:pt x="210423" y="41759"/>
                  </a:lnTo>
                  <a:cubicBezTo>
                    <a:pt x="210423" y="723262"/>
                    <a:pt x="550833" y="1324118"/>
                    <a:pt x="1068588" y="1678924"/>
                  </a:cubicBezTo>
                  <a:lnTo>
                    <a:pt x="1161136" y="1735954"/>
                  </a:lnTo>
                  <a:lnTo>
                    <a:pt x="795874" y="1735954"/>
                  </a:lnTo>
                  <a:lnTo>
                    <a:pt x="784897" y="1727639"/>
                  </a:lnTo>
                  <a:cubicBezTo>
                    <a:pt x="305541" y="1326919"/>
                    <a:pt x="0" y="720482"/>
                    <a:pt x="0" y="417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aseline="0">
                <a:latin typeface="Arial" pitchFamily="34" charset="0"/>
                <a:ea typeface="黑体" pitchFamily="49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 userDrawn="1"/>
          </p:nvPicPr>
          <p:blipFill>
            <a:blip r:embed="rId4" cstate="email"/>
            <a:stretch>
              <a:fillRect/>
            </a:stretch>
          </p:blipFill>
          <p:spPr>
            <a:xfrm flipH="1">
              <a:off x="7609660" y="3500001"/>
              <a:ext cx="1162405" cy="1905601"/>
            </a:xfrm>
            <a:prstGeom prst="rect">
              <a:avLst/>
            </a:prstGeom>
          </p:spPr>
        </p:pic>
      </p:grp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270269" y="1578800"/>
            <a:ext cx="3633789" cy="35855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4775200" y="76201"/>
            <a:ext cx="3860800" cy="2889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10972800" y="6473952"/>
            <a:ext cx="1011936" cy="246888"/>
          </a:xfrm>
        </p:spPr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852451" y="57148"/>
            <a:ext cx="2941981" cy="9779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685800" y="3444903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508000" y="1676400"/>
            <a:ext cx="112776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40633" y="2947086"/>
            <a:ext cx="115824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402336" y="457200"/>
            <a:ext cx="11582400" cy="841248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406400" y="1600200"/>
            <a:ext cx="5588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7912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406400" y="5410200"/>
            <a:ext cx="114808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375259" y="666750"/>
            <a:ext cx="57207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6193367" y="666750"/>
            <a:ext cx="5722988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375259" y="1316038"/>
            <a:ext cx="5720741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6198307" y="1316038"/>
            <a:ext cx="571804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972800" y="6477000"/>
            <a:ext cx="1016000" cy="246888"/>
          </a:xfrm>
        </p:spPr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685800" y="6019801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矩形 11"/>
          <p:cNvSpPr/>
          <p:nvPr userDrawn="1"/>
        </p:nvSpPr>
        <p:spPr>
          <a:xfrm>
            <a:off x="395112" y="574700"/>
            <a:ext cx="11401777" cy="570860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aseline="0">
              <a:latin typeface="Arial" pitchFamily="34" charset="0"/>
              <a:ea typeface="黑体" pitchFamily="49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402336" y="457200"/>
            <a:ext cx="11582400" cy="841248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461" y="-1"/>
            <a:ext cx="12213160" cy="6858001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376156" y="773252"/>
            <a:ext cx="11401777" cy="549321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aseline="0">
              <a:latin typeface="Arial" pitchFamily="34" charset="0"/>
              <a:ea typeface="黑体" pitchFamily="49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685800" y="5849118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609600" y="5486400"/>
            <a:ext cx="112776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609601" y="609600"/>
            <a:ext cx="4011084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4766733" y="609600"/>
            <a:ext cx="7120467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4673600" y="616634"/>
            <a:ext cx="67056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508000" y="4993760"/>
            <a:ext cx="78232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508000" y="5533218"/>
            <a:ext cx="78232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549277"/>
            <a:ext cx="243840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549277"/>
            <a:ext cx="83312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461" y="-1"/>
            <a:ext cx="12213160" cy="685800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81683" cy="685800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376156" y="773252"/>
            <a:ext cx="11401777" cy="549321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aseline="0"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3" name="组合 8"/>
          <p:cNvGrpSpPr/>
          <p:nvPr userDrawn="1"/>
        </p:nvGrpSpPr>
        <p:grpSpPr>
          <a:xfrm>
            <a:off x="3935413" y="1042988"/>
            <a:ext cx="4460876" cy="4468812"/>
            <a:chOff x="3935413" y="1042988"/>
            <a:chExt cx="4460876" cy="4468812"/>
          </a:xfrm>
        </p:grpSpPr>
        <p:sp>
          <p:nvSpPr>
            <p:cNvPr id="10" name="任意多边形 9"/>
            <p:cNvSpPr/>
            <p:nvPr userDrawn="1">
              <p:custDataLst>
                <p:tags r:id="rId1"/>
              </p:custDataLst>
            </p:nvPr>
          </p:nvSpPr>
          <p:spPr>
            <a:xfrm flipH="1">
              <a:off x="6164263" y="1836738"/>
              <a:ext cx="2228850" cy="3675062"/>
            </a:xfrm>
            <a:custGeom>
              <a:avLst/>
              <a:gdLst>
                <a:gd name="connsiteX0" fmla="*/ 2231629 w 2231629"/>
                <a:gd name="connsiteY0" fmla="*/ 0 h 4463258"/>
                <a:gd name="connsiteX1" fmla="*/ 2231629 w 2231629"/>
                <a:gd name="connsiteY1" fmla="*/ 4463258 h 4463258"/>
                <a:gd name="connsiteX2" fmla="*/ 0 w 2231629"/>
                <a:gd name="connsiteY2" fmla="*/ 2231629 h 4463258"/>
                <a:gd name="connsiteX3" fmla="*/ 2231629 w 2231629"/>
                <a:gd name="connsiteY3" fmla="*/ 0 h 44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1629" h="4463258">
                  <a:moveTo>
                    <a:pt x="2231629" y="0"/>
                  </a:moveTo>
                  <a:lnTo>
                    <a:pt x="2231629" y="4463258"/>
                  </a:lnTo>
                  <a:lnTo>
                    <a:pt x="0" y="2231629"/>
                  </a:lnTo>
                  <a:lnTo>
                    <a:pt x="223162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1" name="任意多边形 10"/>
            <p:cNvSpPr/>
            <p:nvPr userDrawn="1">
              <p:custDataLst>
                <p:tags r:id="rId2"/>
              </p:custDataLst>
            </p:nvPr>
          </p:nvSpPr>
          <p:spPr>
            <a:xfrm>
              <a:off x="3935413" y="1042988"/>
              <a:ext cx="2228850" cy="3681412"/>
            </a:xfrm>
            <a:custGeom>
              <a:avLst/>
              <a:gdLst>
                <a:gd name="connsiteX0" fmla="*/ 2231629 w 2231629"/>
                <a:gd name="connsiteY0" fmla="*/ 0 h 4463258"/>
                <a:gd name="connsiteX1" fmla="*/ 2231629 w 2231629"/>
                <a:gd name="connsiteY1" fmla="*/ 4463258 h 4463258"/>
                <a:gd name="connsiteX2" fmla="*/ 0 w 2231629"/>
                <a:gd name="connsiteY2" fmla="*/ 2231629 h 4463258"/>
                <a:gd name="connsiteX3" fmla="*/ 2231629 w 2231629"/>
                <a:gd name="connsiteY3" fmla="*/ 0 h 44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1629" h="4463258">
                  <a:moveTo>
                    <a:pt x="2231629" y="0"/>
                  </a:moveTo>
                  <a:lnTo>
                    <a:pt x="2231629" y="4463258"/>
                  </a:lnTo>
                  <a:lnTo>
                    <a:pt x="0" y="2231629"/>
                  </a:lnTo>
                  <a:lnTo>
                    <a:pt x="2231629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2" name="任意多边形 11"/>
            <p:cNvSpPr/>
            <p:nvPr userDrawn="1">
              <p:custDataLst>
                <p:tags r:id="rId3"/>
              </p:custDataLst>
            </p:nvPr>
          </p:nvSpPr>
          <p:spPr>
            <a:xfrm>
              <a:off x="3935414" y="1049338"/>
              <a:ext cx="2232025" cy="4462462"/>
            </a:xfrm>
            <a:custGeom>
              <a:avLst/>
              <a:gdLst>
                <a:gd name="connsiteX0" fmla="*/ 2231629 w 2231629"/>
                <a:gd name="connsiteY0" fmla="*/ 0 h 4463258"/>
                <a:gd name="connsiteX1" fmla="*/ 2231629 w 2231629"/>
                <a:gd name="connsiteY1" fmla="*/ 4463258 h 4463258"/>
                <a:gd name="connsiteX2" fmla="*/ 0 w 2231629"/>
                <a:gd name="connsiteY2" fmla="*/ 2231629 h 4463258"/>
                <a:gd name="connsiteX3" fmla="*/ 2231629 w 2231629"/>
                <a:gd name="connsiteY3" fmla="*/ 0 h 44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1629" h="4463258">
                  <a:moveTo>
                    <a:pt x="2231629" y="0"/>
                  </a:moveTo>
                  <a:lnTo>
                    <a:pt x="2231629" y="4463258"/>
                  </a:lnTo>
                  <a:lnTo>
                    <a:pt x="0" y="2231629"/>
                  </a:lnTo>
                  <a:lnTo>
                    <a:pt x="223162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3" name="任意多边形 12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6164264" y="1049338"/>
              <a:ext cx="2232025" cy="4462462"/>
            </a:xfrm>
            <a:custGeom>
              <a:avLst/>
              <a:gdLst>
                <a:gd name="connsiteX0" fmla="*/ 2231629 w 2231629"/>
                <a:gd name="connsiteY0" fmla="*/ 0 h 4463258"/>
                <a:gd name="connsiteX1" fmla="*/ 2231629 w 2231629"/>
                <a:gd name="connsiteY1" fmla="*/ 4463258 h 4463258"/>
                <a:gd name="connsiteX2" fmla="*/ 0 w 2231629"/>
                <a:gd name="connsiteY2" fmla="*/ 2231629 h 4463258"/>
                <a:gd name="connsiteX3" fmla="*/ 2231629 w 2231629"/>
                <a:gd name="connsiteY3" fmla="*/ 0 h 44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1629" h="4463258">
                  <a:moveTo>
                    <a:pt x="2231629" y="0"/>
                  </a:moveTo>
                  <a:lnTo>
                    <a:pt x="2231629" y="4463258"/>
                  </a:lnTo>
                  <a:lnTo>
                    <a:pt x="0" y="2231629"/>
                  </a:lnTo>
                  <a:lnTo>
                    <a:pt x="22316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Arial" pitchFamily="34" charset="0"/>
                <a:ea typeface="黑体" pitchFamily="49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356800" y="2250000"/>
            <a:ext cx="1569600" cy="1753200"/>
          </a:xfrm>
        </p:spPr>
        <p:txBody>
          <a:bodyPr/>
          <a:lstStyle>
            <a:lvl1pPr algn="ctr">
              <a:defRPr sz="5400" b="0"/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0" hasCustomPrompt="1"/>
          </p:nvPr>
        </p:nvSpPr>
        <p:spPr>
          <a:xfrm>
            <a:off x="5259600" y="4089600"/>
            <a:ext cx="1818000" cy="4356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编辑副标题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15461" y="-1"/>
            <a:ext cx="12213160" cy="6858001"/>
            <a:chOff x="-15461" y="-1"/>
            <a:chExt cx="12213160" cy="6858001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-15461" y="-1"/>
              <a:ext cx="12213160" cy="685800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-1"/>
              <a:ext cx="12181683" cy="6858001"/>
            </a:xfrm>
            <a:prstGeom prst="rect">
              <a:avLst/>
            </a:prstGeom>
          </p:spPr>
        </p:pic>
        <p:sp>
          <p:nvSpPr>
            <p:cNvPr id="10" name="矩形 9"/>
            <p:cNvSpPr/>
            <p:nvPr userDrawn="1"/>
          </p:nvSpPr>
          <p:spPr>
            <a:xfrm>
              <a:off x="376156" y="773252"/>
              <a:ext cx="11401777" cy="5493218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sz="2400" baseline="0">
                <a:latin typeface="Arial" pitchFamily="34" charset="0"/>
                <a:ea typeface="黑体" pitchFamily="49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78000" y="2822400"/>
            <a:ext cx="7412400" cy="1101600"/>
          </a:xfrm>
          <a:solidFill>
            <a:schemeClr val="accent1"/>
          </a:solidFill>
        </p:spPr>
        <p:txBody>
          <a:bodyPr anchor="ctr" anchorCtr="0">
            <a:normAutofit/>
          </a:bodyPr>
          <a:lstStyle>
            <a:lvl1pPr algn="r">
              <a:defRPr sz="4400" b="0" baseline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1" name="MH_Others_1"/>
          <p:cNvSpPr/>
          <p:nvPr userDrawn="1">
            <p:custDataLst>
              <p:tags r:id="rId1"/>
            </p:custDataLst>
          </p:nvPr>
        </p:nvSpPr>
        <p:spPr>
          <a:xfrm>
            <a:off x="8997410" y="1861413"/>
            <a:ext cx="2773676" cy="7133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72000" rtlCol="0" anchor="ctr"/>
          <a:lstStyle/>
          <a:p>
            <a:endParaRPr lang="zh-CN" altLang="en-US" sz="6000" spc="500">
              <a:solidFill>
                <a:srgbClr val="FFFFFF"/>
              </a:solidFill>
              <a:latin typeface="Arial" pitchFamily="34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" name="MH_Number"/>
          <p:cNvSpPr/>
          <p:nvPr userDrawn="1">
            <p:custDataLst>
              <p:tags r:id="rId2"/>
            </p:custDataLst>
          </p:nvPr>
        </p:nvSpPr>
        <p:spPr>
          <a:xfrm>
            <a:off x="7907903" y="2822268"/>
            <a:ext cx="1104021" cy="11020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0" bIns="36000" rtlCol="0" anchor="ctr">
            <a:normAutofit/>
          </a:bodyPr>
          <a:lstStyle/>
          <a:p>
            <a:pPr algn="ctr"/>
            <a:endParaRPr lang="zh-CN" altLang="en-US" sz="6000" dirty="0">
              <a:solidFill>
                <a:srgbClr val="FFFFFF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27050" y="1081088"/>
            <a:ext cx="11096625" cy="5494337"/>
          </a:xfrm>
        </p:spPr>
        <p:txBody>
          <a:bodyPr anchor="ctr"/>
          <a:lstStyle>
            <a:lvl3pPr>
              <a:defRPr sz="2000"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2"/>
            <a:r>
              <a:rPr lang="zh-CN" altLang="en-US" dirty="0"/>
              <a:t>第二级</a:t>
            </a:r>
          </a:p>
          <a:p>
            <a:pPr lvl="3"/>
            <a:r>
              <a:rPr lang="zh-CN" altLang="en-US" dirty="0"/>
              <a:t>第三级</a:t>
            </a:r>
          </a:p>
          <a:p>
            <a:pPr lvl="4"/>
            <a:r>
              <a:rPr lang="zh-CN" altLang="en-US" dirty="0"/>
              <a:t>第四级</a:t>
            </a:r>
          </a:p>
          <a:p>
            <a:pPr lvl="5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685800" y="1050899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406400" y="1554163"/>
            <a:ext cx="115824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8636000" y="76201"/>
            <a:ext cx="33528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7E209CE7-C191-49CB-93DE-563C8614E8C5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4165600" y="76201"/>
            <a:ext cx="44704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0972800" y="6477001"/>
            <a:ext cx="1016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B31067DD-7756-4DF3-904A-8F40BA684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406400" y="457200"/>
            <a:ext cx="115824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685800" y="1050899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685800" y="1057987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51" r:id="rId13"/>
    <p:sldLayoutId id="2147483658" r:id="rId14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image" Target="../media/image34.png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image" Target="../media/image37.png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5" Type="http://schemas.openxmlformats.org/officeDocument/2006/relationships/image" Target="../media/image38.png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4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0304" y="2728912"/>
            <a:ext cx="1024190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6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函数定义与使用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82686" y="1994977"/>
            <a:ext cx="5333511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6.1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函数的理解与定义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6.2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参数传递与返回值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6.3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作用域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6.4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递归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073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82015" y="2687393"/>
            <a:ext cx="2614818" cy="15327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函数定义</a:t>
            </a:r>
            <a:endParaRPr lang="en-US" altLang="zh-CN" sz="36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函数调用</a:t>
            </a:r>
            <a:endParaRPr lang="en-US" altLang="zh-CN" sz="36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7210" y="2448995"/>
            <a:ext cx="3523809" cy="200952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482015" y="1235388"/>
            <a:ext cx="430117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函数的理解与定义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664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函数的理解与定义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5878" y="2213704"/>
            <a:ext cx="100707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求取包含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10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个斐波那契数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697137" y="2989040"/>
            <a:ext cx="6675075" cy="21988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197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函数的理解与定义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5878" y="2213704"/>
            <a:ext cx="100707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如何让代码按照用户指定的最终要求取得序列的长度？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64481" y="2838282"/>
            <a:ext cx="7915695" cy="158313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98035" y="4733746"/>
            <a:ext cx="100707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或许还可以让程序更加抽象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164480" y="5236131"/>
            <a:ext cx="8045749" cy="8380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51284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函数的理解与定义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5878" y="2213704"/>
            <a:ext cx="1007075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函数是一段具有特定功能的、可重用的语句组，用函数名来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表示并通过函数名进行完成功能调用。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11219" y="5338132"/>
            <a:ext cx="5180984" cy="140556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055878" y="3448077"/>
            <a:ext cx="77251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函数是一种功能的抽象，一般函数表达特定功能</a:t>
            </a:r>
          </a:p>
        </p:txBody>
      </p:sp>
      <p:sp>
        <p:nvSpPr>
          <p:cNvPr id="10" name="矩形 9"/>
          <p:cNvSpPr/>
          <p:nvPr/>
        </p:nvSpPr>
        <p:spPr>
          <a:xfrm>
            <a:off x="1055878" y="4372269"/>
            <a:ext cx="62279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两个作用：降低编程难度 和 代码复用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070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函数的理解与定义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27479" y="2719889"/>
            <a:ext cx="83657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Python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定义一个函数使用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def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保留字，语法形式如下：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def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&lt;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函数名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&gt;(&lt;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参数列表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&gt;):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   &lt;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函数体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   return &lt;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返回值列表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7499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函数的理解与定义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29743" y="2902608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def fibs(nums):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   fibs = [0, 1]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   for i in range(num - 2):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       fibs.append(fibs[-2]+fibs[-1])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   return fibs</a:t>
            </a:r>
          </a:p>
        </p:txBody>
      </p:sp>
      <p:sp>
        <p:nvSpPr>
          <p:cNvPr id="8" name="矩形标注 7"/>
          <p:cNvSpPr/>
          <p:nvPr/>
        </p:nvSpPr>
        <p:spPr>
          <a:xfrm>
            <a:off x="3389899" y="2106827"/>
            <a:ext cx="1322614" cy="601998"/>
          </a:xfrm>
          <a:prstGeom prst="wedgeRectCallout">
            <a:avLst>
              <a:gd name="adj1" fmla="val 50873"/>
              <a:gd name="adj2" fmla="val 99724"/>
            </a:avLst>
          </a:prstGeom>
          <a:noFill/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函数名</a:t>
            </a:r>
          </a:p>
        </p:txBody>
      </p:sp>
      <p:sp>
        <p:nvSpPr>
          <p:cNvPr id="10" name="矩形标注 9"/>
          <p:cNvSpPr/>
          <p:nvPr/>
        </p:nvSpPr>
        <p:spPr>
          <a:xfrm>
            <a:off x="5909941" y="2164197"/>
            <a:ext cx="1322614" cy="601998"/>
          </a:xfrm>
          <a:prstGeom prst="wedgeRectCallout">
            <a:avLst>
              <a:gd name="adj1" fmla="val -59004"/>
              <a:gd name="adj2" fmla="val 107861"/>
            </a:avLst>
          </a:prstGeom>
          <a:noFill/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参数</a:t>
            </a:r>
          </a:p>
        </p:txBody>
      </p:sp>
      <p:sp>
        <p:nvSpPr>
          <p:cNvPr id="11" name="矩形标注 10"/>
          <p:cNvSpPr/>
          <p:nvPr/>
        </p:nvSpPr>
        <p:spPr>
          <a:xfrm>
            <a:off x="5909941" y="5285790"/>
            <a:ext cx="1322614" cy="601998"/>
          </a:xfrm>
          <a:prstGeom prst="wedgeRectCallout">
            <a:avLst>
              <a:gd name="adj1" fmla="val -50362"/>
              <a:gd name="adj2" fmla="val -92856"/>
            </a:avLst>
          </a:prstGeom>
          <a:noFill/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返回值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3551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函数的理解与定义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36914" y="2078308"/>
            <a:ext cx="99604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给函数编写文档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599181" y="2718248"/>
            <a:ext cx="6255791" cy="10311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599181" y="4392457"/>
            <a:ext cx="6220971" cy="20736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9218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函数的理解与定义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函数的调用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36914" y="2078308"/>
            <a:ext cx="996042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程序调用一个函数需要执行以下四个步骤：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（1）调用程序在调用处暂停执行；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（2）在调用时将实参复制给函数的形参；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（3）执行函数体语句；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（4）函数调用结束给出返回值，程序回到调用前的暂停处继续执行。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402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函数的理解与定义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函数的调用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446146" y="2177075"/>
            <a:ext cx="4952820" cy="7005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815084" y="4020965"/>
            <a:ext cx="6101654" cy="1770233"/>
          </a:xfrm>
          <a:prstGeom prst="rect">
            <a:avLst/>
          </a:prstGeom>
        </p:spPr>
      </p:pic>
      <p:sp>
        <p:nvSpPr>
          <p:cNvPr id="8" name="矩形标注 7"/>
          <p:cNvSpPr/>
          <p:nvPr/>
        </p:nvSpPr>
        <p:spPr>
          <a:xfrm>
            <a:off x="7853540" y="3231501"/>
            <a:ext cx="2024741" cy="435601"/>
          </a:xfrm>
          <a:prstGeom prst="wedgeRectCallout">
            <a:avLst>
              <a:gd name="adj1" fmla="val -54780"/>
              <a:gd name="adj2" fmla="val 137697"/>
            </a:avLst>
          </a:prstGeom>
          <a:noFill/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nums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= 8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4051" y="3148303"/>
            <a:ext cx="6632549" cy="787173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H="1" flipV="1">
            <a:off x="2596243" y="4020965"/>
            <a:ext cx="3218842" cy="159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272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82686" y="1994977"/>
            <a:ext cx="5333511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6.1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函数的理解与定义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6.2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参数传递与返回值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6.3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作用域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6.4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递归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883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82015" y="2687393"/>
            <a:ext cx="2614818" cy="15327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参数传递</a:t>
            </a:r>
            <a:endParaRPr lang="en-US" altLang="zh-CN" sz="36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endParaRPr lang="en-US" altLang="zh-CN" sz="36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7210" y="2448995"/>
            <a:ext cx="3523809" cy="200952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482015" y="1235388"/>
            <a:ext cx="4301177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参数传递与返回值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969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参数传递与返回值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参数传递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55878" y="2213704"/>
            <a:ext cx="1007075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形参与实参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   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  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在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def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语句中，位于函数名后面的变量通常称为形参。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   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  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调用函数时提供的值称为实参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36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参数传递与返回值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参数传递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12510" y="2213704"/>
            <a:ext cx="79574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函数可以有参数，也可以没有，但必须保留括号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97879" y="3244879"/>
            <a:ext cx="8993588" cy="24537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319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参数传递与返回值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参数传递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97879" y="2213704"/>
            <a:ext cx="94976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函数定义时可以为某些参数指定默认值，构成可选参数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06092" y="3244879"/>
            <a:ext cx="7813112" cy="23558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9802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参数传递与返回值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参数传递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30668" y="2213704"/>
            <a:ext cx="51294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位置参数 和 关键字参数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2393" y="5808112"/>
            <a:ext cx="10321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在结合使用位置参数和关键字参数时，必须先指定所有位置参数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333190" y="2989040"/>
            <a:ext cx="7922079" cy="78645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333190" y="4027609"/>
            <a:ext cx="7945081" cy="13771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5604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参数传递与返回值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参数传递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85900" y="2213704"/>
            <a:ext cx="103359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函数定义时可以设计可变数量参数，既不确定参数总数量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548957" y="3244879"/>
            <a:ext cx="7021285" cy="27715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83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参数传递与返回值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224292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参数传递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85900" y="2213704"/>
            <a:ext cx="103359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函数定义时可以设计可变数量参数，既不确定参数总数量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5249" y="2989951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def printParams(*params):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   print(params)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833974" y="3001423"/>
            <a:ext cx="5747525" cy="101879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90064" y="4796462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def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printParams2(**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params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):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   print(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params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)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833974" y="4828400"/>
            <a:ext cx="5514383" cy="11751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6797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参数传递与返回值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1728358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56488" y="2181766"/>
            <a:ext cx="49549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函数可以返回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0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个或多个结果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5248" y="2989951"/>
            <a:ext cx="1049494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return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保留字用来传递返回值 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函数可以有返回值，也可以没有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可以有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return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，也可以没有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return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可以传递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0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个返回值，也可以传递任意多个返回值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8406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参数传递与返回值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3" y="1182529"/>
            <a:ext cx="1728358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返回值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79614" y="2800514"/>
            <a:ext cx="10008164" cy="30287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079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82686" y="1994977"/>
            <a:ext cx="5333511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6.1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函数的理解与定义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6.2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参数传递与返回值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6.3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作用域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6.4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递归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076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作用域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83386" y="1329486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局部变量和全局变量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53242" y="2690336"/>
            <a:ext cx="914400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一个程序中的变量包括两类：全局变量和局部变量。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•全局变量指在函数之外定义的变量，一般没有缩进，在程序执行全过程有效。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•局部变量指在函数内部使用的变量，仅在函数内部有效，当函数退出时变量将不存在。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936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作用域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83386" y="1329486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局部变量和全局变量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53342" y="6119337"/>
            <a:ext cx="91440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当函数执行完退出后，其内部变量将被释放。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74507" y="2928284"/>
            <a:ext cx="8433495" cy="319105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926767" y="2246008"/>
            <a:ext cx="84737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规则1: 不可变类型的局部变量和全局变量是不同变量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143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作用域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83386" y="1329486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局部变量和全局变量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1114" y="5972380"/>
            <a:ext cx="106462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函数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func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()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内部使用了变量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n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，并且将变量参数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b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赋值给变量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n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53342" y="2386789"/>
            <a:ext cx="7295539" cy="33608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065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作用域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83386" y="1329486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局部变量和全局变量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63967" y="2285872"/>
            <a:ext cx="1064622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如果希望让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func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()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函数将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n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当作全局变量，需要在变量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n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使用前显式声明该变量为全局变量，代码如下。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570609" y="3417306"/>
            <a:ext cx="5041295" cy="29969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158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作用域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83386" y="1329486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局部变量和全局变量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63967" y="2285872"/>
            <a:ext cx="106462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规则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2: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局部变量为可变数据类型且未创建新变量，等同于全局变量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58571" y="3131862"/>
            <a:ext cx="8485854" cy="320362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8520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作用域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83386" y="1329486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局部变量和全局变量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63967" y="2285872"/>
            <a:ext cx="106462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规则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2: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局部变量为可变数据类型且未创建新变量，等同于全局变量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87123" y="2986418"/>
            <a:ext cx="7654815" cy="33653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7045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作用域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83386" y="1329486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局部变量和全局变量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63967" y="2285872"/>
            <a:ext cx="106462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总结：</a:t>
            </a:r>
          </a:p>
        </p:txBody>
      </p:sp>
      <p:sp>
        <p:nvSpPr>
          <p:cNvPr id="5" name="矩形 4"/>
          <p:cNvSpPr/>
          <p:nvPr/>
        </p:nvSpPr>
        <p:spPr>
          <a:xfrm>
            <a:off x="963967" y="2967335"/>
            <a:ext cx="1051501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不可变数据类型，无论是否重名，局部变量与全局变量不同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可以通过global保留字在函数内部声明全局变量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可见数据类型，如果局部变量未真实创建，则是全局变量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516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lambda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710109" y="1393320"/>
            <a:ext cx="276229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lambda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3746" y="2285872"/>
            <a:ext cx="1051501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python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使用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lambda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来创建匿名函数，不再使用 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def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语句这样标准的形式定义一个函数。</a:t>
            </a:r>
          </a:p>
          <a:p>
            <a:pPr marL="457200" indent="-457200">
              <a:buFontTx/>
              <a:buChar char="-"/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lambda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只是一个表达式，函数体比 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def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简单很多。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lambda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的主体是一个表达式，而不是一个代码块。仅仅能在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lambda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表达式中封装有限的逻辑进去。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lambda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函数拥有自己的命名空间，且不能访问自己参数列表之外或全局命名空间里的参数。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9812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lambda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710109" y="1393320"/>
            <a:ext cx="276229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lambda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18371" y="2748779"/>
            <a:ext cx="8605796" cy="36193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0240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lambda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710109" y="1393320"/>
            <a:ext cx="276229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lambda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47999" y="2551837"/>
            <a:ext cx="692875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&gt;&gt;&gt; f = lambda x, y : x + y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&gt;&gt;&gt; f(10, 15)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&gt;&gt;&gt; f = lambda : "lambda函数"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&gt;&gt;&gt; print(f())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lambda函数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894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en-US" altLang="zh-CN" dirty="0">
                <a:latin typeface="+mj-lt"/>
                <a:ea typeface="+mj-ea"/>
              </a:rPr>
              <a:t>lambda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710109" y="1393320"/>
            <a:ext cx="276229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lambda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71601" y="2419439"/>
            <a:ext cx="955221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&gt;&gt;&gt; map(lambda x: x ** 2, [1, 2, 3, 4, 5])  #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使用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lambda 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[1, 4, 9, 16, 25]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#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提供了两个列表，对相同位置的列表数据进行相加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&gt;&gt;&gt; map(lambda x, y: x + y, [1, 3, 5, 7, 9], [2, 4, 6, 8, 10])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[3, 7, 11, 15, 19]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2317" y="5661549"/>
            <a:ext cx="11167925" cy="8925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600" dirty="0">
                <a:solidFill>
                  <a:schemeClr val="tx1">
                    <a:lumMod val="50000"/>
                  </a:schemeClr>
                </a:solidFill>
              </a:rPr>
              <a:t>print(</a:t>
            </a:r>
            <a:r>
              <a:rPr lang="en-US" altLang="zh-CN" sz="2600" dirty="0">
                <a:solidFill>
                  <a:schemeClr val="tx1">
                    <a:lumMod val="50000"/>
                  </a:schemeClr>
                </a:solidFill>
              </a:rPr>
              <a:t>‘’</a:t>
            </a:r>
            <a:r>
              <a:rPr lang="zh-CN" altLang="en-US" sz="2600" dirty="0">
                <a:solidFill>
                  <a:schemeClr val="tx1">
                    <a:lumMod val="50000"/>
                  </a:schemeClr>
                </a:solidFill>
              </a:rPr>
              <a:t>.join(map(lambda x: chr((ord(x) + 3 - ord(</a:t>
            </a:r>
            <a:r>
              <a:rPr lang="en-US" altLang="zh-CN" sz="2600" dirty="0">
                <a:solidFill>
                  <a:schemeClr val="tx1">
                    <a:lumMod val="50000"/>
                  </a:schemeClr>
                </a:solidFill>
              </a:rPr>
              <a:t>‘</a:t>
            </a:r>
            <a:r>
              <a:rPr lang="zh-CN" altLang="en-US" sz="2600" dirty="0">
                <a:solidFill>
                  <a:schemeClr val="tx1">
                    <a:lumMod val="50000"/>
                  </a:schemeClr>
                </a:solidFill>
              </a:rPr>
              <a:t>A</a:t>
            </a:r>
            <a:r>
              <a:rPr lang="en-US" altLang="zh-CN" sz="2600" dirty="0">
                <a:solidFill>
                  <a:schemeClr val="tx1">
                    <a:lumMod val="50000"/>
                  </a:schemeClr>
                </a:solidFill>
              </a:rPr>
              <a:t>’</a:t>
            </a:r>
            <a:r>
              <a:rPr lang="zh-CN" altLang="en-US" sz="2600" dirty="0">
                <a:solidFill>
                  <a:schemeClr val="tx1">
                    <a:lumMod val="50000"/>
                  </a:schemeClr>
                </a:solidFill>
              </a:rPr>
              <a:t>)) % 26 + ord(</a:t>
            </a:r>
            <a:r>
              <a:rPr lang="en-US" altLang="zh-CN" sz="2600" dirty="0">
                <a:solidFill>
                  <a:schemeClr val="tx1">
                    <a:lumMod val="50000"/>
                  </a:schemeClr>
                </a:solidFill>
              </a:rPr>
              <a:t>‘</a:t>
            </a:r>
            <a:r>
              <a:rPr lang="zh-CN" altLang="en-US" sz="2600" dirty="0">
                <a:solidFill>
                  <a:schemeClr val="tx1">
                    <a:lumMod val="50000"/>
                  </a:schemeClr>
                </a:solidFill>
              </a:rPr>
              <a:t>A</a:t>
            </a:r>
            <a:r>
              <a:rPr lang="en-US" altLang="zh-CN" sz="2600" dirty="0">
                <a:solidFill>
                  <a:schemeClr val="tx1">
                    <a:lumMod val="50000"/>
                  </a:schemeClr>
                </a:solidFill>
              </a:rPr>
              <a:t>’</a:t>
            </a:r>
            <a:r>
              <a:rPr lang="zh-CN" altLang="en-US" sz="2600" dirty="0">
                <a:solidFill>
                  <a:schemeClr val="tx1">
                    <a:lumMod val="50000"/>
                  </a:schemeClr>
                </a:solidFill>
              </a:rPr>
              <a:t>)) if </a:t>
            </a:r>
            <a:r>
              <a:rPr lang="en-US" altLang="zh-CN" sz="2600" dirty="0">
                <a:solidFill>
                  <a:schemeClr val="tx1">
                    <a:lumMod val="50000"/>
                  </a:schemeClr>
                </a:solidFill>
              </a:rPr>
              <a:t>‘</a:t>
            </a:r>
            <a:r>
              <a:rPr lang="zh-CN" altLang="en-US" sz="2600" dirty="0">
                <a:solidFill>
                  <a:schemeClr val="tx1">
                    <a:lumMod val="50000"/>
                  </a:schemeClr>
                </a:solidFill>
              </a:rPr>
              <a:t>A</a:t>
            </a:r>
            <a:r>
              <a:rPr lang="en-US" altLang="zh-CN" sz="2600" dirty="0">
                <a:solidFill>
                  <a:schemeClr val="tx1">
                    <a:lumMod val="50000"/>
                  </a:schemeClr>
                </a:solidFill>
              </a:rPr>
              <a:t>’</a:t>
            </a:r>
            <a:r>
              <a:rPr lang="zh-CN" altLang="en-US" sz="2600" dirty="0">
                <a:solidFill>
                  <a:schemeClr val="tx1">
                    <a:lumMod val="50000"/>
                  </a:schemeClr>
                </a:solidFill>
              </a:rPr>
              <a:t> &lt;= x &lt;= </a:t>
            </a:r>
            <a:r>
              <a:rPr lang="en-US" altLang="zh-CN" sz="2600" dirty="0">
                <a:solidFill>
                  <a:schemeClr val="tx1">
                    <a:lumMod val="50000"/>
                  </a:schemeClr>
                </a:solidFill>
              </a:rPr>
              <a:t>‘</a:t>
            </a:r>
            <a:r>
              <a:rPr lang="zh-CN" altLang="en-US" sz="2600" dirty="0">
                <a:solidFill>
                  <a:schemeClr val="tx1">
                    <a:lumMod val="50000"/>
                  </a:schemeClr>
                </a:solidFill>
              </a:rPr>
              <a:t>Z</a:t>
            </a:r>
            <a:r>
              <a:rPr lang="en-US" altLang="zh-CN" sz="2600" dirty="0">
                <a:solidFill>
                  <a:schemeClr val="tx1">
                    <a:lumMod val="50000"/>
                  </a:schemeClr>
                </a:solidFill>
              </a:rPr>
              <a:t>’</a:t>
            </a:r>
            <a:r>
              <a:rPr lang="zh-CN" altLang="en-US" sz="2600" dirty="0">
                <a:solidFill>
                  <a:schemeClr val="tx1">
                    <a:lumMod val="50000"/>
                  </a:schemeClr>
                </a:solidFill>
              </a:rPr>
              <a:t> else x, input("please input str1: "))))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136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82686" y="1994977"/>
            <a:ext cx="5333511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6.1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函数的理解与定义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6.2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参数传递与返回值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6.3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作用域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6.4 </a:t>
            </a: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递归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803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r>
              <a:rPr lang="en-US" altLang="zh-CN" dirty="0">
                <a:latin typeface="+mj-lt"/>
                <a:ea typeface="+mj-ea"/>
              </a:rPr>
              <a:t>Python</a:t>
            </a:r>
            <a:r>
              <a:rPr lang="zh-CN" altLang="en-US" dirty="0">
                <a:latin typeface="+mj-lt"/>
                <a:ea typeface="+mj-ea"/>
              </a:rPr>
              <a:t>程序设计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82015" y="2687393"/>
            <a:ext cx="4932761" cy="2252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函数递归的理解</a:t>
            </a: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函数递归的调用过程</a:t>
            </a: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函数递归实例解析</a:t>
            </a:r>
            <a:endParaRPr lang="en-US" altLang="zh-CN" sz="36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7210" y="2448995"/>
            <a:ext cx="3523809" cy="200952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482015" y="1235388"/>
            <a:ext cx="1213794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递归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9212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递归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1813" y="1285396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递归的定义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57299" y="2783418"/>
            <a:ext cx="94297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函数作为一种代码封装，可以被其他程序调用，当然，也可以被函数内部代码调用。这种函数定义中调用函数自身的方式称为递归。</a:t>
            </a:r>
          </a:p>
        </p:txBody>
      </p:sp>
      <p:sp>
        <p:nvSpPr>
          <p:cNvPr id="2" name="矩形 1"/>
          <p:cNvSpPr/>
          <p:nvPr/>
        </p:nvSpPr>
        <p:spPr>
          <a:xfrm>
            <a:off x="1257299" y="4887376"/>
            <a:ext cx="942974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递归在数学和计算机应用上非常强大，能够非常简洁的解决重要问题。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679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递归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1813" y="1285396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递归的定义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57298" y="2647284"/>
            <a:ext cx="94297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数学上有个经典的递归例子叫阶乘，阶乘通常定义为：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n! = n (n-1)(n-2)…..(1)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01168" y="4353498"/>
            <a:ext cx="94297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这个关系给出了另一种方式表达阶乘的方式</a:t>
            </a:r>
          </a:p>
        </p:txBody>
      </p:sp>
      <p:sp>
        <p:nvSpPr>
          <p:cNvPr id="6" name="左大括号 5"/>
          <p:cNvSpPr/>
          <p:nvPr/>
        </p:nvSpPr>
        <p:spPr>
          <a:xfrm>
            <a:off x="5208815" y="5095654"/>
            <a:ext cx="228600" cy="783772"/>
          </a:xfrm>
          <a:prstGeom prst="leftBrace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146924" y="5215273"/>
            <a:ext cx="893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n! =</a:t>
            </a:r>
            <a:endParaRPr lang="zh-CN" altLang="en-US" sz="2800" dirty="0"/>
          </a:p>
        </p:txBody>
      </p:sp>
      <p:sp>
        <p:nvSpPr>
          <p:cNvPr id="10" name="矩形 9"/>
          <p:cNvSpPr/>
          <p:nvPr/>
        </p:nvSpPr>
        <p:spPr>
          <a:xfrm>
            <a:off x="5584372" y="4834512"/>
            <a:ext cx="41801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1                       n = 0</a:t>
            </a:r>
            <a:endParaRPr lang="zh-CN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5584372" y="5476883"/>
            <a:ext cx="41801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n(n-1)!           otherwise</a:t>
            </a:r>
            <a:endParaRPr lang="zh-CN" alt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733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递归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83386" y="1269068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函数递归的调用过程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71457" y="2566394"/>
            <a:ext cx="7971906" cy="37527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7774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递归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83386" y="1269068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函数递归的调用过程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9086" y="2828836"/>
            <a:ext cx="978081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阶乘的例子揭示了递归的2个关键特征：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（1）基线条件：存在一个或多个基例，基例不需要再次递归，它是确定的表达式；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（2）递归条件：包含一个或多个调用，所有递归链要以一个或多个基例结尾。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5496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递归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83386" y="1269068"/>
            <a:ext cx="4815742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函数递归的调用过程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80222" y="2048127"/>
            <a:ext cx="11276935" cy="463857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8707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递归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55232" y="1318054"/>
            <a:ext cx="327205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递归实例解析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38358" y="2427905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字符串反转</a:t>
            </a:r>
          </a:p>
        </p:txBody>
      </p:sp>
      <p:sp>
        <p:nvSpPr>
          <p:cNvPr id="5" name="矩形 4"/>
          <p:cNvSpPr/>
          <p:nvPr/>
        </p:nvSpPr>
        <p:spPr>
          <a:xfrm>
            <a:off x="1638358" y="3131207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将字符串s反转后输出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&gt;&gt;&gt; s[::-1]</a:t>
            </a:r>
          </a:p>
        </p:txBody>
      </p:sp>
      <p:sp>
        <p:nvSpPr>
          <p:cNvPr id="6" name="矩形 5"/>
          <p:cNvSpPr/>
          <p:nvPr/>
        </p:nvSpPr>
        <p:spPr>
          <a:xfrm>
            <a:off x="6096000" y="3159165"/>
            <a:ext cx="53993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def rvs(s):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   if s == "" :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       return s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   else :</a:t>
            </a: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       return rvs(s[1:])+s[0]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269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递归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55232" y="1318054"/>
            <a:ext cx="327205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递归实例解析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38358" y="2427905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斐波那契数列</a:t>
            </a:r>
          </a:p>
        </p:txBody>
      </p:sp>
      <p:sp>
        <p:nvSpPr>
          <p:cNvPr id="5" name="矩形 4"/>
          <p:cNvSpPr/>
          <p:nvPr/>
        </p:nvSpPr>
        <p:spPr>
          <a:xfrm>
            <a:off x="1638358" y="3131207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F(n) = F(n-1) + F(n-2)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96000" y="3159165"/>
            <a:ext cx="53993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</a:rPr>
              <a:t>def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fibs(n):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   if n == 0 or n == 1 :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       return 1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   else :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       return fibs(n-1) + fibs(n-2)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0978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递归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55232" y="1318054"/>
            <a:ext cx="327205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递归实例解析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38358" y="2427905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二分查找</a:t>
            </a:r>
          </a:p>
        </p:txBody>
      </p:sp>
      <p:sp>
        <p:nvSpPr>
          <p:cNvPr id="5" name="矩形 4"/>
          <p:cNvSpPr/>
          <p:nvPr/>
        </p:nvSpPr>
        <p:spPr>
          <a:xfrm>
            <a:off x="763794" y="3159983"/>
            <a:ext cx="430524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1.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如果序列索引最大值与最小值相等，判断是否为要查找的数值。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2.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如果上下限不同，判断数值在上下限平均值的哪一侧，再做查找。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069036" y="3159983"/>
            <a:ext cx="6593989" cy="34328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457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递归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4" y="1236233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函数式编程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65310" y="2321112"/>
            <a:ext cx="1045189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函数式编程（英语：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functional programming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）或称函数程序设计，又称泛函编程，是一种编程范型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它将电脑运算视为数学上的函数计算，并且避免使用程序状态以及易变对象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函数编程语言最重要的基础是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λ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演算，而且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λ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演算的函数可以接受函数当作输入（引数）和输出（传出值）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204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递归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4" y="1236233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函数式编程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1443" y="2456480"/>
            <a:ext cx="98796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函数式编程关心数据的映射，命令式编程关心解决问题的步骤</a:t>
            </a:r>
          </a:p>
        </p:txBody>
      </p:sp>
      <p:sp>
        <p:nvSpPr>
          <p:cNvPr id="2" name="矩形 1"/>
          <p:cNvSpPr/>
          <p:nvPr/>
        </p:nvSpPr>
        <p:spPr>
          <a:xfrm>
            <a:off x="1151443" y="3420888"/>
            <a:ext cx="98796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函数式编程是一种编程模型，他将计算机运算看做是数学中函数的计算，并且避免了状态以及变量的概念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62721" y="5034647"/>
            <a:ext cx="96570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http://www.ruanyifeng.com/blog/2012/04/functional_programming.html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0050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递归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4" y="1236233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函数式编程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07822" y="2456480"/>
            <a:ext cx="77668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Python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提供了一些有助于进行函数式编程的函数</a:t>
            </a:r>
          </a:p>
        </p:txBody>
      </p:sp>
      <p:sp>
        <p:nvSpPr>
          <p:cNvPr id="2" name="矩形 1"/>
          <p:cNvSpPr/>
          <p:nvPr/>
        </p:nvSpPr>
        <p:spPr>
          <a:xfrm>
            <a:off x="3845657" y="3541359"/>
            <a:ext cx="49064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map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filter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reduce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392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递归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4" y="1236233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函数式编程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1443" y="2272414"/>
            <a:ext cx="8851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map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51443" y="3001749"/>
            <a:ext cx="98796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map()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函数语法：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map(function, 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iterable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, ...)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51443" y="4283487"/>
            <a:ext cx="8930532" cy="11669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5258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递归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4" y="1236233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函数式编程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1443" y="2272414"/>
            <a:ext cx="864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filter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51443" y="3001749"/>
            <a:ext cx="98796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filter()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函数语法：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 filter(function, 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iterable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)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67014" y="3702134"/>
            <a:ext cx="6890999" cy="161858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282248" y="5602114"/>
            <a:ext cx="21804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[1, 3, 5, 7, 9]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008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2318" y="230819"/>
            <a:ext cx="11037878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baseline="0">
                <a:solidFill>
                  <a:schemeClr val="bg1"/>
                </a:solidFill>
                <a:effectLst/>
                <a:latin typeface="Arial" pitchFamily="34" charset="0"/>
                <a:ea typeface="黑体" pitchFamily="49" charset="-122"/>
                <a:cs typeface="+mj-cs"/>
              </a:defRPr>
            </a:lvl1pPr>
          </a:lstStyle>
          <a:p>
            <a:pPr algn="just"/>
            <a:r>
              <a:rPr lang="zh-CN" altLang="en-US" dirty="0">
                <a:latin typeface="+mj-lt"/>
                <a:ea typeface="+mj-ea"/>
              </a:rPr>
              <a:t>递归</a:t>
            </a:r>
            <a:endParaRPr lang="en-US" altLang="zh-CN" dirty="0">
              <a:latin typeface="+mj-lt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12514" y="1236233"/>
            <a:ext cx="2757486" cy="779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函数式编程</a:t>
            </a:r>
            <a:endParaRPr lang="en-US" altLang="zh-CN" sz="4000" b="1" dirty="0">
              <a:solidFill>
                <a:schemeClr val="tx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20519" y="2015292"/>
            <a:ext cx="12859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reduce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51443" y="2645576"/>
            <a:ext cx="987962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reduce ()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函数语法：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Verdana" panose="020B0604030504040204" pitchFamily="34" charset="0"/>
            </a:endParaRP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 </a:t>
            </a:r>
          </a:p>
          <a:p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reduce(function, 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iterable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</a:rPr>
              <a:t>[, initializer])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324293" y="4137635"/>
            <a:ext cx="6167955" cy="23766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275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+mj-lt"/>
                <a:ea typeface="+mj-ea"/>
              </a:rPr>
              <a:t>谢谢</a:t>
            </a:r>
            <a:br>
              <a:rPr lang="zh-CN" altLang="en-US">
                <a:solidFill>
                  <a:srgbClr val="FFFFFF"/>
                </a:solidFill>
                <a:latin typeface="+mj-lt"/>
                <a:ea typeface="+mj-ea"/>
              </a:rPr>
            </a:br>
            <a:r>
              <a:rPr lang="zh-CN" altLang="en-US">
                <a:solidFill>
                  <a:srgbClr val="FFFFFF"/>
                </a:solidFill>
                <a:latin typeface="+mj-lt"/>
                <a:ea typeface="+mj-ea"/>
              </a:rPr>
              <a:t>大家</a:t>
            </a: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092127"/>
  <p:tag name="MH_LIBRARY" val="GRAPHIC"/>
  <p:tag name="MH_ORDER" val="Freeform 3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092127"/>
  <p:tag name="MH_LIBRARY" val="GRAPHIC"/>
  <p:tag name="MH_ORDER" val="Freeform 3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092127"/>
  <p:tag name="MH_LIBRARY" val="GRAPHIC"/>
  <p:tag name="MH_ORDER" val="Freeform 3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092127"/>
  <p:tag name="MH_LIBRARY" val="GRAPHIC"/>
  <p:tag name="MH_ORDER" val="Freeform 3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80313"/>
  <p:tag name="MH_LIBRARY" val="CONTENTS"/>
  <p:tag name="MH_TYPE" val="OTHERS"/>
  <p:tag name="ID" val="54712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80313"/>
  <p:tag name="MH_LIBRARY" val="CONTENTS"/>
  <p:tag name="MH_TYPE" val="NUMBER"/>
  <p:tag name="ID" val="547126"/>
  <p:tag name="MH_ORDER" val="NUMB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LiuChBZh#"/>
  <p:tag name="MH_LAYOUT" val="SubTitle"/>
  <p:tag name="MH" val="20150924172147"/>
  <p:tag name="MH_LIBRARY" val="GRAPHIC"/>
  <p:tag name="KSO_WM_TEMPLATE_CATEGORY" val="custom"/>
  <p:tag name="KSO_WM_TEMPLATE_INDEX" val="160107"/>
  <p:tag name="KSO_WM_TAG_VERSION" val="1.0"/>
  <p:tag name="KSO_WM_SLIDE_ID" val="custom160107_13"/>
  <p:tag name="KSO_WM_SLIDE_INDEX" val="13"/>
  <p:tag name="KSO_WM_SLIDE_ITEM_CNT" val="1"/>
  <p:tag name="KSO_WM_SLIDE_LAYOUT" val="a_m"/>
  <p:tag name="KSO_WM_SLIDE_LAYOUT_CNT" val="1_1"/>
  <p:tag name="KSO_WM_SLIDE_TYPE" val="text"/>
  <p:tag name="KSO_WM_BEAUTIFY_FLAG" val="#wm#"/>
  <p:tag name="KSO_WM_SLIDE_POSITION" val="371*202"/>
  <p:tag name="KSO_WM_SLIDE_SIZE" val="216*130"/>
  <p:tag name="KSO_WM_DIAGRAM_GROUP_CODE" val="m1-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MH" val="20150924172147"/>
  <p:tag name="MH_LIBRARY" val="GRAPHIC"/>
  <p:tag name="MH_TYPE" val="PageTitle"/>
  <p:tag name="MH_ORDER" val="PageTitle"/>
  <p:tag name="KSO_WM_UNIT_TYPE" val="a"/>
  <p:tag name="KSO_WM_UNIT_INDEX" val="1"/>
  <p:tag name="KSO_WM_UNIT_ID" val="custom160107_13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092127"/>
  <p:tag name="MH_LIBRARY" val="GRAPHIC"/>
  <p:tag name="KSO_WM_TEMPLATE_CATEGORY" val="custom"/>
  <p:tag name="KSO_WM_TEMPLATE_INDEX" val="160107"/>
  <p:tag name="KSO_WM_TAG_VERSION" val="1.0"/>
  <p:tag name="KSO_WM_SLIDE_ID" val="custom160107_29"/>
  <p:tag name="KSO_WM_SLIDE_INDEX" val="29"/>
  <p:tag name="KSO_WM_SLIDE_ITEM_CNT" val="2"/>
  <p:tag name="KSO_WM_SLIDE_LAYOUT" val="a_b"/>
  <p:tag name="KSO_WM_SLIDE_LAYOUT_CNT" val="1_1"/>
  <p:tag name="KSO_WM_SLIDE_TYPE" val="endPage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07"/>
  <p:tag name="KSO_WM_UNIT_TYPE" val="a"/>
  <p:tag name="KSO_WM_UNIT_INDEX" val="1"/>
  <p:tag name="KSO_WM_UNIT_ID" val="custom160107_30*a*1"/>
  <p:tag name="KSO_WM_UNIT_CLEAR" val="1"/>
  <p:tag name="KSO_WM_UNIT_LAYERLEVEL" val="1"/>
  <p:tag name="KSO_WM_UNIT_VALUE" val="4"/>
  <p:tag name="KSO_WM_UNIT_ISCONTENTSTITLE" val="0"/>
  <p:tag name="KSO_WM_UNIT_HIGHLIGHT" val="0"/>
  <p:tag name="KSO_WM_UNIT_COMPATIBLE" val="0"/>
  <p:tag name="KSO_WM_UNIT_PRESET_TEXT" val="谢谢_x000B_大家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11565</TotalTime>
  <Words>1779</Words>
  <Application>Microsoft Office PowerPoint</Application>
  <PresentationFormat>宽屏</PresentationFormat>
  <Paragraphs>312</Paragraphs>
  <Slides>50</Slides>
  <Notes>50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9" baseType="lpstr">
      <vt:lpstr>宋体</vt:lpstr>
      <vt:lpstr>Arial</vt:lpstr>
      <vt:lpstr>Calibri</vt:lpstr>
      <vt:lpstr>Franklin Gothic Book</vt:lpstr>
      <vt:lpstr>Franklin Gothic Medium</vt:lpstr>
      <vt:lpstr>Verdana</vt:lpstr>
      <vt:lpstr>Wingdings</vt:lpstr>
      <vt:lpstr>Wingdings 2</vt:lpstr>
      <vt:lpstr>跋涉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 大家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Mengqi Xue</cp:lastModifiedBy>
  <cp:revision>535</cp:revision>
  <dcterms:created xsi:type="dcterms:W3CDTF">2015-09-21T02:28:00Z</dcterms:created>
  <dcterms:modified xsi:type="dcterms:W3CDTF">2025-12-29T12:23:00Z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2052-10.1.0.5420</vt:lpwstr>
  </property>
</Properties>
</file>