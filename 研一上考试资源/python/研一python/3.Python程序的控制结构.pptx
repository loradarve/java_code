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2.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notesSlides/notesSlide3.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notesSlides/notesSlide4.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5.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notesSlides/notesSlide6.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7.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notesSlides/notesSlide8.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9.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notesSlides/notesSlide10.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notesSlides/notesSlide11.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notesSlides/notesSlide12.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notesSlides/notesSlide13.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notesSlides/notesSlide14.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notesSlides/notesSlide15.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notesSlides/notesSlide16.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notesSlides/notesSlide17.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notesSlides/notesSlide18.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notesSlides/notesSlide19.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notesSlides/notesSlide20.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notesSlides/notesSlide21.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notesSlides/notesSlide22.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notesSlides/notesSlide23.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notesSlides/notesSlide24.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notesSlides/notesSlide25.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notesSlides/notesSlide26.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notesSlides/notesSlide27.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notesSlides/notesSlide28.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notesSlides/notesSlide29.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notesSlides/notesSlide30.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notesSlides/notesSlide31.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notesSlides/notesSlide32.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notesSlides/notesSlide33.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notesSlides/notesSlide34.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notesSlides/notesSlide35.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notesSlides/notesSlide36.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notesSlides/notesSlide37.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notesSlides/notesSlide38.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notesSlides/notesSlide39.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notesSlides/notesSlide40.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notesSlides/notesSlide41.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notesSlides/notesSlide42.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notesSlides/notesSlide43.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notesSlides/notesSlide44.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notesSlides/notesSlide45.xml" ContentType="application/vnd.openxmlformats-officedocument.presentationml.notesSlide+xml"/>
  <Override PartName="/ppt/tags/tag101.xml" ContentType="application/vnd.openxmlformats-officedocument.presentationml.tags+xml"/>
  <Override PartName="/ppt/tags/tag102.xml" ContentType="application/vnd.openxmlformats-officedocument.presentationml.tags+xml"/>
  <Override PartName="/ppt/notesSlides/notesSlide46.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notesSlides/notesSlide47.xml" ContentType="application/vnd.openxmlformats-officedocument.presentationml.notesSlide+xml"/>
  <Override PartName="/ppt/tags/tag105.xml" ContentType="application/vnd.openxmlformats-officedocument.presentationml.tags+xml"/>
  <Override PartName="/ppt/tags/tag106.xml" ContentType="application/vnd.openxmlformats-officedocument.presentationml.tags+xml"/>
  <Override PartName="/ppt/notesSlides/notesSlide48.xml" ContentType="application/vnd.openxmlformats-officedocument.presentationml.notesSlide+xml"/>
  <Override PartName="/ppt/tags/tag107.xml" ContentType="application/vnd.openxmlformats-officedocument.presentationml.tags+xml"/>
  <Override PartName="/ppt/tags/tag108.xml" ContentType="application/vnd.openxmlformats-officedocument.presentationml.tags+xml"/>
  <Override PartName="/ppt/notesSlides/notesSlide49.xml" ContentType="application/vnd.openxmlformats-officedocument.presentationml.notesSlide+xml"/>
  <Override PartName="/ppt/tags/tag109.xml" ContentType="application/vnd.openxmlformats-officedocument.presentationml.tags+xml"/>
  <Override PartName="/ppt/tags/tag110.xml" ContentType="application/vnd.openxmlformats-officedocument.presentationml.tags+xml"/>
  <Override PartName="/ppt/notesSlides/notesSlide50.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notesSlides/notesSlide51.xml" ContentType="application/vnd.openxmlformats-officedocument.presentationml.notesSlide+xml"/>
  <Override PartName="/ppt/tags/tag113.xml" ContentType="application/vnd.openxmlformats-officedocument.presentationml.tags+xml"/>
  <Override PartName="/ppt/tags/tag114.xml" ContentType="application/vnd.openxmlformats-officedocument.presentationml.tags+xml"/>
  <Override PartName="/ppt/notesSlides/notesSlide52.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notesSlides/notesSlide53.xml" ContentType="application/vnd.openxmlformats-officedocument.presentationml.notesSlide+xml"/>
  <Override PartName="/ppt/tags/tag117.xml" ContentType="application/vnd.openxmlformats-officedocument.presentationml.tags+xml"/>
  <Override PartName="/ppt/tags/tag118.xml" ContentType="application/vnd.openxmlformats-officedocument.presentationml.tags+xml"/>
  <Override PartName="/ppt/notesSlides/notesSlide54.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notesSlides/notesSlide55.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notesSlides/notesSlide56.xml" ContentType="application/vnd.openxmlformats-officedocument.presentationml.notesSlide+xml"/>
  <Override PartName="/ppt/tags/tag123.xml" ContentType="application/vnd.openxmlformats-officedocument.presentationml.tags+xml"/>
  <Override PartName="/ppt/tags/tag124.xml" ContentType="application/vnd.openxmlformats-officedocument.presentationml.tags+xml"/>
  <Override PartName="/ppt/notesSlides/notesSlide57.xml" ContentType="application/vnd.openxmlformats-officedocument.presentationml.notesSlide+xml"/>
  <Override PartName="/ppt/tags/tag125.xml" ContentType="application/vnd.openxmlformats-officedocument.presentationml.tags+xml"/>
  <Override PartName="/ppt/tags/tag126.xml" ContentType="application/vnd.openxmlformats-officedocument.presentationml.tags+xml"/>
  <Override PartName="/ppt/notesSlides/notesSlide58.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notesSlides/notesSlide59.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notesSlides/notesSlide60.xml" ContentType="application/vnd.openxmlformats-officedocument.presentationml.notesSlide+xml"/>
  <Override PartName="/ppt/tags/tag131.xml" ContentType="application/vnd.openxmlformats-officedocument.presentationml.tags+xml"/>
  <Override PartName="/ppt/tags/tag132.xml" ContentType="application/vnd.openxmlformats-officedocument.presentationml.tags+xml"/>
  <Override PartName="/ppt/notesSlides/notesSlide61.xml" ContentType="application/vnd.openxmlformats-officedocument.presentationml.notesSlide+xml"/>
  <Override PartName="/ppt/tags/tag133.xml" ContentType="application/vnd.openxmlformats-officedocument.presentationml.tags+xml"/>
  <Override PartName="/ppt/tags/tag134.xml" ContentType="application/vnd.openxmlformats-officedocument.presentationml.tags+xml"/>
  <Override PartName="/ppt/notesSlides/notesSlide62.xml" ContentType="application/vnd.openxmlformats-officedocument.presentationml.notesSlide+xml"/>
  <Override PartName="/ppt/tags/tag135.xml" ContentType="application/vnd.openxmlformats-officedocument.presentationml.tags+xml"/>
  <Override PartName="/ppt/tags/tag136.xml" ContentType="application/vnd.openxmlformats-officedocument.presentationml.tags+xml"/>
  <Override PartName="/ppt/notesSlides/notesSlide63.xml" ContentType="application/vnd.openxmlformats-officedocument.presentationml.notesSlide+xml"/>
  <Override PartName="/ppt/tags/tag137.xml" ContentType="application/vnd.openxmlformats-officedocument.presentationml.tags+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66"/>
  </p:notesMasterIdLst>
  <p:sldIdLst>
    <p:sldId id="264" r:id="rId2"/>
    <p:sldId id="286" r:id="rId3"/>
    <p:sldId id="287" r:id="rId4"/>
    <p:sldId id="296" r:id="rId5"/>
    <p:sldId id="297" r:id="rId6"/>
    <p:sldId id="298" r:id="rId7"/>
    <p:sldId id="300" r:id="rId8"/>
    <p:sldId id="301" r:id="rId9"/>
    <p:sldId id="302" r:id="rId10"/>
    <p:sldId id="303" r:id="rId11"/>
    <p:sldId id="304" r:id="rId12"/>
    <p:sldId id="305" r:id="rId13"/>
    <p:sldId id="306" r:id="rId14"/>
    <p:sldId id="307" r:id="rId15"/>
    <p:sldId id="308" r:id="rId16"/>
    <p:sldId id="309" r:id="rId17"/>
    <p:sldId id="310" r:id="rId18"/>
    <p:sldId id="311" r:id="rId19"/>
    <p:sldId id="312" r:id="rId20"/>
    <p:sldId id="313" r:id="rId21"/>
    <p:sldId id="314" r:id="rId22"/>
    <p:sldId id="315" r:id="rId23"/>
    <p:sldId id="316" r:id="rId24"/>
    <p:sldId id="317" r:id="rId25"/>
    <p:sldId id="318" r:id="rId26"/>
    <p:sldId id="319" r:id="rId27"/>
    <p:sldId id="320" r:id="rId28"/>
    <p:sldId id="322" r:id="rId29"/>
    <p:sldId id="323" r:id="rId30"/>
    <p:sldId id="324" r:id="rId31"/>
    <p:sldId id="325" r:id="rId32"/>
    <p:sldId id="328" r:id="rId33"/>
    <p:sldId id="326" r:id="rId34"/>
    <p:sldId id="327" r:id="rId35"/>
    <p:sldId id="329" r:id="rId36"/>
    <p:sldId id="330" r:id="rId37"/>
    <p:sldId id="331" r:id="rId38"/>
    <p:sldId id="332" r:id="rId39"/>
    <p:sldId id="339" r:id="rId40"/>
    <p:sldId id="338" r:id="rId41"/>
    <p:sldId id="337" r:id="rId42"/>
    <p:sldId id="340" r:id="rId43"/>
    <p:sldId id="341" r:id="rId44"/>
    <p:sldId id="342" r:id="rId45"/>
    <p:sldId id="343" r:id="rId46"/>
    <p:sldId id="344" r:id="rId47"/>
    <p:sldId id="345" r:id="rId48"/>
    <p:sldId id="346" r:id="rId49"/>
    <p:sldId id="347" r:id="rId50"/>
    <p:sldId id="348" r:id="rId51"/>
    <p:sldId id="350" r:id="rId52"/>
    <p:sldId id="351" r:id="rId53"/>
    <p:sldId id="352" r:id="rId54"/>
    <p:sldId id="353" r:id="rId55"/>
    <p:sldId id="354" r:id="rId56"/>
    <p:sldId id="355" r:id="rId57"/>
    <p:sldId id="356" r:id="rId58"/>
    <p:sldId id="357" r:id="rId59"/>
    <p:sldId id="349" r:id="rId60"/>
    <p:sldId id="358" r:id="rId61"/>
    <p:sldId id="359" r:id="rId62"/>
    <p:sldId id="360" r:id="rId63"/>
    <p:sldId id="361" r:id="rId64"/>
    <p:sldId id="280" r:id="rId6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4B4"/>
    <a:srgbClr val="4868A2"/>
    <a:srgbClr val="FFFFFF"/>
    <a:srgbClr val="D8E8F3"/>
    <a:srgbClr val="FBF9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97" autoAdjust="0"/>
    <p:restoredTop sz="94474" autoAdjust="0"/>
  </p:normalViewPr>
  <p:slideViewPr>
    <p:cSldViewPr snapToGrid="0">
      <p:cViewPr varScale="1">
        <p:scale>
          <a:sx n="97" d="100"/>
          <a:sy n="97" d="100"/>
        </p:scale>
        <p:origin x="92" y="224"/>
      </p:cViewPr>
      <p:guideLst>
        <p:guide orient="horz" pos="2160"/>
        <p:guide pos="3840"/>
      </p:guideLst>
    </p:cSldViewPr>
  </p:slideViewPr>
  <p:outlineViewPr>
    <p:cViewPr>
      <p:scale>
        <a:sx n="33" d="100"/>
        <a:sy n="33" d="100"/>
      </p:scale>
      <p:origin x="0" y="-78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0B2C0C-1FFB-426F-943D-49D393611648}" type="datetimeFigureOut">
              <a:rPr lang="zh-CN" altLang="en-US" smtClean="0"/>
              <a:pPr/>
              <a:t>2025/12/29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5769E8-19F7-47D4-AFC6-D17EEAD4A98C}" type="slidenum">
              <a:rPr lang="zh-CN" altLang="en-US" smtClean="0"/>
              <a:pPr/>
              <a:t>‹#›</a:t>
            </a:fld>
            <a:endParaRPr lang="zh-CN" altLang="en-US"/>
          </a:p>
        </p:txBody>
      </p:sp>
    </p:spTree>
    <p:extLst>
      <p:ext uri="{BB962C8B-B14F-4D97-AF65-F5344CB8AC3E}">
        <p14:creationId xmlns:p14="http://schemas.microsoft.com/office/powerpoint/2010/main" val="2187745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1</a:t>
            </a:fld>
            <a:endParaRPr lang="en-US" altLang="zh-CN"/>
          </a:p>
        </p:txBody>
      </p:sp>
    </p:spTree>
    <p:extLst>
      <p:ext uri="{BB962C8B-B14F-4D97-AF65-F5344CB8AC3E}">
        <p14:creationId xmlns:p14="http://schemas.microsoft.com/office/powerpoint/2010/main" val="3423719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2</a:t>
            </a:fld>
            <a:endParaRPr lang="en-US" altLang="zh-CN"/>
          </a:p>
        </p:txBody>
      </p:sp>
    </p:spTree>
    <p:extLst>
      <p:ext uri="{BB962C8B-B14F-4D97-AF65-F5344CB8AC3E}">
        <p14:creationId xmlns:p14="http://schemas.microsoft.com/office/powerpoint/2010/main" val="3641455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3</a:t>
            </a:fld>
            <a:endParaRPr lang="en-US" altLang="zh-CN"/>
          </a:p>
        </p:txBody>
      </p:sp>
    </p:spTree>
    <p:extLst>
      <p:ext uri="{BB962C8B-B14F-4D97-AF65-F5344CB8AC3E}">
        <p14:creationId xmlns:p14="http://schemas.microsoft.com/office/powerpoint/2010/main" val="1240673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4</a:t>
            </a:fld>
            <a:endParaRPr lang="en-US" altLang="zh-CN"/>
          </a:p>
        </p:txBody>
      </p:sp>
    </p:spTree>
    <p:extLst>
      <p:ext uri="{BB962C8B-B14F-4D97-AF65-F5344CB8AC3E}">
        <p14:creationId xmlns:p14="http://schemas.microsoft.com/office/powerpoint/2010/main" val="15790597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5</a:t>
            </a:fld>
            <a:endParaRPr lang="en-US" altLang="zh-CN"/>
          </a:p>
        </p:txBody>
      </p:sp>
    </p:spTree>
    <p:extLst>
      <p:ext uri="{BB962C8B-B14F-4D97-AF65-F5344CB8AC3E}">
        <p14:creationId xmlns:p14="http://schemas.microsoft.com/office/powerpoint/2010/main" val="7239254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6</a:t>
            </a:fld>
            <a:endParaRPr lang="en-US" altLang="zh-CN"/>
          </a:p>
        </p:txBody>
      </p:sp>
    </p:spTree>
    <p:extLst>
      <p:ext uri="{BB962C8B-B14F-4D97-AF65-F5344CB8AC3E}">
        <p14:creationId xmlns:p14="http://schemas.microsoft.com/office/powerpoint/2010/main" val="4020643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7</a:t>
            </a:fld>
            <a:endParaRPr lang="en-US" altLang="zh-CN"/>
          </a:p>
        </p:txBody>
      </p:sp>
    </p:spTree>
    <p:extLst>
      <p:ext uri="{BB962C8B-B14F-4D97-AF65-F5344CB8AC3E}">
        <p14:creationId xmlns:p14="http://schemas.microsoft.com/office/powerpoint/2010/main" val="10835664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8</a:t>
            </a:fld>
            <a:endParaRPr lang="en-US" altLang="zh-CN"/>
          </a:p>
        </p:txBody>
      </p:sp>
    </p:spTree>
    <p:extLst>
      <p:ext uri="{BB962C8B-B14F-4D97-AF65-F5344CB8AC3E}">
        <p14:creationId xmlns:p14="http://schemas.microsoft.com/office/powerpoint/2010/main" val="4020234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9</a:t>
            </a:fld>
            <a:endParaRPr lang="en-US" altLang="zh-CN"/>
          </a:p>
        </p:txBody>
      </p:sp>
    </p:spTree>
    <p:extLst>
      <p:ext uri="{BB962C8B-B14F-4D97-AF65-F5344CB8AC3E}">
        <p14:creationId xmlns:p14="http://schemas.microsoft.com/office/powerpoint/2010/main" val="15179774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10</a:t>
            </a:fld>
            <a:endParaRPr lang="en-US" altLang="zh-CN"/>
          </a:p>
        </p:txBody>
      </p:sp>
    </p:spTree>
    <p:extLst>
      <p:ext uri="{BB962C8B-B14F-4D97-AF65-F5344CB8AC3E}">
        <p14:creationId xmlns:p14="http://schemas.microsoft.com/office/powerpoint/2010/main" val="34356876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11</a:t>
            </a:fld>
            <a:endParaRPr lang="en-US" altLang="zh-CN"/>
          </a:p>
        </p:txBody>
      </p:sp>
    </p:spTree>
    <p:extLst>
      <p:ext uri="{BB962C8B-B14F-4D97-AF65-F5344CB8AC3E}">
        <p14:creationId xmlns:p14="http://schemas.microsoft.com/office/powerpoint/2010/main" val="4536237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12</a:t>
            </a:fld>
            <a:endParaRPr lang="en-US" altLang="zh-CN"/>
          </a:p>
        </p:txBody>
      </p:sp>
    </p:spTree>
    <p:extLst>
      <p:ext uri="{BB962C8B-B14F-4D97-AF65-F5344CB8AC3E}">
        <p14:creationId xmlns:p14="http://schemas.microsoft.com/office/powerpoint/2010/main" val="20227892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13</a:t>
            </a:fld>
            <a:endParaRPr lang="en-US" altLang="zh-CN"/>
          </a:p>
        </p:txBody>
      </p:sp>
    </p:spTree>
    <p:extLst>
      <p:ext uri="{BB962C8B-B14F-4D97-AF65-F5344CB8AC3E}">
        <p14:creationId xmlns:p14="http://schemas.microsoft.com/office/powerpoint/2010/main" val="11521350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14</a:t>
            </a:fld>
            <a:endParaRPr lang="en-US" altLang="zh-CN"/>
          </a:p>
        </p:txBody>
      </p:sp>
    </p:spTree>
    <p:extLst>
      <p:ext uri="{BB962C8B-B14F-4D97-AF65-F5344CB8AC3E}">
        <p14:creationId xmlns:p14="http://schemas.microsoft.com/office/powerpoint/2010/main" val="8923683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15</a:t>
            </a:fld>
            <a:endParaRPr lang="en-US" altLang="zh-CN"/>
          </a:p>
        </p:txBody>
      </p:sp>
    </p:spTree>
    <p:extLst>
      <p:ext uri="{BB962C8B-B14F-4D97-AF65-F5344CB8AC3E}">
        <p14:creationId xmlns:p14="http://schemas.microsoft.com/office/powerpoint/2010/main" val="20421563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16</a:t>
            </a:fld>
            <a:endParaRPr lang="en-US" altLang="zh-CN"/>
          </a:p>
        </p:txBody>
      </p:sp>
    </p:spTree>
    <p:extLst>
      <p:ext uri="{BB962C8B-B14F-4D97-AF65-F5344CB8AC3E}">
        <p14:creationId xmlns:p14="http://schemas.microsoft.com/office/powerpoint/2010/main" val="11396053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17</a:t>
            </a:fld>
            <a:endParaRPr lang="en-US" altLang="zh-CN"/>
          </a:p>
        </p:txBody>
      </p:sp>
    </p:spTree>
    <p:extLst>
      <p:ext uri="{BB962C8B-B14F-4D97-AF65-F5344CB8AC3E}">
        <p14:creationId xmlns:p14="http://schemas.microsoft.com/office/powerpoint/2010/main" val="11000053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18</a:t>
            </a:fld>
            <a:endParaRPr lang="en-US" altLang="zh-CN"/>
          </a:p>
        </p:txBody>
      </p:sp>
    </p:spTree>
    <p:extLst>
      <p:ext uri="{BB962C8B-B14F-4D97-AF65-F5344CB8AC3E}">
        <p14:creationId xmlns:p14="http://schemas.microsoft.com/office/powerpoint/2010/main" val="18676132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19</a:t>
            </a:fld>
            <a:endParaRPr lang="en-US" altLang="zh-CN"/>
          </a:p>
        </p:txBody>
      </p:sp>
    </p:spTree>
    <p:extLst>
      <p:ext uri="{BB962C8B-B14F-4D97-AF65-F5344CB8AC3E}">
        <p14:creationId xmlns:p14="http://schemas.microsoft.com/office/powerpoint/2010/main" val="18827755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20</a:t>
            </a:fld>
            <a:endParaRPr lang="en-US" altLang="zh-CN"/>
          </a:p>
        </p:txBody>
      </p:sp>
    </p:spTree>
    <p:extLst>
      <p:ext uri="{BB962C8B-B14F-4D97-AF65-F5344CB8AC3E}">
        <p14:creationId xmlns:p14="http://schemas.microsoft.com/office/powerpoint/2010/main" val="7833061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21</a:t>
            </a:fld>
            <a:endParaRPr lang="en-US" altLang="zh-CN"/>
          </a:p>
        </p:txBody>
      </p:sp>
    </p:spTree>
    <p:extLst>
      <p:ext uri="{BB962C8B-B14F-4D97-AF65-F5344CB8AC3E}">
        <p14:creationId xmlns:p14="http://schemas.microsoft.com/office/powerpoint/2010/main" val="35975503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22</a:t>
            </a:fld>
            <a:endParaRPr lang="en-US" altLang="zh-CN"/>
          </a:p>
        </p:txBody>
      </p:sp>
    </p:spTree>
    <p:extLst>
      <p:ext uri="{BB962C8B-B14F-4D97-AF65-F5344CB8AC3E}">
        <p14:creationId xmlns:p14="http://schemas.microsoft.com/office/powerpoint/2010/main" val="14471833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23</a:t>
            </a:fld>
            <a:endParaRPr lang="en-US" altLang="zh-CN"/>
          </a:p>
        </p:txBody>
      </p:sp>
    </p:spTree>
    <p:extLst>
      <p:ext uri="{BB962C8B-B14F-4D97-AF65-F5344CB8AC3E}">
        <p14:creationId xmlns:p14="http://schemas.microsoft.com/office/powerpoint/2010/main" val="15731949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24</a:t>
            </a:fld>
            <a:endParaRPr lang="en-US" altLang="zh-CN"/>
          </a:p>
        </p:txBody>
      </p:sp>
    </p:spTree>
    <p:extLst>
      <p:ext uri="{BB962C8B-B14F-4D97-AF65-F5344CB8AC3E}">
        <p14:creationId xmlns:p14="http://schemas.microsoft.com/office/powerpoint/2010/main" val="1109500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25</a:t>
            </a:fld>
            <a:endParaRPr lang="en-US" altLang="zh-CN"/>
          </a:p>
        </p:txBody>
      </p:sp>
    </p:spTree>
    <p:extLst>
      <p:ext uri="{BB962C8B-B14F-4D97-AF65-F5344CB8AC3E}">
        <p14:creationId xmlns:p14="http://schemas.microsoft.com/office/powerpoint/2010/main" val="37467087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26</a:t>
            </a:fld>
            <a:endParaRPr lang="en-US" altLang="zh-CN"/>
          </a:p>
        </p:txBody>
      </p:sp>
    </p:spTree>
    <p:extLst>
      <p:ext uri="{BB962C8B-B14F-4D97-AF65-F5344CB8AC3E}">
        <p14:creationId xmlns:p14="http://schemas.microsoft.com/office/powerpoint/2010/main" val="31311793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27</a:t>
            </a:fld>
            <a:endParaRPr lang="en-US" altLang="zh-CN"/>
          </a:p>
        </p:txBody>
      </p:sp>
    </p:spTree>
    <p:extLst>
      <p:ext uri="{BB962C8B-B14F-4D97-AF65-F5344CB8AC3E}">
        <p14:creationId xmlns:p14="http://schemas.microsoft.com/office/powerpoint/2010/main" val="15466488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28</a:t>
            </a:fld>
            <a:endParaRPr lang="en-US" altLang="zh-CN"/>
          </a:p>
        </p:txBody>
      </p:sp>
    </p:spTree>
    <p:extLst>
      <p:ext uri="{BB962C8B-B14F-4D97-AF65-F5344CB8AC3E}">
        <p14:creationId xmlns:p14="http://schemas.microsoft.com/office/powerpoint/2010/main" val="17980818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29</a:t>
            </a:fld>
            <a:endParaRPr lang="en-US" altLang="zh-CN"/>
          </a:p>
        </p:txBody>
      </p:sp>
    </p:spTree>
    <p:extLst>
      <p:ext uri="{BB962C8B-B14F-4D97-AF65-F5344CB8AC3E}">
        <p14:creationId xmlns:p14="http://schemas.microsoft.com/office/powerpoint/2010/main" val="34587028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30</a:t>
            </a:fld>
            <a:endParaRPr lang="en-US" altLang="zh-CN"/>
          </a:p>
        </p:txBody>
      </p:sp>
    </p:spTree>
    <p:extLst>
      <p:ext uri="{BB962C8B-B14F-4D97-AF65-F5344CB8AC3E}">
        <p14:creationId xmlns:p14="http://schemas.microsoft.com/office/powerpoint/2010/main" val="21199192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31</a:t>
            </a:fld>
            <a:endParaRPr lang="en-US" altLang="zh-CN"/>
          </a:p>
        </p:txBody>
      </p:sp>
    </p:spTree>
    <p:extLst>
      <p:ext uri="{BB962C8B-B14F-4D97-AF65-F5344CB8AC3E}">
        <p14:creationId xmlns:p14="http://schemas.microsoft.com/office/powerpoint/2010/main" val="10890376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32</a:t>
            </a:fld>
            <a:endParaRPr lang="en-US" altLang="zh-CN"/>
          </a:p>
        </p:txBody>
      </p:sp>
    </p:spTree>
    <p:extLst>
      <p:ext uri="{BB962C8B-B14F-4D97-AF65-F5344CB8AC3E}">
        <p14:creationId xmlns:p14="http://schemas.microsoft.com/office/powerpoint/2010/main" val="27452963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33</a:t>
            </a:fld>
            <a:endParaRPr lang="en-US" altLang="zh-CN"/>
          </a:p>
        </p:txBody>
      </p:sp>
    </p:spTree>
    <p:extLst>
      <p:ext uri="{BB962C8B-B14F-4D97-AF65-F5344CB8AC3E}">
        <p14:creationId xmlns:p14="http://schemas.microsoft.com/office/powerpoint/2010/main" val="3576377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34</a:t>
            </a:fld>
            <a:endParaRPr lang="en-US" altLang="zh-CN"/>
          </a:p>
        </p:txBody>
      </p:sp>
    </p:spTree>
    <p:extLst>
      <p:ext uri="{BB962C8B-B14F-4D97-AF65-F5344CB8AC3E}">
        <p14:creationId xmlns:p14="http://schemas.microsoft.com/office/powerpoint/2010/main" val="26915433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35</a:t>
            </a:fld>
            <a:endParaRPr lang="en-US" altLang="zh-CN"/>
          </a:p>
        </p:txBody>
      </p:sp>
    </p:spTree>
    <p:extLst>
      <p:ext uri="{BB962C8B-B14F-4D97-AF65-F5344CB8AC3E}">
        <p14:creationId xmlns:p14="http://schemas.microsoft.com/office/powerpoint/2010/main" val="38670277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36</a:t>
            </a:fld>
            <a:endParaRPr lang="en-US" altLang="zh-CN"/>
          </a:p>
        </p:txBody>
      </p:sp>
    </p:spTree>
    <p:extLst>
      <p:ext uri="{BB962C8B-B14F-4D97-AF65-F5344CB8AC3E}">
        <p14:creationId xmlns:p14="http://schemas.microsoft.com/office/powerpoint/2010/main" val="41011791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37</a:t>
            </a:fld>
            <a:endParaRPr lang="en-US" altLang="zh-CN"/>
          </a:p>
        </p:txBody>
      </p:sp>
    </p:spTree>
    <p:extLst>
      <p:ext uri="{BB962C8B-B14F-4D97-AF65-F5344CB8AC3E}">
        <p14:creationId xmlns:p14="http://schemas.microsoft.com/office/powerpoint/2010/main" val="5026685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38</a:t>
            </a:fld>
            <a:endParaRPr lang="en-US" altLang="zh-CN"/>
          </a:p>
        </p:txBody>
      </p:sp>
    </p:spTree>
    <p:extLst>
      <p:ext uri="{BB962C8B-B14F-4D97-AF65-F5344CB8AC3E}">
        <p14:creationId xmlns:p14="http://schemas.microsoft.com/office/powerpoint/2010/main" val="38277333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39</a:t>
            </a:fld>
            <a:endParaRPr lang="en-US" altLang="zh-CN"/>
          </a:p>
        </p:txBody>
      </p:sp>
    </p:spTree>
    <p:extLst>
      <p:ext uri="{BB962C8B-B14F-4D97-AF65-F5344CB8AC3E}">
        <p14:creationId xmlns:p14="http://schemas.microsoft.com/office/powerpoint/2010/main" val="7066858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40</a:t>
            </a:fld>
            <a:endParaRPr lang="en-US" altLang="zh-CN"/>
          </a:p>
        </p:txBody>
      </p:sp>
    </p:spTree>
    <p:extLst>
      <p:ext uri="{BB962C8B-B14F-4D97-AF65-F5344CB8AC3E}">
        <p14:creationId xmlns:p14="http://schemas.microsoft.com/office/powerpoint/2010/main" val="39251915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41</a:t>
            </a:fld>
            <a:endParaRPr lang="en-US" altLang="zh-CN"/>
          </a:p>
        </p:txBody>
      </p:sp>
    </p:spTree>
    <p:extLst>
      <p:ext uri="{BB962C8B-B14F-4D97-AF65-F5344CB8AC3E}">
        <p14:creationId xmlns:p14="http://schemas.microsoft.com/office/powerpoint/2010/main" val="16209977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42</a:t>
            </a:fld>
            <a:endParaRPr lang="en-US" altLang="zh-CN"/>
          </a:p>
        </p:txBody>
      </p:sp>
    </p:spTree>
    <p:extLst>
      <p:ext uri="{BB962C8B-B14F-4D97-AF65-F5344CB8AC3E}">
        <p14:creationId xmlns:p14="http://schemas.microsoft.com/office/powerpoint/2010/main" val="21337495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43</a:t>
            </a:fld>
            <a:endParaRPr lang="en-US" altLang="zh-CN"/>
          </a:p>
        </p:txBody>
      </p:sp>
    </p:spTree>
    <p:extLst>
      <p:ext uri="{BB962C8B-B14F-4D97-AF65-F5344CB8AC3E}">
        <p14:creationId xmlns:p14="http://schemas.microsoft.com/office/powerpoint/2010/main" val="47403347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44</a:t>
            </a:fld>
            <a:endParaRPr lang="en-US" altLang="zh-CN"/>
          </a:p>
        </p:txBody>
      </p:sp>
    </p:spTree>
    <p:extLst>
      <p:ext uri="{BB962C8B-B14F-4D97-AF65-F5344CB8AC3E}">
        <p14:creationId xmlns:p14="http://schemas.microsoft.com/office/powerpoint/2010/main" val="30223195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45</a:t>
            </a:fld>
            <a:endParaRPr lang="en-US" altLang="zh-CN"/>
          </a:p>
        </p:txBody>
      </p:sp>
    </p:spTree>
    <p:extLst>
      <p:ext uri="{BB962C8B-B14F-4D97-AF65-F5344CB8AC3E}">
        <p14:creationId xmlns:p14="http://schemas.microsoft.com/office/powerpoint/2010/main" val="128048260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46</a:t>
            </a:fld>
            <a:endParaRPr lang="en-US" altLang="zh-CN"/>
          </a:p>
        </p:txBody>
      </p:sp>
    </p:spTree>
    <p:extLst>
      <p:ext uri="{BB962C8B-B14F-4D97-AF65-F5344CB8AC3E}">
        <p14:creationId xmlns:p14="http://schemas.microsoft.com/office/powerpoint/2010/main" val="39133535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47</a:t>
            </a:fld>
            <a:endParaRPr lang="en-US" altLang="zh-CN"/>
          </a:p>
        </p:txBody>
      </p:sp>
    </p:spTree>
    <p:extLst>
      <p:ext uri="{BB962C8B-B14F-4D97-AF65-F5344CB8AC3E}">
        <p14:creationId xmlns:p14="http://schemas.microsoft.com/office/powerpoint/2010/main" val="356041551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48</a:t>
            </a:fld>
            <a:endParaRPr lang="en-US" altLang="zh-CN"/>
          </a:p>
        </p:txBody>
      </p:sp>
    </p:spTree>
    <p:extLst>
      <p:ext uri="{BB962C8B-B14F-4D97-AF65-F5344CB8AC3E}">
        <p14:creationId xmlns:p14="http://schemas.microsoft.com/office/powerpoint/2010/main" val="357050992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49</a:t>
            </a:fld>
            <a:endParaRPr lang="en-US" altLang="zh-CN"/>
          </a:p>
        </p:txBody>
      </p:sp>
    </p:spTree>
    <p:extLst>
      <p:ext uri="{BB962C8B-B14F-4D97-AF65-F5344CB8AC3E}">
        <p14:creationId xmlns:p14="http://schemas.microsoft.com/office/powerpoint/2010/main" val="25225855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50</a:t>
            </a:fld>
            <a:endParaRPr lang="en-US" altLang="zh-CN"/>
          </a:p>
        </p:txBody>
      </p:sp>
    </p:spTree>
    <p:extLst>
      <p:ext uri="{BB962C8B-B14F-4D97-AF65-F5344CB8AC3E}">
        <p14:creationId xmlns:p14="http://schemas.microsoft.com/office/powerpoint/2010/main" val="170642678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51</a:t>
            </a:fld>
            <a:endParaRPr lang="en-US" altLang="zh-CN"/>
          </a:p>
        </p:txBody>
      </p:sp>
    </p:spTree>
    <p:extLst>
      <p:ext uri="{BB962C8B-B14F-4D97-AF65-F5344CB8AC3E}">
        <p14:creationId xmlns:p14="http://schemas.microsoft.com/office/powerpoint/2010/main" val="365672663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52</a:t>
            </a:fld>
            <a:endParaRPr lang="en-US" altLang="zh-CN"/>
          </a:p>
        </p:txBody>
      </p:sp>
    </p:spTree>
    <p:extLst>
      <p:ext uri="{BB962C8B-B14F-4D97-AF65-F5344CB8AC3E}">
        <p14:creationId xmlns:p14="http://schemas.microsoft.com/office/powerpoint/2010/main" val="32513317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53</a:t>
            </a:fld>
            <a:endParaRPr lang="en-US" altLang="zh-CN"/>
          </a:p>
        </p:txBody>
      </p:sp>
    </p:spTree>
    <p:extLst>
      <p:ext uri="{BB962C8B-B14F-4D97-AF65-F5344CB8AC3E}">
        <p14:creationId xmlns:p14="http://schemas.microsoft.com/office/powerpoint/2010/main" val="231996251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54</a:t>
            </a:fld>
            <a:endParaRPr lang="en-US" altLang="zh-CN"/>
          </a:p>
        </p:txBody>
      </p:sp>
    </p:spTree>
    <p:extLst>
      <p:ext uri="{BB962C8B-B14F-4D97-AF65-F5344CB8AC3E}">
        <p14:creationId xmlns:p14="http://schemas.microsoft.com/office/powerpoint/2010/main" val="339136981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55</a:t>
            </a:fld>
            <a:endParaRPr lang="en-US" altLang="zh-CN"/>
          </a:p>
        </p:txBody>
      </p:sp>
    </p:spTree>
    <p:extLst>
      <p:ext uri="{BB962C8B-B14F-4D97-AF65-F5344CB8AC3E}">
        <p14:creationId xmlns:p14="http://schemas.microsoft.com/office/powerpoint/2010/main" val="380994942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56</a:t>
            </a:fld>
            <a:endParaRPr lang="en-US" altLang="zh-CN"/>
          </a:p>
        </p:txBody>
      </p:sp>
    </p:spTree>
    <p:extLst>
      <p:ext uri="{BB962C8B-B14F-4D97-AF65-F5344CB8AC3E}">
        <p14:creationId xmlns:p14="http://schemas.microsoft.com/office/powerpoint/2010/main" val="119799502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57</a:t>
            </a:fld>
            <a:endParaRPr lang="en-US" altLang="zh-CN"/>
          </a:p>
        </p:txBody>
      </p:sp>
    </p:spTree>
    <p:extLst>
      <p:ext uri="{BB962C8B-B14F-4D97-AF65-F5344CB8AC3E}">
        <p14:creationId xmlns:p14="http://schemas.microsoft.com/office/powerpoint/2010/main" val="426465332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58</a:t>
            </a:fld>
            <a:endParaRPr lang="en-US" altLang="zh-CN"/>
          </a:p>
        </p:txBody>
      </p:sp>
    </p:spTree>
    <p:extLst>
      <p:ext uri="{BB962C8B-B14F-4D97-AF65-F5344CB8AC3E}">
        <p14:creationId xmlns:p14="http://schemas.microsoft.com/office/powerpoint/2010/main" val="53329106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59</a:t>
            </a:fld>
            <a:endParaRPr lang="en-US" altLang="zh-CN"/>
          </a:p>
        </p:txBody>
      </p:sp>
    </p:spTree>
    <p:extLst>
      <p:ext uri="{BB962C8B-B14F-4D97-AF65-F5344CB8AC3E}">
        <p14:creationId xmlns:p14="http://schemas.microsoft.com/office/powerpoint/2010/main" val="363973366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60</a:t>
            </a:fld>
            <a:endParaRPr lang="en-US" altLang="zh-CN"/>
          </a:p>
        </p:txBody>
      </p:sp>
    </p:spTree>
    <p:extLst>
      <p:ext uri="{BB962C8B-B14F-4D97-AF65-F5344CB8AC3E}">
        <p14:creationId xmlns:p14="http://schemas.microsoft.com/office/powerpoint/2010/main" val="284571965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61</a:t>
            </a:fld>
            <a:endParaRPr lang="en-US" altLang="zh-CN"/>
          </a:p>
        </p:txBody>
      </p:sp>
    </p:spTree>
    <p:extLst>
      <p:ext uri="{BB962C8B-B14F-4D97-AF65-F5344CB8AC3E}">
        <p14:creationId xmlns:p14="http://schemas.microsoft.com/office/powerpoint/2010/main" val="35008250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62</a:t>
            </a:fld>
            <a:endParaRPr lang="en-US" altLang="zh-CN"/>
          </a:p>
        </p:txBody>
      </p:sp>
    </p:spTree>
    <p:extLst>
      <p:ext uri="{BB962C8B-B14F-4D97-AF65-F5344CB8AC3E}">
        <p14:creationId xmlns:p14="http://schemas.microsoft.com/office/powerpoint/2010/main" val="15328667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pPr>
            <a:fld id="{299F7857-DF68-40E9-B3B1-43E21ECBFB29}" type="slidenum">
              <a:rPr lang="zh-CN" altLang="en-US" smtClean="0"/>
              <a:pPr fontAlgn="base">
                <a:spcBef>
                  <a:spcPct val="0"/>
                </a:spcBef>
                <a:spcAft>
                  <a:spcPct val="0"/>
                </a:spcAft>
              </a:pPr>
              <a:t>63</a:t>
            </a:fld>
            <a:endParaRPr lang="en-US" altLang="zh-CN"/>
          </a:p>
        </p:txBody>
      </p:sp>
    </p:spTree>
    <p:extLst>
      <p:ext uri="{BB962C8B-B14F-4D97-AF65-F5344CB8AC3E}">
        <p14:creationId xmlns:p14="http://schemas.microsoft.com/office/powerpoint/2010/main" val="154264082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5769E8-19F7-47D4-AFC6-D17EEAD4A98C}" type="slidenum">
              <a:rPr lang="zh-CN" altLang="en-US" smtClean="0"/>
              <a:pPr/>
              <a:t>64</a:t>
            </a:fld>
            <a:endParaRPr lang="zh-CN" altLang="en-US"/>
          </a:p>
        </p:txBody>
      </p:sp>
    </p:spTree>
    <p:extLst>
      <p:ext uri="{BB962C8B-B14F-4D97-AF65-F5344CB8AC3E}">
        <p14:creationId xmlns:p14="http://schemas.microsoft.com/office/powerpoint/2010/main" val="3377518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3.xml"/><Relationship Id="rId7" Type="http://schemas.microsoft.com/office/2007/relationships/hdphoto" Target="../media/hdphoto1.wdp"/><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png"/><Relationship Id="rId5" Type="http://schemas.openxmlformats.org/officeDocument/2006/relationships/slideMaster" Target="../slideMasters/slideMaster1.xml"/><Relationship Id="rId4" Type="http://schemas.openxmlformats.org/officeDocument/2006/relationships/tags" Target="../tags/tag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7.xml"/><Relationship Id="rId7" Type="http://schemas.microsoft.com/office/2007/relationships/hdphoto" Target="../media/hdphoto1.wdp"/><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2.png"/><Relationship Id="rId5" Type="http://schemas.openxmlformats.org/officeDocument/2006/relationships/slideMaster" Target="../slideMasters/slideMaster1.xml"/><Relationship Id="rId4" Type="http://schemas.openxmlformats.org/officeDocument/2006/relationships/tags" Target="../tags/tag8.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5" Type="http://schemas.microsoft.com/office/2007/relationships/hdphoto" Target="../media/hdphoto1.wdp"/><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solidFill>
                  <a:schemeClr val="tx1"/>
                </a:solidFill>
              </a:defRPr>
            </a:lvl1pPr>
          </a:lstStyle>
          <a:p>
            <a:r>
              <a:rPr lang="en-US" altLang="zh-CN" dirty="0"/>
              <a:t>Python</a:t>
            </a:r>
            <a:r>
              <a:rPr lang="zh-CN" altLang="en-US" dirty="0"/>
              <a:t>基本数据类型</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dirty="0" smtClean="0"/>
            </a:lvl1pPr>
          </a:lstStyle>
          <a:p>
            <a:fld id="{7E209CE7-C191-49CB-93DE-563C8614E8C5}" type="datetimeFigureOut">
              <a:rPr lang="zh-CN" altLang="en-US" smtClean="0"/>
              <a:pPr/>
              <a:t>2025/12/29</a:t>
            </a:fld>
            <a:endParaRPr lang="zh-CN" altLang="en-US"/>
          </a:p>
        </p:txBody>
      </p:sp>
      <p:sp>
        <p:nvSpPr>
          <p:cNvPr id="5" name="页脚占位符 4"/>
          <p:cNvSpPr>
            <a:spLocks noGrp="1"/>
          </p:cNvSpPr>
          <p:nvPr>
            <p:ph type="ftr" sz="quarter" idx="11"/>
          </p:nvPr>
        </p:nvSpPr>
        <p:spPr/>
        <p:txBody>
          <a:bodyPr/>
          <a:lstStyle>
            <a:lvl1pPr>
              <a:defRPr smtClean="0"/>
            </a:lvl1pPr>
          </a:lstStyle>
          <a:p>
            <a:endParaRPr lang="zh-CN" altLang="en-US"/>
          </a:p>
        </p:txBody>
      </p:sp>
      <p:sp>
        <p:nvSpPr>
          <p:cNvPr id="6" name="灯片编号占位符 5"/>
          <p:cNvSpPr>
            <a:spLocks noGrp="1"/>
          </p:cNvSpPr>
          <p:nvPr>
            <p:ph type="sldNum" sz="quarter" idx="12"/>
          </p:nvPr>
        </p:nvSpPr>
        <p:spPr/>
        <p:txBody>
          <a:bodyPr/>
          <a:lstStyle>
            <a:lvl1pPr>
              <a:defRPr smtClean="0"/>
            </a:lvl1pPr>
          </a:lstStyle>
          <a:p>
            <a:fld id="{B31067DD-7756-4DF3-904A-8F40BA684AA6}" type="slidenum">
              <a:rPr lang="zh-CN" altLang="en-US" smtClean="0"/>
              <a:pPr/>
              <a:t>‹#›</a:t>
            </a:fld>
            <a:endParaRPr lang="zh-CN" altLang="en-US"/>
          </a:p>
        </p:txBody>
      </p:sp>
    </p:spTree>
    <p:extLst>
      <p:ext uri="{BB962C8B-B14F-4D97-AF65-F5344CB8AC3E}">
        <p14:creationId xmlns:p14="http://schemas.microsoft.com/office/powerpoint/2010/main" val="25080131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dirty="0" smtClean="0"/>
            </a:lvl1pPr>
          </a:lstStyle>
          <a:p>
            <a:fld id="{7E209CE7-C191-49CB-93DE-563C8614E8C5}" type="datetimeFigureOut">
              <a:rPr lang="zh-CN" altLang="en-US" smtClean="0"/>
              <a:pPr/>
              <a:t>2025/12/29</a:t>
            </a:fld>
            <a:endParaRPr lang="zh-CN" altLang="en-US"/>
          </a:p>
        </p:txBody>
      </p:sp>
      <p:sp>
        <p:nvSpPr>
          <p:cNvPr id="5" name="页脚占位符 4"/>
          <p:cNvSpPr>
            <a:spLocks noGrp="1"/>
          </p:cNvSpPr>
          <p:nvPr>
            <p:ph type="ftr" sz="quarter" idx="11"/>
          </p:nvPr>
        </p:nvSpPr>
        <p:spPr/>
        <p:txBody>
          <a:bodyPr/>
          <a:lstStyle>
            <a:lvl1pPr>
              <a:defRPr smtClean="0"/>
            </a:lvl1pPr>
          </a:lstStyle>
          <a:p>
            <a:endParaRPr lang="zh-CN" altLang="en-US"/>
          </a:p>
        </p:txBody>
      </p:sp>
      <p:sp>
        <p:nvSpPr>
          <p:cNvPr id="6" name="灯片编号占位符 5"/>
          <p:cNvSpPr>
            <a:spLocks noGrp="1"/>
          </p:cNvSpPr>
          <p:nvPr>
            <p:ph type="sldNum" sz="quarter" idx="12"/>
          </p:nvPr>
        </p:nvSpPr>
        <p:spPr/>
        <p:txBody>
          <a:bodyPr/>
          <a:lstStyle>
            <a:lvl1pPr>
              <a:defRPr smtClean="0"/>
            </a:lvl1pPr>
          </a:lstStyle>
          <a:p>
            <a:fld id="{B31067DD-7756-4DF3-904A-8F40BA684AA6}" type="slidenum">
              <a:rPr lang="zh-CN" altLang="en-US" smtClean="0"/>
              <a:pPr/>
              <a:t>‹#›</a:t>
            </a:fld>
            <a:endParaRPr lang="zh-CN" altLang="en-US"/>
          </a:p>
        </p:txBody>
      </p:sp>
    </p:spTree>
    <p:extLst>
      <p:ext uri="{BB962C8B-B14F-4D97-AF65-F5344CB8AC3E}">
        <p14:creationId xmlns:p14="http://schemas.microsoft.com/office/powerpoint/2010/main" val="2455001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755651" y="1052514"/>
            <a:ext cx="52324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91251" y="1052514"/>
            <a:ext cx="52324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lvl1pPr>
              <a:defRPr dirty="0" smtClean="0"/>
            </a:lvl1pPr>
          </a:lstStyle>
          <a:p>
            <a:fld id="{7E209CE7-C191-49CB-93DE-563C8614E8C5}" type="datetimeFigureOut">
              <a:rPr lang="zh-CN" altLang="en-US" smtClean="0"/>
              <a:pPr/>
              <a:t>2025/12/29</a:t>
            </a:fld>
            <a:endParaRPr lang="zh-CN" altLang="en-US"/>
          </a:p>
        </p:txBody>
      </p:sp>
      <p:sp>
        <p:nvSpPr>
          <p:cNvPr id="6" name="页脚占位符 5"/>
          <p:cNvSpPr>
            <a:spLocks noGrp="1"/>
          </p:cNvSpPr>
          <p:nvPr>
            <p:ph type="ftr" sz="quarter" idx="11"/>
          </p:nvPr>
        </p:nvSpPr>
        <p:spPr/>
        <p:txBody>
          <a:bodyPr/>
          <a:lstStyle>
            <a:lvl1pPr>
              <a:defRPr smtClean="0"/>
            </a:lvl1pPr>
          </a:lstStyle>
          <a:p>
            <a:endParaRPr lang="zh-CN" altLang="en-US"/>
          </a:p>
        </p:txBody>
      </p:sp>
      <p:sp>
        <p:nvSpPr>
          <p:cNvPr id="7" name="灯片编号占位符 6"/>
          <p:cNvSpPr>
            <a:spLocks noGrp="1"/>
          </p:cNvSpPr>
          <p:nvPr>
            <p:ph type="sldNum" sz="quarter" idx="12"/>
          </p:nvPr>
        </p:nvSpPr>
        <p:spPr/>
        <p:txBody>
          <a:bodyPr/>
          <a:lstStyle>
            <a:lvl1pPr>
              <a:defRPr smtClean="0"/>
            </a:lvl1pPr>
          </a:lstStyle>
          <a:p>
            <a:fld id="{B31067DD-7756-4DF3-904A-8F40BA684AA6}" type="slidenum">
              <a:rPr lang="zh-CN" altLang="en-US" smtClean="0"/>
              <a:pPr/>
              <a:t>‹#›</a:t>
            </a:fld>
            <a:endParaRPr lang="zh-CN" altLang="en-US"/>
          </a:p>
        </p:txBody>
      </p:sp>
    </p:spTree>
    <p:extLst>
      <p:ext uri="{BB962C8B-B14F-4D97-AF65-F5344CB8AC3E}">
        <p14:creationId xmlns:p14="http://schemas.microsoft.com/office/powerpoint/2010/main" val="4240868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lvl1pPr>
              <a:defRPr dirty="0" smtClean="0"/>
            </a:lvl1pPr>
          </a:lstStyle>
          <a:p>
            <a:fld id="{7E209CE7-C191-49CB-93DE-563C8614E8C5}" type="datetimeFigureOut">
              <a:rPr lang="zh-CN" altLang="en-US" smtClean="0"/>
              <a:pPr/>
              <a:t>2025/12/29</a:t>
            </a:fld>
            <a:endParaRPr lang="zh-CN" altLang="en-US"/>
          </a:p>
        </p:txBody>
      </p:sp>
      <p:sp>
        <p:nvSpPr>
          <p:cNvPr id="8" name="页脚占位符 7"/>
          <p:cNvSpPr>
            <a:spLocks noGrp="1"/>
          </p:cNvSpPr>
          <p:nvPr>
            <p:ph type="ftr" sz="quarter" idx="11"/>
          </p:nvPr>
        </p:nvSpPr>
        <p:spPr/>
        <p:txBody>
          <a:bodyPr/>
          <a:lstStyle>
            <a:lvl1pPr>
              <a:defRPr smtClean="0"/>
            </a:lvl1pPr>
          </a:lstStyle>
          <a:p>
            <a:endParaRPr lang="zh-CN" altLang="en-US"/>
          </a:p>
        </p:txBody>
      </p:sp>
      <p:sp>
        <p:nvSpPr>
          <p:cNvPr id="9" name="灯片编号占位符 8"/>
          <p:cNvSpPr>
            <a:spLocks noGrp="1"/>
          </p:cNvSpPr>
          <p:nvPr>
            <p:ph type="sldNum" sz="quarter" idx="12"/>
          </p:nvPr>
        </p:nvSpPr>
        <p:spPr/>
        <p:txBody>
          <a:bodyPr/>
          <a:lstStyle>
            <a:lvl1pPr>
              <a:defRPr smtClean="0"/>
            </a:lvl1pPr>
          </a:lstStyle>
          <a:p>
            <a:fld id="{B31067DD-7756-4DF3-904A-8F40BA684AA6}" type="slidenum">
              <a:rPr lang="zh-CN" altLang="en-US" smtClean="0"/>
              <a:pPr/>
              <a:t>‹#›</a:t>
            </a:fld>
            <a:endParaRPr lang="zh-CN" altLang="en-US"/>
          </a:p>
        </p:txBody>
      </p:sp>
      <p:sp>
        <p:nvSpPr>
          <p:cNvPr id="10" name="矩形 9"/>
          <p:cNvSpPr/>
          <p:nvPr/>
        </p:nvSpPr>
        <p:spPr>
          <a:xfrm>
            <a:off x="395112" y="574700"/>
            <a:ext cx="11401777" cy="5708601"/>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aseline="0">
              <a:latin typeface="Arial" pitchFamily="34" charset="0"/>
              <a:ea typeface="黑体" pitchFamily="49" charset="-122"/>
            </a:endParaRPr>
          </a:p>
        </p:txBody>
      </p:sp>
      <p:sp>
        <p:nvSpPr>
          <p:cNvPr id="11" name="矩形 10">
            <a:extLst>
              <a:ext uri="{FF2B5EF4-FFF2-40B4-BE49-F238E27FC236}">
                <a16:creationId xmlns:a16="http://schemas.microsoft.com/office/drawing/2014/main" id="{C3493B4C-6FDC-1C1E-4D97-6CD0B52209FF}"/>
              </a:ext>
            </a:extLst>
          </p:cNvPr>
          <p:cNvSpPr/>
          <p:nvPr userDrawn="1"/>
        </p:nvSpPr>
        <p:spPr>
          <a:xfrm>
            <a:off x="395112" y="574700"/>
            <a:ext cx="11401777" cy="5708601"/>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aseline="0">
              <a:latin typeface="Arial" pitchFamily="34" charset="0"/>
              <a:ea typeface="黑体" pitchFamily="49" charset="-122"/>
            </a:endParaRPr>
          </a:p>
        </p:txBody>
      </p:sp>
    </p:spTree>
    <p:extLst>
      <p:ext uri="{BB962C8B-B14F-4D97-AF65-F5344CB8AC3E}">
        <p14:creationId xmlns:p14="http://schemas.microsoft.com/office/powerpoint/2010/main" val="2077575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dirty="0" smtClean="0"/>
            </a:lvl1pPr>
          </a:lstStyle>
          <a:p>
            <a:fld id="{7E209CE7-C191-49CB-93DE-563C8614E8C5}" type="datetimeFigureOut">
              <a:rPr lang="zh-CN" altLang="en-US" smtClean="0"/>
              <a:pPr/>
              <a:t>2025/12/29</a:t>
            </a:fld>
            <a:endParaRPr lang="zh-CN" altLang="en-US"/>
          </a:p>
        </p:txBody>
      </p:sp>
      <p:sp>
        <p:nvSpPr>
          <p:cNvPr id="4" name="页脚占位符 3"/>
          <p:cNvSpPr>
            <a:spLocks noGrp="1"/>
          </p:cNvSpPr>
          <p:nvPr>
            <p:ph type="ftr" sz="quarter" idx="11"/>
          </p:nvPr>
        </p:nvSpPr>
        <p:spPr/>
        <p:txBody>
          <a:bodyPr/>
          <a:lstStyle>
            <a:lvl1pPr>
              <a:defRPr smtClean="0"/>
            </a:lvl1pPr>
          </a:lstStyle>
          <a:p>
            <a:endParaRPr lang="zh-CN" altLang="en-US"/>
          </a:p>
        </p:txBody>
      </p:sp>
      <p:sp>
        <p:nvSpPr>
          <p:cNvPr id="5" name="灯片编号占位符 4"/>
          <p:cNvSpPr>
            <a:spLocks noGrp="1"/>
          </p:cNvSpPr>
          <p:nvPr>
            <p:ph type="sldNum" sz="quarter" idx="12"/>
          </p:nvPr>
        </p:nvSpPr>
        <p:spPr/>
        <p:txBody>
          <a:bodyPr/>
          <a:lstStyle>
            <a:lvl1pPr>
              <a:defRPr smtClean="0"/>
            </a:lvl1pPr>
          </a:lstStyle>
          <a:p>
            <a:fld id="{B31067DD-7756-4DF3-904A-8F40BA684AA6}" type="slidenum">
              <a:rPr lang="zh-CN" altLang="en-US" smtClean="0"/>
              <a:pPr/>
              <a:t>‹#›</a:t>
            </a:fld>
            <a:endParaRPr lang="zh-CN" altLang="en-US"/>
          </a:p>
        </p:txBody>
      </p:sp>
    </p:spTree>
    <p:extLst>
      <p:ext uri="{BB962C8B-B14F-4D97-AF65-F5344CB8AC3E}">
        <p14:creationId xmlns:p14="http://schemas.microsoft.com/office/powerpoint/2010/main" val="3097609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dirty="0" smtClean="0"/>
            </a:lvl1pPr>
          </a:lstStyle>
          <a:p>
            <a:fld id="{7E209CE7-C191-49CB-93DE-563C8614E8C5}" type="datetimeFigureOut">
              <a:rPr lang="zh-CN" altLang="en-US" smtClean="0"/>
              <a:pPr/>
              <a:t>2025/12/29</a:t>
            </a:fld>
            <a:endParaRPr lang="zh-CN" altLang="en-US"/>
          </a:p>
        </p:txBody>
      </p:sp>
      <p:sp>
        <p:nvSpPr>
          <p:cNvPr id="6" name="页脚占位符 5"/>
          <p:cNvSpPr>
            <a:spLocks noGrp="1"/>
          </p:cNvSpPr>
          <p:nvPr>
            <p:ph type="ftr" sz="quarter" idx="11"/>
          </p:nvPr>
        </p:nvSpPr>
        <p:spPr/>
        <p:txBody>
          <a:bodyPr/>
          <a:lstStyle>
            <a:lvl1pPr>
              <a:defRPr smtClean="0"/>
            </a:lvl1pPr>
          </a:lstStyle>
          <a:p>
            <a:endParaRPr lang="zh-CN" altLang="en-US"/>
          </a:p>
        </p:txBody>
      </p:sp>
      <p:sp>
        <p:nvSpPr>
          <p:cNvPr id="7" name="灯片编号占位符 6"/>
          <p:cNvSpPr>
            <a:spLocks noGrp="1"/>
          </p:cNvSpPr>
          <p:nvPr>
            <p:ph type="sldNum" sz="quarter" idx="12"/>
          </p:nvPr>
        </p:nvSpPr>
        <p:spPr/>
        <p:txBody>
          <a:bodyPr/>
          <a:lstStyle>
            <a:lvl1pPr>
              <a:defRPr smtClean="0"/>
            </a:lvl1pPr>
          </a:lstStyle>
          <a:p>
            <a:fld id="{B31067DD-7756-4DF3-904A-8F40BA684AA6}" type="slidenum">
              <a:rPr lang="zh-CN" altLang="en-US" smtClean="0"/>
              <a:pPr/>
              <a:t>‹#›</a:t>
            </a:fld>
            <a:endParaRPr lang="zh-CN" altLang="en-US"/>
          </a:p>
        </p:txBody>
      </p:sp>
    </p:spTree>
    <p:extLst>
      <p:ext uri="{BB962C8B-B14F-4D97-AF65-F5344CB8AC3E}">
        <p14:creationId xmlns:p14="http://schemas.microsoft.com/office/powerpoint/2010/main" val="887094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dirty="0" smtClean="0"/>
            </a:lvl1pPr>
          </a:lstStyle>
          <a:p>
            <a:fld id="{7E209CE7-C191-49CB-93DE-563C8614E8C5}" type="datetimeFigureOut">
              <a:rPr lang="zh-CN" altLang="en-US" smtClean="0"/>
              <a:pPr/>
              <a:t>2025/12/29</a:t>
            </a:fld>
            <a:endParaRPr lang="zh-CN" altLang="en-US"/>
          </a:p>
        </p:txBody>
      </p:sp>
      <p:sp>
        <p:nvSpPr>
          <p:cNvPr id="6" name="页脚占位符 5"/>
          <p:cNvSpPr>
            <a:spLocks noGrp="1"/>
          </p:cNvSpPr>
          <p:nvPr>
            <p:ph type="ftr" sz="quarter" idx="11"/>
          </p:nvPr>
        </p:nvSpPr>
        <p:spPr/>
        <p:txBody>
          <a:bodyPr/>
          <a:lstStyle>
            <a:lvl1pPr>
              <a:defRPr smtClean="0"/>
            </a:lvl1pPr>
          </a:lstStyle>
          <a:p>
            <a:endParaRPr lang="zh-CN" altLang="en-US"/>
          </a:p>
        </p:txBody>
      </p:sp>
      <p:sp>
        <p:nvSpPr>
          <p:cNvPr id="7" name="灯片编号占位符 6"/>
          <p:cNvSpPr>
            <a:spLocks noGrp="1"/>
          </p:cNvSpPr>
          <p:nvPr>
            <p:ph type="sldNum" sz="quarter" idx="12"/>
          </p:nvPr>
        </p:nvSpPr>
        <p:spPr/>
        <p:txBody>
          <a:bodyPr/>
          <a:lstStyle>
            <a:lvl1pPr>
              <a:defRPr smtClean="0"/>
            </a:lvl1pPr>
          </a:lstStyle>
          <a:p>
            <a:fld id="{B31067DD-7756-4DF3-904A-8F40BA684AA6}" type="slidenum">
              <a:rPr lang="zh-CN" altLang="en-US" smtClean="0"/>
              <a:pPr/>
              <a:t>‹#›</a:t>
            </a:fld>
            <a:endParaRPr lang="zh-CN" altLang="en-US"/>
          </a:p>
        </p:txBody>
      </p:sp>
    </p:spTree>
    <p:extLst>
      <p:ext uri="{BB962C8B-B14F-4D97-AF65-F5344CB8AC3E}">
        <p14:creationId xmlns:p14="http://schemas.microsoft.com/office/powerpoint/2010/main" val="994905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dirty="0" smtClean="0"/>
            </a:lvl1pPr>
          </a:lstStyle>
          <a:p>
            <a:fld id="{7E209CE7-C191-49CB-93DE-563C8614E8C5}" type="datetimeFigureOut">
              <a:rPr lang="zh-CN" altLang="en-US" smtClean="0"/>
              <a:pPr/>
              <a:t>2025/12/29</a:t>
            </a:fld>
            <a:endParaRPr lang="zh-CN" altLang="en-US"/>
          </a:p>
        </p:txBody>
      </p:sp>
      <p:sp>
        <p:nvSpPr>
          <p:cNvPr id="5" name="页脚占位符 4"/>
          <p:cNvSpPr>
            <a:spLocks noGrp="1"/>
          </p:cNvSpPr>
          <p:nvPr>
            <p:ph type="ftr" sz="quarter" idx="11"/>
          </p:nvPr>
        </p:nvSpPr>
        <p:spPr/>
        <p:txBody>
          <a:bodyPr/>
          <a:lstStyle>
            <a:lvl1pPr>
              <a:defRPr smtClean="0"/>
            </a:lvl1pPr>
          </a:lstStyle>
          <a:p>
            <a:endParaRPr lang="zh-CN" altLang="en-US"/>
          </a:p>
        </p:txBody>
      </p:sp>
      <p:sp>
        <p:nvSpPr>
          <p:cNvPr id="6" name="灯片编号占位符 5"/>
          <p:cNvSpPr>
            <a:spLocks noGrp="1"/>
          </p:cNvSpPr>
          <p:nvPr>
            <p:ph type="sldNum" sz="quarter" idx="12"/>
          </p:nvPr>
        </p:nvSpPr>
        <p:spPr/>
        <p:txBody>
          <a:bodyPr/>
          <a:lstStyle>
            <a:lvl1pPr>
              <a:defRPr smtClean="0"/>
            </a:lvl1pPr>
          </a:lstStyle>
          <a:p>
            <a:fld id="{B31067DD-7756-4DF3-904A-8F40BA684AA6}" type="slidenum">
              <a:rPr lang="zh-CN" altLang="en-US" smtClean="0"/>
              <a:pPr/>
              <a:t>‹#›</a:t>
            </a:fld>
            <a:endParaRPr lang="zh-CN" altLang="en-US"/>
          </a:p>
        </p:txBody>
      </p:sp>
    </p:spTree>
    <p:extLst>
      <p:ext uri="{BB962C8B-B14F-4D97-AF65-F5344CB8AC3E}">
        <p14:creationId xmlns:p14="http://schemas.microsoft.com/office/powerpoint/2010/main" val="1481374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65118" y="304800"/>
            <a:ext cx="2669116" cy="5715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dirty="0" smtClean="0"/>
            </a:lvl1pPr>
          </a:lstStyle>
          <a:p>
            <a:fld id="{7E209CE7-C191-49CB-93DE-563C8614E8C5}" type="datetimeFigureOut">
              <a:rPr lang="zh-CN" altLang="en-US" smtClean="0"/>
              <a:pPr/>
              <a:t>2025/12/29</a:t>
            </a:fld>
            <a:endParaRPr lang="zh-CN" altLang="en-US"/>
          </a:p>
        </p:txBody>
      </p:sp>
      <p:sp>
        <p:nvSpPr>
          <p:cNvPr id="5" name="页脚占位符 4"/>
          <p:cNvSpPr>
            <a:spLocks noGrp="1"/>
          </p:cNvSpPr>
          <p:nvPr>
            <p:ph type="ftr" sz="quarter" idx="11"/>
          </p:nvPr>
        </p:nvSpPr>
        <p:spPr/>
        <p:txBody>
          <a:bodyPr/>
          <a:lstStyle>
            <a:lvl1pPr>
              <a:defRPr smtClean="0"/>
            </a:lvl1pPr>
          </a:lstStyle>
          <a:p>
            <a:endParaRPr lang="zh-CN" altLang="en-US"/>
          </a:p>
        </p:txBody>
      </p:sp>
      <p:sp>
        <p:nvSpPr>
          <p:cNvPr id="6" name="灯片编号占位符 5"/>
          <p:cNvSpPr>
            <a:spLocks noGrp="1"/>
          </p:cNvSpPr>
          <p:nvPr>
            <p:ph type="sldNum" sz="quarter" idx="12"/>
          </p:nvPr>
        </p:nvSpPr>
        <p:spPr/>
        <p:txBody>
          <a:bodyPr/>
          <a:lstStyle>
            <a:lvl1pPr>
              <a:defRPr smtClean="0"/>
            </a:lvl1pPr>
          </a:lstStyle>
          <a:p>
            <a:fld id="{B31067DD-7756-4DF3-904A-8F40BA684AA6}" type="slidenum">
              <a:rPr lang="zh-CN" altLang="en-US" smtClean="0"/>
              <a:pPr/>
              <a:t>‹#›</a:t>
            </a:fld>
            <a:endParaRPr lang="zh-CN" altLang="en-US"/>
          </a:p>
        </p:txBody>
      </p:sp>
    </p:spTree>
    <p:extLst>
      <p:ext uri="{BB962C8B-B14F-4D97-AF65-F5344CB8AC3E}">
        <p14:creationId xmlns:p14="http://schemas.microsoft.com/office/powerpoint/2010/main" val="3632424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4" name="日期占位符 3"/>
          <p:cNvSpPr>
            <a:spLocks noGrp="1"/>
          </p:cNvSpPr>
          <p:nvPr>
            <p:ph type="dt" sz="half" idx="10"/>
          </p:nvPr>
        </p:nvSpPr>
        <p:spPr/>
        <p:txBody>
          <a:bodyPr/>
          <a:lstStyle/>
          <a:p>
            <a:fld id="{7E209CE7-C191-49CB-93DE-563C8614E8C5}" type="datetimeFigureOut">
              <a:rPr lang="zh-CN" altLang="en-US" smtClean="0"/>
              <a:pPr/>
              <a:t>2025/12/29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31067DD-7756-4DF3-904A-8F40BA684AA6}" type="slidenum">
              <a:rPr lang="zh-CN" altLang="en-US" smtClean="0"/>
              <a:pPr/>
              <a:t>‹#›</a:t>
            </a:fld>
            <a:endParaRPr lang="zh-CN" altLang="en-US"/>
          </a:p>
        </p:txBody>
      </p:sp>
      <p:cxnSp>
        <p:nvCxnSpPr>
          <p:cNvPr id="9" name="直接连接符 8"/>
          <p:cNvCxnSpPr/>
          <p:nvPr/>
        </p:nvCxnSpPr>
        <p:spPr>
          <a:xfrm>
            <a:off x="628650" y="1190625"/>
            <a:ext cx="10980000" cy="9525"/>
          </a:xfrm>
          <a:prstGeom prst="line">
            <a:avLst/>
          </a:prstGeom>
        </p:spPr>
        <p:style>
          <a:lnRef idx="1">
            <a:schemeClr val="accent1"/>
          </a:lnRef>
          <a:fillRef idx="0">
            <a:schemeClr val="accent1"/>
          </a:fillRef>
          <a:effectRef idx="0">
            <a:schemeClr val="accent1"/>
          </a:effectRef>
          <a:fontRef idx="minor">
            <a:schemeClr val="tx1"/>
          </a:fontRef>
        </p:style>
      </p:cxnSp>
      <p:sp>
        <p:nvSpPr>
          <p:cNvPr id="11" name="标题 1"/>
          <p:cNvSpPr>
            <a:spLocks noGrp="1"/>
          </p:cNvSpPr>
          <p:nvPr>
            <p:ph type="title" hasCustomPrompt="1"/>
          </p:nvPr>
        </p:nvSpPr>
        <p:spPr>
          <a:xfrm>
            <a:off x="609600" y="274638"/>
            <a:ext cx="10972800" cy="801687"/>
          </a:xfrm>
        </p:spPr>
        <p:txBody>
          <a:bodyPr/>
          <a:lstStyle>
            <a:lvl1pPr algn="l">
              <a:defRPr/>
            </a:lvl1pPr>
          </a:lstStyle>
          <a:p>
            <a:r>
              <a:rPr kumimoji="0" lang="en-US" altLang="zh-CN" dirty="0"/>
              <a:t>Python</a:t>
            </a:r>
            <a:r>
              <a:rPr kumimoji="0" lang="zh-CN" altLang="en-US" dirty="0"/>
              <a:t>基本数据类型</a:t>
            </a:r>
            <a:endParaRPr kumimoji="0" lang="en-US" dirty="0"/>
          </a:p>
        </p:txBody>
      </p:sp>
    </p:spTree>
    <p:extLst>
      <p:ext uri="{BB962C8B-B14F-4D97-AF65-F5344CB8AC3E}">
        <p14:creationId xmlns:p14="http://schemas.microsoft.com/office/powerpoint/2010/main" val="4294678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节标题">
    <p:spTree>
      <p:nvGrpSpPr>
        <p:cNvPr id="1" name=""/>
        <p:cNvGrpSpPr/>
        <p:nvPr/>
      </p:nvGrpSpPr>
      <p:grpSpPr>
        <a:xfrm>
          <a:off x="0" y="0"/>
          <a:ext cx="0" cy="0"/>
          <a:chOff x="0" y="0"/>
          <a:chExt cx="0" cy="0"/>
        </a:xfrm>
      </p:grpSpPr>
      <p:grpSp>
        <p:nvGrpSpPr>
          <p:cNvPr id="7" name="组合 6"/>
          <p:cNvGrpSpPr/>
          <p:nvPr/>
        </p:nvGrpSpPr>
        <p:grpSpPr>
          <a:xfrm>
            <a:off x="-15461" y="-1"/>
            <a:ext cx="12213160" cy="6858001"/>
            <a:chOff x="-15461" y="-1"/>
            <a:chExt cx="12213160" cy="6858001"/>
          </a:xfrm>
        </p:grpSpPr>
        <p:pic>
          <p:nvPicPr>
            <p:cNvPr id="8" name="图片 7"/>
            <p:cNvPicPr>
              <a:picLocks noChangeAspect="1"/>
            </p:cNvPicPr>
            <p:nvPr userDrawn="1"/>
          </p:nvPicPr>
          <p:blipFill>
            <a:blip r:embed="rId6" cstate="print">
              <a:extLst>
                <a:ext uri="{BEBA8EAE-BF5A-486C-A8C5-ECC9F3942E4B}">
                  <a14:imgProps xmlns:a14="http://schemas.microsoft.com/office/drawing/2010/main">
                    <a14:imgLayer r:embed="rId7">
                      <a14:imgEffect>
                        <a14:artisticBlur/>
                      </a14:imgEffect>
                    </a14:imgLayer>
                  </a14:imgProps>
                </a:ext>
              </a:extLst>
            </a:blip>
            <a:stretch>
              <a:fillRect/>
            </a:stretch>
          </p:blipFill>
          <p:spPr>
            <a:xfrm>
              <a:off x="-15461" y="-1"/>
              <a:ext cx="12213160" cy="6858001"/>
            </a:xfrm>
            <a:prstGeom prst="rect">
              <a:avLst/>
            </a:prstGeom>
          </p:spPr>
        </p:pic>
        <p:pic>
          <p:nvPicPr>
            <p:cNvPr id="9" name="图片 8"/>
            <p:cNvPicPr>
              <a:picLocks noChangeAspect="1"/>
            </p:cNvPicPr>
            <p:nvPr userDrawn="1"/>
          </p:nvPicPr>
          <p:blipFill>
            <a:blip r:embed="rId6" cstate="print">
              <a:extLst>
                <a:ext uri="{BEBA8EAE-BF5A-486C-A8C5-ECC9F3942E4B}">
                  <a14:imgProps xmlns:a14="http://schemas.microsoft.com/office/drawing/2010/main">
                    <a14:imgLayer r:embed="rId7">
                      <a14:imgEffect>
                        <a14:artisticBlur/>
                      </a14:imgEffect>
                    </a14:imgLayer>
                  </a14:imgProps>
                </a:ext>
              </a:extLst>
            </a:blip>
            <a:stretch>
              <a:fillRect/>
            </a:stretch>
          </p:blipFill>
          <p:spPr>
            <a:xfrm>
              <a:off x="0" y="-1"/>
              <a:ext cx="12181683" cy="6858001"/>
            </a:xfrm>
            <a:prstGeom prst="rect">
              <a:avLst/>
            </a:prstGeom>
          </p:spPr>
        </p:pic>
        <p:sp>
          <p:nvSpPr>
            <p:cNvPr id="10" name="矩形 9"/>
            <p:cNvSpPr/>
            <p:nvPr userDrawn="1"/>
          </p:nvSpPr>
          <p:spPr>
            <a:xfrm>
              <a:off x="376156" y="773252"/>
              <a:ext cx="11401777" cy="5493218"/>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2400" baseline="0">
                <a:latin typeface="Arial" pitchFamily="34" charset="0"/>
                <a:ea typeface="黑体" pitchFamily="49" charset="-122"/>
              </a:endParaRPr>
            </a:p>
          </p:txBody>
        </p:sp>
      </p:grpSp>
      <p:sp>
        <p:nvSpPr>
          <p:cNvPr id="2" name="标题 1"/>
          <p:cNvSpPr>
            <a:spLocks noGrp="1"/>
          </p:cNvSpPr>
          <p:nvPr>
            <p:ph type="title" hasCustomPrompt="1"/>
          </p:nvPr>
        </p:nvSpPr>
        <p:spPr>
          <a:xfrm>
            <a:off x="378000" y="2822400"/>
            <a:ext cx="7412400" cy="1101600"/>
          </a:xfrm>
          <a:solidFill>
            <a:schemeClr val="accent1"/>
          </a:solidFill>
        </p:spPr>
        <p:txBody>
          <a:bodyPr anchor="ctr" anchorCtr="0">
            <a:normAutofit/>
          </a:bodyPr>
          <a:lstStyle>
            <a:lvl1pPr algn="r">
              <a:defRPr sz="4400" b="0" baseline="0"/>
            </a:lvl1pPr>
          </a:lstStyle>
          <a:p>
            <a:r>
              <a:rPr lang="zh-CN" altLang="en-US" dirty="0"/>
              <a:t>单击此处编辑标题</a:t>
            </a:r>
          </a:p>
        </p:txBody>
      </p:sp>
      <p:sp>
        <p:nvSpPr>
          <p:cNvPr id="11" name="MH_Others_1"/>
          <p:cNvSpPr/>
          <p:nvPr>
            <p:custDataLst>
              <p:tags r:id="rId1"/>
            </p:custDataLst>
          </p:nvPr>
        </p:nvSpPr>
        <p:spPr>
          <a:xfrm>
            <a:off x="8997410" y="1861413"/>
            <a:ext cx="2773676" cy="7133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ctr"/>
          <a:lstStyle/>
          <a:p>
            <a:endParaRPr lang="zh-CN" altLang="en-US" sz="6000" spc="500">
              <a:solidFill>
                <a:srgbClr val="FFFFFF"/>
              </a:solidFill>
              <a:latin typeface="Arial" pitchFamily="34" charset="0"/>
              <a:ea typeface="黑体" pitchFamily="49" charset="-122"/>
              <a:cs typeface="Times New Roman" pitchFamily="18" charset="0"/>
            </a:endParaRPr>
          </a:p>
        </p:txBody>
      </p:sp>
      <p:sp>
        <p:nvSpPr>
          <p:cNvPr id="12" name="MH_Number"/>
          <p:cNvSpPr/>
          <p:nvPr>
            <p:custDataLst>
              <p:tags r:id="rId2"/>
            </p:custDataLst>
          </p:nvPr>
        </p:nvSpPr>
        <p:spPr>
          <a:xfrm>
            <a:off x="7907903" y="2822268"/>
            <a:ext cx="1104021" cy="110203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0" bIns="36000" rtlCol="0" anchor="ctr">
            <a:normAutofit/>
          </a:bodyPr>
          <a:lstStyle/>
          <a:p>
            <a:pPr algn="ctr"/>
            <a:endParaRPr lang="zh-CN" altLang="en-US" sz="6000" dirty="0">
              <a:solidFill>
                <a:srgbClr val="FFFFFF"/>
              </a:solidFill>
              <a:latin typeface="Arial" pitchFamily="34" charset="0"/>
              <a:ea typeface="黑体" pitchFamily="49" charset="-122"/>
            </a:endParaRPr>
          </a:p>
        </p:txBody>
      </p:sp>
      <p:sp>
        <p:nvSpPr>
          <p:cNvPr id="4" name="日期占位符 3"/>
          <p:cNvSpPr>
            <a:spLocks noGrp="1"/>
          </p:cNvSpPr>
          <p:nvPr>
            <p:ph type="dt" sz="half" idx="10"/>
          </p:nvPr>
        </p:nvSpPr>
        <p:spPr/>
        <p:txBody>
          <a:bodyPr/>
          <a:lstStyle/>
          <a:p>
            <a:fld id="{7E209CE7-C191-49CB-93DE-563C8614E8C5}" type="datetimeFigureOut">
              <a:rPr lang="zh-CN" altLang="en-US" smtClean="0"/>
              <a:pPr/>
              <a:t>2025/12/29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31067DD-7756-4DF3-904A-8F40BA684AA6}" type="slidenum">
              <a:rPr lang="zh-CN" altLang="en-US" smtClean="0"/>
              <a:pPr/>
              <a:t>‹#›</a:t>
            </a:fld>
            <a:endParaRPr lang="zh-CN" altLang="en-US"/>
          </a:p>
        </p:txBody>
      </p:sp>
      <p:grpSp>
        <p:nvGrpSpPr>
          <p:cNvPr id="3" name="组合 2">
            <a:extLst>
              <a:ext uri="{FF2B5EF4-FFF2-40B4-BE49-F238E27FC236}">
                <a16:creationId xmlns:a16="http://schemas.microsoft.com/office/drawing/2014/main" id="{3AD8C1EC-81CB-CEF3-0197-338B99E5B094}"/>
              </a:ext>
            </a:extLst>
          </p:cNvPr>
          <p:cNvGrpSpPr/>
          <p:nvPr userDrawn="1"/>
        </p:nvGrpSpPr>
        <p:grpSpPr>
          <a:xfrm>
            <a:off x="-15461" y="-1"/>
            <a:ext cx="12213160" cy="6858001"/>
            <a:chOff x="-15461" y="-1"/>
            <a:chExt cx="12213160" cy="6858001"/>
          </a:xfrm>
        </p:grpSpPr>
        <p:pic>
          <p:nvPicPr>
            <p:cNvPr id="13" name="图片 12">
              <a:extLst>
                <a:ext uri="{FF2B5EF4-FFF2-40B4-BE49-F238E27FC236}">
                  <a16:creationId xmlns:a16="http://schemas.microsoft.com/office/drawing/2014/main" id="{34CC8F33-5E2A-76D1-0B04-C3D6FA7EA745}"/>
                </a:ext>
              </a:extLst>
            </p:cNvPr>
            <p:cNvPicPr>
              <a:picLocks noChangeAspect="1"/>
            </p:cNvPicPr>
            <p:nvPr userDrawn="1"/>
          </p:nvPicPr>
          <p:blipFill>
            <a:blip r:embed="rId6" cstate="print">
              <a:extLst>
                <a:ext uri="{BEBA8EAE-BF5A-486C-A8C5-ECC9F3942E4B}">
                  <a14:imgProps xmlns:a14="http://schemas.microsoft.com/office/drawing/2010/main">
                    <a14:imgLayer r:embed="rId7">
                      <a14:imgEffect>
                        <a14:artisticBlur/>
                      </a14:imgEffect>
                    </a14:imgLayer>
                  </a14:imgProps>
                </a:ext>
              </a:extLst>
            </a:blip>
            <a:stretch>
              <a:fillRect/>
            </a:stretch>
          </p:blipFill>
          <p:spPr>
            <a:xfrm>
              <a:off x="-15461" y="-1"/>
              <a:ext cx="12213160" cy="6858001"/>
            </a:xfrm>
            <a:prstGeom prst="rect">
              <a:avLst/>
            </a:prstGeom>
          </p:spPr>
        </p:pic>
        <p:pic>
          <p:nvPicPr>
            <p:cNvPr id="14" name="图片 13">
              <a:extLst>
                <a:ext uri="{FF2B5EF4-FFF2-40B4-BE49-F238E27FC236}">
                  <a16:creationId xmlns:a16="http://schemas.microsoft.com/office/drawing/2014/main" id="{2CB02C75-78CD-A289-3BAC-11020897EEB0}"/>
                </a:ext>
              </a:extLst>
            </p:cNvPr>
            <p:cNvPicPr>
              <a:picLocks noChangeAspect="1"/>
            </p:cNvPicPr>
            <p:nvPr userDrawn="1"/>
          </p:nvPicPr>
          <p:blipFill>
            <a:blip r:embed="rId6" cstate="print">
              <a:extLst>
                <a:ext uri="{BEBA8EAE-BF5A-486C-A8C5-ECC9F3942E4B}">
                  <a14:imgProps xmlns:a14="http://schemas.microsoft.com/office/drawing/2010/main">
                    <a14:imgLayer r:embed="rId7">
                      <a14:imgEffect>
                        <a14:artisticBlur/>
                      </a14:imgEffect>
                    </a14:imgLayer>
                  </a14:imgProps>
                </a:ext>
              </a:extLst>
            </a:blip>
            <a:stretch>
              <a:fillRect/>
            </a:stretch>
          </p:blipFill>
          <p:spPr>
            <a:xfrm>
              <a:off x="0" y="-1"/>
              <a:ext cx="12181683" cy="6858001"/>
            </a:xfrm>
            <a:prstGeom prst="rect">
              <a:avLst/>
            </a:prstGeom>
          </p:spPr>
        </p:pic>
        <p:sp>
          <p:nvSpPr>
            <p:cNvPr id="15" name="矩形 14">
              <a:extLst>
                <a:ext uri="{FF2B5EF4-FFF2-40B4-BE49-F238E27FC236}">
                  <a16:creationId xmlns:a16="http://schemas.microsoft.com/office/drawing/2014/main" id="{451142F1-1308-C54C-3EA9-A0C8D6B57892}"/>
                </a:ext>
              </a:extLst>
            </p:cNvPr>
            <p:cNvSpPr/>
            <p:nvPr userDrawn="1"/>
          </p:nvSpPr>
          <p:spPr>
            <a:xfrm>
              <a:off x="376156" y="773252"/>
              <a:ext cx="11401777" cy="5493218"/>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2400" baseline="0">
                <a:latin typeface="Arial" pitchFamily="34" charset="0"/>
                <a:ea typeface="黑体" pitchFamily="49" charset="-122"/>
              </a:endParaRPr>
            </a:p>
          </p:txBody>
        </p:sp>
      </p:grpSp>
      <p:sp>
        <p:nvSpPr>
          <p:cNvPr id="16" name="MH_Others_1">
            <a:extLst>
              <a:ext uri="{FF2B5EF4-FFF2-40B4-BE49-F238E27FC236}">
                <a16:creationId xmlns:a16="http://schemas.microsoft.com/office/drawing/2014/main" id="{2EBEB8DA-7A3F-BCCC-8B36-FBD3CED0ACCF}"/>
              </a:ext>
            </a:extLst>
          </p:cNvPr>
          <p:cNvSpPr/>
          <p:nvPr userDrawn="1">
            <p:custDataLst>
              <p:tags r:id="rId3"/>
            </p:custDataLst>
          </p:nvPr>
        </p:nvSpPr>
        <p:spPr>
          <a:xfrm>
            <a:off x="8997410" y="1861413"/>
            <a:ext cx="2773676" cy="7133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ctr"/>
          <a:lstStyle/>
          <a:p>
            <a:endParaRPr lang="zh-CN" altLang="en-US" sz="6000" spc="500">
              <a:solidFill>
                <a:srgbClr val="FFFFFF"/>
              </a:solidFill>
              <a:latin typeface="Arial" pitchFamily="34" charset="0"/>
              <a:ea typeface="黑体" pitchFamily="49" charset="-122"/>
              <a:cs typeface="Times New Roman" pitchFamily="18" charset="0"/>
            </a:endParaRPr>
          </a:p>
        </p:txBody>
      </p:sp>
      <p:sp>
        <p:nvSpPr>
          <p:cNvPr id="17" name="MH_Number">
            <a:extLst>
              <a:ext uri="{FF2B5EF4-FFF2-40B4-BE49-F238E27FC236}">
                <a16:creationId xmlns:a16="http://schemas.microsoft.com/office/drawing/2014/main" id="{FA55D32C-66AE-39A0-E9CD-69047CCE57EB}"/>
              </a:ext>
            </a:extLst>
          </p:cNvPr>
          <p:cNvSpPr/>
          <p:nvPr userDrawn="1">
            <p:custDataLst>
              <p:tags r:id="rId4"/>
            </p:custDataLst>
          </p:nvPr>
        </p:nvSpPr>
        <p:spPr>
          <a:xfrm>
            <a:off x="7907903" y="2822268"/>
            <a:ext cx="1104021" cy="110203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0" bIns="36000" rtlCol="0" anchor="ctr">
            <a:normAutofit/>
          </a:bodyPr>
          <a:lstStyle/>
          <a:p>
            <a:pPr algn="ctr"/>
            <a:endParaRPr lang="zh-CN" altLang="en-US" sz="6000" dirty="0">
              <a:solidFill>
                <a:srgbClr val="FFFFFF"/>
              </a:solidFill>
              <a:latin typeface="Arial" pitchFamily="34" charset="0"/>
              <a:ea typeface="黑体" pitchFamily="49" charset="-122"/>
            </a:endParaRPr>
          </a:p>
        </p:txBody>
      </p:sp>
    </p:spTree>
    <p:extLst>
      <p:ext uri="{BB962C8B-B14F-4D97-AF65-F5344CB8AC3E}">
        <p14:creationId xmlns:p14="http://schemas.microsoft.com/office/powerpoint/2010/main" val="19137636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E209CE7-C191-49CB-93DE-563C8614E8C5}" type="datetimeFigureOut">
              <a:rPr lang="zh-CN" altLang="en-US" smtClean="0"/>
              <a:pPr/>
              <a:t>2025/12/29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31067DD-7756-4DF3-904A-8F40BA684AA6}" type="slidenum">
              <a:rPr lang="zh-CN" altLang="en-US" smtClean="0"/>
              <a:pPr/>
              <a:t>‹#›</a:t>
            </a:fld>
            <a:endParaRPr lang="zh-CN" altLang="en-US"/>
          </a:p>
        </p:txBody>
      </p:sp>
      <p:sp>
        <p:nvSpPr>
          <p:cNvPr id="7" name="内容占位符 6"/>
          <p:cNvSpPr>
            <a:spLocks noGrp="1"/>
          </p:cNvSpPr>
          <p:nvPr>
            <p:ph sz="quarter" idx="13"/>
          </p:nvPr>
        </p:nvSpPr>
        <p:spPr>
          <a:xfrm>
            <a:off x="527050" y="1081088"/>
            <a:ext cx="11096625" cy="5494337"/>
          </a:xfrm>
        </p:spPr>
        <p:txBody>
          <a:bodyPr anchor="ctr"/>
          <a:lstStyle>
            <a:lvl3pPr>
              <a:defRPr sz="2000"/>
            </a:lvl3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3000951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6" cstate="print">
            <a:extLst>
              <a:ext uri="{BEBA8EAE-BF5A-486C-A8C5-ECC9F3942E4B}">
                <a14:imgProps xmlns:a14="http://schemas.microsoft.com/office/drawing/2010/main">
                  <a14:imgLayer r:embed="rId7">
                    <a14:imgEffect>
                      <a14:artisticBlur/>
                    </a14:imgEffect>
                  </a14:imgLayer>
                </a14:imgProps>
              </a:ext>
            </a:extLst>
          </a:blip>
          <a:stretch>
            <a:fillRect/>
          </a:stretch>
        </p:blipFill>
        <p:spPr>
          <a:xfrm>
            <a:off x="-15461" y="-1"/>
            <a:ext cx="12213160" cy="6858001"/>
          </a:xfrm>
          <a:prstGeom prst="rect">
            <a:avLst/>
          </a:prstGeom>
        </p:spPr>
      </p:pic>
      <p:pic>
        <p:nvPicPr>
          <p:cNvPr id="7" name="图片 6"/>
          <p:cNvPicPr>
            <a:picLocks noChangeAspect="1"/>
          </p:cNvPicPr>
          <p:nvPr userDrawn="1"/>
        </p:nvPicPr>
        <p:blipFill>
          <a:blip r:embed="rId6" cstate="print">
            <a:extLst>
              <a:ext uri="{BEBA8EAE-BF5A-486C-A8C5-ECC9F3942E4B}">
                <a14:imgProps xmlns:a14="http://schemas.microsoft.com/office/drawing/2010/main">
                  <a14:imgLayer r:embed="rId7">
                    <a14:imgEffect>
                      <a14:artisticBlur/>
                    </a14:imgEffect>
                  </a14:imgLayer>
                </a14:imgProps>
              </a:ext>
            </a:extLst>
          </a:blip>
          <a:stretch>
            <a:fillRect/>
          </a:stretch>
        </p:blipFill>
        <p:spPr>
          <a:xfrm>
            <a:off x="0" y="-1"/>
            <a:ext cx="12181683" cy="6858001"/>
          </a:xfrm>
          <a:prstGeom prst="rect">
            <a:avLst/>
          </a:prstGeom>
        </p:spPr>
      </p:pic>
      <p:sp>
        <p:nvSpPr>
          <p:cNvPr id="8" name="矩形 7"/>
          <p:cNvSpPr/>
          <p:nvPr userDrawn="1"/>
        </p:nvSpPr>
        <p:spPr>
          <a:xfrm>
            <a:off x="376156" y="773252"/>
            <a:ext cx="11401777" cy="5493218"/>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aseline="0">
              <a:latin typeface="Arial" pitchFamily="34" charset="0"/>
              <a:ea typeface="黑体" pitchFamily="49" charset="-122"/>
            </a:endParaRPr>
          </a:p>
        </p:txBody>
      </p:sp>
      <p:grpSp>
        <p:nvGrpSpPr>
          <p:cNvPr id="3" name="组合 8"/>
          <p:cNvGrpSpPr/>
          <p:nvPr userDrawn="1"/>
        </p:nvGrpSpPr>
        <p:grpSpPr>
          <a:xfrm>
            <a:off x="3935413" y="1042988"/>
            <a:ext cx="4460876" cy="4468812"/>
            <a:chOff x="3935413" y="1042988"/>
            <a:chExt cx="4460876" cy="4468812"/>
          </a:xfrm>
        </p:grpSpPr>
        <p:sp>
          <p:nvSpPr>
            <p:cNvPr id="10" name="任意多边形 9"/>
            <p:cNvSpPr/>
            <p:nvPr userDrawn="1">
              <p:custDataLst>
                <p:tags r:id="rId1"/>
              </p:custDataLst>
            </p:nvPr>
          </p:nvSpPr>
          <p:spPr>
            <a:xfrm flipH="1">
              <a:off x="6164263" y="1836738"/>
              <a:ext cx="2228850" cy="3675062"/>
            </a:xfrm>
            <a:custGeom>
              <a:avLst/>
              <a:gdLst>
                <a:gd name="connsiteX0" fmla="*/ 2231629 w 2231629"/>
                <a:gd name="connsiteY0" fmla="*/ 0 h 4463258"/>
                <a:gd name="connsiteX1" fmla="*/ 2231629 w 2231629"/>
                <a:gd name="connsiteY1" fmla="*/ 4463258 h 4463258"/>
                <a:gd name="connsiteX2" fmla="*/ 0 w 2231629"/>
                <a:gd name="connsiteY2" fmla="*/ 2231629 h 4463258"/>
                <a:gd name="connsiteX3" fmla="*/ 2231629 w 2231629"/>
                <a:gd name="connsiteY3" fmla="*/ 0 h 4463258"/>
              </a:gdLst>
              <a:ahLst/>
              <a:cxnLst>
                <a:cxn ang="0">
                  <a:pos x="connsiteX0" y="connsiteY0"/>
                </a:cxn>
                <a:cxn ang="0">
                  <a:pos x="connsiteX1" y="connsiteY1"/>
                </a:cxn>
                <a:cxn ang="0">
                  <a:pos x="connsiteX2" y="connsiteY2"/>
                </a:cxn>
                <a:cxn ang="0">
                  <a:pos x="connsiteX3" y="connsiteY3"/>
                </a:cxn>
              </a:cxnLst>
              <a:rect l="l" t="t" r="r" b="b"/>
              <a:pathLst>
                <a:path w="2231629" h="4463258">
                  <a:moveTo>
                    <a:pt x="2231629" y="0"/>
                  </a:moveTo>
                  <a:lnTo>
                    <a:pt x="2231629" y="4463258"/>
                  </a:lnTo>
                  <a:lnTo>
                    <a:pt x="0" y="2231629"/>
                  </a:lnTo>
                  <a:lnTo>
                    <a:pt x="2231629" y="0"/>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itchFamily="34" charset="0"/>
                <a:ea typeface="黑体" pitchFamily="49" charset="-122"/>
              </a:endParaRPr>
            </a:p>
          </p:txBody>
        </p:sp>
        <p:sp>
          <p:nvSpPr>
            <p:cNvPr id="11" name="任意多边形 10"/>
            <p:cNvSpPr/>
            <p:nvPr userDrawn="1">
              <p:custDataLst>
                <p:tags r:id="rId2"/>
              </p:custDataLst>
            </p:nvPr>
          </p:nvSpPr>
          <p:spPr>
            <a:xfrm>
              <a:off x="3935413" y="1042988"/>
              <a:ext cx="2228850" cy="3681412"/>
            </a:xfrm>
            <a:custGeom>
              <a:avLst/>
              <a:gdLst>
                <a:gd name="connsiteX0" fmla="*/ 2231629 w 2231629"/>
                <a:gd name="connsiteY0" fmla="*/ 0 h 4463258"/>
                <a:gd name="connsiteX1" fmla="*/ 2231629 w 2231629"/>
                <a:gd name="connsiteY1" fmla="*/ 4463258 h 4463258"/>
                <a:gd name="connsiteX2" fmla="*/ 0 w 2231629"/>
                <a:gd name="connsiteY2" fmla="*/ 2231629 h 4463258"/>
                <a:gd name="connsiteX3" fmla="*/ 2231629 w 2231629"/>
                <a:gd name="connsiteY3" fmla="*/ 0 h 4463258"/>
              </a:gdLst>
              <a:ahLst/>
              <a:cxnLst>
                <a:cxn ang="0">
                  <a:pos x="connsiteX0" y="connsiteY0"/>
                </a:cxn>
                <a:cxn ang="0">
                  <a:pos x="connsiteX1" y="connsiteY1"/>
                </a:cxn>
                <a:cxn ang="0">
                  <a:pos x="connsiteX2" y="connsiteY2"/>
                </a:cxn>
                <a:cxn ang="0">
                  <a:pos x="connsiteX3" y="connsiteY3"/>
                </a:cxn>
              </a:cxnLst>
              <a:rect l="l" t="t" r="r" b="b"/>
              <a:pathLst>
                <a:path w="2231629" h="4463258">
                  <a:moveTo>
                    <a:pt x="2231629" y="0"/>
                  </a:moveTo>
                  <a:lnTo>
                    <a:pt x="2231629" y="4463258"/>
                  </a:lnTo>
                  <a:lnTo>
                    <a:pt x="0" y="2231629"/>
                  </a:lnTo>
                  <a:lnTo>
                    <a:pt x="2231629"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itchFamily="34" charset="0"/>
                <a:ea typeface="黑体" pitchFamily="49" charset="-122"/>
              </a:endParaRPr>
            </a:p>
          </p:txBody>
        </p:sp>
        <p:sp>
          <p:nvSpPr>
            <p:cNvPr id="12" name="任意多边形 11"/>
            <p:cNvSpPr/>
            <p:nvPr userDrawn="1">
              <p:custDataLst>
                <p:tags r:id="rId3"/>
              </p:custDataLst>
            </p:nvPr>
          </p:nvSpPr>
          <p:spPr>
            <a:xfrm>
              <a:off x="3935414" y="1049338"/>
              <a:ext cx="2232025" cy="4462462"/>
            </a:xfrm>
            <a:custGeom>
              <a:avLst/>
              <a:gdLst>
                <a:gd name="connsiteX0" fmla="*/ 2231629 w 2231629"/>
                <a:gd name="connsiteY0" fmla="*/ 0 h 4463258"/>
                <a:gd name="connsiteX1" fmla="*/ 2231629 w 2231629"/>
                <a:gd name="connsiteY1" fmla="*/ 4463258 h 4463258"/>
                <a:gd name="connsiteX2" fmla="*/ 0 w 2231629"/>
                <a:gd name="connsiteY2" fmla="*/ 2231629 h 4463258"/>
                <a:gd name="connsiteX3" fmla="*/ 2231629 w 2231629"/>
                <a:gd name="connsiteY3" fmla="*/ 0 h 4463258"/>
              </a:gdLst>
              <a:ahLst/>
              <a:cxnLst>
                <a:cxn ang="0">
                  <a:pos x="connsiteX0" y="connsiteY0"/>
                </a:cxn>
                <a:cxn ang="0">
                  <a:pos x="connsiteX1" y="connsiteY1"/>
                </a:cxn>
                <a:cxn ang="0">
                  <a:pos x="connsiteX2" y="connsiteY2"/>
                </a:cxn>
                <a:cxn ang="0">
                  <a:pos x="connsiteX3" y="connsiteY3"/>
                </a:cxn>
              </a:cxnLst>
              <a:rect l="l" t="t" r="r" b="b"/>
              <a:pathLst>
                <a:path w="2231629" h="4463258">
                  <a:moveTo>
                    <a:pt x="2231629" y="0"/>
                  </a:moveTo>
                  <a:lnTo>
                    <a:pt x="2231629" y="4463258"/>
                  </a:lnTo>
                  <a:lnTo>
                    <a:pt x="0" y="2231629"/>
                  </a:lnTo>
                  <a:lnTo>
                    <a:pt x="2231629" y="0"/>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itchFamily="34" charset="0"/>
                <a:ea typeface="黑体" pitchFamily="49" charset="-122"/>
              </a:endParaRPr>
            </a:p>
          </p:txBody>
        </p:sp>
        <p:sp>
          <p:nvSpPr>
            <p:cNvPr id="13" name="任意多边形 12"/>
            <p:cNvSpPr/>
            <p:nvPr userDrawn="1">
              <p:custDataLst>
                <p:tags r:id="rId4"/>
              </p:custDataLst>
            </p:nvPr>
          </p:nvSpPr>
          <p:spPr>
            <a:xfrm flipH="1">
              <a:off x="6164264" y="1049338"/>
              <a:ext cx="2232025" cy="4462462"/>
            </a:xfrm>
            <a:custGeom>
              <a:avLst/>
              <a:gdLst>
                <a:gd name="connsiteX0" fmla="*/ 2231629 w 2231629"/>
                <a:gd name="connsiteY0" fmla="*/ 0 h 4463258"/>
                <a:gd name="connsiteX1" fmla="*/ 2231629 w 2231629"/>
                <a:gd name="connsiteY1" fmla="*/ 4463258 h 4463258"/>
                <a:gd name="connsiteX2" fmla="*/ 0 w 2231629"/>
                <a:gd name="connsiteY2" fmla="*/ 2231629 h 4463258"/>
                <a:gd name="connsiteX3" fmla="*/ 2231629 w 2231629"/>
                <a:gd name="connsiteY3" fmla="*/ 0 h 4463258"/>
              </a:gdLst>
              <a:ahLst/>
              <a:cxnLst>
                <a:cxn ang="0">
                  <a:pos x="connsiteX0" y="connsiteY0"/>
                </a:cxn>
                <a:cxn ang="0">
                  <a:pos x="connsiteX1" y="connsiteY1"/>
                </a:cxn>
                <a:cxn ang="0">
                  <a:pos x="connsiteX2" y="connsiteY2"/>
                </a:cxn>
                <a:cxn ang="0">
                  <a:pos x="connsiteX3" y="connsiteY3"/>
                </a:cxn>
              </a:cxnLst>
              <a:rect l="l" t="t" r="r" b="b"/>
              <a:pathLst>
                <a:path w="2231629" h="4463258">
                  <a:moveTo>
                    <a:pt x="2231629" y="0"/>
                  </a:moveTo>
                  <a:lnTo>
                    <a:pt x="2231629" y="4463258"/>
                  </a:lnTo>
                  <a:lnTo>
                    <a:pt x="0" y="2231629"/>
                  </a:lnTo>
                  <a:lnTo>
                    <a:pt x="2231629"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itchFamily="34" charset="0"/>
                <a:ea typeface="黑体" pitchFamily="49" charset="-122"/>
              </a:endParaRPr>
            </a:p>
          </p:txBody>
        </p:sp>
      </p:grpSp>
      <p:sp>
        <p:nvSpPr>
          <p:cNvPr id="2" name="标题 1"/>
          <p:cNvSpPr>
            <a:spLocks noGrp="1"/>
          </p:cNvSpPr>
          <p:nvPr>
            <p:ph type="title" hasCustomPrompt="1"/>
          </p:nvPr>
        </p:nvSpPr>
        <p:spPr>
          <a:xfrm>
            <a:off x="5356800" y="2250000"/>
            <a:ext cx="1569600" cy="1753200"/>
          </a:xfrm>
        </p:spPr>
        <p:txBody>
          <a:bodyPr/>
          <a:lstStyle>
            <a:lvl1pPr algn="ctr">
              <a:defRPr sz="5400" b="0"/>
            </a:lvl1pPr>
          </a:lstStyle>
          <a:p>
            <a:r>
              <a:rPr lang="zh-CN" altLang="en-US" dirty="0"/>
              <a:t>编辑标题</a:t>
            </a:r>
          </a:p>
        </p:txBody>
      </p:sp>
      <p:sp>
        <p:nvSpPr>
          <p:cNvPr id="4" name="内容占位符 3"/>
          <p:cNvSpPr>
            <a:spLocks noGrp="1"/>
          </p:cNvSpPr>
          <p:nvPr>
            <p:ph sz="quarter" idx="10" hasCustomPrompt="1"/>
          </p:nvPr>
        </p:nvSpPr>
        <p:spPr>
          <a:xfrm>
            <a:off x="5259600" y="4089600"/>
            <a:ext cx="1818000" cy="435600"/>
          </a:xfrm>
        </p:spPr>
        <p:txBody>
          <a:bodyPr anchor="ctr" anchorCtr="0">
            <a:normAutofit/>
          </a:bodyPr>
          <a:lstStyle>
            <a:lvl1pPr marL="0" indent="0" algn="ctr">
              <a:buNone/>
              <a:defRPr sz="1800">
                <a:solidFill>
                  <a:schemeClr val="bg1"/>
                </a:solidFill>
              </a:defRPr>
            </a:lvl1pPr>
          </a:lstStyle>
          <a:p>
            <a:pPr lvl="0"/>
            <a:r>
              <a:rPr lang="zh-CN" altLang="en-US" dirty="0"/>
              <a:t>编辑副标题</a:t>
            </a:r>
          </a:p>
        </p:txBody>
      </p:sp>
      <p:sp>
        <p:nvSpPr>
          <p:cNvPr id="5" name="日期占位符 4"/>
          <p:cNvSpPr>
            <a:spLocks noGrp="1"/>
          </p:cNvSpPr>
          <p:nvPr>
            <p:ph type="dt" sz="half" idx="11"/>
          </p:nvPr>
        </p:nvSpPr>
        <p:spPr/>
        <p:txBody>
          <a:bodyPr/>
          <a:lstStyle/>
          <a:p>
            <a:fld id="{7E209CE7-C191-49CB-93DE-563C8614E8C5}" type="datetimeFigureOut">
              <a:rPr lang="zh-CN" altLang="en-US" smtClean="0"/>
              <a:pPr/>
              <a:t>2025/12/29</a:t>
            </a:fld>
            <a:endParaRPr lang="zh-CN" altLang="en-US"/>
          </a:p>
        </p:txBody>
      </p:sp>
      <p:sp>
        <p:nvSpPr>
          <p:cNvPr id="14" name="页脚占位符 13"/>
          <p:cNvSpPr>
            <a:spLocks noGrp="1"/>
          </p:cNvSpPr>
          <p:nvPr>
            <p:ph type="ftr" sz="quarter" idx="12"/>
          </p:nvPr>
        </p:nvSpPr>
        <p:spPr/>
        <p:txBody>
          <a:bodyPr/>
          <a:lstStyle/>
          <a:p>
            <a:endParaRPr lang="zh-CN" altLang="en-US"/>
          </a:p>
        </p:txBody>
      </p:sp>
      <p:sp>
        <p:nvSpPr>
          <p:cNvPr id="15" name="灯片编号占位符 14"/>
          <p:cNvSpPr>
            <a:spLocks noGrp="1"/>
          </p:cNvSpPr>
          <p:nvPr>
            <p:ph type="sldNum" sz="quarter" idx="13"/>
          </p:nvPr>
        </p:nvSpPr>
        <p:spPr/>
        <p:txBody>
          <a:bodyPr/>
          <a:lstStyle/>
          <a:p>
            <a:fld id="{B31067DD-7756-4DF3-904A-8F40BA684AA6}" type="slidenum">
              <a:rPr lang="zh-CN" altLang="en-US" smtClean="0"/>
              <a:pPr/>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grpSp>
        <p:nvGrpSpPr>
          <p:cNvPr id="7" name="组合 6"/>
          <p:cNvGrpSpPr/>
          <p:nvPr userDrawn="1"/>
        </p:nvGrpSpPr>
        <p:grpSpPr>
          <a:xfrm>
            <a:off x="-15461" y="-1"/>
            <a:ext cx="12213160" cy="6858001"/>
            <a:chOff x="-15461" y="-1"/>
            <a:chExt cx="12213160" cy="6858001"/>
          </a:xfrm>
        </p:grpSpPr>
        <p:pic>
          <p:nvPicPr>
            <p:cNvPr id="8" name="图片 7"/>
            <p:cNvPicPr>
              <a:picLocks noChangeAspect="1"/>
            </p:cNvPicPr>
            <p:nvPr userDrawn="1"/>
          </p:nvPicPr>
          <p:blipFill>
            <a:blip r:embed="rId4" cstate="print">
              <a:extLst>
                <a:ext uri="{BEBA8EAE-BF5A-486C-A8C5-ECC9F3942E4B}">
                  <a14:imgProps xmlns:a14="http://schemas.microsoft.com/office/drawing/2010/main">
                    <a14:imgLayer r:embed="rId5">
                      <a14:imgEffect>
                        <a14:artisticBlur/>
                      </a14:imgEffect>
                    </a14:imgLayer>
                  </a14:imgProps>
                </a:ext>
              </a:extLst>
            </a:blip>
            <a:stretch>
              <a:fillRect/>
            </a:stretch>
          </p:blipFill>
          <p:spPr>
            <a:xfrm>
              <a:off x="-15461" y="-1"/>
              <a:ext cx="12213160" cy="6858001"/>
            </a:xfrm>
            <a:prstGeom prst="rect">
              <a:avLst/>
            </a:prstGeom>
          </p:spPr>
        </p:pic>
        <p:pic>
          <p:nvPicPr>
            <p:cNvPr id="9" name="图片 8"/>
            <p:cNvPicPr>
              <a:picLocks noChangeAspect="1"/>
            </p:cNvPicPr>
            <p:nvPr userDrawn="1"/>
          </p:nvPicPr>
          <p:blipFill>
            <a:blip r:embed="rId4" cstate="print">
              <a:extLst>
                <a:ext uri="{BEBA8EAE-BF5A-486C-A8C5-ECC9F3942E4B}">
                  <a14:imgProps xmlns:a14="http://schemas.microsoft.com/office/drawing/2010/main">
                    <a14:imgLayer r:embed="rId5">
                      <a14:imgEffect>
                        <a14:artisticBlur/>
                      </a14:imgEffect>
                    </a14:imgLayer>
                  </a14:imgProps>
                </a:ext>
              </a:extLst>
            </a:blip>
            <a:stretch>
              <a:fillRect/>
            </a:stretch>
          </p:blipFill>
          <p:spPr>
            <a:xfrm>
              <a:off x="0" y="-1"/>
              <a:ext cx="12181683" cy="6858001"/>
            </a:xfrm>
            <a:prstGeom prst="rect">
              <a:avLst/>
            </a:prstGeom>
          </p:spPr>
        </p:pic>
        <p:sp>
          <p:nvSpPr>
            <p:cNvPr id="10" name="矩形 9"/>
            <p:cNvSpPr/>
            <p:nvPr userDrawn="1"/>
          </p:nvSpPr>
          <p:spPr>
            <a:xfrm>
              <a:off x="376156" y="773252"/>
              <a:ext cx="11401777" cy="5493218"/>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2400" baseline="0">
                <a:latin typeface="Arial" pitchFamily="34" charset="0"/>
                <a:ea typeface="黑体" pitchFamily="49" charset="-122"/>
              </a:endParaRPr>
            </a:p>
          </p:txBody>
        </p:sp>
      </p:grpSp>
      <p:sp>
        <p:nvSpPr>
          <p:cNvPr id="2" name="标题 1"/>
          <p:cNvSpPr>
            <a:spLocks noGrp="1"/>
          </p:cNvSpPr>
          <p:nvPr>
            <p:ph type="title" hasCustomPrompt="1"/>
          </p:nvPr>
        </p:nvSpPr>
        <p:spPr>
          <a:xfrm>
            <a:off x="378000" y="2822400"/>
            <a:ext cx="7412400" cy="1101600"/>
          </a:xfrm>
          <a:solidFill>
            <a:schemeClr val="accent1"/>
          </a:solidFill>
        </p:spPr>
        <p:txBody>
          <a:bodyPr anchor="ctr" anchorCtr="0">
            <a:normAutofit/>
          </a:bodyPr>
          <a:lstStyle>
            <a:lvl1pPr algn="r">
              <a:defRPr sz="4400" b="0" baseline="0"/>
            </a:lvl1pPr>
          </a:lstStyle>
          <a:p>
            <a:r>
              <a:rPr lang="zh-CN" altLang="en-US" dirty="0"/>
              <a:t>单击此处编辑标题</a:t>
            </a:r>
          </a:p>
        </p:txBody>
      </p:sp>
      <p:sp>
        <p:nvSpPr>
          <p:cNvPr id="11" name="MH_Others_1"/>
          <p:cNvSpPr/>
          <p:nvPr userDrawn="1">
            <p:custDataLst>
              <p:tags r:id="rId1"/>
            </p:custDataLst>
          </p:nvPr>
        </p:nvSpPr>
        <p:spPr>
          <a:xfrm>
            <a:off x="8997410" y="1861413"/>
            <a:ext cx="2773676" cy="7133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0" bIns="72000" rtlCol="0" anchor="ctr"/>
          <a:lstStyle/>
          <a:p>
            <a:endParaRPr lang="zh-CN" altLang="en-US" sz="6000" spc="500">
              <a:solidFill>
                <a:srgbClr val="FFFFFF"/>
              </a:solidFill>
              <a:latin typeface="Arial" pitchFamily="34" charset="0"/>
              <a:ea typeface="黑体" pitchFamily="49" charset="-122"/>
              <a:cs typeface="Times New Roman" pitchFamily="18" charset="0"/>
            </a:endParaRPr>
          </a:p>
        </p:txBody>
      </p:sp>
      <p:sp>
        <p:nvSpPr>
          <p:cNvPr id="12" name="MH_Number"/>
          <p:cNvSpPr/>
          <p:nvPr userDrawn="1">
            <p:custDataLst>
              <p:tags r:id="rId2"/>
            </p:custDataLst>
          </p:nvPr>
        </p:nvSpPr>
        <p:spPr>
          <a:xfrm>
            <a:off x="7907903" y="2822268"/>
            <a:ext cx="1104021" cy="110203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0" rIns="0" bIns="36000" rtlCol="0" anchor="ctr">
            <a:normAutofit/>
          </a:bodyPr>
          <a:lstStyle/>
          <a:p>
            <a:pPr algn="ctr"/>
            <a:endParaRPr lang="zh-CN" altLang="en-US" sz="6000" dirty="0">
              <a:solidFill>
                <a:srgbClr val="FFFFFF"/>
              </a:solidFill>
              <a:latin typeface="Arial" pitchFamily="34" charset="0"/>
              <a:ea typeface="黑体" pitchFamily="49" charset="-122"/>
            </a:endParaRPr>
          </a:p>
        </p:txBody>
      </p:sp>
      <p:sp>
        <p:nvSpPr>
          <p:cNvPr id="4" name="日期占位符 3"/>
          <p:cNvSpPr>
            <a:spLocks noGrp="1"/>
          </p:cNvSpPr>
          <p:nvPr>
            <p:ph type="dt" sz="half" idx="10"/>
          </p:nvPr>
        </p:nvSpPr>
        <p:spPr/>
        <p:txBody>
          <a:bodyPr/>
          <a:lstStyle/>
          <a:p>
            <a:fld id="{7E209CE7-C191-49CB-93DE-563C8614E8C5}" type="datetimeFigureOut">
              <a:rPr lang="zh-CN" altLang="en-US" smtClean="0"/>
              <a:pPr/>
              <a:t>2025/12/29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31067DD-7756-4DF3-904A-8F40BA684AA6}" type="slidenum">
              <a:rPr lang="zh-CN" altLang="en-US" smtClean="0"/>
              <a:pPr/>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E209CE7-C191-49CB-93DE-563C8614E8C5}" type="datetimeFigureOut">
              <a:rPr lang="zh-CN" altLang="en-US" smtClean="0"/>
              <a:pPr/>
              <a:t>2025/12/29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31067DD-7756-4DF3-904A-8F40BA684AA6}" type="slidenum">
              <a:rPr lang="zh-CN" altLang="en-US" smtClean="0"/>
              <a:pPr/>
              <a:t>‹#›</a:t>
            </a:fld>
            <a:endParaRPr lang="zh-CN" altLang="en-US"/>
          </a:p>
        </p:txBody>
      </p:sp>
      <p:sp>
        <p:nvSpPr>
          <p:cNvPr id="7" name="内容占位符 6"/>
          <p:cNvSpPr>
            <a:spLocks noGrp="1"/>
          </p:cNvSpPr>
          <p:nvPr>
            <p:ph sz="quarter" idx="13"/>
          </p:nvPr>
        </p:nvSpPr>
        <p:spPr>
          <a:xfrm>
            <a:off x="527050" y="1081088"/>
            <a:ext cx="11096625" cy="5494337"/>
          </a:xfrm>
        </p:spPr>
        <p:txBody>
          <a:bodyPr anchor="ctr"/>
          <a:lstStyle>
            <a:lvl3pPr>
              <a:defRPr sz="2000"/>
            </a:lvl3pPr>
          </a:lstStyle>
          <a:p>
            <a:pPr lvl="0"/>
            <a:r>
              <a:rPr lang="zh-CN" altLang="en-US" dirty="0"/>
              <a:t>单击此处编辑母版文本样式</a:t>
            </a:r>
          </a:p>
          <a:p>
            <a:pPr lvl="2"/>
            <a:r>
              <a:rPr lang="zh-CN" altLang="en-US" dirty="0"/>
              <a:t>第二级</a:t>
            </a:r>
          </a:p>
          <a:p>
            <a:pPr lvl="3"/>
            <a:r>
              <a:rPr lang="zh-CN" altLang="en-US" dirty="0"/>
              <a:t>第三级</a:t>
            </a:r>
          </a:p>
          <a:p>
            <a:pPr lvl="4"/>
            <a:r>
              <a:rPr lang="zh-CN" altLang="en-US" dirty="0"/>
              <a:t>第四级</a:t>
            </a:r>
          </a:p>
          <a:p>
            <a:pPr lvl="5"/>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60325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p>
        </p:txBody>
      </p:sp>
      <p:sp>
        <p:nvSpPr>
          <p:cNvPr id="1027" name="Rectangle 3"/>
          <p:cNvSpPr>
            <a:spLocks noGrp="1" noChangeArrowheads="1"/>
          </p:cNvSpPr>
          <p:nvPr>
            <p:ph type="body" idx="1"/>
          </p:nvPr>
        </p:nvSpPr>
        <p:spPr bwMode="auto">
          <a:xfrm>
            <a:off x="755651" y="1052514"/>
            <a:ext cx="10668000" cy="49672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4340" name="AutoShape 4"/>
          <p:cNvSpPr>
            <a:spLocks noChangeArrowheads="1"/>
          </p:cNvSpPr>
          <p:nvPr/>
        </p:nvSpPr>
        <p:spPr bwMode="auto">
          <a:xfrm>
            <a:off x="812800" y="908050"/>
            <a:ext cx="10610851" cy="109538"/>
          </a:xfrm>
          <a:custGeom>
            <a:avLst/>
            <a:gdLst>
              <a:gd name="G0" fmla="+- 585 0 0"/>
            </a:gdLst>
            <a:ahLst/>
            <a:cxnLst>
              <a:cxn ang="0">
                <a:pos x="0" y="0"/>
              </a:cxn>
              <a:cxn ang="0">
                <a:pos x="585" y="0"/>
              </a:cxn>
              <a:cxn ang="0">
                <a:pos x="585" y="1000"/>
              </a:cxn>
              <a:cxn ang="0">
                <a:pos x="0" y="1000"/>
              </a:cxn>
              <a:cxn ang="0">
                <a:pos x="0" y="0"/>
              </a:cxn>
              <a:cxn ang="0">
                <a:pos x="1000" y="0"/>
              </a:cxn>
            </a:cxnLst>
            <a:rect l="0" t="0" r="r" b="b"/>
            <a:pathLst>
              <a:path w="1000" h="1000" stroke="0">
                <a:moveTo>
                  <a:pt x="0" y="0"/>
                </a:moveTo>
                <a:lnTo>
                  <a:pt x="585" y="0"/>
                </a:lnTo>
                <a:lnTo>
                  <a:pt x="585" y="1000"/>
                </a:lnTo>
                <a:lnTo>
                  <a:pt x="0" y="1000"/>
                </a:lnTo>
                <a:close/>
              </a:path>
              <a:path w="1000" h="1000">
                <a:moveTo>
                  <a:pt x="0" y="0"/>
                </a:moveTo>
                <a:lnTo>
                  <a:pt x="1000" y="0"/>
                </a:lnTo>
              </a:path>
            </a:pathLst>
          </a:custGeom>
          <a:solidFill>
            <a:schemeClr val="accent2"/>
          </a:solidFill>
          <a:ln w="9525">
            <a:solidFill>
              <a:schemeClr val="accent2"/>
            </a:solidFill>
            <a:round/>
            <a:headEnd/>
            <a:tailEnd/>
          </a:ln>
        </p:spPr>
        <p:txBody>
          <a:bodyPr/>
          <a:lstStyle/>
          <a:p>
            <a:pPr>
              <a:defRPr/>
            </a:pPr>
            <a:endParaRPr lang="zh-CN" altLang="zh-CN" sz="2400">
              <a:latin typeface="Times New Roman" pitchFamily="18" charset="0"/>
            </a:endParaRPr>
          </a:p>
        </p:txBody>
      </p:sp>
      <p:sp>
        <p:nvSpPr>
          <p:cNvPr id="14341" name="Line 5"/>
          <p:cNvSpPr>
            <a:spLocks noChangeShapeType="1"/>
          </p:cNvSpPr>
          <p:nvPr/>
        </p:nvSpPr>
        <p:spPr bwMode="auto">
          <a:xfrm flipV="1">
            <a:off x="812800" y="6308725"/>
            <a:ext cx="10566400" cy="0"/>
          </a:xfrm>
          <a:prstGeom prst="line">
            <a:avLst/>
          </a:prstGeom>
          <a:noFill/>
          <a:ln w="3175">
            <a:solidFill>
              <a:schemeClr val="accent2"/>
            </a:solidFill>
            <a:round/>
            <a:headEnd/>
            <a:tailEnd/>
          </a:ln>
          <a:effectLst/>
        </p:spPr>
        <p:txBody>
          <a:bodyPr/>
          <a:lstStyle/>
          <a:p>
            <a:pPr>
              <a:defRPr/>
            </a:pPr>
            <a:endParaRPr lang="zh-CN" altLang="en-US"/>
          </a:p>
        </p:txBody>
      </p:sp>
      <p:sp>
        <p:nvSpPr>
          <p:cNvPr id="14342" name="Rectangle 6"/>
          <p:cNvSpPr>
            <a:spLocks noGrp="1" noChangeArrowheads="1"/>
          </p:cNvSpPr>
          <p:nvPr>
            <p:ph type="dt" sz="half" idx="2"/>
          </p:nvPr>
        </p:nvSpPr>
        <p:spPr bwMode="auto">
          <a:xfrm>
            <a:off x="812800" y="6381751"/>
            <a:ext cx="26416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fld id="{7E209CE7-C191-49CB-93DE-563C8614E8C5}" type="datetimeFigureOut">
              <a:rPr lang="zh-CN" altLang="en-US" smtClean="0"/>
              <a:pPr/>
              <a:t>2025/12/29</a:t>
            </a:fld>
            <a:endParaRPr lang="zh-CN" altLang="en-US"/>
          </a:p>
        </p:txBody>
      </p:sp>
      <p:sp>
        <p:nvSpPr>
          <p:cNvPr id="14343" name="Rectangle 7"/>
          <p:cNvSpPr>
            <a:spLocks noGrp="1" noChangeArrowheads="1"/>
          </p:cNvSpPr>
          <p:nvPr>
            <p:ph type="ftr" sz="quarter" idx="3"/>
          </p:nvPr>
        </p:nvSpPr>
        <p:spPr bwMode="auto">
          <a:xfrm>
            <a:off x="4165600" y="6381751"/>
            <a:ext cx="3860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smtClean="0"/>
            </a:lvl1pPr>
          </a:lstStyle>
          <a:p>
            <a:endParaRPr lang="zh-CN" altLang="en-US"/>
          </a:p>
        </p:txBody>
      </p:sp>
      <p:sp>
        <p:nvSpPr>
          <p:cNvPr id="14344" name="Rectangle 8"/>
          <p:cNvSpPr>
            <a:spLocks noGrp="1" noChangeArrowheads="1"/>
          </p:cNvSpPr>
          <p:nvPr>
            <p:ph type="sldNum" sz="quarter" idx="4"/>
          </p:nvPr>
        </p:nvSpPr>
        <p:spPr bwMode="auto">
          <a:xfrm>
            <a:off x="8784167" y="6381750"/>
            <a:ext cx="2641600" cy="2682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fld id="{B31067DD-7756-4DF3-904A-8F40BA684AA6}" type="slidenum">
              <a:rPr lang="zh-CN" altLang="en-US" smtClean="0"/>
              <a:pPr/>
              <a:t>‹#›</a:t>
            </a:fld>
            <a:endParaRPr lang="zh-CN" altLang="en-US"/>
          </a:p>
        </p:txBody>
      </p:sp>
      <p:pic>
        <p:nvPicPr>
          <p:cNvPr id="1033" name="Picture 14" descr="python"/>
          <p:cNvPicPr>
            <a:picLocks noChangeAspect="1" noChangeArrowheads="1"/>
          </p:cNvPicPr>
          <p:nvPr/>
        </p:nvPicPr>
        <p:blipFill>
          <a:blip r:embed="rId17" cstate="print">
            <a:clrChange>
              <a:clrFrom>
                <a:srgbClr val="FFFFFF"/>
              </a:clrFrom>
              <a:clrTo>
                <a:srgbClr val="FFFFFF">
                  <a:alpha val="0"/>
                </a:srgbClr>
              </a:clrTo>
            </a:clrChange>
          </a:blip>
          <a:srcRect/>
          <a:stretch>
            <a:fillRect/>
          </a:stretch>
        </p:blipFill>
        <p:spPr bwMode="auto">
          <a:xfrm>
            <a:off x="9512301" y="188914"/>
            <a:ext cx="2679700" cy="676275"/>
          </a:xfrm>
          <a:prstGeom prst="rect">
            <a:avLst/>
          </a:prstGeom>
          <a:noFill/>
          <a:ln w="9525">
            <a:noFill/>
            <a:miter lim="800000"/>
            <a:headEnd/>
            <a:tailEnd/>
          </a:ln>
        </p:spPr>
      </p:pic>
    </p:spTree>
    <p:extLst>
      <p:ext uri="{BB962C8B-B14F-4D97-AF65-F5344CB8AC3E}">
        <p14:creationId xmlns:p14="http://schemas.microsoft.com/office/powerpoint/2010/main" val="4181552789"/>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10" r:id="rId13"/>
    <p:sldLayoutId id="2147483651" r:id="rId14"/>
    <p:sldLayoutId id="2147483658" r:id="rId15"/>
  </p:sldLayoutIdLst>
  <p:txStyles>
    <p:titleStyle>
      <a:lvl1pPr algn="l" rtl="0" eaLnBrk="1" fontAlgn="base" hangingPunct="1">
        <a:spcBef>
          <a:spcPct val="0"/>
        </a:spcBef>
        <a:spcAft>
          <a:spcPct val="0"/>
        </a:spcAft>
        <a:defRPr sz="3800">
          <a:solidFill>
            <a:schemeClr val="tx2"/>
          </a:solidFill>
          <a:latin typeface="+mj-lt"/>
          <a:ea typeface="+mj-ea"/>
          <a:cs typeface="+mj-cs"/>
        </a:defRPr>
      </a:lvl1pPr>
      <a:lvl2pPr algn="l" rtl="0" eaLnBrk="1" fontAlgn="base" hangingPunct="1">
        <a:spcBef>
          <a:spcPct val="0"/>
        </a:spcBef>
        <a:spcAft>
          <a:spcPct val="0"/>
        </a:spcAft>
        <a:defRPr sz="3800">
          <a:solidFill>
            <a:schemeClr val="tx2"/>
          </a:solidFill>
          <a:latin typeface="Verdana" pitchFamily="34" charset="0"/>
          <a:ea typeface="宋体" pitchFamily="2" charset="-122"/>
        </a:defRPr>
      </a:lvl2pPr>
      <a:lvl3pPr algn="l" rtl="0" eaLnBrk="1" fontAlgn="base" hangingPunct="1">
        <a:spcBef>
          <a:spcPct val="0"/>
        </a:spcBef>
        <a:spcAft>
          <a:spcPct val="0"/>
        </a:spcAft>
        <a:defRPr sz="3800">
          <a:solidFill>
            <a:schemeClr val="tx2"/>
          </a:solidFill>
          <a:latin typeface="Verdana" pitchFamily="34" charset="0"/>
          <a:ea typeface="宋体" pitchFamily="2" charset="-122"/>
        </a:defRPr>
      </a:lvl3pPr>
      <a:lvl4pPr algn="l" rtl="0" eaLnBrk="1" fontAlgn="base" hangingPunct="1">
        <a:spcBef>
          <a:spcPct val="0"/>
        </a:spcBef>
        <a:spcAft>
          <a:spcPct val="0"/>
        </a:spcAft>
        <a:defRPr sz="3800">
          <a:solidFill>
            <a:schemeClr val="tx2"/>
          </a:solidFill>
          <a:latin typeface="Verdana" pitchFamily="34" charset="0"/>
          <a:ea typeface="宋体" pitchFamily="2" charset="-122"/>
        </a:defRPr>
      </a:lvl4pPr>
      <a:lvl5pPr algn="l" rtl="0" eaLnBrk="1" fontAlgn="base" hangingPunct="1">
        <a:spcBef>
          <a:spcPct val="0"/>
        </a:spcBef>
        <a:spcAft>
          <a:spcPct val="0"/>
        </a:spcAft>
        <a:defRPr sz="3800">
          <a:solidFill>
            <a:schemeClr val="tx2"/>
          </a:solidFill>
          <a:latin typeface="Verdana" pitchFamily="34" charset="0"/>
          <a:ea typeface="宋体" pitchFamily="2" charset="-122"/>
        </a:defRPr>
      </a:lvl5pPr>
      <a:lvl6pPr marL="457200" algn="l" rtl="0" eaLnBrk="1" fontAlgn="base" hangingPunct="1">
        <a:spcBef>
          <a:spcPct val="0"/>
        </a:spcBef>
        <a:spcAft>
          <a:spcPct val="0"/>
        </a:spcAft>
        <a:defRPr sz="3800">
          <a:solidFill>
            <a:schemeClr val="tx2"/>
          </a:solidFill>
          <a:latin typeface="Verdana" pitchFamily="34" charset="0"/>
          <a:ea typeface="宋体" pitchFamily="2" charset="-122"/>
        </a:defRPr>
      </a:lvl6pPr>
      <a:lvl7pPr marL="914400" algn="l" rtl="0" eaLnBrk="1" fontAlgn="base" hangingPunct="1">
        <a:spcBef>
          <a:spcPct val="0"/>
        </a:spcBef>
        <a:spcAft>
          <a:spcPct val="0"/>
        </a:spcAft>
        <a:defRPr sz="3800">
          <a:solidFill>
            <a:schemeClr val="tx2"/>
          </a:solidFill>
          <a:latin typeface="Verdana" pitchFamily="34" charset="0"/>
          <a:ea typeface="宋体" pitchFamily="2" charset="-122"/>
        </a:defRPr>
      </a:lvl7pPr>
      <a:lvl8pPr marL="1371600" algn="l" rtl="0" eaLnBrk="1" fontAlgn="base" hangingPunct="1">
        <a:spcBef>
          <a:spcPct val="0"/>
        </a:spcBef>
        <a:spcAft>
          <a:spcPct val="0"/>
        </a:spcAft>
        <a:defRPr sz="3800">
          <a:solidFill>
            <a:schemeClr val="tx2"/>
          </a:solidFill>
          <a:latin typeface="Verdana" pitchFamily="34" charset="0"/>
          <a:ea typeface="宋体" pitchFamily="2" charset="-122"/>
        </a:defRPr>
      </a:lvl8pPr>
      <a:lvl9pPr marL="1828800" algn="l" rtl="0" eaLnBrk="1" fontAlgn="base" hangingPunct="1">
        <a:spcBef>
          <a:spcPct val="0"/>
        </a:spcBef>
        <a:spcAft>
          <a:spcPct val="0"/>
        </a:spcAft>
        <a:defRPr sz="3800">
          <a:solidFill>
            <a:schemeClr val="tx2"/>
          </a:solidFill>
          <a:latin typeface="Verdana" pitchFamily="34" charset="0"/>
          <a:ea typeface="宋体" pitchFamily="2" charset="-122"/>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sz="3000">
          <a:solidFill>
            <a:schemeClr val="tx1"/>
          </a:solidFill>
          <a:latin typeface="+mn-lt"/>
          <a:ea typeface="+mn-ea"/>
          <a:cs typeface="+mn-cs"/>
        </a:defRPr>
      </a:lvl1pPr>
      <a:lvl2pPr marL="908050" indent="-436563" algn="l" rtl="0" eaLnBrk="1" fontAlgn="base" hangingPunct="1">
        <a:spcBef>
          <a:spcPct val="20000"/>
        </a:spcBef>
        <a:spcAft>
          <a:spcPct val="0"/>
        </a:spcAft>
        <a:buClr>
          <a:schemeClr val="accent2"/>
        </a:buClr>
        <a:buFont typeface="Wingdings" pitchFamily="2" charset="2"/>
        <a:buChar char="n"/>
        <a:defRPr sz="2600">
          <a:solidFill>
            <a:schemeClr val="tx1"/>
          </a:solidFill>
          <a:latin typeface="+mn-lt"/>
          <a:ea typeface="+mn-ea"/>
        </a:defRPr>
      </a:lvl2pPr>
      <a:lvl3pPr marL="1304925" indent="-395288" algn="l" rtl="0" eaLnBrk="1" fontAlgn="base" hangingPunct="1">
        <a:spcBef>
          <a:spcPct val="20000"/>
        </a:spcBef>
        <a:spcAft>
          <a:spcPct val="0"/>
        </a:spcAft>
        <a:buClr>
          <a:schemeClr val="accent2"/>
        </a:buClr>
        <a:buFont typeface="Wingdings" pitchFamily="2" charset="2"/>
        <a:buChar char="o"/>
        <a:defRPr sz="2300">
          <a:solidFill>
            <a:schemeClr val="tx1"/>
          </a:solidFill>
          <a:latin typeface="+mn-lt"/>
          <a:ea typeface="+mn-ea"/>
        </a:defRPr>
      </a:lvl3pPr>
      <a:lvl4pPr marL="1693863" indent="-387350" algn="l" rtl="0" eaLnBrk="1" fontAlgn="base" hangingPunct="1">
        <a:spcBef>
          <a:spcPct val="20000"/>
        </a:spcBef>
        <a:spcAft>
          <a:spcPct val="0"/>
        </a:spcAft>
        <a:buClr>
          <a:schemeClr val="accent2"/>
        </a:buClr>
        <a:buFont typeface="Wingdings" pitchFamily="2" charset="2"/>
        <a:buChar char="n"/>
        <a:defRPr sz="2000">
          <a:solidFill>
            <a:schemeClr val="tx1"/>
          </a:solidFill>
          <a:latin typeface="+mn-lt"/>
          <a:ea typeface="+mn-ea"/>
        </a:defRPr>
      </a:lvl4pPr>
      <a:lvl5pPr marL="20939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2.xml"/><Relationship Id="rId1" Type="http://schemas.openxmlformats.org/officeDocument/2006/relationships/tags" Target="../tags/tag1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4.xml"/><Relationship Id="rId1" Type="http://schemas.openxmlformats.org/officeDocument/2006/relationships/tags" Target="../tags/tag1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2.xml"/><Relationship Id="rId1" Type="http://schemas.openxmlformats.org/officeDocument/2006/relationships/tags" Target="../tags/tag2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4.xml"/><Relationship Id="rId1" Type="http://schemas.openxmlformats.org/officeDocument/2006/relationships/tags" Target="../tags/tag23.xml"/><Relationship Id="rId5"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6.xml"/><Relationship Id="rId1" Type="http://schemas.openxmlformats.org/officeDocument/2006/relationships/tags" Target="../tags/tag25.xml"/><Relationship Id="rId5"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image" Target="../media/image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image" Target="../media/image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4.xml"/><Relationship Id="rId1" Type="http://schemas.openxmlformats.org/officeDocument/2006/relationships/tags" Target="../tags/tag33.xml"/><Relationship Id="rId5" Type="http://schemas.openxmlformats.org/officeDocument/2006/relationships/image" Target="../media/image1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6.xml"/><Relationship Id="rId1" Type="http://schemas.openxmlformats.org/officeDocument/2006/relationships/tags" Target="../tags/tag35.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image" Target="../media/image1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image" Target="../media/image14.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6.xml"/><Relationship Id="rId1" Type="http://schemas.openxmlformats.org/officeDocument/2006/relationships/tags" Target="../tags/tag45.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8.xml"/><Relationship Id="rId1" Type="http://schemas.openxmlformats.org/officeDocument/2006/relationships/tags" Target="../tags/tag47.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0.xml"/><Relationship Id="rId1" Type="http://schemas.openxmlformats.org/officeDocument/2006/relationships/tags" Target="../tags/tag49.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2.xml"/><Relationship Id="rId1" Type="http://schemas.openxmlformats.org/officeDocument/2006/relationships/tags" Target="../tags/tag51.xml"/><Relationship Id="rId5" Type="http://schemas.openxmlformats.org/officeDocument/2006/relationships/image" Target="../media/image15.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4.xml"/><Relationship Id="rId1" Type="http://schemas.openxmlformats.org/officeDocument/2006/relationships/tags" Target="../tags/tag5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16.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8.xml"/><Relationship Id="rId1" Type="http://schemas.openxmlformats.org/officeDocument/2006/relationships/tags" Target="../tags/tag57.xml"/><Relationship Id="rId5" Type="http://schemas.openxmlformats.org/officeDocument/2006/relationships/image" Target="../media/image17.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0.xml"/><Relationship Id="rId1" Type="http://schemas.openxmlformats.org/officeDocument/2006/relationships/tags" Target="../tags/tag59.xml"/><Relationship Id="rId5" Type="http://schemas.openxmlformats.org/officeDocument/2006/relationships/image" Target="../media/image17.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4.xml"/><Relationship Id="rId1" Type="http://schemas.openxmlformats.org/officeDocument/2006/relationships/tags" Target="../tags/tag63.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6.xml"/><Relationship Id="rId1" Type="http://schemas.openxmlformats.org/officeDocument/2006/relationships/tags" Target="../tags/tag65.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image" Target="../media/image18.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0.xml"/><Relationship Id="rId1" Type="http://schemas.openxmlformats.org/officeDocument/2006/relationships/tags" Target="../tags/tag69.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2.xml"/><Relationship Id="rId1" Type="http://schemas.openxmlformats.org/officeDocument/2006/relationships/tags" Target="../tags/tag71.xml"/><Relationship Id="rId5" Type="http://schemas.openxmlformats.org/officeDocument/2006/relationships/image" Target="../media/image19.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4.xml"/><Relationship Id="rId1" Type="http://schemas.openxmlformats.org/officeDocument/2006/relationships/tags" Target="../tags/tag73.xml"/><Relationship Id="rId5" Type="http://schemas.openxmlformats.org/officeDocument/2006/relationships/image" Target="../media/image20.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6.xml"/><Relationship Id="rId1" Type="http://schemas.openxmlformats.org/officeDocument/2006/relationships/tags" Target="../tags/tag75.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8.xml"/><Relationship Id="rId1" Type="http://schemas.openxmlformats.org/officeDocument/2006/relationships/tags" Target="../tags/tag77.xml"/><Relationship Id="rId5" Type="http://schemas.openxmlformats.org/officeDocument/2006/relationships/image" Target="../media/image3.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0.xml"/><Relationship Id="rId1" Type="http://schemas.openxmlformats.org/officeDocument/2006/relationships/tags" Target="../tags/tag79.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2.xml"/><Relationship Id="rId1" Type="http://schemas.openxmlformats.org/officeDocument/2006/relationships/tags" Target="../tags/tag8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4.xml"/><Relationship Id="rId1" Type="http://schemas.openxmlformats.org/officeDocument/2006/relationships/tags" Target="../tags/tag83.xml"/><Relationship Id="rId5" Type="http://schemas.openxmlformats.org/officeDocument/2006/relationships/image" Target="../media/image21.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6.xml"/><Relationship Id="rId1" Type="http://schemas.openxmlformats.org/officeDocument/2006/relationships/tags" Target="../tags/tag85.xml"/><Relationship Id="rId5" Type="http://schemas.openxmlformats.org/officeDocument/2006/relationships/image" Target="../media/image2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8.xml"/><Relationship Id="rId1" Type="http://schemas.openxmlformats.org/officeDocument/2006/relationships/tags" Target="../tags/tag87.xml"/><Relationship Id="rId5" Type="http://schemas.openxmlformats.org/officeDocument/2006/relationships/image" Target="../media/image23.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90.xml"/><Relationship Id="rId1" Type="http://schemas.openxmlformats.org/officeDocument/2006/relationships/tags" Target="../tags/tag89.xml"/><Relationship Id="rId5" Type="http://schemas.openxmlformats.org/officeDocument/2006/relationships/image" Target="../media/image24.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92.xml"/><Relationship Id="rId1" Type="http://schemas.openxmlformats.org/officeDocument/2006/relationships/tags" Target="../tags/tag91.xml"/><Relationship Id="rId5" Type="http://schemas.openxmlformats.org/officeDocument/2006/relationships/image" Target="../media/image25.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94.xml"/><Relationship Id="rId1" Type="http://schemas.openxmlformats.org/officeDocument/2006/relationships/tags" Target="../tags/tag93.xml"/><Relationship Id="rId5" Type="http://schemas.openxmlformats.org/officeDocument/2006/relationships/image" Target="../media/image26.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96.xml"/><Relationship Id="rId1" Type="http://schemas.openxmlformats.org/officeDocument/2006/relationships/tags" Target="../tags/tag95.xml"/><Relationship Id="rId5" Type="http://schemas.openxmlformats.org/officeDocument/2006/relationships/image" Target="../media/image27.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98.xml"/><Relationship Id="rId1" Type="http://schemas.openxmlformats.org/officeDocument/2006/relationships/tags" Target="../tags/tag97.xml"/><Relationship Id="rId5" Type="http://schemas.openxmlformats.org/officeDocument/2006/relationships/image" Target="../media/image28.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00.xml"/><Relationship Id="rId1" Type="http://schemas.openxmlformats.org/officeDocument/2006/relationships/tags" Target="../tags/tag99.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06.xml"/><Relationship Id="rId1" Type="http://schemas.openxmlformats.org/officeDocument/2006/relationships/tags" Target="../tags/tag105.xml"/><Relationship Id="rId5" Type="http://schemas.openxmlformats.org/officeDocument/2006/relationships/image" Target="../media/image33.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08.xml"/><Relationship Id="rId1" Type="http://schemas.openxmlformats.org/officeDocument/2006/relationships/tags" Target="../tags/tag107.xml"/><Relationship Id="rId5" Type="http://schemas.openxmlformats.org/officeDocument/2006/relationships/image" Target="../media/image34.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10.xml"/><Relationship Id="rId1" Type="http://schemas.openxmlformats.org/officeDocument/2006/relationships/tags" Target="../tags/tag109.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12.xml"/><Relationship Id="rId1" Type="http://schemas.openxmlformats.org/officeDocument/2006/relationships/tags" Target="../tags/tag111.xml"/><Relationship Id="rId5" Type="http://schemas.openxmlformats.org/officeDocument/2006/relationships/image" Target="../media/image35.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14.xml"/><Relationship Id="rId1" Type="http://schemas.openxmlformats.org/officeDocument/2006/relationships/tags" Target="../tags/tag113.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16.xml"/><Relationship Id="rId1" Type="http://schemas.openxmlformats.org/officeDocument/2006/relationships/tags" Target="../tags/tag115.xml"/><Relationship Id="rId5" Type="http://schemas.openxmlformats.org/officeDocument/2006/relationships/image" Target="../media/image36.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18.xml"/><Relationship Id="rId1" Type="http://schemas.openxmlformats.org/officeDocument/2006/relationships/tags" Target="../tags/tag117.xml"/><Relationship Id="rId5" Type="http://schemas.openxmlformats.org/officeDocument/2006/relationships/image" Target="../media/image37.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20.xml"/><Relationship Id="rId1" Type="http://schemas.openxmlformats.org/officeDocument/2006/relationships/tags" Target="../tags/tag119.xml"/><Relationship Id="rId5" Type="http://schemas.openxmlformats.org/officeDocument/2006/relationships/image" Target="../media/image38.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22.xml"/><Relationship Id="rId1" Type="http://schemas.openxmlformats.org/officeDocument/2006/relationships/tags" Target="../tags/tag121.xml"/><Relationship Id="rId5" Type="http://schemas.openxmlformats.org/officeDocument/2006/relationships/image" Target="../media/image39.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24.xml"/><Relationship Id="rId1" Type="http://schemas.openxmlformats.org/officeDocument/2006/relationships/tags" Target="../tags/tag123.xml"/><Relationship Id="rId5" Type="http://schemas.openxmlformats.org/officeDocument/2006/relationships/image" Target="../media/image40.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26.xml"/><Relationship Id="rId1" Type="http://schemas.openxmlformats.org/officeDocument/2006/relationships/tags" Target="../tags/tag125.xml"/><Relationship Id="rId5" Type="http://schemas.openxmlformats.org/officeDocument/2006/relationships/image" Target="../media/image41.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28.xml"/><Relationship Id="rId1" Type="http://schemas.openxmlformats.org/officeDocument/2006/relationships/tags" Target="../tags/tag127.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30.xml"/><Relationship Id="rId1" Type="http://schemas.openxmlformats.org/officeDocument/2006/relationships/tags" Target="../tags/tag129.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32.xml"/><Relationship Id="rId1" Type="http://schemas.openxmlformats.org/officeDocument/2006/relationships/tags" Target="../tags/tag13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34.xml"/><Relationship Id="rId1" Type="http://schemas.openxmlformats.org/officeDocument/2006/relationships/tags" Target="../tags/tag133.xml"/><Relationship Id="rId5" Type="http://schemas.openxmlformats.org/officeDocument/2006/relationships/image" Target="../media/image42.png"/><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xml"/><Relationship Id="rId1" Type="http://schemas.openxmlformats.org/officeDocument/2006/relationships/tags" Target="../tags/tag1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r>
              <a:rPr lang="en-US" altLang="zh-CN" dirty="0">
                <a:solidFill>
                  <a:schemeClr val="tx1"/>
                </a:solidFill>
                <a:latin typeface="+mj-lt"/>
                <a:ea typeface="+mj-ea"/>
              </a:rPr>
              <a:t>Python</a:t>
            </a:r>
            <a:r>
              <a:rPr lang="zh-CN" altLang="en-US" dirty="0">
                <a:solidFill>
                  <a:schemeClr val="tx1"/>
                </a:solidFill>
                <a:latin typeface="+mj-lt"/>
                <a:ea typeface="+mj-ea"/>
              </a:rPr>
              <a:t>程序设计</a:t>
            </a:r>
            <a:endParaRPr lang="en-US" altLang="zh-CN" dirty="0">
              <a:solidFill>
                <a:schemeClr val="tx1"/>
              </a:solidFill>
              <a:latin typeface="+mj-lt"/>
              <a:ea typeface="+mj-ea"/>
            </a:endParaRPr>
          </a:p>
        </p:txBody>
      </p:sp>
      <p:sp>
        <p:nvSpPr>
          <p:cNvPr id="2" name="文本框 1"/>
          <p:cNvSpPr txBox="1"/>
          <p:nvPr/>
        </p:nvSpPr>
        <p:spPr>
          <a:xfrm>
            <a:off x="1324567" y="2728912"/>
            <a:ext cx="9469259" cy="1292662"/>
          </a:xfrm>
          <a:prstGeom prst="rect">
            <a:avLst/>
          </a:prstGeom>
          <a:noFill/>
        </p:spPr>
        <p:txBody>
          <a:bodyPr wrap="none" rtlCol="0">
            <a:spAutoFit/>
          </a:bodyPr>
          <a:lstStyle/>
          <a:p>
            <a:pPr>
              <a:lnSpc>
                <a:spcPct val="130000"/>
              </a:lnSpc>
            </a:pPr>
            <a:r>
              <a:rPr lang="zh-CN" altLang="en-US" sz="6000" b="1" dirty="0">
                <a:solidFill>
                  <a:schemeClr val="tx1">
                    <a:lumMod val="50000"/>
                  </a:schemeClr>
                </a:solidFill>
                <a:latin typeface="宋体" panose="02010600030101010101" pitchFamily="2" charset="-122"/>
                <a:ea typeface="宋体" panose="02010600030101010101" pitchFamily="2" charset="-122"/>
              </a:rPr>
              <a:t>第</a:t>
            </a:r>
            <a:r>
              <a:rPr lang="en-US" altLang="zh-CN" sz="6000" b="1" dirty="0">
                <a:solidFill>
                  <a:schemeClr val="tx1">
                    <a:lumMod val="50000"/>
                  </a:schemeClr>
                </a:solidFill>
                <a:latin typeface="宋体" panose="02010600030101010101" pitchFamily="2" charset="-122"/>
                <a:ea typeface="宋体" panose="02010600030101010101" pitchFamily="2" charset="-122"/>
              </a:rPr>
              <a:t>3</a:t>
            </a:r>
            <a:r>
              <a:rPr lang="zh-CN" altLang="en-US" sz="6000" b="1" dirty="0">
                <a:solidFill>
                  <a:schemeClr val="tx1">
                    <a:lumMod val="50000"/>
                  </a:schemeClr>
                </a:solidFill>
                <a:latin typeface="宋体" panose="02010600030101010101" pitchFamily="2" charset="-122"/>
                <a:ea typeface="宋体" panose="02010600030101010101" pitchFamily="2" charset="-122"/>
              </a:rPr>
              <a:t>章 </a:t>
            </a:r>
            <a:r>
              <a:rPr lang="en-US" altLang="zh-CN" sz="6000" b="1" dirty="0">
                <a:solidFill>
                  <a:schemeClr val="tx1">
                    <a:lumMod val="50000"/>
                  </a:schemeClr>
                </a:solidFill>
                <a:latin typeface="宋体" panose="02010600030101010101" pitchFamily="2" charset="-122"/>
                <a:ea typeface="宋体" panose="02010600030101010101" pitchFamily="2" charset="-122"/>
              </a:rPr>
              <a:t>Python</a:t>
            </a:r>
            <a:r>
              <a:rPr lang="zh-CN" altLang="en-US" sz="6000" b="1" dirty="0">
                <a:solidFill>
                  <a:schemeClr val="tx1">
                    <a:lumMod val="50000"/>
                  </a:schemeClr>
                </a:solidFill>
                <a:latin typeface="宋体" panose="02010600030101010101" pitchFamily="2" charset="-122"/>
                <a:ea typeface="宋体" panose="02010600030101010101" pitchFamily="2" charset="-122"/>
              </a:rPr>
              <a:t>程序控制结构</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r>
              <a:rPr lang="en-US" altLang="zh-CN" dirty="0">
                <a:solidFill>
                  <a:schemeClr val="tx1"/>
                </a:solidFill>
                <a:latin typeface="+mj-lt"/>
                <a:ea typeface="+mj-ea"/>
              </a:rPr>
              <a:t>Python</a:t>
            </a:r>
            <a:r>
              <a:rPr lang="zh-CN" altLang="en-US" dirty="0">
                <a:solidFill>
                  <a:schemeClr val="tx1"/>
                </a:solidFill>
                <a:latin typeface="+mj-lt"/>
                <a:ea typeface="+mj-ea"/>
              </a:rPr>
              <a:t>程序设计</a:t>
            </a:r>
            <a:endParaRPr lang="en-US" altLang="zh-CN" dirty="0">
              <a:solidFill>
                <a:schemeClr val="tx1"/>
              </a:solidFill>
              <a:latin typeface="+mj-lt"/>
              <a:ea typeface="+mj-ea"/>
            </a:endParaRPr>
          </a:p>
        </p:txBody>
      </p:sp>
      <p:sp>
        <p:nvSpPr>
          <p:cNvPr id="2" name="文本框 1"/>
          <p:cNvSpPr txBox="1"/>
          <p:nvPr/>
        </p:nvSpPr>
        <p:spPr>
          <a:xfrm>
            <a:off x="2882686" y="1994977"/>
            <a:ext cx="4823756" cy="2492990"/>
          </a:xfrm>
          <a:prstGeom prst="rect">
            <a:avLst/>
          </a:prstGeom>
          <a:noFill/>
        </p:spPr>
        <p:txBody>
          <a:bodyPr wrap="none" rtlCol="0">
            <a:spAutoFit/>
          </a:bodyPr>
          <a:lstStyle/>
          <a:p>
            <a:pPr>
              <a:lnSpc>
                <a:spcPct val="130000"/>
              </a:lnSpc>
            </a:pPr>
            <a:r>
              <a:rPr lang="en-US" altLang="zh-CN" sz="4000" b="1" dirty="0">
                <a:solidFill>
                  <a:srgbClr val="00B0F0"/>
                </a:solidFill>
                <a:latin typeface="宋体" panose="02010600030101010101" pitchFamily="2" charset="-122"/>
                <a:ea typeface="宋体" panose="02010600030101010101" pitchFamily="2" charset="-122"/>
              </a:rPr>
              <a:t>3.1 </a:t>
            </a:r>
            <a:r>
              <a:rPr lang="zh-CN" altLang="en-US" sz="4000" b="1" dirty="0">
                <a:solidFill>
                  <a:srgbClr val="00B0F0"/>
                </a:solidFill>
                <a:latin typeface="宋体" panose="02010600030101010101" pitchFamily="2" charset="-122"/>
                <a:ea typeface="宋体" panose="02010600030101010101" pitchFamily="2" charset="-122"/>
              </a:rPr>
              <a:t>程序的流程图</a:t>
            </a:r>
            <a:endParaRPr lang="en-US" altLang="zh-CN" sz="4000" b="1" dirty="0">
              <a:solidFill>
                <a:srgbClr val="00B0F0"/>
              </a:solidFill>
              <a:latin typeface="宋体" panose="02010600030101010101" pitchFamily="2" charset="-122"/>
              <a:ea typeface="宋体" panose="02010600030101010101" pitchFamily="2" charset="-122"/>
            </a:endParaRPr>
          </a:p>
          <a:p>
            <a:pPr>
              <a:lnSpc>
                <a:spcPct val="130000"/>
              </a:lnSpc>
            </a:pPr>
            <a:r>
              <a:rPr lang="en-US" altLang="zh-CN" sz="4000" b="1" dirty="0">
                <a:solidFill>
                  <a:schemeClr val="tx1">
                    <a:lumMod val="50000"/>
                  </a:schemeClr>
                </a:solidFill>
                <a:latin typeface="宋体" panose="02010600030101010101" pitchFamily="2" charset="-122"/>
                <a:ea typeface="宋体" panose="02010600030101010101" pitchFamily="2" charset="-122"/>
              </a:rPr>
              <a:t>3.2 Python</a:t>
            </a:r>
            <a:r>
              <a:rPr lang="zh-CN" altLang="en-US" sz="4000" b="1" dirty="0">
                <a:solidFill>
                  <a:schemeClr val="tx1">
                    <a:lumMod val="50000"/>
                  </a:schemeClr>
                </a:solidFill>
                <a:latin typeface="宋体" panose="02010600030101010101" pitchFamily="2" charset="-122"/>
                <a:ea typeface="宋体" panose="02010600030101010101" pitchFamily="2" charset="-122"/>
              </a:rPr>
              <a:t>分支结构</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a:p>
            <a:pPr>
              <a:lnSpc>
                <a:spcPct val="130000"/>
              </a:lnSpc>
            </a:pPr>
            <a:r>
              <a:rPr lang="en-US" altLang="zh-CN" sz="4000" b="1" dirty="0">
                <a:solidFill>
                  <a:schemeClr val="tx1">
                    <a:lumMod val="50000"/>
                  </a:schemeClr>
                </a:solidFill>
                <a:latin typeface="宋体" panose="02010600030101010101" pitchFamily="2" charset="-122"/>
                <a:ea typeface="宋体" panose="02010600030101010101" pitchFamily="2" charset="-122"/>
              </a:rPr>
              <a:t>3.3 Python</a:t>
            </a:r>
            <a:r>
              <a:rPr lang="zh-CN" altLang="en-US" sz="4000" b="1" dirty="0">
                <a:solidFill>
                  <a:schemeClr val="tx1">
                    <a:lumMod val="50000"/>
                  </a:schemeClr>
                </a:solidFill>
                <a:latin typeface="宋体" panose="02010600030101010101" pitchFamily="2" charset="-122"/>
                <a:ea typeface="宋体" panose="02010600030101010101" pitchFamily="2" charset="-122"/>
              </a:rPr>
              <a:t>循环结构</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570735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r>
              <a:rPr lang="en-US" altLang="zh-CN" dirty="0">
                <a:solidFill>
                  <a:schemeClr val="tx1"/>
                </a:solidFill>
                <a:latin typeface="+mj-lt"/>
                <a:ea typeface="+mj-ea"/>
              </a:rPr>
              <a:t>Python</a:t>
            </a:r>
            <a:r>
              <a:rPr lang="zh-CN" altLang="en-US" dirty="0">
                <a:solidFill>
                  <a:schemeClr val="tx1"/>
                </a:solidFill>
                <a:latin typeface="+mj-lt"/>
                <a:ea typeface="+mj-ea"/>
              </a:rPr>
              <a:t>程序设计</a:t>
            </a:r>
            <a:endParaRPr lang="en-US" altLang="zh-CN" dirty="0">
              <a:solidFill>
                <a:schemeClr val="tx1"/>
              </a:solidFill>
              <a:latin typeface="+mj-lt"/>
              <a:ea typeface="+mj-ea"/>
            </a:endParaRPr>
          </a:p>
        </p:txBody>
      </p:sp>
      <p:sp>
        <p:nvSpPr>
          <p:cNvPr id="2" name="文本框 1"/>
          <p:cNvSpPr txBox="1"/>
          <p:nvPr/>
        </p:nvSpPr>
        <p:spPr>
          <a:xfrm>
            <a:off x="5398658" y="2432915"/>
            <a:ext cx="4004622" cy="2252924"/>
          </a:xfrm>
          <a:prstGeom prst="rect">
            <a:avLst/>
          </a:prstGeom>
          <a:noFill/>
        </p:spPr>
        <p:txBody>
          <a:bodyPr wrap="none" rtlCol="0">
            <a:spAutoFit/>
          </a:bodyPr>
          <a:lstStyle/>
          <a:p>
            <a:pPr marL="571500" indent="-571500">
              <a:lnSpc>
                <a:spcPct val="130000"/>
              </a:lnSpc>
              <a:buFont typeface="Wingdings" panose="05000000000000000000" pitchFamily="2" charset="2"/>
              <a:buChar char="Ø"/>
            </a:pPr>
            <a:r>
              <a:rPr lang="zh-CN" altLang="en-US" sz="3600" b="1" dirty="0">
                <a:solidFill>
                  <a:schemeClr val="tx1">
                    <a:lumMod val="50000"/>
                  </a:schemeClr>
                </a:solidFill>
                <a:latin typeface="宋体" panose="02010600030101010101" pitchFamily="2" charset="-122"/>
                <a:ea typeface="宋体" panose="02010600030101010101" pitchFamily="2" charset="-122"/>
              </a:rPr>
              <a:t>流程图基本元素</a:t>
            </a:r>
            <a:endParaRPr lang="en-US" altLang="zh-CN" sz="3600" b="1" dirty="0">
              <a:solidFill>
                <a:schemeClr val="tx1">
                  <a:lumMod val="50000"/>
                </a:schemeClr>
              </a:solidFill>
              <a:latin typeface="宋体" panose="02010600030101010101" pitchFamily="2" charset="-122"/>
              <a:ea typeface="宋体" panose="02010600030101010101" pitchFamily="2" charset="-122"/>
            </a:endParaRPr>
          </a:p>
          <a:p>
            <a:pPr marL="571500" indent="-571500">
              <a:lnSpc>
                <a:spcPct val="130000"/>
              </a:lnSpc>
              <a:buFont typeface="Wingdings" panose="05000000000000000000" pitchFamily="2" charset="2"/>
              <a:buChar char="Ø"/>
            </a:pPr>
            <a:r>
              <a:rPr lang="zh-CN" altLang="en-US" sz="3600" b="1" dirty="0">
                <a:solidFill>
                  <a:schemeClr val="tx1">
                    <a:lumMod val="50000"/>
                  </a:schemeClr>
                </a:solidFill>
                <a:latin typeface="宋体" panose="02010600030101010101" pitchFamily="2" charset="-122"/>
                <a:ea typeface="宋体" panose="02010600030101010101" pitchFamily="2" charset="-122"/>
              </a:rPr>
              <a:t>程序流程图</a:t>
            </a:r>
          </a:p>
          <a:p>
            <a:pPr marL="571500" indent="-571500">
              <a:lnSpc>
                <a:spcPct val="130000"/>
              </a:lnSpc>
              <a:buFont typeface="Wingdings" panose="05000000000000000000" pitchFamily="2" charset="2"/>
              <a:buChar char="Ø"/>
            </a:pPr>
            <a:r>
              <a:rPr lang="zh-CN" altLang="en-US" sz="3600" b="1" dirty="0">
                <a:solidFill>
                  <a:schemeClr val="tx1">
                    <a:lumMod val="50000"/>
                  </a:schemeClr>
                </a:solidFill>
                <a:latin typeface="宋体" panose="02010600030101010101" pitchFamily="2" charset="-122"/>
                <a:ea typeface="宋体" panose="02010600030101010101" pitchFamily="2" charset="-122"/>
              </a:rPr>
              <a:t>程序基本结构</a:t>
            </a:r>
            <a:endParaRPr lang="en-US" altLang="zh-CN" sz="3600" b="1" dirty="0">
              <a:solidFill>
                <a:schemeClr val="tx1">
                  <a:lumMod val="50000"/>
                </a:schemeClr>
              </a:solidFill>
              <a:latin typeface="宋体" panose="02010600030101010101" pitchFamily="2" charset="-122"/>
              <a:ea typeface="宋体" panose="02010600030101010101" pitchFamily="2" charset="-122"/>
            </a:endParaRPr>
          </a:p>
        </p:txBody>
      </p:sp>
      <p:pic>
        <p:nvPicPr>
          <p:cNvPr id="7" name="图片 6"/>
          <p:cNvPicPr>
            <a:picLocks noChangeAspect="1"/>
          </p:cNvPicPr>
          <p:nvPr/>
        </p:nvPicPr>
        <p:blipFill>
          <a:blip r:embed="rId5" cstate="print"/>
          <a:stretch>
            <a:fillRect/>
          </a:stretch>
        </p:blipFill>
        <p:spPr>
          <a:xfrm>
            <a:off x="827210" y="2448995"/>
            <a:ext cx="3523809" cy="2009524"/>
          </a:xfrm>
          <a:prstGeom prst="rect">
            <a:avLst/>
          </a:prstGeom>
        </p:spPr>
      </p:pic>
      <p:sp>
        <p:nvSpPr>
          <p:cNvPr id="9" name="文本框 8"/>
          <p:cNvSpPr txBox="1"/>
          <p:nvPr/>
        </p:nvSpPr>
        <p:spPr>
          <a:xfrm>
            <a:off x="5482015" y="1235388"/>
            <a:ext cx="3272050"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程序的流程图</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716644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gn="just"/>
            <a:r>
              <a:rPr lang="zh-CN" altLang="en-US" dirty="0">
                <a:solidFill>
                  <a:schemeClr val="tx1"/>
                </a:solidFill>
                <a:latin typeface="+mj-lt"/>
                <a:ea typeface="+mj-ea"/>
              </a:rPr>
              <a:t>程序流程图</a:t>
            </a:r>
            <a:endParaRPr lang="en-US" altLang="zh-CN" dirty="0">
              <a:solidFill>
                <a:schemeClr val="tx1"/>
              </a:solidFill>
              <a:latin typeface="+mj-lt"/>
              <a:ea typeface="+mj-ea"/>
            </a:endParaRPr>
          </a:p>
        </p:txBody>
      </p:sp>
      <p:sp>
        <p:nvSpPr>
          <p:cNvPr id="9" name="文本框 8"/>
          <p:cNvSpPr txBox="1"/>
          <p:nvPr/>
        </p:nvSpPr>
        <p:spPr>
          <a:xfrm>
            <a:off x="4198464" y="1196184"/>
            <a:ext cx="3786614"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流程图基本元素</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2" name="矩形 1"/>
          <p:cNvSpPr/>
          <p:nvPr/>
        </p:nvSpPr>
        <p:spPr>
          <a:xfrm>
            <a:off x="1055878" y="2094473"/>
            <a:ext cx="10070757" cy="954107"/>
          </a:xfrm>
          <a:prstGeom prst="rect">
            <a:avLst/>
          </a:prstGeom>
        </p:spPr>
        <p:txBody>
          <a:bodyPr wrap="square">
            <a:spAutoFit/>
          </a:bodyPr>
          <a:lstStyle/>
          <a:p>
            <a:r>
              <a:rPr lang="zh-CN" altLang="en-US" sz="2800" dirty="0">
                <a:solidFill>
                  <a:schemeClr val="tx1">
                    <a:lumMod val="50000"/>
                  </a:schemeClr>
                </a:solidFill>
              </a:rPr>
              <a:t>•程序流程图用一系列图形、流程线和文字说明描述程序的基本操作和控制流程，它是程序分析和过程描述的最基本方式。</a:t>
            </a:r>
          </a:p>
        </p:txBody>
      </p:sp>
      <p:sp>
        <p:nvSpPr>
          <p:cNvPr id="5" name="矩形 4"/>
          <p:cNvSpPr/>
          <p:nvPr/>
        </p:nvSpPr>
        <p:spPr>
          <a:xfrm>
            <a:off x="1055878" y="3644733"/>
            <a:ext cx="4459875" cy="523220"/>
          </a:xfrm>
          <a:prstGeom prst="rect">
            <a:avLst/>
          </a:prstGeom>
        </p:spPr>
        <p:txBody>
          <a:bodyPr wrap="none">
            <a:spAutoFit/>
          </a:bodyPr>
          <a:lstStyle/>
          <a:p>
            <a:r>
              <a:rPr lang="zh-CN" altLang="en-US" sz="2800" dirty="0">
                <a:solidFill>
                  <a:schemeClr val="tx1">
                    <a:lumMod val="50000"/>
                  </a:schemeClr>
                </a:solidFill>
              </a:rPr>
              <a:t>•流程图的基本元素包括7种</a:t>
            </a:r>
          </a:p>
        </p:txBody>
      </p:sp>
      <p:pic>
        <p:nvPicPr>
          <p:cNvPr id="6" name="图片 5"/>
          <p:cNvPicPr>
            <a:picLocks noChangeAspect="1"/>
          </p:cNvPicPr>
          <p:nvPr/>
        </p:nvPicPr>
        <p:blipFill>
          <a:blip r:embed="rId5" cstate="print"/>
          <a:stretch>
            <a:fillRect/>
          </a:stretch>
        </p:blipFill>
        <p:spPr>
          <a:xfrm>
            <a:off x="6192159" y="3167811"/>
            <a:ext cx="4887113" cy="2990142"/>
          </a:xfrm>
          <a:prstGeom prst="rect">
            <a:avLst/>
          </a:prstGeom>
        </p:spPr>
      </p:pic>
    </p:spTree>
    <p:custDataLst>
      <p:tags r:id="rId1"/>
    </p:custDataLst>
    <p:extLst>
      <p:ext uri="{BB962C8B-B14F-4D97-AF65-F5344CB8AC3E}">
        <p14:creationId xmlns:p14="http://schemas.microsoft.com/office/powerpoint/2010/main" val="531970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gn="just"/>
            <a:r>
              <a:rPr lang="zh-CN" altLang="en-US" dirty="0">
                <a:solidFill>
                  <a:schemeClr val="tx1"/>
                </a:solidFill>
                <a:latin typeface="+mj-lt"/>
                <a:ea typeface="+mj-ea"/>
              </a:rPr>
              <a:t>程序流程图</a:t>
            </a:r>
            <a:endParaRPr lang="en-US" altLang="zh-CN" dirty="0">
              <a:solidFill>
                <a:schemeClr val="tx1"/>
              </a:solidFill>
              <a:latin typeface="+mj-lt"/>
              <a:ea typeface="+mj-ea"/>
            </a:endParaRPr>
          </a:p>
        </p:txBody>
      </p:sp>
      <p:sp>
        <p:nvSpPr>
          <p:cNvPr id="5" name="矩形 4"/>
          <p:cNvSpPr/>
          <p:nvPr/>
        </p:nvSpPr>
        <p:spPr>
          <a:xfrm>
            <a:off x="680489" y="1173536"/>
            <a:ext cx="2698175" cy="523220"/>
          </a:xfrm>
          <a:prstGeom prst="rect">
            <a:avLst/>
          </a:prstGeom>
        </p:spPr>
        <p:txBody>
          <a:bodyPr wrap="none">
            <a:spAutoFit/>
          </a:bodyPr>
          <a:lstStyle/>
          <a:p>
            <a:r>
              <a:rPr lang="zh-CN" altLang="en-US" sz="2800" dirty="0">
                <a:solidFill>
                  <a:schemeClr val="tx1">
                    <a:lumMod val="50000"/>
                  </a:schemeClr>
                </a:solidFill>
              </a:rPr>
              <a:t>程序流程图示例</a:t>
            </a:r>
          </a:p>
        </p:txBody>
      </p:sp>
      <p:pic>
        <p:nvPicPr>
          <p:cNvPr id="4" name="图片 3"/>
          <p:cNvPicPr>
            <a:picLocks noChangeAspect="1"/>
          </p:cNvPicPr>
          <p:nvPr/>
        </p:nvPicPr>
        <p:blipFill>
          <a:blip r:embed="rId5" cstate="print"/>
          <a:stretch>
            <a:fillRect/>
          </a:stretch>
        </p:blipFill>
        <p:spPr>
          <a:xfrm>
            <a:off x="3333217" y="2308150"/>
            <a:ext cx="5516080" cy="3376314"/>
          </a:xfrm>
          <a:prstGeom prst="rect">
            <a:avLst/>
          </a:prstGeom>
        </p:spPr>
      </p:pic>
    </p:spTree>
    <p:custDataLst>
      <p:tags r:id="rId1"/>
    </p:custDataLst>
    <p:extLst>
      <p:ext uri="{BB962C8B-B14F-4D97-AF65-F5344CB8AC3E}">
        <p14:creationId xmlns:p14="http://schemas.microsoft.com/office/powerpoint/2010/main" val="843090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lnSpcReduction="10000"/>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nSpc>
                <a:spcPct val="130000"/>
              </a:lnSpc>
            </a:pPr>
            <a:r>
              <a:rPr lang="zh-CN" altLang="en-US" dirty="0">
                <a:solidFill>
                  <a:schemeClr val="tx1">
                    <a:lumMod val="50000"/>
                  </a:schemeClr>
                </a:solidFill>
                <a:latin typeface="宋体" panose="02010600030101010101" pitchFamily="2" charset="-122"/>
                <a:ea typeface="宋体" panose="02010600030101010101" pitchFamily="2" charset="-122"/>
              </a:rPr>
              <a:t>程序的基本结构</a:t>
            </a:r>
            <a:endParaRPr lang="en-US" altLang="zh-CN" dirty="0">
              <a:solidFill>
                <a:schemeClr val="tx1">
                  <a:lumMod val="50000"/>
                </a:schemeClr>
              </a:solidFill>
              <a:latin typeface="宋体" panose="02010600030101010101" pitchFamily="2" charset="-122"/>
              <a:ea typeface="宋体" panose="02010600030101010101" pitchFamily="2" charset="-122"/>
            </a:endParaRPr>
          </a:p>
        </p:txBody>
      </p:sp>
      <p:sp>
        <p:nvSpPr>
          <p:cNvPr id="9" name="文本框 8"/>
          <p:cNvSpPr txBox="1"/>
          <p:nvPr/>
        </p:nvSpPr>
        <p:spPr>
          <a:xfrm>
            <a:off x="4197950" y="1107702"/>
            <a:ext cx="3786614" cy="892552"/>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程序的基本结构</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5" name="矩形 4"/>
          <p:cNvSpPr/>
          <p:nvPr/>
        </p:nvSpPr>
        <p:spPr>
          <a:xfrm>
            <a:off x="1484503" y="2020384"/>
            <a:ext cx="4493538" cy="3108543"/>
          </a:xfrm>
          <a:prstGeom prst="rect">
            <a:avLst/>
          </a:prstGeom>
        </p:spPr>
        <p:txBody>
          <a:bodyPr wrap="none">
            <a:spAutoFit/>
          </a:bodyPr>
          <a:lstStyle/>
          <a:p>
            <a:r>
              <a:rPr lang="zh-CN" altLang="en-US" sz="2800" dirty="0">
                <a:solidFill>
                  <a:schemeClr val="tx1">
                    <a:lumMod val="50000"/>
                  </a:schemeClr>
                </a:solidFill>
              </a:rPr>
              <a:t>程序由三种基本结构组成：</a:t>
            </a:r>
            <a:endParaRPr lang="en-US" altLang="zh-CN" sz="2800" dirty="0">
              <a:solidFill>
                <a:schemeClr val="tx1">
                  <a:lumMod val="50000"/>
                </a:schemeClr>
              </a:solidFill>
            </a:endParaRPr>
          </a:p>
          <a:p>
            <a:endParaRPr lang="zh-CN" altLang="en-US" sz="2800" dirty="0">
              <a:solidFill>
                <a:schemeClr val="tx1">
                  <a:lumMod val="50000"/>
                </a:schemeClr>
              </a:solidFill>
            </a:endParaRPr>
          </a:p>
          <a:p>
            <a:r>
              <a:rPr lang="zh-CN" altLang="en-US" sz="2800" dirty="0">
                <a:solidFill>
                  <a:schemeClr val="tx1">
                    <a:lumMod val="50000"/>
                  </a:schemeClr>
                </a:solidFill>
              </a:rPr>
              <a:t> 顺序结构</a:t>
            </a:r>
            <a:endParaRPr lang="en-US" altLang="zh-CN" sz="2800" dirty="0">
              <a:solidFill>
                <a:schemeClr val="tx1">
                  <a:lumMod val="50000"/>
                </a:schemeClr>
              </a:solidFill>
            </a:endParaRPr>
          </a:p>
          <a:p>
            <a:endParaRPr lang="zh-CN" altLang="en-US" sz="2800" dirty="0">
              <a:solidFill>
                <a:schemeClr val="tx1">
                  <a:lumMod val="50000"/>
                </a:schemeClr>
              </a:solidFill>
            </a:endParaRPr>
          </a:p>
          <a:p>
            <a:r>
              <a:rPr lang="zh-CN" altLang="en-US" sz="2800" dirty="0">
                <a:solidFill>
                  <a:schemeClr val="tx1">
                    <a:lumMod val="50000"/>
                  </a:schemeClr>
                </a:solidFill>
              </a:rPr>
              <a:t> 分支结构</a:t>
            </a:r>
            <a:endParaRPr lang="en-US" altLang="zh-CN" sz="2800" dirty="0">
              <a:solidFill>
                <a:schemeClr val="tx1">
                  <a:lumMod val="50000"/>
                </a:schemeClr>
              </a:solidFill>
            </a:endParaRPr>
          </a:p>
          <a:p>
            <a:endParaRPr lang="zh-CN" altLang="en-US" sz="2800" dirty="0">
              <a:solidFill>
                <a:schemeClr val="tx1">
                  <a:lumMod val="50000"/>
                </a:schemeClr>
              </a:solidFill>
            </a:endParaRPr>
          </a:p>
          <a:p>
            <a:r>
              <a:rPr lang="zh-CN" altLang="en-US" sz="2800" dirty="0">
                <a:solidFill>
                  <a:schemeClr val="tx1">
                    <a:lumMod val="50000"/>
                  </a:schemeClr>
                </a:solidFill>
              </a:rPr>
              <a:t> 循环结构</a:t>
            </a:r>
          </a:p>
        </p:txBody>
      </p:sp>
      <p:sp>
        <p:nvSpPr>
          <p:cNvPr id="2" name="矩形 1"/>
          <p:cNvSpPr/>
          <p:nvPr/>
        </p:nvSpPr>
        <p:spPr>
          <a:xfrm>
            <a:off x="1484503" y="5288011"/>
            <a:ext cx="9631172" cy="954107"/>
          </a:xfrm>
          <a:prstGeom prst="rect">
            <a:avLst/>
          </a:prstGeom>
        </p:spPr>
        <p:txBody>
          <a:bodyPr wrap="square">
            <a:spAutoFit/>
          </a:bodyPr>
          <a:lstStyle/>
          <a:p>
            <a:r>
              <a:rPr lang="zh-CN" altLang="en-US" sz="2800" dirty="0">
                <a:solidFill>
                  <a:schemeClr val="tx1">
                    <a:lumMod val="50000"/>
                  </a:schemeClr>
                </a:solidFill>
              </a:rPr>
              <a:t>这些基本结构都有一个入口和一个出口。任何程序都由</a:t>
            </a:r>
          </a:p>
          <a:p>
            <a:r>
              <a:rPr lang="zh-CN" altLang="en-US" sz="2800" dirty="0">
                <a:solidFill>
                  <a:schemeClr val="tx1">
                    <a:lumMod val="50000"/>
                  </a:schemeClr>
                </a:solidFill>
              </a:rPr>
              <a:t>这三种基本结构组合而成</a:t>
            </a:r>
          </a:p>
        </p:txBody>
      </p:sp>
    </p:spTree>
    <p:custDataLst>
      <p:tags r:id="rId1"/>
    </p:custDataLst>
    <p:extLst>
      <p:ext uri="{BB962C8B-B14F-4D97-AF65-F5344CB8AC3E}">
        <p14:creationId xmlns:p14="http://schemas.microsoft.com/office/powerpoint/2010/main" val="3211253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lnSpcReduction="10000"/>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nSpc>
                <a:spcPct val="130000"/>
              </a:lnSpc>
            </a:pPr>
            <a:r>
              <a:rPr lang="zh-CN" altLang="en-US" dirty="0">
                <a:solidFill>
                  <a:schemeClr val="tx1">
                    <a:lumMod val="50000"/>
                  </a:schemeClr>
                </a:solidFill>
                <a:latin typeface="宋体" panose="02010600030101010101" pitchFamily="2" charset="-122"/>
                <a:ea typeface="宋体" panose="02010600030101010101" pitchFamily="2" charset="-122"/>
              </a:rPr>
              <a:t>程序的基本结构</a:t>
            </a:r>
            <a:endParaRPr lang="en-US" altLang="zh-CN" dirty="0">
              <a:solidFill>
                <a:schemeClr val="tx1">
                  <a:lumMod val="50000"/>
                </a:schemeClr>
              </a:solidFill>
              <a:latin typeface="宋体" panose="02010600030101010101" pitchFamily="2" charset="-122"/>
              <a:ea typeface="宋体" panose="02010600030101010101" pitchFamily="2" charset="-122"/>
            </a:endParaRPr>
          </a:p>
        </p:txBody>
      </p:sp>
      <p:sp>
        <p:nvSpPr>
          <p:cNvPr id="5" name="矩形 4"/>
          <p:cNvSpPr/>
          <p:nvPr/>
        </p:nvSpPr>
        <p:spPr>
          <a:xfrm>
            <a:off x="1227328" y="4809668"/>
            <a:ext cx="8802410" cy="954107"/>
          </a:xfrm>
          <a:prstGeom prst="rect">
            <a:avLst/>
          </a:prstGeom>
        </p:spPr>
        <p:txBody>
          <a:bodyPr wrap="none">
            <a:spAutoFit/>
          </a:bodyPr>
          <a:lstStyle/>
          <a:p>
            <a:r>
              <a:rPr lang="zh-CN" altLang="en-US" sz="2800" dirty="0">
                <a:solidFill>
                  <a:schemeClr val="tx1">
                    <a:lumMod val="50000"/>
                  </a:schemeClr>
                </a:solidFill>
              </a:rPr>
              <a:t>顺序结构是程序的基础，但单一的顺序结构不可能解决</a:t>
            </a:r>
          </a:p>
          <a:p>
            <a:r>
              <a:rPr lang="zh-CN" altLang="en-US" sz="2800" dirty="0">
                <a:solidFill>
                  <a:schemeClr val="tx1">
                    <a:lumMod val="50000"/>
                  </a:schemeClr>
                </a:solidFill>
              </a:rPr>
              <a:t>所有问题。</a:t>
            </a:r>
          </a:p>
        </p:txBody>
      </p:sp>
      <p:sp>
        <p:nvSpPr>
          <p:cNvPr id="2" name="矩形 1"/>
          <p:cNvSpPr/>
          <p:nvPr/>
        </p:nvSpPr>
        <p:spPr>
          <a:xfrm>
            <a:off x="1102068" y="1345137"/>
            <a:ext cx="6757236" cy="523220"/>
          </a:xfrm>
          <a:prstGeom prst="rect">
            <a:avLst/>
          </a:prstGeom>
        </p:spPr>
        <p:txBody>
          <a:bodyPr wrap="square">
            <a:spAutoFit/>
          </a:bodyPr>
          <a:lstStyle/>
          <a:p>
            <a:r>
              <a:rPr lang="zh-CN" altLang="en-US" sz="2800" b="1" dirty="0">
                <a:solidFill>
                  <a:schemeClr val="tx1">
                    <a:lumMod val="50000"/>
                  </a:schemeClr>
                </a:solidFill>
              </a:rPr>
              <a:t> 顺序结构</a:t>
            </a:r>
          </a:p>
        </p:txBody>
      </p:sp>
      <p:pic>
        <p:nvPicPr>
          <p:cNvPr id="4" name="图片 3"/>
          <p:cNvPicPr>
            <a:picLocks noChangeAspect="1"/>
          </p:cNvPicPr>
          <p:nvPr/>
        </p:nvPicPr>
        <p:blipFill>
          <a:blip r:embed="rId5" cstate="print"/>
          <a:stretch>
            <a:fillRect/>
          </a:stretch>
        </p:blipFill>
        <p:spPr>
          <a:xfrm>
            <a:off x="8439262" y="2000254"/>
            <a:ext cx="1590476" cy="2742857"/>
          </a:xfrm>
          <a:prstGeom prst="rect">
            <a:avLst/>
          </a:prstGeom>
        </p:spPr>
      </p:pic>
      <p:sp>
        <p:nvSpPr>
          <p:cNvPr id="6" name="矩形 5"/>
          <p:cNvSpPr/>
          <p:nvPr/>
        </p:nvSpPr>
        <p:spPr>
          <a:xfrm>
            <a:off x="1227328" y="2568307"/>
            <a:ext cx="6096000" cy="1384995"/>
          </a:xfrm>
          <a:prstGeom prst="rect">
            <a:avLst/>
          </a:prstGeom>
        </p:spPr>
        <p:txBody>
          <a:bodyPr>
            <a:spAutoFit/>
          </a:bodyPr>
          <a:lstStyle/>
          <a:p>
            <a:r>
              <a:rPr lang="zh-CN" altLang="en-US" sz="2800" dirty="0">
                <a:solidFill>
                  <a:schemeClr val="tx1">
                    <a:lumMod val="50000"/>
                  </a:schemeClr>
                </a:solidFill>
              </a:rPr>
              <a:t>是程序按照线性顺序依次执行的一种运行方式，其中语句块</a:t>
            </a:r>
            <a:r>
              <a:rPr lang="en-US" altLang="zh-CN" sz="2800" dirty="0">
                <a:solidFill>
                  <a:schemeClr val="tx1">
                    <a:lumMod val="50000"/>
                  </a:schemeClr>
                </a:solidFill>
              </a:rPr>
              <a:t>1S1</a:t>
            </a:r>
            <a:r>
              <a:rPr lang="zh-CN" altLang="en-US" sz="2800" dirty="0">
                <a:solidFill>
                  <a:schemeClr val="tx1">
                    <a:lumMod val="50000"/>
                  </a:schemeClr>
                </a:solidFill>
              </a:rPr>
              <a:t>和语句块</a:t>
            </a:r>
            <a:r>
              <a:rPr lang="en-US" altLang="zh-CN" sz="2800" dirty="0">
                <a:solidFill>
                  <a:schemeClr val="tx1">
                    <a:lumMod val="50000"/>
                  </a:schemeClr>
                </a:solidFill>
              </a:rPr>
              <a:t>S2</a:t>
            </a:r>
            <a:r>
              <a:rPr lang="zh-CN" altLang="en-US" sz="2800" dirty="0">
                <a:solidFill>
                  <a:schemeClr val="tx1">
                    <a:lumMod val="50000"/>
                  </a:schemeClr>
                </a:solidFill>
              </a:rPr>
              <a:t>表示一个或一组顺序执行的语句</a:t>
            </a:r>
          </a:p>
        </p:txBody>
      </p:sp>
    </p:spTree>
    <p:custDataLst>
      <p:tags r:id="rId1"/>
    </p:custDataLst>
    <p:extLst>
      <p:ext uri="{BB962C8B-B14F-4D97-AF65-F5344CB8AC3E}">
        <p14:creationId xmlns:p14="http://schemas.microsoft.com/office/powerpoint/2010/main" val="2822922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lnSpcReduction="10000"/>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nSpc>
                <a:spcPct val="130000"/>
              </a:lnSpc>
            </a:pPr>
            <a:r>
              <a:rPr lang="zh-CN" altLang="en-US" dirty="0">
                <a:solidFill>
                  <a:schemeClr val="tx1">
                    <a:lumMod val="50000"/>
                  </a:schemeClr>
                </a:solidFill>
                <a:latin typeface="宋体" panose="02010600030101010101" pitchFamily="2" charset="-122"/>
                <a:ea typeface="宋体" panose="02010600030101010101" pitchFamily="2" charset="-122"/>
              </a:rPr>
              <a:t>程序的基本结构</a:t>
            </a:r>
            <a:endParaRPr lang="en-US" altLang="zh-CN" dirty="0">
              <a:solidFill>
                <a:schemeClr val="tx1">
                  <a:lumMod val="50000"/>
                </a:schemeClr>
              </a:solidFill>
              <a:latin typeface="宋体" panose="02010600030101010101" pitchFamily="2" charset="-122"/>
              <a:ea typeface="宋体" panose="02010600030101010101" pitchFamily="2" charset="-122"/>
            </a:endParaRPr>
          </a:p>
        </p:txBody>
      </p:sp>
      <p:sp>
        <p:nvSpPr>
          <p:cNvPr id="2" name="矩形 1"/>
          <p:cNvSpPr/>
          <p:nvPr/>
        </p:nvSpPr>
        <p:spPr>
          <a:xfrm>
            <a:off x="847725" y="1204979"/>
            <a:ext cx="10598844" cy="523220"/>
          </a:xfrm>
          <a:prstGeom prst="rect">
            <a:avLst/>
          </a:prstGeom>
        </p:spPr>
        <p:txBody>
          <a:bodyPr wrap="square">
            <a:spAutoFit/>
          </a:bodyPr>
          <a:lstStyle/>
          <a:p>
            <a:r>
              <a:rPr lang="zh-CN" altLang="en-US" sz="2800" b="1" dirty="0">
                <a:solidFill>
                  <a:schemeClr val="tx1">
                    <a:lumMod val="50000"/>
                  </a:schemeClr>
                </a:solidFill>
              </a:rPr>
              <a:t>分支结构</a:t>
            </a:r>
          </a:p>
        </p:txBody>
      </p:sp>
      <p:pic>
        <p:nvPicPr>
          <p:cNvPr id="6" name="图片 5"/>
          <p:cNvPicPr>
            <a:picLocks noChangeAspect="1"/>
          </p:cNvPicPr>
          <p:nvPr/>
        </p:nvPicPr>
        <p:blipFill>
          <a:blip r:embed="rId5" cstate="print"/>
          <a:stretch>
            <a:fillRect/>
          </a:stretch>
        </p:blipFill>
        <p:spPr>
          <a:xfrm>
            <a:off x="3409828" y="3120787"/>
            <a:ext cx="5245657" cy="3045572"/>
          </a:xfrm>
          <a:prstGeom prst="rect">
            <a:avLst/>
          </a:prstGeom>
        </p:spPr>
      </p:pic>
      <p:sp>
        <p:nvSpPr>
          <p:cNvPr id="4" name="矩形 3"/>
          <p:cNvSpPr/>
          <p:nvPr/>
        </p:nvSpPr>
        <p:spPr>
          <a:xfrm>
            <a:off x="847725" y="2002765"/>
            <a:ext cx="10762471" cy="892552"/>
          </a:xfrm>
          <a:prstGeom prst="rect">
            <a:avLst/>
          </a:prstGeom>
        </p:spPr>
        <p:txBody>
          <a:bodyPr wrap="square">
            <a:spAutoFit/>
          </a:bodyPr>
          <a:lstStyle/>
          <a:p>
            <a:r>
              <a:rPr lang="zh-CN" altLang="en-US" sz="2600" dirty="0">
                <a:solidFill>
                  <a:schemeClr val="tx1">
                    <a:lumMod val="50000"/>
                  </a:schemeClr>
                </a:solidFill>
              </a:rPr>
              <a:t>是程序根据条件判断结果而选择不同向前执行路径的一种运行方式，包括单分支结构和二分支结构。由二分支结构会组合形成多分支结构。</a:t>
            </a:r>
            <a:endParaRPr lang="zh-CN" altLang="en-US" sz="2600" dirty="0"/>
          </a:p>
        </p:txBody>
      </p:sp>
    </p:spTree>
    <p:custDataLst>
      <p:tags r:id="rId1"/>
    </p:custDataLst>
    <p:extLst>
      <p:ext uri="{BB962C8B-B14F-4D97-AF65-F5344CB8AC3E}">
        <p14:creationId xmlns:p14="http://schemas.microsoft.com/office/powerpoint/2010/main" val="1578929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gn="just"/>
            <a:r>
              <a:rPr lang="zh-CN" altLang="en-US" dirty="0">
                <a:solidFill>
                  <a:schemeClr val="tx1"/>
                </a:solidFill>
                <a:latin typeface="+mj-lt"/>
                <a:ea typeface="+mj-ea"/>
              </a:rPr>
              <a:t>程序流程图</a:t>
            </a:r>
            <a:endParaRPr lang="en-US" altLang="zh-CN" dirty="0">
              <a:solidFill>
                <a:schemeClr val="tx1"/>
              </a:solidFill>
              <a:latin typeface="+mj-lt"/>
              <a:ea typeface="+mj-ea"/>
            </a:endParaRPr>
          </a:p>
        </p:txBody>
      </p:sp>
      <p:sp>
        <p:nvSpPr>
          <p:cNvPr id="2" name="矩形 1"/>
          <p:cNvSpPr/>
          <p:nvPr/>
        </p:nvSpPr>
        <p:spPr>
          <a:xfrm>
            <a:off x="955309" y="1231865"/>
            <a:ext cx="10598844" cy="523220"/>
          </a:xfrm>
          <a:prstGeom prst="rect">
            <a:avLst/>
          </a:prstGeom>
        </p:spPr>
        <p:txBody>
          <a:bodyPr wrap="square">
            <a:spAutoFit/>
          </a:bodyPr>
          <a:lstStyle/>
          <a:p>
            <a:r>
              <a:rPr lang="zh-CN" altLang="en-US" sz="2800" b="1" dirty="0">
                <a:solidFill>
                  <a:schemeClr val="tx1">
                    <a:lumMod val="50000"/>
                  </a:schemeClr>
                </a:solidFill>
              </a:rPr>
              <a:t>循环结构</a:t>
            </a:r>
          </a:p>
        </p:txBody>
      </p:sp>
      <p:pic>
        <p:nvPicPr>
          <p:cNvPr id="4" name="图片 3"/>
          <p:cNvPicPr>
            <a:picLocks noChangeAspect="1"/>
          </p:cNvPicPr>
          <p:nvPr/>
        </p:nvPicPr>
        <p:blipFill>
          <a:blip r:embed="rId5" cstate="print"/>
          <a:stretch>
            <a:fillRect/>
          </a:stretch>
        </p:blipFill>
        <p:spPr>
          <a:xfrm>
            <a:off x="3134395" y="2902043"/>
            <a:ext cx="6240671" cy="3132110"/>
          </a:xfrm>
          <a:prstGeom prst="rect">
            <a:avLst/>
          </a:prstGeom>
        </p:spPr>
      </p:pic>
      <p:sp>
        <p:nvSpPr>
          <p:cNvPr id="5" name="矩形 4"/>
          <p:cNvSpPr/>
          <p:nvPr/>
        </p:nvSpPr>
        <p:spPr>
          <a:xfrm>
            <a:off x="955309" y="1816464"/>
            <a:ext cx="10271895" cy="954107"/>
          </a:xfrm>
          <a:prstGeom prst="rect">
            <a:avLst/>
          </a:prstGeom>
        </p:spPr>
        <p:txBody>
          <a:bodyPr wrap="square">
            <a:spAutoFit/>
          </a:bodyPr>
          <a:lstStyle/>
          <a:p>
            <a:r>
              <a:rPr lang="zh-CN" altLang="en-US" sz="2800" dirty="0">
                <a:solidFill>
                  <a:schemeClr val="tx1">
                    <a:lumMod val="50000"/>
                  </a:schemeClr>
                </a:solidFill>
              </a:rPr>
              <a:t>是程序根据条件判断结果向后反复执行的一种运行方式，根据循环体触发条件不同，包括条件循环和遍历循环结构</a:t>
            </a:r>
          </a:p>
        </p:txBody>
      </p:sp>
    </p:spTree>
    <p:custDataLst>
      <p:tags r:id="rId1"/>
    </p:custDataLst>
    <p:extLst>
      <p:ext uri="{BB962C8B-B14F-4D97-AF65-F5344CB8AC3E}">
        <p14:creationId xmlns:p14="http://schemas.microsoft.com/office/powerpoint/2010/main" val="1328337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lnSpcReduction="10000"/>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nSpc>
                <a:spcPct val="130000"/>
              </a:lnSpc>
            </a:pPr>
            <a:r>
              <a:rPr lang="zh-CN" altLang="en-US" dirty="0">
                <a:solidFill>
                  <a:schemeClr val="tx1">
                    <a:lumMod val="50000"/>
                  </a:schemeClr>
                </a:solidFill>
                <a:latin typeface="宋体" panose="02010600030101010101" pitchFamily="2" charset="-122"/>
                <a:ea typeface="宋体" panose="02010600030101010101" pitchFamily="2" charset="-122"/>
              </a:rPr>
              <a:t>程序的基本结构实例</a:t>
            </a:r>
            <a:endParaRPr lang="en-US" altLang="zh-CN" dirty="0">
              <a:solidFill>
                <a:schemeClr val="tx1">
                  <a:lumMod val="50000"/>
                </a:schemeClr>
              </a:solidFill>
              <a:latin typeface="宋体" panose="02010600030101010101" pitchFamily="2" charset="-122"/>
              <a:ea typeface="宋体" panose="02010600030101010101" pitchFamily="2" charset="-122"/>
            </a:endParaRPr>
          </a:p>
        </p:txBody>
      </p:sp>
      <p:sp>
        <p:nvSpPr>
          <p:cNvPr id="2" name="矩形 1"/>
          <p:cNvSpPr/>
          <p:nvPr/>
        </p:nvSpPr>
        <p:spPr>
          <a:xfrm>
            <a:off x="1011352" y="1494651"/>
            <a:ext cx="10598844" cy="523220"/>
          </a:xfrm>
          <a:prstGeom prst="rect">
            <a:avLst/>
          </a:prstGeom>
        </p:spPr>
        <p:txBody>
          <a:bodyPr wrap="square">
            <a:spAutoFit/>
          </a:bodyPr>
          <a:lstStyle/>
          <a:p>
            <a:r>
              <a:rPr lang="zh-CN" altLang="en-US" sz="2800" dirty="0">
                <a:solidFill>
                  <a:schemeClr val="tx1">
                    <a:lumMod val="50000"/>
                  </a:schemeClr>
                </a:solidFill>
              </a:rPr>
              <a:t>实例</a:t>
            </a:r>
            <a:r>
              <a:rPr lang="en-US" altLang="zh-CN" sz="2800" dirty="0">
                <a:solidFill>
                  <a:schemeClr val="tx1">
                    <a:lumMod val="50000"/>
                  </a:schemeClr>
                </a:solidFill>
              </a:rPr>
              <a:t>1 </a:t>
            </a:r>
            <a:r>
              <a:rPr lang="zh-CN" altLang="en-US" sz="2800" dirty="0">
                <a:solidFill>
                  <a:schemeClr val="tx1">
                    <a:lumMod val="50000"/>
                  </a:schemeClr>
                </a:solidFill>
              </a:rPr>
              <a:t>：圆面积和周长的计算</a:t>
            </a:r>
          </a:p>
        </p:txBody>
      </p:sp>
      <p:pic>
        <p:nvPicPr>
          <p:cNvPr id="5" name="图片 4"/>
          <p:cNvPicPr>
            <a:picLocks noChangeAspect="1"/>
          </p:cNvPicPr>
          <p:nvPr/>
        </p:nvPicPr>
        <p:blipFill>
          <a:blip r:embed="rId5" cstate="print"/>
          <a:stretch>
            <a:fillRect/>
          </a:stretch>
        </p:blipFill>
        <p:spPr>
          <a:xfrm>
            <a:off x="8245258" y="1494651"/>
            <a:ext cx="1500186" cy="4262209"/>
          </a:xfrm>
          <a:prstGeom prst="rect">
            <a:avLst/>
          </a:prstGeom>
        </p:spPr>
      </p:pic>
      <p:sp>
        <p:nvSpPr>
          <p:cNvPr id="6" name="矩形 5"/>
          <p:cNvSpPr/>
          <p:nvPr/>
        </p:nvSpPr>
        <p:spPr>
          <a:xfrm>
            <a:off x="1011352" y="2582109"/>
            <a:ext cx="6096000" cy="2246769"/>
          </a:xfrm>
          <a:prstGeom prst="rect">
            <a:avLst/>
          </a:prstGeom>
        </p:spPr>
        <p:txBody>
          <a:bodyPr>
            <a:spAutoFit/>
          </a:bodyPr>
          <a:lstStyle/>
          <a:p>
            <a:r>
              <a:rPr lang="zh-CN" altLang="en-US" sz="2800" dirty="0">
                <a:solidFill>
                  <a:schemeClr val="tx1">
                    <a:lumMod val="50000"/>
                  </a:schemeClr>
                </a:solidFill>
              </a:rPr>
              <a:t>输入：圆半径R</a:t>
            </a:r>
          </a:p>
          <a:p>
            <a:r>
              <a:rPr lang="zh-CN" altLang="en-US" sz="2800" dirty="0">
                <a:solidFill>
                  <a:schemeClr val="tx1">
                    <a:lumMod val="50000"/>
                  </a:schemeClr>
                </a:solidFill>
              </a:rPr>
              <a:t>处理：</a:t>
            </a:r>
          </a:p>
          <a:p>
            <a:r>
              <a:rPr lang="zh-CN" altLang="en-US" sz="2800" dirty="0">
                <a:solidFill>
                  <a:schemeClr val="tx1">
                    <a:lumMod val="50000"/>
                  </a:schemeClr>
                </a:solidFill>
              </a:rPr>
              <a:t>    圆面积：S = π*R*R</a:t>
            </a:r>
          </a:p>
          <a:p>
            <a:r>
              <a:rPr lang="zh-CN" altLang="en-US" sz="2800" dirty="0">
                <a:solidFill>
                  <a:schemeClr val="tx1">
                    <a:lumMod val="50000"/>
                  </a:schemeClr>
                </a:solidFill>
              </a:rPr>
              <a:t>    圆周长：L = 2*π*R</a:t>
            </a:r>
          </a:p>
          <a:p>
            <a:r>
              <a:rPr lang="zh-CN" altLang="en-US" sz="2800" dirty="0">
                <a:solidFill>
                  <a:schemeClr val="tx1">
                    <a:lumMod val="50000"/>
                  </a:schemeClr>
                </a:solidFill>
              </a:rPr>
              <a:t>输出：圆面积S、周长L</a:t>
            </a:r>
          </a:p>
        </p:txBody>
      </p:sp>
    </p:spTree>
    <p:custDataLst>
      <p:tags r:id="rId1"/>
    </p:custDataLst>
    <p:extLst>
      <p:ext uri="{BB962C8B-B14F-4D97-AF65-F5344CB8AC3E}">
        <p14:creationId xmlns:p14="http://schemas.microsoft.com/office/powerpoint/2010/main" val="4222172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lnSpcReduction="10000"/>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nSpc>
                <a:spcPct val="130000"/>
              </a:lnSpc>
            </a:pPr>
            <a:r>
              <a:rPr lang="zh-CN" altLang="en-US" dirty="0">
                <a:solidFill>
                  <a:schemeClr val="tx1">
                    <a:lumMod val="50000"/>
                  </a:schemeClr>
                </a:solidFill>
                <a:latin typeface="宋体" panose="02010600030101010101" pitchFamily="2" charset="-122"/>
                <a:ea typeface="宋体" panose="02010600030101010101" pitchFamily="2" charset="-122"/>
              </a:rPr>
              <a:t>程序的基本结构实例</a:t>
            </a:r>
            <a:endParaRPr lang="en-US" altLang="zh-CN" dirty="0">
              <a:solidFill>
                <a:schemeClr val="tx1">
                  <a:lumMod val="50000"/>
                </a:schemeClr>
              </a:solidFill>
              <a:latin typeface="宋体" panose="02010600030101010101" pitchFamily="2" charset="-122"/>
              <a:ea typeface="宋体" panose="02010600030101010101" pitchFamily="2" charset="-122"/>
            </a:endParaRPr>
          </a:p>
        </p:txBody>
      </p:sp>
      <p:sp>
        <p:nvSpPr>
          <p:cNvPr id="2" name="矩形 1"/>
          <p:cNvSpPr/>
          <p:nvPr/>
        </p:nvSpPr>
        <p:spPr>
          <a:xfrm>
            <a:off x="1011352" y="1654323"/>
            <a:ext cx="10598844" cy="523220"/>
          </a:xfrm>
          <a:prstGeom prst="rect">
            <a:avLst/>
          </a:prstGeom>
        </p:spPr>
        <p:txBody>
          <a:bodyPr wrap="square">
            <a:spAutoFit/>
          </a:bodyPr>
          <a:lstStyle/>
          <a:p>
            <a:r>
              <a:rPr lang="zh-CN" altLang="en-US" sz="2800" dirty="0">
                <a:solidFill>
                  <a:schemeClr val="tx1">
                    <a:lumMod val="50000"/>
                  </a:schemeClr>
                </a:solidFill>
              </a:rPr>
              <a:t>实例</a:t>
            </a:r>
            <a:r>
              <a:rPr lang="en-US" altLang="zh-CN" sz="2800" dirty="0">
                <a:solidFill>
                  <a:schemeClr val="tx1">
                    <a:lumMod val="50000"/>
                  </a:schemeClr>
                </a:solidFill>
              </a:rPr>
              <a:t>2 </a:t>
            </a:r>
            <a:r>
              <a:rPr lang="zh-CN" altLang="en-US" sz="2800" dirty="0">
                <a:solidFill>
                  <a:schemeClr val="tx1">
                    <a:lumMod val="50000"/>
                  </a:schemeClr>
                </a:solidFill>
              </a:rPr>
              <a:t>：实数绝对值的计算</a:t>
            </a:r>
          </a:p>
        </p:txBody>
      </p:sp>
      <p:pic>
        <p:nvPicPr>
          <p:cNvPr id="4" name="图片 3"/>
          <p:cNvPicPr>
            <a:picLocks noChangeAspect="1"/>
          </p:cNvPicPr>
          <p:nvPr/>
        </p:nvPicPr>
        <p:blipFill>
          <a:blip r:embed="rId5" cstate="print"/>
          <a:stretch>
            <a:fillRect/>
          </a:stretch>
        </p:blipFill>
        <p:spPr>
          <a:xfrm>
            <a:off x="1084686" y="2901453"/>
            <a:ext cx="3642527" cy="2405180"/>
          </a:xfrm>
          <a:prstGeom prst="rect">
            <a:avLst/>
          </a:prstGeom>
        </p:spPr>
      </p:pic>
      <p:pic>
        <p:nvPicPr>
          <p:cNvPr id="7" name="图片 6"/>
          <p:cNvPicPr>
            <a:picLocks noChangeAspect="1"/>
          </p:cNvPicPr>
          <p:nvPr/>
        </p:nvPicPr>
        <p:blipFill>
          <a:blip r:embed="rId6" cstate="print"/>
          <a:stretch>
            <a:fillRect/>
          </a:stretch>
        </p:blipFill>
        <p:spPr>
          <a:xfrm>
            <a:off x="7683994" y="1764184"/>
            <a:ext cx="2068680" cy="4315459"/>
          </a:xfrm>
          <a:prstGeom prst="rect">
            <a:avLst/>
          </a:prstGeom>
        </p:spPr>
      </p:pic>
    </p:spTree>
    <p:custDataLst>
      <p:tags r:id="rId1"/>
    </p:custDataLst>
    <p:extLst>
      <p:ext uri="{BB962C8B-B14F-4D97-AF65-F5344CB8AC3E}">
        <p14:creationId xmlns:p14="http://schemas.microsoft.com/office/powerpoint/2010/main" val="3177981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lnSpcReduction="10000"/>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nSpc>
                <a:spcPct val="130000"/>
              </a:lnSpc>
            </a:pPr>
            <a:r>
              <a:rPr lang="zh-CN" altLang="en-US" dirty="0">
                <a:solidFill>
                  <a:schemeClr val="tx1">
                    <a:lumMod val="50000"/>
                  </a:schemeClr>
                </a:solidFill>
                <a:latin typeface="宋体" panose="02010600030101010101" pitchFamily="2" charset="-122"/>
                <a:ea typeface="宋体" panose="02010600030101010101" pitchFamily="2" charset="-122"/>
              </a:rPr>
              <a:t>程序的基本结构实例</a:t>
            </a:r>
            <a:endParaRPr lang="en-US" altLang="zh-CN" dirty="0">
              <a:solidFill>
                <a:schemeClr val="tx1">
                  <a:lumMod val="50000"/>
                </a:schemeClr>
              </a:solidFill>
              <a:latin typeface="宋体" panose="02010600030101010101" pitchFamily="2" charset="-122"/>
              <a:ea typeface="宋体" panose="02010600030101010101" pitchFamily="2" charset="-122"/>
            </a:endParaRPr>
          </a:p>
        </p:txBody>
      </p:sp>
      <p:sp>
        <p:nvSpPr>
          <p:cNvPr id="2" name="矩形 1"/>
          <p:cNvSpPr/>
          <p:nvPr/>
        </p:nvSpPr>
        <p:spPr>
          <a:xfrm>
            <a:off x="886091" y="1526228"/>
            <a:ext cx="10598844" cy="523220"/>
          </a:xfrm>
          <a:prstGeom prst="rect">
            <a:avLst/>
          </a:prstGeom>
        </p:spPr>
        <p:txBody>
          <a:bodyPr wrap="square">
            <a:spAutoFit/>
          </a:bodyPr>
          <a:lstStyle/>
          <a:p>
            <a:r>
              <a:rPr lang="zh-CN" altLang="en-US" sz="2800" dirty="0">
                <a:solidFill>
                  <a:schemeClr val="tx1">
                    <a:lumMod val="50000"/>
                  </a:schemeClr>
                </a:solidFill>
              </a:rPr>
              <a:t>实例</a:t>
            </a:r>
            <a:r>
              <a:rPr lang="en-US" altLang="zh-CN" sz="2800" dirty="0">
                <a:solidFill>
                  <a:schemeClr val="tx1">
                    <a:lumMod val="50000"/>
                  </a:schemeClr>
                </a:solidFill>
              </a:rPr>
              <a:t>3 </a:t>
            </a:r>
            <a:r>
              <a:rPr lang="zh-CN" altLang="en-US" sz="2800" dirty="0">
                <a:solidFill>
                  <a:schemeClr val="tx1">
                    <a:lumMod val="50000"/>
                  </a:schemeClr>
                </a:solidFill>
              </a:rPr>
              <a:t>：整数累加</a:t>
            </a:r>
          </a:p>
        </p:txBody>
      </p:sp>
      <p:sp>
        <p:nvSpPr>
          <p:cNvPr id="5" name="矩形 4"/>
          <p:cNvSpPr/>
          <p:nvPr/>
        </p:nvSpPr>
        <p:spPr>
          <a:xfrm>
            <a:off x="886091" y="2547228"/>
            <a:ext cx="4717687" cy="2677656"/>
          </a:xfrm>
          <a:prstGeom prst="rect">
            <a:avLst/>
          </a:prstGeom>
        </p:spPr>
        <p:txBody>
          <a:bodyPr wrap="square">
            <a:spAutoFit/>
          </a:bodyPr>
          <a:lstStyle/>
          <a:p>
            <a:r>
              <a:rPr lang="zh-CN" altLang="en-US" sz="2800" dirty="0">
                <a:solidFill>
                  <a:schemeClr val="tx1">
                    <a:lumMod val="50000"/>
                  </a:schemeClr>
                </a:solidFill>
              </a:rPr>
              <a:t>输入：正整数R</a:t>
            </a:r>
            <a:endParaRPr lang="en-US" altLang="zh-CN" sz="2800" dirty="0">
              <a:solidFill>
                <a:schemeClr val="tx1">
                  <a:lumMod val="50000"/>
                </a:schemeClr>
              </a:solidFill>
            </a:endParaRPr>
          </a:p>
          <a:p>
            <a:endParaRPr lang="zh-CN" altLang="en-US" sz="2800" dirty="0">
              <a:solidFill>
                <a:schemeClr val="tx1">
                  <a:lumMod val="50000"/>
                </a:schemeClr>
              </a:solidFill>
            </a:endParaRPr>
          </a:p>
          <a:p>
            <a:r>
              <a:rPr lang="zh-CN" altLang="en-US" sz="2800" dirty="0">
                <a:solidFill>
                  <a:schemeClr val="tx1">
                    <a:lumMod val="50000"/>
                  </a:schemeClr>
                </a:solidFill>
              </a:rPr>
              <a:t>处理：</a:t>
            </a:r>
          </a:p>
          <a:p>
            <a:r>
              <a:rPr lang="zh-CN" altLang="en-US" sz="2800" dirty="0">
                <a:solidFill>
                  <a:schemeClr val="tx1">
                    <a:lumMod val="50000"/>
                  </a:schemeClr>
                </a:solidFill>
              </a:rPr>
              <a:t>    S=1+2+3+…+R</a:t>
            </a:r>
            <a:endParaRPr lang="en-US" altLang="zh-CN" sz="2800" dirty="0">
              <a:solidFill>
                <a:schemeClr val="tx1">
                  <a:lumMod val="50000"/>
                </a:schemeClr>
              </a:solidFill>
            </a:endParaRPr>
          </a:p>
          <a:p>
            <a:endParaRPr lang="zh-CN" altLang="en-US" sz="2800" dirty="0">
              <a:solidFill>
                <a:schemeClr val="tx1">
                  <a:lumMod val="50000"/>
                </a:schemeClr>
              </a:solidFill>
            </a:endParaRPr>
          </a:p>
          <a:p>
            <a:r>
              <a:rPr lang="zh-CN" altLang="en-US" sz="2800" dirty="0">
                <a:solidFill>
                  <a:schemeClr val="tx1">
                    <a:lumMod val="50000"/>
                  </a:schemeClr>
                </a:solidFill>
              </a:rPr>
              <a:t>输出：输出S</a:t>
            </a:r>
          </a:p>
        </p:txBody>
      </p:sp>
      <p:pic>
        <p:nvPicPr>
          <p:cNvPr id="6" name="图片 5"/>
          <p:cNvPicPr>
            <a:picLocks noChangeAspect="1"/>
          </p:cNvPicPr>
          <p:nvPr/>
        </p:nvPicPr>
        <p:blipFill>
          <a:blip r:embed="rId5" cstate="print"/>
          <a:stretch>
            <a:fillRect/>
          </a:stretch>
        </p:blipFill>
        <p:spPr>
          <a:xfrm>
            <a:off x="6634177" y="1423147"/>
            <a:ext cx="2647828" cy="4651390"/>
          </a:xfrm>
          <a:prstGeom prst="rect">
            <a:avLst/>
          </a:prstGeom>
        </p:spPr>
      </p:pic>
    </p:spTree>
    <p:custDataLst>
      <p:tags r:id="rId1"/>
    </p:custDataLst>
    <p:extLst>
      <p:ext uri="{BB962C8B-B14F-4D97-AF65-F5344CB8AC3E}">
        <p14:creationId xmlns:p14="http://schemas.microsoft.com/office/powerpoint/2010/main" val="3310894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r>
              <a:rPr lang="en-US" altLang="zh-CN" dirty="0">
                <a:solidFill>
                  <a:schemeClr val="tx1"/>
                </a:solidFill>
                <a:latin typeface="+mj-lt"/>
                <a:ea typeface="+mj-ea"/>
              </a:rPr>
              <a:t>Python</a:t>
            </a:r>
            <a:r>
              <a:rPr lang="zh-CN" altLang="en-US" dirty="0">
                <a:solidFill>
                  <a:schemeClr val="tx1"/>
                </a:solidFill>
                <a:latin typeface="+mj-lt"/>
                <a:ea typeface="+mj-ea"/>
              </a:rPr>
              <a:t>程序设计</a:t>
            </a:r>
            <a:endParaRPr lang="en-US" altLang="zh-CN" dirty="0">
              <a:solidFill>
                <a:schemeClr val="tx1"/>
              </a:solidFill>
              <a:latin typeface="+mj-lt"/>
              <a:ea typeface="+mj-ea"/>
            </a:endParaRPr>
          </a:p>
        </p:txBody>
      </p:sp>
      <p:sp>
        <p:nvSpPr>
          <p:cNvPr id="2" name="文本框 1"/>
          <p:cNvSpPr txBox="1"/>
          <p:nvPr/>
        </p:nvSpPr>
        <p:spPr>
          <a:xfrm>
            <a:off x="2882686" y="1994977"/>
            <a:ext cx="4823756" cy="2492990"/>
          </a:xfrm>
          <a:prstGeom prst="rect">
            <a:avLst/>
          </a:prstGeom>
          <a:noFill/>
        </p:spPr>
        <p:txBody>
          <a:bodyPr wrap="none" rtlCol="0">
            <a:spAutoFit/>
          </a:bodyPr>
          <a:lstStyle/>
          <a:p>
            <a:pPr>
              <a:lnSpc>
                <a:spcPct val="130000"/>
              </a:lnSpc>
            </a:pPr>
            <a:r>
              <a:rPr lang="en-US" altLang="zh-CN" sz="4000" b="1" dirty="0">
                <a:solidFill>
                  <a:schemeClr val="tx1">
                    <a:lumMod val="50000"/>
                  </a:schemeClr>
                </a:solidFill>
                <a:latin typeface="宋体" panose="02010600030101010101" pitchFamily="2" charset="-122"/>
                <a:ea typeface="宋体" panose="02010600030101010101" pitchFamily="2" charset="-122"/>
              </a:rPr>
              <a:t>3.1 </a:t>
            </a:r>
            <a:r>
              <a:rPr lang="zh-CN" altLang="en-US" sz="4000" b="1" dirty="0">
                <a:solidFill>
                  <a:schemeClr val="tx1">
                    <a:lumMod val="50000"/>
                  </a:schemeClr>
                </a:solidFill>
                <a:latin typeface="宋体" panose="02010600030101010101" pitchFamily="2" charset="-122"/>
                <a:ea typeface="宋体" panose="02010600030101010101" pitchFamily="2" charset="-122"/>
              </a:rPr>
              <a:t>程序的流程图</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a:p>
            <a:pPr>
              <a:lnSpc>
                <a:spcPct val="130000"/>
              </a:lnSpc>
            </a:pPr>
            <a:r>
              <a:rPr lang="en-US" altLang="zh-CN" sz="4000" b="1" dirty="0">
                <a:solidFill>
                  <a:srgbClr val="00B0F0"/>
                </a:solidFill>
                <a:latin typeface="宋体" panose="02010600030101010101" pitchFamily="2" charset="-122"/>
                <a:ea typeface="宋体" panose="02010600030101010101" pitchFamily="2" charset="-122"/>
              </a:rPr>
              <a:t>3.2 Python</a:t>
            </a:r>
            <a:r>
              <a:rPr lang="zh-CN" altLang="en-US" sz="4000" b="1" dirty="0">
                <a:solidFill>
                  <a:srgbClr val="00B0F0"/>
                </a:solidFill>
                <a:latin typeface="宋体" panose="02010600030101010101" pitchFamily="2" charset="-122"/>
                <a:ea typeface="宋体" panose="02010600030101010101" pitchFamily="2" charset="-122"/>
              </a:rPr>
              <a:t>分支结构</a:t>
            </a:r>
            <a:endParaRPr lang="en-US" altLang="zh-CN" sz="4000" b="1" dirty="0">
              <a:solidFill>
                <a:srgbClr val="00B0F0"/>
              </a:solidFill>
              <a:latin typeface="宋体" panose="02010600030101010101" pitchFamily="2" charset="-122"/>
              <a:ea typeface="宋体" panose="02010600030101010101" pitchFamily="2" charset="-122"/>
            </a:endParaRPr>
          </a:p>
          <a:p>
            <a:pPr>
              <a:lnSpc>
                <a:spcPct val="130000"/>
              </a:lnSpc>
            </a:pPr>
            <a:r>
              <a:rPr lang="en-US" altLang="zh-CN" sz="4000" b="1" dirty="0">
                <a:solidFill>
                  <a:schemeClr val="tx1">
                    <a:lumMod val="50000"/>
                  </a:schemeClr>
                </a:solidFill>
                <a:latin typeface="宋体" panose="02010600030101010101" pitchFamily="2" charset="-122"/>
                <a:ea typeface="宋体" panose="02010600030101010101" pitchFamily="2" charset="-122"/>
              </a:rPr>
              <a:t>3.3 Python</a:t>
            </a:r>
            <a:r>
              <a:rPr lang="zh-CN" altLang="en-US" sz="4000" b="1" dirty="0">
                <a:solidFill>
                  <a:schemeClr val="tx1">
                    <a:lumMod val="50000"/>
                  </a:schemeClr>
                </a:solidFill>
                <a:latin typeface="宋体" panose="02010600030101010101" pitchFamily="2" charset="-122"/>
                <a:ea typeface="宋体" panose="02010600030101010101" pitchFamily="2" charset="-122"/>
              </a:rPr>
              <a:t>循环结构</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664528915"/>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r>
              <a:rPr lang="en-US" altLang="zh-CN" dirty="0">
                <a:solidFill>
                  <a:schemeClr val="tx1"/>
                </a:solidFill>
                <a:latin typeface="+mj-lt"/>
                <a:ea typeface="+mj-ea"/>
              </a:rPr>
              <a:t>Python</a:t>
            </a:r>
            <a:r>
              <a:rPr lang="zh-CN" altLang="en-US" dirty="0">
                <a:solidFill>
                  <a:schemeClr val="tx1"/>
                </a:solidFill>
                <a:latin typeface="+mj-lt"/>
                <a:ea typeface="+mj-ea"/>
              </a:rPr>
              <a:t>程序设计</a:t>
            </a:r>
            <a:endParaRPr lang="en-US" altLang="zh-CN" dirty="0">
              <a:solidFill>
                <a:schemeClr val="tx1"/>
              </a:solidFill>
              <a:latin typeface="+mj-lt"/>
              <a:ea typeface="+mj-ea"/>
            </a:endParaRPr>
          </a:p>
        </p:txBody>
      </p:sp>
      <p:sp>
        <p:nvSpPr>
          <p:cNvPr id="2" name="文本框 1"/>
          <p:cNvSpPr txBox="1"/>
          <p:nvPr/>
        </p:nvSpPr>
        <p:spPr>
          <a:xfrm>
            <a:off x="5398658" y="2432915"/>
            <a:ext cx="4004622" cy="2973122"/>
          </a:xfrm>
          <a:prstGeom prst="rect">
            <a:avLst/>
          </a:prstGeom>
          <a:noFill/>
        </p:spPr>
        <p:txBody>
          <a:bodyPr wrap="none" rtlCol="0">
            <a:spAutoFit/>
          </a:bodyPr>
          <a:lstStyle/>
          <a:p>
            <a:pPr marL="571500" indent="-571500">
              <a:lnSpc>
                <a:spcPct val="130000"/>
              </a:lnSpc>
              <a:buFont typeface="Wingdings" panose="05000000000000000000" pitchFamily="2" charset="2"/>
              <a:buChar char="Ø"/>
            </a:pPr>
            <a:r>
              <a:rPr lang="zh-CN" altLang="en-US" sz="3600" b="1" dirty="0">
                <a:solidFill>
                  <a:schemeClr val="tx1">
                    <a:lumMod val="50000"/>
                  </a:schemeClr>
                </a:solidFill>
                <a:latin typeface="宋体" panose="02010600030101010101" pitchFamily="2" charset="-122"/>
                <a:ea typeface="宋体" panose="02010600030101010101" pitchFamily="2" charset="-122"/>
              </a:rPr>
              <a:t>单分支结构</a:t>
            </a:r>
          </a:p>
          <a:p>
            <a:pPr marL="571500" indent="-571500">
              <a:lnSpc>
                <a:spcPct val="130000"/>
              </a:lnSpc>
              <a:buFont typeface="Wingdings" panose="05000000000000000000" pitchFamily="2" charset="2"/>
              <a:buChar char="Ø"/>
            </a:pPr>
            <a:r>
              <a:rPr lang="zh-CN" altLang="en-US" sz="3600" b="1" dirty="0">
                <a:solidFill>
                  <a:schemeClr val="tx1">
                    <a:lumMod val="50000"/>
                  </a:schemeClr>
                </a:solidFill>
                <a:latin typeface="宋体" panose="02010600030101010101" pitchFamily="2" charset="-122"/>
                <a:ea typeface="宋体" panose="02010600030101010101" pitchFamily="2" charset="-122"/>
              </a:rPr>
              <a:t>二分支结构</a:t>
            </a:r>
          </a:p>
          <a:p>
            <a:pPr marL="571500" indent="-571500">
              <a:lnSpc>
                <a:spcPct val="130000"/>
              </a:lnSpc>
              <a:buFont typeface="Wingdings" panose="05000000000000000000" pitchFamily="2" charset="2"/>
              <a:buChar char="Ø"/>
            </a:pPr>
            <a:r>
              <a:rPr lang="zh-CN" altLang="en-US" sz="3600" b="1" dirty="0">
                <a:solidFill>
                  <a:schemeClr val="tx1">
                    <a:lumMod val="50000"/>
                  </a:schemeClr>
                </a:solidFill>
                <a:latin typeface="宋体" panose="02010600030101010101" pitchFamily="2" charset="-122"/>
                <a:ea typeface="宋体" panose="02010600030101010101" pitchFamily="2" charset="-122"/>
              </a:rPr>
              <a:t>多分支结构</a:t>
            </a:r>
          </a:p>
          <a:p>
            <a:pPr marL="571500" indent="-571500">
              <a:lnSpc>
                <a:spcPct val="130000"/>
              </a:lnSpc>
              <a:buFont typeface="Wingdings" panose="05000000000000000000" pitchFamily="2" charset="2"/>
              <a:buChar char="Ø"/>
            </a:pPr>
            <a:r>
              <a:rPr lang="zh-CN" altLang="en-US" sz="3600" b="1" dirty="0">
                <a:solidFill>
                  <a:schemeClr val="tx1">
                    <a:lumMod val="50000"/>
                  </a:schemeClr>
                </a:solidFill>
                <a:latin typeface="宋体" panose="02010600030101010101" pitchFamily="2" charset="-122"/>
                <a:ea typeface="宋体" panose="02010600030101010101" pitchFamily="2" charset="-122"/>
              </a:rPr>
              <a:t>条件判断及组合</a:t>
            </a:r>
            <a:endParaRPr lang="en-US" altLang="zh-CN" sz="3600" b="1" dirty="0">
              <a:solidFill>
                <a:schemeClr val="tx1">
                  <a:lumMod val="50000"/>
                </a:schemeClr>
              </a:solidFill>
              <a:latin typeface="宋体" panose="02010600030101010101" pitchFamily="2" charset="-122"/>
              <a:ea typeface="宋体" panose="02010600030101010101" pitchFamily="2" charset="-122"/>
            </a:endParaRPr>
          </a:p>
        </p:txBody>
      </p:sp>
      <p:pic>
        <p:nvPicPr>
          <p:cNvPr id="7" name="图片 6"/>
          <p:cNvPicPr>
            <a:picLocks noChangeAspect="1"/>
          </p:cNvPicPr>
          <p:nvPr/>
        </p:nvPicPr>
        <p:blipFill>
          <a:blip r:embed="rId5" cstate="print"/>
          <a:stretch>
            <a:fillRect/>
          </a:stretch>
        </p:blipFill>
        <p:spPr>
          <a:xfrm>
            <a:off x="827210" y="2448995"/>
            <a:ext cx="3523809" cy="2009524"/>
          </a:xfrm>
          <a:prstGeom prst="rect">
            <a:avLst/>
          </a:prstGeom>
        </p:spPr>
      </p:pic>
      <p:sp>
        <p:nvSpPr>
          <p:cNvPr id="9" name="文本框 8"/>
          <p:cNvSpPr txBox="1"/>
          <p:nvPr/>
        </p:nvSpPr>
        <p:spPr>
          <a:xfrm>
            <a:off x="5482015" y="1235388"/>
            <a:ext cx="3791423" cy="779059"/>
          </a:xfrm>
          <a:prstGeom prst="rect">
            <a:avLst/>
          </a:prstGeom>
          <a:noFill/>
        </p:spPr>
        <p:txBody>
          <a:bodyPr wrap="none" rtlCol="0">
            <a:spAutoFit/>
          </a:bodyPr>
          <a:lstStyle/>
          <a:p>
            <a:pPr>
              <a:lnSpc>
                <a:spcPct val="130000"/>
              </a:lnSpc>
            </a:pPr>
            <a:r>
              <a:rPr lang="en-US" altLang="zh-CN" sz="4000" b="1" dirty="0">
                <a:solidFill>
                  <a:schemeClr val="tx1">
                    <a:lumMod val="50000"/>
                  </a:schemeClr>
                </a:solidFill>
                <a:latin typeface="宋体" panose="02010600030101010101" pitchFamily="2" charset="-122"/>
                <a:ea typeface="宋体" panose="02010600030101010101" pitchFamily="2" charset="-122"/>
              </a:rPr>
              <a:t>Python</a:t>
            </a:r>
            <a:r>
              <a:rPr lang="zh-CN" altLang="en-US" sz="4000" b="1" dirty="0">
                <a:solidFill>
                  <a:schemeClr val="tx1">
                    <a:lumMod val="50000"/>
                  </a:schemeClr>
                </a:solidFill>
                <a:latin typeface="宋体" panose="02010600030101010101" pitchFamily="2" charset="-122"/>
                <a:ea typeface="宋体" panose="02010600030101010101" pitchFamily="2" charset="-122"/>
              </a:rPr>
              <a:t>分支结构</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2079298948"/>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gn="just"/>
            <a:r>
              <a:rPr lang="en-US" altLang="zh-CN" dirty="0">
                <a:solidFill>
                  <a:schemeClr val="tx1"/>
                </a:solidFill>
                <a:latin typeface="+mj-lt"/>
                <a:ea typeface="+mj-ea"/>
              </a:rPr>
              <a:t>Python</a:t>
            </a:r>
            <a:r>
              <a:rPr lang="zh-CN" altLang="en-US" dirty="0">
                <a:solidFill>
                  <a:schemeClr val="tx1"/>
                </a:solidFill>
                <a:latin typeface="+mj-lt"/>
                <a:ea typeface="+mj-ea"/>
              </a:rPr>
              <a:t>分支结构</a:t>
            </a:r>
            <a:endParaRPr lang="en-US" altLang="zh-CN" dirty="0">
              <a:solidFill>
                <a:schemeClr val="tx1"/>
              </a:solidFill>
              <a:latin typeface="+mj-lt"/>
              <a:ea typeface="+mj-ea"/>
            </a:endParaRPr>
          </a:p>
        </p:txBody>
      </p:sp>
      <p:sp>
        <p:nvSpPr>
          <p:cNvPr id="9" name="文本框 8"/>
          <p:cNvSpPr txBox="1"/>
          <p:nvPr/>
        </p:nvSpPr>
        <p:spPr>
          <a:xfrm>
            <a:off x="4707732" y="1164448"/>
            <a:ext cx="2757486"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单分支结构</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2" name="矩形 1"/>
          <p:cNvSpPr/>
          <p:nvPr/>
        </p:nvSpPr>
        <p:spPr>
          <a:xfrm>
            <a:off x="2111489" y="2189399"/>
            <a:ext cx="8718436" cy="523220"/>
          </a:xfrm>
          <a:prstGeom prst="rect">
            <a:avLst/>
          </a:prstGeom>
        </p:spPr>
        <p:txBody>
          <a:bodyPr wrap="square">
            <a:spAutoFit/>
          </a:bodyPr>
          <a:lstStyle/>
          <a:p>
            <a:r>
              <a:rPr lang="zh-CN" altLang="en-US" sz="2800" dirty="0">
                <a:solidFill>
                  <a:schemeClr val="tx1">
                    <a:lumMod val="50000"/>
                  </a:schemeClr>
                </a:solidFill>
              </a:rPr>
              <a:t>根据判断条件结果而选择不同向前路径的运行方式</a:t>
            </a:r>
          </a:p>
        </p:txBody>
      </p:sp>
      <p:sp>
        <p:nvSpPr>
          <p:cNvPr id="5" name="矩形 4"/>
          <p:cNvSpPr/>
          <p:nvPr/>
        </p:nvSpPr>
        <p:spPr>
          <a:xfrm>
            <a:off x="3264262" y="3583839"/>
            <a:ext cx="4717687" cy="1384995"/>
          </a:xfrm>
          <a:prstGeom prst="rect">
            <a:avLst/>
          </a:prstGeom>
        </p:spPr>
        <p:txBody>
          <a:bodyPr wrap="square">
            <a:spAutoFit/>
          </a:bodyPr>
          <a:lstStyle/>
          <a:p>
            <a:r>
              <a:rPr lang="en-US" altLang="zh-CN" sz="2800" dirty="0">
                <a:solidFill>
                  <a:schemeClr val="tx1">
                    <a:lumMod val="50000"/>
                  </a:schemeClr>
                </a:solidFill>
              </a:rPr>
              <a:t>if &lt;</a:t>
            </a:r>
            <a:r>
              <a:rPr lang="zh-CN" altLang="en-US" sz="2800" dirty="0">
                <a:solidFill>
                  <a:schemeClr val="tx1">
                    <a:lumMod val="50000"/>
                  </a:schemeClr>
                </a:solidFill>
              </a:rPr>
              <a:t>条件</a:t>
            </a:r>
            <a:r>
              <a:rPr lang="en-US" altLang="zh-CN" sz="2800" dirty="0">
                <a:solidFill>
                  <a:schemeClr val="tx1">
                    <a:lumMod val="50000"/>
                  </a:schemeClr>
                </a:solidFill>
              </a:rPr>
              <a:t>&gt; :</a:t>
            </a:r>
          </a:p>
          <a:p>
            <a:endParaRPr lang="en-US" altLang="zh-CN" sz="2800" dirty="0">
              <a:solidFill>
                <a:schemeClr val="tx1">
                  <a:lumMod val="50000"/>
                </a:schemeClr>
              </a:solidFill>
            </a:endParaRPr>
          </a:p>
          <a:p>
            <a:r>
              <a:rPr lang="en-US" altLang="zh-CN" sz="2800" dirty="0">
                <a:solidFill>
                  <a:schemeClr val="tx1">
                    <a:lumMod val="50000"/>
                  </a:schemeClr>
                </a:solidFill>
              </a:rPr>
              <a:t>    &lt;</a:t>
            </a:r>
            <a:r>
              <a:rPr lang="zh-CN" altLang="en-US" sz="2800" dirty="0">
                <a:solidFill>
                  <a:schemeClr val="tx1">
                    <a:lumMod val="50000"/>
                  </a:schemeClr>
                </a:solidFill>
              </a:rPr>
              <a:t>语句块</a:t>
            </a:r>
            <a:r>
              <a:rPr lang="en-US" altLang="zh-CN" sz="2800" dirty="0">
                <a:solidFill>
                  <a:schemeClr val="tx1">
                    <a:lumMod val="50000"/>
                  </a:schemeClr>
                </a:solidFill>
              </a:rPr>
              <a:t>&gt;</a:t>
            </a:r>
            <a:endParaRPr lang="zh-CN" altLang="en-US" sz="2800" dirty="0">
              <a:solidFill>
                <a:schemeClr val="tx1">
                  <a:lumMod val="50000"/>
                </a:schemeClr>
              </a:solidFill>
            </a:endParaRPr>
          </a:p>
        </p:txBody>
      </p:sp>
      <p:pic>
        <p:nvPicPr>
          <p:cNvPr id="4" name="图片 3"/>
          <p:cNvPicPr>
            <a:picLocks noChangeAspect="1"/>
          </p:cNvPicPr>
          <p:nvPr/>
        </p:nvPicPr>
        <p:blipFill>
          <a:blip r:embed="rId5" cstate="print"/>
          <a:stretch>
            <a:fillRect/>
          </a:stretch>
        </p:blipFill>
        <p:spPr>
          <a:xfrm>
            <a:off x="6610521" y="3076337"/>
            <a:ext cx="2742857" cy="2400000"/>
          </a:xfrm>
          <a:prstGeom prst="rect">
            <a:avLst/>
          </a:prstGeom>
        </p:spPr>
      </p:pic>
    </p:spTree>
    <p:custDataLst>
      <p:tags r:id="rId1"/>
    </p:custDataLst>
    <p:extLst>
      <p:ext uri="{BB962C8B-B14F-4D97-AF65-F5344CB8AC3E}">
        <p14:creationId xmlns:p14="http://schemas.microsoft.com/office/powerpoint/2010/main" val="2312947674"/>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gn="just"/>
            <a:r>
              <a:rPr lang="en-US" altLang="zh-CN" dirty="0">
                <a:solidFill>
                  <a:schemeClr val="tx1"/>
                </a:solidFill>
                <a:latin typeface="+mj-lt"/>
                <a:ea typeface="+mj-ea"/>
              </a:rPr>
              <a:t>Python</a:t>
            </a:r>
            <a:r>
              <a:rPr lang="zh-CN" altLang="en-US" dirty="0">
                <a:solidFill>
                  <a:schemeClr val="tx1"/>
                </a:solidFill>
                <a:latin typeface="+mj-lt"/>
                <a:ea typeface="+mj-ea"/>
              </a:rPr>
              <a:t>分支结构</a:t>
            </a:r>
            <a:endParaRPr lang="en-US" altLang="zh-CN" dirty="0">
              <a:solidFill>
                <a:schemeClr val="tx1"/>
              </a:solidFill>
              <a:latin typeface="+mj-lt"/>
              <a:ea typeface="+mj-ea"/>
            </a:endParaRPr>
          </a:p>
        </p:txBody>
      </p:sp>
      <p:sp>
        <p:nvSpPr>
          <p:cNvPr id="9" name="文本框 8"/>
          <p:cNvSpPr txBox="1"/>
          <p:nvPr/>
        </p:nvSpPr>
        <p:spPr>
          <a:xfrm>
            <a:off x="4707732" y="1164448"/>
            <a:ext cx="2757486"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单分支结构</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2" name="矩形 1"/>
          <p:cNvSpPr/>
          <p:nvPr/>
        </p:nvSpPr>
        <p:spPr>
          <a:xfrm>
            <a:off x="4826114" y="2375136"/>
            <a:ext cx="3203461" cy="523220"/>
          </a:xfrm>
          <a:prstGeom prst="rect">
            <a:avLst/>
          </a:prstGeom>
        </p:spPr>
        <p:txBody>
          <a:bodyPr wrap="square">
            <a:spAutoFit/>
          </a:bodyPr>
          <a:lstStyle/>
          <a:p>
            <a:r>
              <a:rPr lang="zh-CN" altLang="en-US" sz="2800" dirty="0">
                <a:solidFill>
                  <a:schemeClr val="tx1">
                    <a:lumMod val="50000"/>
                  </a:schemeClr>
                </a:solidFill>
              </a:rPr>
              <a:t>单分支示例</a:t>
            </a:r>
          </a:p>
        </p:txBody>
      </p:sp>
      <p:sp>
        <p:nvSpPr>
          <p:cNvPr id="5" name="矩形 4"/>
          <p:cNvSpPr/>
          <p:nvPr/>
        </p:nvSpPr>
        <p:spPr>
          <a:xfrm>
            <a:off x="1710157" y="3219692"/>
            <a:ext cx="4717687" cy="2246769"/>
          </a:xfrm>
          <a:prstGeom prst="rect">
            <a:avLst/>
          </a:prstGeom>
        </p:spPr>
        <p:txBody>
          <a:bodyPr wrap="square">
            <a:spAutoFit/>
          </a:bodyPr>
          <a:lstStyle/>
          <a:p>
            <a:r>
              <a:rPr lang="en-US" altLang="zh-CN" sz="2800" dirty="0">
                <a:solidFill>
                  <a:schemeClr val="tx1">
                    <a:lumMod val="50000"/>
                  </a:schemeClr>
                </a:solidFill>
              </a:rPr>
              <a:t>guess = </a:t>
            </a:r>
            <a:r>
              <a:rPr lang="en-US" altLang="zh-CN" sz="2800" dirty="0" err="1">
                <a:solidFill>
                  <a:schemeClr val="tx1">
                    <a:lumMod val="50000"/>
                  </a:schemeClr>
                </a:solidFill>
              </a:rPr>
              <a:t>eval</a:t>
            </a:r>
            <a:r>
              <a:rPr lang="en-US" altLang="zh-CN" sz="2800" dirty="0">
                <a:solidFill>
                  <a:schemeClr val="tx1">
                    <a:lumMod val="50000"/>
                  </a:schemeClr>
                </a:solidFill>
              </a:rPr>
              <a:t>(input()) </a:t>
            </a:r>
          </a:p>
          <a:p>
            <a:endParaRPr lang="en-US" altLang="zh-CN" sz="2800" dirty="0">
              <a:solidFill>
                <a:schemeClr val="tx1">
                  <a:lumMod val="50000"/>
                </a:schemeClr>
              </a:solidFill>
            </a:endParaRPr>
          </a:p>
          <a:p>
            <a:r>
              <a:rPr lang="en-US" altLang="zh-CN" sz="2800" dirty="0">
                <a:solidFill>
                  <a:schemeClr val="tx1">
                    <a:lumMod val="50000"/>
                  </a:schemeClr>
                </a:solidFill>
              </a:rPr>
              <a:t>if guess == 99:</a:t>
            </a:r>
          </a:p>
          <a:p>
            <a:endParaRPr lang="en-US" altLang="zh-CN" sz="2800" dirty="0">
              <a:solidFill>
                <a:schemeClr val="tx1">
                  <a:lumMod val="50000"/>
                </a:schemeClr>
              </a:solidFill>
            </a:endParaRPr>
          </a:p>
          <a:p>
            <a:r>
              <a:rPr lang="en-US" altLang="zh-CN" sz="2800" dirty="0">
                <a:solidFill>
                  <a:schemeClr val="tx1">
                    <a:lumMod val="50000"/>
                  </a:schemeClr>
                </a:solidFill>
              </a:rPr>
              <a:t>    print("</a:t>
            </a:r>
            <a:r>
              <a:rPr lang="zh-CN" altLang="en-US" sz="2800" dirty="0">
                <a:solidFill>
                  <a:schemeClr val="tx1">
                    <a:lumMod val="50000"/>
                  </a:schemeClr>
                </a:solidFill>
              </a:rPr>
              <a:t>猜对了</a:t>
            </a:r>
            <a:r>
              <a:rPr lang="en-US" altLang="zh-CN" sz="2800" dirty="0">
                <a:solidFill>
                  <a:schemeClr val="tx1">
                    <a:lumMod val="50000"/>
                  </a:schemeClr>
                </a:solidFill>
              </a:rPr>
              <a:t>")</a:t>
            </a:r>
            <a:endParaRPr lang="zh-CN" altLang="en-US" sz="2800" dirty="0">
              <a:solidFill>
                <a:schemeClr val="tx1">
                  <a:lumMod val="50000"/>
                </a:schemeClr>
              </a:solidFill>
            </a:endParaRPr>
          </a:p>
        </p:txBody>
      </p:sp>
      <p:sp>
        <p:nvSpPr>
          <p:cNvPr id="6" name="矩形 5"/>
          <p:cNvSpPr/>
          <p:nvPr/>
        </p:nvSpPr>
        <p:spPr>
          <a:xfrm>
            <a:off x="7105649" y="3219692"/>
            <a:ext cx="4224338" cy="1384995"/>
          </a:xfrm>
          <a:prstGeom prst="rect">
            <a:avLst/>
          </a:prstGeom>
        </p:spPr>
        <p:txBody>
          <a:bodyPr wrap="square">
            <a:spAutoFit/>
          </a:bodyPr>
          <a:lstStyle/>
          <a:p>
            <a:r>
              <a:rPr lang="zh-CN" altLang="en-US" sz="2800" dirty="0">
                <a:solidFill>
                  <a:schemeClr val="tx1">
                    <a:lumMod val="50000"/>
                  </a:schemeClr>
                </a:solidFill>
              </a:rPr>
              <a:t>if True:</a:t>
            </a:r>
            <a:endParaRPr lang="en-US" altLang="zh-CN" sz="2800" dirty="0">
              <a:solidFill>
                <a:schemeClr val="tx1">
                  <a:lumMod val="50000"/>
                </a:schemeClr>
              </a:solidFill>
            </a:endParaRPr>
          </a:p>
          <a:p>
            <a:endParaRPr lang="zh-CN" altLang="en-US" sz="2800" dirty="0">
              <a:solidFill>
                <a:schemeClr val="tx1">
                  <a:lumMod val="50000"/>
                </a:schemeClr>
              </a:solidFill>
            </a:endParaRPr>
          </a:p>
          <a:p>
            <a:r>
              <a:rPr lang="zh-CN" altLang="en-US" sz="2800" dirty="0">
                <a:solidFill>
                  <a:schemeClr val="tx1">
                    <a:lumMod val="50000"/>
                  </a:schemeClr>
                </a:solidFill>
              </a:rPr>
              <a:t>    print("条件正确")</a:t>
            </a:r>
          </a:p>
        </p:txBody>
      </p:sp>
    </p:spTree>
    <p:custDataLst>
      <p:tags r:id="rId1"/>
    </p:custDataLst>
    <p:extLst>
      <p:ext uri="{BB962C8B-B14F-4D97-AF65-F5344CB8AC3E}">
        <p14:creationId xmlns:p14="http://schemas.microsoft.com/office/powerpoint/2010/main" val="1203301280"/>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gn="just"/>
            <a:r>
              <a:rPr lang="en-US" altLang="zh-CN" dirty="0">
                <a:solidFill>
                  <a:schemeClr val="tx1"/>
                </a:solidFill>
                <a:latin typeface="+mj-lt"/>
                <a:ea typeface="+mj-ea"/>
              </a:rPr>
              <a:t>Python</a:t>
            </a:r>
            <a:r>
              <a:rPr lang="zh-CN" altLang="en-US" dirty="0">
                <a:solidFill>
                  <a:schemeClr val="tx1"/>
                </a:solidFill>
                <a:latin typeface="+mj-lt"/>
                <a:ea typeface="+mj-ea"/>
              </a:rPr>
              <a:t>分支结构</a:t>
            </a:r>
            <a:endParaRPr lang="en-US" altLang="zh-CN" dirty="0">
              <a:solidFill>
                <a:schemeClr val="tx1"/>
              </a:solidFill>
              <a:latin typeface="+mj-lt"/>
              <a:ea typeface="+mj-ea"/>
            </a:endParaRPr>
          </a:p>
        </p:txBody>
      </p:sp>
      <p:sp>
        <p:nvSpPr>
          <p:cNvPr id="9" name="文本框 8"/>
          <p:cNvSpPr txBox="1"/>
          <p:nvPr/>
        </p:nvSpPr>
        <p:spPr>
          <a:xfrm>
            <a:off x="5377588" y="1143033"/>
            <a:ext cx="2757486" cy="892552"/>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二分支结构</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2" name="矩形 1"/>
          <p:cNvSpPr/>
          <p:nvPr/>
        </p:nvSpPr>
        <p:spPr>
          <a:xfrm>
            <a:off x="2038644" y="2117575"/>
            <a:ext cx="8029575" cy="523220"/>
          </a:xfrm>
          <a:prstGeom prst="rect">
            <a:avLst/>
          </a:prstGeom>
        </p:spPr>
        <p:txBody>
          <a:bodyPr wrap="square">
            <a:spAutoFit/>
          </a:bodyPr>
          <a:lstStyle/>
          <a:p>
            <a:r>
              <a:rPr lang="zh-CN" altLang="en-US" sz="2800">
                <a:solidFill>
                  <a:schemeClr val="tx1">
                    <a:lumMod val="50000"/>
                  </a:schemeClr>
                </a:solidFill>
              </a:rPr>
              <a:t>根据判断条件结果而选择不同向前路径的运行方式</a:t>
            </a:r>
            <a:endParaRPr lang="zh-CN" altLang="en-US" sz="2800" dirty="0">
              <a:solidFill>
                <a:schemeClr val="tx1">
                  <a:lumMod val="50000"/>
                </a:schemeClr>
              </a:solidFill>
            </a:endParaRPr>
          </a:p>
        </p:txBody>
      </p:sp>
      <p:sp>
        <p:nvSpPr>
          <p:cNvPr id="5" name="矩形 4"/>
          <p:cNvSpPr/>
          <p:nvPr/>
        </p:nvSpPr>
        <p:spPr>
          <a:xfrm>
            <a:off x="2038644" y="3069705"/>
            <a:ext cx="4717687" cy="3108543"/>
          </a:xfrm>
          <a:prstGeom prst="rect">
            <a:avLst/>
          </a:prstGeom>
        </p:spPr>
        <p:txBody>
          <a:bodyPr wrap="square">
            <a:spAutoFit/>
          </a:bodyPr>
          <a:lstStyle/>
          <a:p>
            <a:r>
              <a:rPr lang="en-US" altLang="zh-CN" sz="2800" dirty="0">
                <a:solidFill>
                  <a:schemeClr val="tx1">
                    <a:lumMod val="50000"/>
                  </a:schemeClr>
                </a:solidFill>
              </a:rPr>
              <a:t>if &lt;</a:t>
            </a:r>
            <a:r>
              <a:rPr lang="zh-CN" altLang="en-US" sz="2800" dirty="0">
                <a:solidFill>
                  <a:schemeClr val="tx1">
                    <a:lumMod val="50000"/>
                  </a:schemeClr>
                </a:solidFill>
              </a:rPr>
              <a:t>条件</a:t>
            </a:r>
            <a:r>
              <a:rPr lang="en-US" altLang="zh-CN" sz="2800" dirty="0">
                <a:solidFill>
                  <a:schemeClr val="tx1">
                    <a:lumMod val="50000"/>
                  </a:schemeClr>
                </a:solidFill>
              </a:rPr>
              <a:t>&gt; :</a:t>
            </a:r>
          </a:p>
          <a:p>
            <a:endParaRPr lang="en-US" altLang="zh-CN" sz="2800" dirty="0">
              <a:solidFill>
                <a:schemeClr val="tx1">
                  <a:lumMod val="50000"/>
                </a:schemeClr>
              </a:solidFill>
            </a:endParaRPr>
          </a:p>
          <a:p>
            <a:r>
              <a:rPr lang="en-US" altLang="zh-CN" sz="2800" dirty="0">
                <a:solidFill>
                  <a:schemeClr val="tx1">
                    <a:lumMod val="50000"/>
                  </a:schemeClr>
                </a:solidFill>
              </a:rPr>
              <a:t>    &lt;</a:t>
            </a:r>
            <a:r>
              <a:rPr lang="zh-CN" altLang="en-US" sz="2800" dirty="0">
                <a:solidFill>
                  <a:schemeClr val="tx1">
                    <a:lumMod val="50000"/>
                  </a:schemeClr>
                </a:solidFill>
              </a:rPr>
              <a:t>语句块</a:t>
            </a:r>
            <a:r>
              <a:rPr lang="en-US" altLang="zh-CN" sz="2800" dirty="0">
                <a:solidFill>
                  <a:schemeClr val="tx1">
                    <a:lumMod val="50000"/>
                  </a:schemeClr>
                </a:solidFill>
              </a:rPr>
              <a:t>1&gt;</a:t>
            </a:r>
          </a:p>
          <a:p>
            <a:endParaRPr lang="en-US" altLang="zh-CN" sz="2800" dirty="0">
              <a:solidFill>
                <a:schemeClr val="tx1">
                  <a:lumMod val="50000"/>
                </a:schemeClr>
              </a:solidFill>
            </a:endParaRPr>
          </a:p>
          <a:p>
            <a:r>
              <a:rPr lang="en-US" altLang="zh-CN" sz="2800" dirty="0">
                <a:solidFill>
                  <a:schemeClr val="tx1">
                    <a:lumMod val="50000"/>
                  </a:schemeClr>
                </a:solidFill>
              </a:rPr>
              <a:t>else :</a:t>
            </a:r>
          </a:p>
          <a:p>
            <a:endParaRPr lang="en-US" altLang="zh-CN" sz="2800" dirty="0">
              <a:solidFill>
                <a:schemeClr val="tx1">
                  <a:lumMod val="50000"/>
                </a:schemeClr>
              </a:solidFill>
            </a:endParaRPr>
          </a:p>
          <a:p>
            <a:r>
              <a:rPr lang="en-US" altLang="zh-CN" sz="2800" dirty="0">
                <a:solidFill>
                  <a:schemeClr val="tx1">
                    <a:lumMod val="50000"/>
                  </a:schemeClr>
                </a:solidFill>
              </a:rPr>
              <a:t>    &lt;</a:t>
            </a:r>
            <a:r>
              <a:rPr lang="zh-CN" altLang="en-US" sz="2800" dirty="0">
                <a:solidFill>
                  <a:schemeClr val="tx1">
                    <a:lumMod val="50000"/>
                  </a:schemeClr>
                </a:solidFill>
              </a:rPr>
              <a:t>语句块</a:t>
            </a:r>
            <a:r>
              <a:rPr lang="en-US" altLang="zh-CN" sz="2800" dirty="0">
                <a:solidFill>
                  <a:schemeClr val="tx1">
                    <a:lumMod val="50000"/>
                  </a:schemeClr>
                </a:solidFill>
              </a:rPr>
              <a:t>2&gt;</a:t>
            </a:r>
            <a:endParaRPr lang="zh-CN" altLang="en-US" sz="2800" dirty="0">
              <a:solidFill>
                <a:schemeClr val="tx1">
                  <a:lumMod val="50000"/>
                </a:schemeClr>
              </a:solidFill>
            </a:endParaRPr>
          </a:p>
        </p:txBody>
      </p:sp>
      <p:pic>
        <p:nvPicPr>
          <p:cNvPr id="4" name="图片 3"/>
          <p:cNvPicPr>
            <a:picLocks noChangeAspect="1"/>
          </p:cNvPicPr>
          <p:nvPr/>
        </p:nvPicPr>
        <p:blipFill>
          <a:blip r:embed="rId5" cstate="print"/>
          <a:stretch>
            <a:fillRect/>
          </a:stretch>
        </p:blipFill>
        <p:spPr>
          <a:xfrm>
            <a:off x="6406518" y="3222747"/>
            <a:ext cx="4187582" cy="2802458"/>
          </a:xfrm>
          <a:prstGeom prst="rect">
            <a:avLst/>
          </a:prstGeom>
        </p:spPr>
      </p:pic>
    </p:spTree>
    <p:custDataLst>
      <p:tags r:id="rId1"/>
    </p:custDataLst>
    <p:extLst>
      <p:ext uri="{BB962C8B-B14F-4D97-AF65-F5344CB8AC3E}">
        <p14:creationId xmlns:p14="http://schemas.microsoft.com/office/powerpoint/2010/main" val="2725226630"/>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gn="just"/>
            <a:r>
              <a:rPr lang="en-US" altLang="zh-CN" dirty="0">
                <a:solidFill>
                  <a:schemeClr val="tx1"/>
                </a:solidFill>
                <a:latin typeface="+mj-lt"/>
                <a:ea typeface="+mj-ea"/>
              </a:rPr>
              <a:t>Python</a:t>
            </a:r>
            <a:r>
              <a:rPr lang="zh-CN" altLang="en-US" dirty="0">
                <a:solidFill>
                  <a:schemeClr val="tx1"/>
                </a:solidFill>
                <a:latin typeface="+mj-lt"/>
                <a:ea typeface="+mj-ea"/>
              </a:rPr>
              <a:t>分支结构</a:t>
            </a:r>
            <a:endParaRPr lang="en-US" altLang="zh-CN" dirty="0">
              <a:solidFill>
                <a:schemeClr val="tx1"/>
              </a:solidFill>
              <a:latin typeface="+mj-lt"/>
              <a:ea typeface="+mj-ea"/>
            </a:endParaRPr>
          </a:p>
        </p:txBody>
      </p:sp>
      <p:sp>
        <p:nvSpPr>
          <p:cNvPr id="9" name="文本框 8"/>
          <p:cNvSpPr txBox="1"/>
          <p:nvPr/>
        </p:nvSpPr>
        <p:spPr>
          <a:xfrm>
            <a:off x="4712514" y="1135679"/>
            <a:ext cx="2757486" cy="892552"/>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二分支结构</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5" name="矩形 4"/>
          <p:cNvSpPr/>
          <p:nvPr/>
        </p:nvSpPr>
        <p:spPr>
          <a:xfrm>
            <a:off x="1233997" y="2028231"/>
            <a:ext cx="4717687" cy="3970318"/>
          </a:xfrm>
          <a:prstGeom prst="rect">
            <a:avLst/>
          </a:prstGeom>
        </p:spPr>
        <p:txBody>
          <a:bodyPr wrap="square">
            <a:spAutoFit/>
          </a:bodyPr>
          <a:lstStyle/>
          <a:p>
            <a:r>
              <a:rPr lang="en-US" altLang="zh-CN" sz="2800" dirty="0">
                <a:solidFill>
                  <a:schemeClr val="tx1">
                    <a:lumMod val="50000"/>
                  </a:schemeClr>
                </a:solidFill>
              </a:rPr>
              <a:t>guess = </a:t>
            </a:r>
            <a:r>
              <a:rPr lang="en-US" altLang="zh-CN" sz="2800" dirty="0" err="1">
                <a:solidFill>
                  <a:schemeClr val="tx1">
                    <a:lumMod val="50000"/>
                  </a:schemeClr>
                </a:solidFill>
              </a:rPr>
              <a:t>eval</a:t>
            </a:r>
            <a:r>
              <a:rPr lang="en-US" altLang="zh-CN" sz="2800" dirty="0">
                <a:solidFill>
                  <a:schemeClr val="tx1">
                    <a:lumMod val="50000"/>
                  </a:schemeClr>
                </a:solidFill>
              </a:rPr>
              <a:t>(input())</a:t>
            </a:r>
          </a:p>
          <a:p>
            <a:endParaRPr lang="en-US" altLang="zh-CN" sz="2800" dirty="0">
              <a:solidFill>
                <a:schemeClr val="tx1">
                  <a:lumMod val="50000"/>
                </a:schemeClr>
              </a:solidFill>
            </a:endParaRPr>
          </a:p>
          <a:p>
            <a:r>
              <a:rPr lang="en-US" altLang="zh-CN" sz="2800" dirty="0">
                <a:solidFill>
                  <a:schemeClr val="tx1">
                    <a:lumMod val="50000"/>
                  </a:schemeClr>
                </a:solidFill>
              </a:rPr>
              <a:t>if guess == 99:</a:t>
            </a:r>
          </a:p>
          <a:p>
            <a:endParaRPr lang="en-US" altLang="zh-CN" sz="2800" dirty="0">
              <a:solidFill>
                <a:schemeClr val="tx1">
                  <a:lumMod val="50000"/>
                </a:schemeClr>
              </a:solidFill>
            </a:endParaRPr>
          </a:p>
          <a:p>
            <a:r>
              <a:rPr lang="en-US" altLang="zh-CN" sz="2800" dirty="0">
                <a:solidFill>
                  <a:schemeClr val="tx1">
                    <a:lumMod val="50000"/>
                  </a:schemeClr>
                </a:solidFill>
              </a:rPr>
              <a:t>    print("</a:t>
            </a:r>
            <a:r>
              <a:rPr lang="zh-CN" altLang="en-US" sz="2800" dirty="0">
                <a:solidFill>
                  <a:schemeClr val="tx1">
                    <a:lumMod val="50000"/>
                  </a:schemeClr>
                </a:solidFill>
              </a:rPr>
              <a:t>猜对了</a:t>
            </a:r>
            <a:r>
              <a:rPr lang="en-US" altLang="zh-CN" sz="2800" dirty="0">
                <a:solidFill>
                  <a:schemeClr val="tx1">
                    <a:lumMod val="50000"/>
                  </a:schemeClr>
                </a:solidFill>
              </a:rPr>
              <a:t>")</a:t>
            </a:r>
          </a:p>
          <a:p>
            <a:endParaRPr lang="en-US" altLang="zh-CN" sz="2800" dirty="0">
              <a:solidFill>
                <a:schemeClr val="tx1">
                  <a:lumMod val="50000"/>
                </a:schemeClr>
              </a:solidFill>
            </a:endParaRPr>
          </a:p>
          <a:p>
            <a:r>
              <a:rPr lang="en-US" altLang="zh-CN" sz="2800" dirty="0">
                <a:solidFill>
                  <a:schemeClr val="tx1">
                    <a:lumMod val="50000"/>
                  </a:schemeClr>
                </a:solidFill>
              </a:rPr>
              <a:t>else :</a:t>
            </a:r>
          </a:p>
          <a:p>
            <a:endParaRPr lang="en-US" altLang="zh-CN" sz="2800" dirty="0">
              <a:solidFill>
                <a:schemeClr val="tx1">
                  <a:lumMod val="50000"/>
                </a:schemeClr>
              </a:solidFill>
            </a:endParaRPr>
          </a:p>
          <a:p>
            <a:r>
              <a:rPr lang="en-US" altLang="zh-CN" sz="2800" dirty="0">
                <a:solidFill>
                  <a:schemeClr val="tx1">
                    <a:lumMod val="50000"/>
                  </a:schemeClr>
                </a:solidFill>
              </a:rPr>
              <a:t>    print("</a:t>
            </a:r>
            <a:r>
              <a:rPr lang="zh-CN" altLang="en-US" sz="2800" dirty="0">
                <a:solidFill>
                  <a:schemeClr val="tx1">
                    <a:lumMod val="50000"/>
                  </a:schemeClr>
                </a:solidFill>
              </a:rPr>
              <a:t>猜错了</a:t>
            </a:r>
            <a:r>
              <a:rPr lang="en-US" altLang="zh-CN" sz="2800" dirty="0">
                <a:solidFill>
                  <a:schemeClr val="tx1">
                    <a:lumMod val="50000"/>
                  </a:schemeClr>
                </a:solidFill>
              </a:rPr>
              <a:t>")</a:t>
            </a:r>
            <a:endParaRPr lang="zh-CN" altLang="en-US" sz="2800" dirty="0">
              <a:solidFill>
                <a:schemeClr val="tx1">
                  <a:lumMod val="50000"/>
                </a:schemeClr>
              </a:solidFill>
            </a:endParaRPr>
          </a:p>
        </p:txBody>
      </p:sp>
      <p:sp>
        <p:nvSpPr>
          <p:cNvPr id="6" name="矩形 5"/>
          <p:cNvSpPr/>
          <p:nvPr/>
        </p:nvSpPr>
        <p:spPr>
          <a:xfrm>
            <a:off x="7330427" y="2146966"/>
            <a:ext cx="4152900" cy="3108543"/>
          </a:xfrm>
          <a:prstGeom prst="rect">
            <a:avLst/>
          </a:prstGeom>
        </p:spPr>
        <p:txBody>
          <a:bodyPr wrap="square">
            <a:spAutoFit/>
          </a:bodyPr>
          <a:lstStyle/>
          <a:p>
            <a:r>
              <a:rPr lang="zh-CN" altLang="en-US" sz="2800" dirty="0"/>
              <a:t>if True:</a:t>
            </a:r>
            <a:endParaRPr lang="en-US" altLang="zh-CN" sz="2800" dirty="0"/>
          </a:p>
          <a:p>
            <a:endParaRPr lang="zh-CN" altLang="en-US" sz="2800" dirty="0"/>
          </a:p>
          <a:p>
            <a:r>
              <a:rPr lang="zh-CN" altLang="en-US" sz="2800" dirty="0"/>
              <a:t>    print("语句块1")</a:t>
            </a:r>
          </a:p>
          <a:p>
            <a:endParaRPr lang="en-US" altLang="zh-CN" sz="2800" dirty="0"/>
          </a:p>
          <a:p>
            <a:r>
              <a:rPr lang="zh-CN" altLang="en-US" sz="2800" dirty="0"/>
              <a:t>else :</a:t>
            </a:r>
            <a:endParaRPr lang="en-US" altLang="zh-CN" sz="2800" dirty="0"/>
          </a:p>
          <a:p>
            <a:endParaRPr lang="zh-CN" altLang="en-US" sz="2800" dirty="0"/>
          </a:p>
          <a:p>
            <a:r>
              <a:rPr lang="zh-CN" altLang="en-US" sz="2800" dirty="0"/>
              <a:t>    print("语句块2")</a:t>
            </a:r>
          </a:p>
        </p:txBody>
      </p:sp>
    </p:spTree>
    <p:custDataLst>
      <p:tags r:id="rId1"/>
    </p:custDataLst>
    <p:extLst>
      <p:ext uri="{BB962C8B-B14F-4D97-AF65-F5344CB8AC3E}">
        <p14:creationId xmlns:p14="http://schemas.microsoft.com/office/powerpoint/2010/main" val="717700184"/>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gn="just"/>
            <a:r>
              <a:rPr lang="en-US" altLang="zh-CN" dirty="0">
                <a:solidFill>
                  <a:schemeClr val="tx1"/>
                </a:solidFill>
                <a:latin typeface="+mj-lt"/>
                <a:ea typeface="+mj-ea"/>
              </a:rPr>
              <a:t>Python</a:t>
            </a:r>
            <a:r>
              <a:rPr lang="zh-CN" altLang="en-US" dirty="0">
                <a:solidFill>
                  <a:schemeClr val="tx1"/>
                </a:solidFill>
                <a:latin typeface="+mj-lt"/>
                <a:ea typeface="+mj-ea"/>
              </a:rPr>
              <a:t>分支结构</a:t>
            </a:r>
            <a:endParaRPr lang="en-US" altLang="zh-CN" dirty="0">
              <a:solidFill>
                <a:schemeClr val="tx1"/>
              </a:solidFill>
              <a:latin typeface="+mj-lt"/>
              <a:ea typeface="+mj-ea"/>
            </a:endParaRPr>
          </a:p>
        </p:txBody>
      </p:sp>
      <p:sp>
        <p:nvSpPr>
          <p:cNvPr id="9" name="文本框 8"/>
          <p:cNvSpPr txBox="1"/>
          <p:nvPr/>
        </p:nvSpPr>
        <p:spPr>
          <a:xfrm>
            <a:off x="5105296" y="1111159"/>
            <a:ext cx="2757486" cy="892552"/>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二分支结构</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5" name="矩形 4"/>
          <p:cNvSpPr/>
          <p:nvPr/>
        </p:nvSpPr>
        <p:spPr>
          <a:xfrm>
            <a:off x="1766352" y="2184457"/>
            <a:ext cx="4717687" cy="3970318"/>
          </a:xfrm>
          <a:prstGeom prst="rect">
            <a:avLst/>
          </a:prstGeom>
        </p:spPr>
        <p:txBody>
          <a:bodyPr wrap="square">
            <a:spAutoFit/>
          </a:bodyPr>
          <a:lstStyle/>
          <a:p>
            <a:r>
              <a:rPr lang="en-US" altLang="zh-CN" sz="2800" dirty="0">
                <a:solidFill>
                  <a:schemeClr val="tx1">
                    <a:lumMod val="50000"/>
                  </a:schemeClr>
                </a:solidFill>
              </a:rPr>
              <a:t>guess = </a:t>
            </a:r>
            <a:r>
              <a:rPr lang="en-US" altLang="zh-CN" sz="2800" dirty="0" err="1">
                <a:solidFill>
                  <a:schemeClr val="tx1">
                    <a:lumMod val="50000"/>
                  </a:schemeClr>
                </a:solidFill>
              </a:rPr>
              <a:t>eval</a:t>
            </a:r>
            <a:r>
              <a:rPr lang="en-US" altLang="zh-CN" sz="2800" dirty="0">
                <a:solidFill>
                  <a:schemeClr val="tx1">
                    <a:lumMod val="50000"/>
                  </a:schemeClr>
                </a:solidFill>
              </a:rPr>
              <a:t>(input())</a:t>
            </a:r>
          </a:p>
          <a:p>
            <a:endParaRPr lang="en-US" altLang="zh-CN" sz="2800" dirty="0">
              <a:solidFill>
                <a:schemeClr val="tx1">
                  <a:lumMod val="50000"/>
                </a:schemeClr>
              </a:solidFill>
            </a:endParaRPr>
          </a:p>
          <a:p>
            <a:r>
              <a:rPr lang="en-US" altLang="zh-CN" sz="2800" dirty="0">
                <a:solidFill>
                  <a:schemeClr val="tx1">
                    <a:lumMod val="50000"/>
                  </a:schemeClr>
                </a:solidFill>
              </a:rPr>
              <a:t>if guess == 99:</a:t>
            </a:r>
          </a:p>
          <a:p>
            <a:endParaRPr lang="en-US" altLang="zh-CN" sz="2800" dirty="0">
              <a:solidFill>
                <a:schemeClr val="tx1">
                  <a:lumMod val="50000"/>
                </a:schemeClr>
              </a:solidFill>
            </a:endParaRPr>
          </a:p>
          <a:p>
            <a:r>
              <a:rPr lang="en-US" altLang="zh-CN" sz="2800" dirty="0">
                <a:solidFill>
                  <a:schemeClr val="tx1">
                    <a:lumMod val="50000"/>
                  </a:schemeClr>
                </a:solidFill>
              </a:rPr>
              <a:t>    print("</a:t>
            </a:r>
            <a:r>
              <a:rPr lang="zh-CN" altLang="en-US" sz="2800" dirty="0">
                <a:solidFill>
                  <a:schemeClr val="tx1">
                    <a:lumMod val="50000"/>
                  </a:schemeClr>
                </a:solidFill>
              </a:rPr>
              <a:t>猜对了</a:t>
            </a:r>
            <a:r>
              <a:rPr lang="en-US" altLang="zh-CN" sz="2800" dirty="0">
                <a:solidFill>
                  <a:schemeClr val="tx1">
                    <a:lumMod val="50000"/>
                  </a:schemeClr>
                </a:solidFill>
              </a:rPr>
              <a:t>")</a:t>
            </a:r>
          </a:p>
          <a:p>
            <a:endParaRPr lang="en-US" altLang="zh-CN" sz="2800" dirty="0">
              <a:solidFill>
                <a:schemeClr val="tx1">
                  <a:lumMod val="50000"/>
                </a:schemeClr>
              </a:solidFill>
            </a:endParaRPr>
          </a:p>
          <a:p>
            <a:r>
              <a:rPr lang="en-US" altLang="zh-CN" sz="2800" dirty="0">
                <a:solidFill>
                  <a:schemeClr val="tx1">
                    <a:lumMod val="50000"/>
                  </a:schemeClr>
                </a:solidFill>
              </a:rPr>
              <a:t>else :</a:t>
            </a:r>
          </a:p>
          <a:p>
            <a:endParaRPr lang="en-US" altLang="zh-CN" sz="2800" dirty="0">
              <a:solidFill>
                <a:schemeClr val="tx1">
                  <a:lumMod val="50000"/>
                </a:schemeClr>
              </a:solidFill>
            </a:endParaRPr>
          </a:p>
          <a:p>
            <a:r>
              <a:rPr lang="en-US" altLang="zh-CN" sz="2800" dirty="0">
                <a:solidFill>
                  <a:schemeClr val="tx1">
                    <a:lumMod val="50000"/>
                  </a:schemeClr>
                </a:solidFill>
              </a:rPr>
              <a:t>    print("</a:t>
            </a:r>
            <a:r>
              <a:rPr lang="zh-CN" altLang="en-US" sz="2800" dirty="0">
                <a:solidFill>
                  <a:schemeClr val="tx1">
                    <a:lumMod val="50000"/>
                  </a:schemeClr>
                </a:solidFill>
              </a:rPr>
              <a:t>猜错了</a:t>
            </a:r>
            <a:r>
              <a:rPr lang="en-US" altLang="zh-CN" sz="2800" dirty="0">
                <a:solidFill>
                  <a:schemeClr val="tx1">
                    <a:lumMod val="50000"/>
                  </a:schemeClr>
                </a:solidFill>
              </a:rPr>
              <a:t>")</a:t>
            </a:r>
            <a:endParaRPr lang="zh-CN" altLang="en-US" sz="2800" dirty="0">
              <a:solidFill>
                <a:schemeClr val="tx1">
                  <a:lumMod val="50000"/>
                </a:schemeClr>
              </a:solidFill>
            </a:endParaRPr>
          </a:p>
        </p:txBody>
      </p:sp>
      <p:sp>
        <p:nvSpPr>
          <p:cNvPr id="6" name="矩形 5"/>
          <p:cNvSpPr/>
          <p:nvPr/>
        </p:nvSpPr>
        <p:spPr>
          <a:xfrm>
            <a:off x="7862782" y="2259699"/>
            <a:ext cx="4152900" cy="3108543"/>
          </a:xfrm>
          <a:prstGeom prst="rect">
            <a:avLst/>
          </a:prstGeom>
        </p:spPr>
        <p:txBody>
          <a:bodyPr wrap="square">
            <a:spAutoFit/>
          </a:bodyPr>
          <a:lstStyle/>
          <a:p>
            <a:r>
              <a:rPr lang="zh-CN" altLang="en-US" sz="2800" dirty="0"/>
              <a:t>if True:</a:t>
            </a:r>
            <a:endParaRPr lang="en-US" altLang="zh-CN" sz="2800" dirty="0"/>
          </a:p>
          <a:p>
            <a:endParaRPr lang="zh-CN" altLang="en-US" sz="2800" dirty="0"/>
          </a:p>
          <a:p>
            <a:r>
              <a:rPr lang="zh-CN" altLang="en-US" sz="2800" dirty="0"/>
              <a:t>    print("语句块1")</a:t>
            </a:r>
          </a:p>
          <a:p>
            <a:endParaRPr lang="en-US" altLang="zh-CN" sz="2800" dirty="0"/>
          </a:p>
          <a:p>
            <a:r>
              <a:rPr lang="zh-CN" altLang="en-US" sz="2800" dirty="0"/>
              <a:t>else :</a:t>
            </a:r>
            <a:endParaRPr lang="en-US" altLang="zh-CN" sz="2800" dirty="0"/>
          </a:p>
          <a:p>
            <a:endParaRPr lang="zh-CN" altLang="en-US" sz="2800" dirty="0"/>
          </a:p>
          <a:p>
            <a:r>
              <a:rPr lang="zh-CN" altLang="en-US" sz="2800" dirty="0"/>
              <a:t>    print("语句块2")</a:t>
            </a:r>
          </a:p>
        </p:txBody>
      </p:sp>
    </p:spTree>
    <p:custDataLst>
      <p:tags r:id="rId1"/>
    </p:custDataLst>
    <p:extLst>
      <p:ext uri="{BB962C8B-B14F-4D97-AF65-F5344CB8AC3E}">
        <p14:creationId xmlns:p14="http://schemas.microsoft.com/office/powerpoint/2010/main" val="146328827"/>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gn="just"/>
            <a:r>
              <a:rPr lang="en-US" altLang="zh-CN" dirty="0">
                <a:solidFill>
                  <a:schemeClr val="tx1"/>
                </a:solidFill>
                <a:latin typeface="+mj-lt"/>
                <a:ea typeface="+mj-ea"/>
              </a:rPr>
              <a:t>Python</a:t>
            </a:r>
            <a:r>
              <a:rPr lang="zh-CN" altLang="en-US" dirty="0">
                <a:solidFill>
                  <a:schemeClr val="tx1"/>
                </a:solidFill>
                <a:latin typeface="+mj-lt"/>
                <a:ea typeface="+mj-ea"/>
              </a:rPr>
              <a:t>分支结构</a:t>
            </a:r>
            <a:endParaRPr lang="en-US" altLang="zh-CN" dirty="0">
              <a:solidFill>
                <a:schemeClr val="tx1"/>
              </a:solidFill>
              <a:latin typeface="+mj-lt"/>
              <a:ea typeface="+mj-ea"/>
            </a:endParaRPr>
          </a:p>
        </p:txBody>
      </p:sp>
      <p:sp>
        <p:nvSpPr>
          <p:cNvPr id="9" name="文本框 8"/>
          <p:cNvSpPr txBox="1"/>
          <p:nvPr/>
        </p:nvSpPr>
        <p:spPr>
          <a:xfrm>
            <a:off x="5105296" y="1173507"/>
            <a:ext cx="2757486" cy="892552"/>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二分支结构</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2" name="矩形 1"/>
          <p:cNvSpPr/>
          <p:nvPr/>
        </p:nvSpPr>
        <p:spPr>
          <a:xfrm>
            <a:off x="2616621" y="2110456"/>
            <a:ext cx="7734836" cy="523220"/>
          </a:xfrm>
          <a:prstGeom prst="rect">
            <a:avLst/>
          </a:prstGeom>
        </p:spPr>
        <p:txBody>
          <a:bodyPr wrap="square">
            <a:spAutoFit/>
          </a:bodyPr>
          <a:lstStyle/>
          <a:p>
            <a:r>
              <a:rPr lang="zh-CN" altLang="en-US" sz="2800" dirty="0">
                <a:solidFill>
                  <a:schemeClr val="tx1">
                    <a:lumMod val="50000"/>
                  </a:schemeClr>
                </a:solidFill>
              </a:rPr>
              <a:t>紧凑形式：适用于简单表达式的二分支结构</a:t>
            </a:r>
          </a:p>
        </p:txBody>
      </p:sp>
      <p:sp>
        <p:nvSpPr>
          <p:cNvPr id="5" name="矩形 4"/>
          <p:cNvSpPr/>
          <p:nvPr/>
        </p:nvSpPr>
        <p:spPr>
          <a:xfrm>
            <a:off x="2735618" y="2905780"/>
            <a:ext cx="7056017" cy="523220"/>
          </a:xfrm>
          <a:prstGeom prst="rect">
            <a:avLst/>
          </a:prstGeom>
        </p:spPr>
        <p:txBody>
          <a:bodyPr wrap="square">
            <a:spAutoFit/>
          </a:bodyPr>
          <a:lstStyle/>
          <a:p>
            <a:r>
              <a:rPr lang="en-US" altLang="zh-CN" sz="2800" dirty="0">
                <a:solidFill>
                  <a:schemeClr val="tx1">
                    <a:lumMod val="50000"/>
                  </a:schemeClr>
                </a:solidFill>
              </a:rPr>
              <a:t>&lt;</a:t>
            </a:r>
            <a:r>
              <a:rPr lang="zh-CN" altLang="en-US" sz="2800" dirty="0">
                <a:solidFill>
                  <a:schemeClr val="tx1">
                    <a:lumMod val="50000"/>
                  </a:schemeClr>
                </a:solidFill>
              </a:rPr>
              <a:t>表达式</a:t>
            </a:r>
            <a:r>
              <a:rPr lang="en-US" altLang="zh-CN" sz="2800" dirty="0">
                <a:solidFill>
                  <a:schemeClr val="tx1">
                    <a:lumMod val="50000"/>
                  </a:schemeClr>
                </a:solidFill>
              </a:rPr>
              <a:t>1&gt; if &lt;</a:t>
            </a:r>
            <a:r>
              <a:rPr lang="zh-CN" altLang="en-US" sz="2800" dirty="0">
                <a:solidFill>
                  <a:schemeClr val="tx1">
                    <a:lumMod val="50000"/>
                  </a:schemeClr>
                </a:solidFill>
              </a:rPr>
              <a:t>条件</a:t>
            </a:r>
            <a:r>
              <a:rPr lang="en-US" altLang="zh-CN" sz="2800" dirty="0">
                <a:solidFill>
                  <a:schemeClr val="tx1">
                    <a:lumMod val="50000"/>
                  </a:schemeClr>
                </a:solidFill>
              </a:rPr>
              <a:t>&gt; else &lt;</a:t>
            </a:r>
            <a:r>
              <a:rPr lang="zh-CN" altLang="en-US" sz="2800" dirty="0">
                <a:solidFill>
                  <a:schemeClr val="tx1">
                    <a:lumMod val="50000"/>
                  </a:schemeClr>
                </a:solidFill>
              </a:rPr>
              <a:t>表达式</a:t>
            </a:r>
            <a:r>
              <a:rPr lang="en-US" altLang="zh-CN" sz="2800" dirty="0">
                <a:solidFill>
                  <a:schemeClr val="tx1">
                    <a:lumMod val="50000"/>
                  </a:schemeClr>
                </a:solidFill>
              </a:rPr>
              <a:t>2&gt;</a:t>
            </a:r>
            <a:endParaRPr lang="zh-CN" altLang="en-US" sz="2800" dirty="0">
              <a:solidFill>
                <a:schemeClr val="tx1">
                  <a:lumMod val="50000"/>
                </a:schemeClr>
              </a:solidFill>
            </a:endParaRPr>
          </a:p>
        </p:txBody>
      </p:sp>
      <p:sp>
        <p:nvSpPr>
          <p:cNvPr id="4" name="矩形 3"/>
          <p:cNvSpPr/>
          <p:nvPr/>
        </p:nvSpPr>
        <p:spPr>
          <a:xfrm>
            <a:off x="1832803" y="3936272"/>
            <a:ext cx="9302472" cy="1384995"/>
          </a:xfrm>
          <a:prstGeom prst="rect">
            <a:avLst/>
          </a:prstGeom>
        </p:spPr>
        <p:txBody>
          <a:bodyPr wrap="square">
            <a:spAutoFit/>
          </a:bodyPr>
          <a:lstStyle/>
          <a:p>
            <a:r>
              <a:rPr lang="zh-CN" altLang="en-US" sz="2800" dirty="0">
                <a:solidFill>
                  <a:schemeClr val="tx1">
                    <a:lumMod val="50000"/>
                  </a:schemeClr>
                </a:solidFill>
              </a:rPr>
              <a:t>guess = eval(input())</a:t>
            </a:r>
            <a:endParaRPr lang="en-US" altLang="zh-CN" sz="2800" dirty="0">
              <a:solidFill>
                <a:schemeClr val="tx1">
                  <a:lumMod val="50000"/>
                </a:schemeClr>
              </a:solidFill>
            </a:endParaRPr>
          </a:p>
          <a:p>
            <a:endParaRPr lang="zh-CN" altLang="en-US" sz="2800" dirty="0">
              <a:solidFill>
                <a:schemeClr val="tx1">
                  <a:lumMod val="50000"/>
                </a:schemeClr>
              </a:solidFill>
            </a:endParaRPr>
          </a:p>
          <a:p>
            <a:r>
              <a:rPr lang="zh-CN" altLang="en-US" sz="2800" dirty="0">
                <a:solidFill>
                  <a:schemeClr val="tx1">
                    <a:lumMod val="50000"/>
                  </a:schemeClr>
                </a:solidFill>
              </a:rPr>
              <a:t>print("猜{}了".format("对" if guess==99 else "错"))</a:t>
            </a:r>
          </a:p>
        </p:txBody>
      </p:sp>
    </p:spTree>
    <p:custDataLst>
      <p:tags r:id="rId1"/>
    </p:custDataLst>
    <p:extLst>
      <p:ext uri="{BB962C8B-B14F-4D97-AF65-F5344CB8AC3E}">
        <p14:creationId xmlns:p14="http://schemas.microsoft.com/office/powerpoint/2010/main" val="3333325182"/>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gn="just"/>
            <a:r>
              <a:rPr lang="en-US" altLang="zh-CN" dirty="0">
                <a:solidFill>
                  <a:schemeClr val="tx1"/>
                </a:solidFill>
                <a:latin typeface="+mj-lt"/>
                <a:ea typeface="+mj-ea"/>
              </a:rPr>
              <a:t>Python</a:t>
            </a:r>
            <a:r>
              <a:rPr lang="zh-CN" altLang="en-US" dirty="0">
                <a:solidFill>
                  <a:schemeClr val="tx1"/>
                </a:solidFill>
                <a:latin typeface="+mj-lt"/>
                <a:ea typeface="+mj-ea"/>
              </a:rPr>
              <a:t>分支结构</a:t>
            </a:r>
            <a:endParaRPr lang="en-US" altLang="zh-CN" dirty="0">
              <a:solidFill>
                <a:schemeClr val="tx1"/>
              </a:solidFill>
              <a:latin typeface="+mj-lt"/>
              <a:ea typeface="+mj-ea"/>
            </a:endParaRPr>
          </a:p>
        </p:txBody>
      </p:sp>
      <p:sp>
        <p:nvSpPr>
          <p:cNvPr id="9" name="文本框 8"/>
          <p:cNvSpPr txBox="1"/>
          <p:nvPr/>
        </p:nvSpPr>
        <p:spPr>
          <a:xfrm>
            <a:off x="4712514" y="1083416"/>
            <a:ext cx="2757486"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多分支结构</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6" name="矩形 5"/>
          <p:cNvSpPr/>
          <p:nvPr/>
        </p:nvSpPr>
        <p:spPr>
          <a:xfrm>
            <a:off x="2347913" y="2060998"/>
            <a:ext cx="4210050" cy="4154984"/>
          </a:xfrm>
          <a:prstGeom prst="rect">
            <a:avLst/>
          </a:prstGeom>
        </p:spPr>
        <p:txBody>
          <a:bodyPr wrap="square">
            <a:spAutoFit/>
          </a:bodyPr>
          <a:lstStyle/>
          <a:p>
            <a:r>
              <a:rPr lang="zh-CN" altLang="en-US" sz="2400" dirty="0">
                <a:solidFill>
                  <a:schemeClr val="tx1">
                    <a:lumMod val="50000"/>
                  </a:schemeClr>
                </a:solidFill>
              </a:rPr>
              <a:t>if &lt;条件1&gt; :</a:t>
            </a:r>
            <a:endParaRPr lang="en-US" altLang="zh-CN" sz="2400" dirty="0">
              <a:solidFill>
                <a:schemeClr val="tx1">
                  <a:lumMod val="50000"/>
                </a:schemeClr>
              </a:solidFill>
            </a:endParaRPr>
          </a:p>
          <a:p>
            <a:endParaRPr lang="zh-CN" altLang="en-US" sz="2400" dirty="0">
              <a:solidFill>
                <a:schemeClr val="tx1">
                  <a:lumMod val="50000"/>
                </a:schemeClr>
              </a:solidFill>
            </a:endParaRPr>
          </a:p>
          <a:p>
            <a:r>
              <a:rPr lang="zh-CN" altLang="en-US" sz="2400" dirty="0">
                <a:solidFill>
                  <a:schemeClr val="tx1">
                    <a:lumMod val="50000"/>
                  </a:schemeClr>
                </a:solidFill>
              </a:rPr>
              <a:t>    &lt;语句块1&gt;</a:t>
            </a:r>
            <a:endParaRPr lang="en-US" altLang="zh-CN" sz="2400" dirty="0">
              <a:solidFill>
                <a:schemeClr val="tx1">
                  <a:lumMod val="50000"/>
                </a:schemeClr>
              </a:solidFill>
            </a:endParaRPr>
          </a:p>
          <a:p>
            <a:endParaRPr lang="zh-CN" altLang="en-US" sz="2400" dirty="0">
              <a:solidFill>
                <a:schemeClr val="tx1">
                  <a:lumMod val="50000"/>
                </a:schemeClr>
              </a:solidFill>
            </a:endParaRPr>
          </a:p>
          <a:p>
            <a:r>
              <a:rPr lang="zh-CN" altLang="en-US" sz="2400" dirty="0">
                <a:solidFill>
                  <a:schemeClr val="tx1">
                    <a:lumMod val="50000"/>
                  </a:schemeClr>
                </a:solidFill>
              </a:rPr>
              <a:t>elif &lt;条件2&gt; :</a:t>
            </a:r>
            <a:endParaRPr lang="en-US" altLang="zh-CN" sz="2400" dirty="0">
              <a:solidFill>
                <a:schemeClr val="tx1">
                  <a:lumMod val="50000"/>
                </a:schemeClr>
              </a:solidFill>
            </a:endParaRPr>
          </a:p>
          <a:p>
            <a:endParaRPr lang="zh-CN" altLang="en-US" sz="2400" dirty="0">
              <a:solidFill>
                <a:schemeClr val="tx1">
                  <a:lumMod val="50000"/>
                </a:schemeClr>
              </a:solidFill>
            </a:endParaRPr>
          </a:p>
          <a:p>
            <a:r>
              <a:rPr lang="zh-CN" altLang="en-US" sz="2400" dirty="0">
                <a:solidFill>
                  <a:schemeClr val="tx1">
                    <a:lumMod val="50000"/>
                  </a:schemeClr>
                </a:solidFill>
              </a:rPr>
              <a:t>    &lt;语句块2&gt;</a:t>
            </a:r>
          </a:p>
          <a:p>
            <a:r>
              <a:rPr lang="zh-CN" altLang="en-US" sz="2400" dirty="0">
                <a:solidFill>
                  <a:schemeClr val="tx1">
                    <a:lumMod val="50000"/>
                  </a:schemeClr>
                </a:solidFill>
              </a:rPr>
              <a:t>……</a:t>
            </a:r>
          </a:p>
          <a:p>
            <a:r>
              <a:rPr lang="zh-CN" altLang="en-US" sz="2400" dirty="0">
                <a:solidFill>
                  <a:schemeClr val="tx1">
                    <a:lumMod val="50000"/>
                  </a:schemeClr>
                </a:solidFill>
              </a:rPr>
              <a:t>else :</a:t>
            </a:r>
            <a:endParaRPr lang="en-US" altLang="zh-CN" sz="2400" dirty="0">
              <a:solidFill>
                <a:schemeClr val="tx1">
                  <a:lumMod val="50000"/>
                </a:schemeClr>
              </a:solidFill>
            </a:endParaRPr>
          </a:p>
          <a:p>
            <a:endParaRPr lang="zh-CN" altLang="en-US" sz="2400" dirty="0">
              <a:solidFill>
                <a:schemeClr val="tx1">
                  <a:lumMod val="50000"/>
                </a:schemeClr>
              </a:solidFill>
            </a:endParaRPr>
          </a:p>
          <a:p>
            <a:r>
              <a:rPr lang="zh-CN" altLang="en-US" sz="2400" dirty="0">
                <a:solidFill>
                  <a:schemeClr val="tx1">
                    <a:lumMod val="50000"/>
                  </a:schemeClr>
                </a:solidFill>
              </a:rPr>
              <a:t>    &lt;语句块N&gt;</a:t>
            </a:r>
          </a:p>
        </p:txBody>
      </p:sp>
      <p:pic>
        <p:nvPicPr>
          <p:cNvPr id="7" name="图片 6"/>
          <p:cNvPicPr>
            <a:picLocks noChangeAspect="1"/>
          </p:cNvPicPr>
          <p:nvPr/>
        </p:nvPicPr>
        <p:blipFill>
          <a:blip r:embed="rId5" cstate="print"/>
          <a:stretch>
            <a:fillRect/>
          </a:stretch>
        </p:blipFill>
        <p:spPr>
          <a:xfrm>
            <a:off x="6557963" y="2015478"/>
            <a:ext cx="4214147" cy="4256714"/>
          </a:xfrm>
          <a:prstGeom prst="rect">
            <a:avLst/>
          </a:prstGeom>
        </p:spPr>
      </p:pic>
    </p:spTree>
    <p:custDataLst>
      <p:tags r:id="rId1"/>
    </p:custDataLst>
    <p:extLst>
      <p:ext uri="{BB962C8B-B14F-4D97-AF65-F5344CB8AC3E}">
        <p14:creationId xmlns:p14="http://schemas.microsoft.com/office/powerpoint/2010/main" val="84710685"/>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gn="just"/>
            <a:r>
              <a:rPr lang="en-US" altLang="zh-CN" dirty="0">
                <a:solidFill>
                  <a:schemeClr val="tx1"/>
                </a:solidFill>
                <a:latin typeface="+mj-lt"/>
                <a:ea typeface="+mj-ea"/>
              </a:rPr>
              <a:t>Python</a:t>
            </a:r>
            <a:r>
              <a:rPr lang="zh-CN" altLang="en-US" dirty="0">
                <a:solidFill>
                  <a:schemeClr val="tx1"/>
                </a:solidFill>
                <a:latin typeface="+mj-lt"/>
                <a:ea typeface="+mj-ea"/>
              </a:rPr>
              <a:t>分支结构</a:t>
            </a:r>
            <a:endParaRPr lang="en-US" altLang="zh-CN" dirty="0">
              <a:solidFill>
                <a:schemeClr val="tx1"/>
              </a:solidFill>
              <a:latin typeface="+mj-lt"/>
              <a:ea typeface="+mj-ea"/>
            </a:endParaRPr>
          </a:p>
        </p:txBody>
      </p:sp>
      <p:sp>
        <p:nvSpPr>
          <p:cNvPr id="9" name="文本框 8"/>
          <p:cNvSpPr txBox="1"/>
          <p:nvPr/>
        </p:nvSpPr>
        <p:spPr>
          <a:xfrm>
            <a:off x="4712514" y="1083416"/>
            <a:ext cx="2757486"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多分支结构</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6" name="矩形 5"/>
          <p:cNvSpPr/>
          <p:nvPr/>
        </p:nvSpPr>
        <p:spPr>
          <a:xfrm>
            <a:off x="1976437" y="1930687"/>
            <a:ext cx="6796087" cy="4297908"/>
          </a:xfrm>
          <a:prstGeom prst="rect">
            <a:avLst/>
          </a:prstGeom>
        </p:spPr>
        <p:txBody>
          <a:bodyPr wrap="square">
            <a:spAutoFit/>
          </a:bodyPr>
          <a:lstStyle/>
          <a:p>
            <a:pPr>
              <a:lnSpc>
                <a:spcPct val="114000"/>
              </a:lnSpc>
            </a:pPr>
            <a:r>
              <a:rPr lang="en-US" altLang="zh-CN" sz="2200" dirty="0">
                <a:solidFill>
                  <a:schemeClr val="tx1">
                    <a:lumMod val="50000"/>
                  </a:schemeClr>
                </a:solidFill>
              </a:rPr>
              <a:t>#</a:t>
            </a:r>
            <a:r>
              <a:rPr lang="en-US" altLang="zh-CN" sz="2200" dirty="0" err="1">
                <a:solidFill>
                  <a:schemeClr val="tx1">
                    <a:lumMod val="50000"/>
                  </a:schemeClr>
                </a:solidFill>
              </a:rPr>
              <a:t>judgeScore</a:t>
            </a:r>
            <a:endParaRPr lang="en-US" altLang="zh-CN" sz="2200" dirty="0">
              <a:solidFill>
                <a:schemeClr val="tx1">
                  <a:lumMod val="50000"/>
                </a:schemeClr>
              </a:solidFill>
            </a:endParaRPr>
          </a:p>
          <a:p>
            <a:pPr>
              <a:lnSpc>
                <a:spcPct val="114000"/>
              </a:lnSpc>
            </a:pPr>
            <a:r>
              <a:rPr lang="en-US" altLang="zh-CN" sz="2200" dirty="0">
                <a:solidFill>
                  <a:schemeClr val="tx1">
                    <a:lumMod val="50000"/>
                  </a:schemeClr>
                </a:solidFill>
              </a:rPr>
              <a:t>score = </a:t>
            </a:r>
            <a:r>
              <a:rPr lang="en-US" altLang="zh-CN" sz="2200" dirty="0" err="1">
                <a:solidFill>
                  <a:schemeClr val="tx1">
                    <a:lumMod val="50000"/>
                  </a:schemeClr>
                </a:solidFill>
              </a:rPr>
              <a:t>eval</a:t>
            </a:r>
            <a:r>
              <a:rPr lang="en-US" altLang="zh-CN" sz="2200" dirty="0">
                <a:solidFill>
                  <a:schemeClr val="tx1">
                    <a:lumMod val="50000"/>
                  </a:schemeClr>
                </a:solidFill>
              </a:rPr>
              <a:t>(input('</a:t>
            </a:r>
            <a:r>
              <a:rPr lang="zh-CN" altLang="en-US" sz="2200" dirty="0">
                <a:solidFill>
                  <a:schemeClr val="tx1">
                    <a:lumMod val="50000"/>
                  </a:schemeClr>
                </a:solidFill>
              </a:rPr>
              <a:t>请输入成绩：</a:t>
            </a:r>
            <a:r>
              <a:rPr lang="en-US" altLang="zh-CN" sz="2200" dirty="0">
                <a:solidFill>
                  <a:schemeClr val="tx1">
                    <a:lumMod val="50000"/>
                  </a:schemeClr>
                </a:solidFill>
              </a:rPr>
              <a:t>'))</a:t>
            </a:r>
          </a:p>
          <a:p>
            <a:pPr>
              <a:lnSpc>
                <a:spcPct val="114000"/>
              </a:lnSpc>
            </a:pPr>
            <a:r>
              <a:rPr lang="en-US" altLang="zh-CN" sz="2200" dirty="0">
                <a:solidFill>
                  <a:schemeClr val="tx1">
                    <a:lumMod val="50000"/>
                  </a:schemeClr>
                </a:solidFill>
              </a:rPr>
              <a:t>if score &gt;= 60:</a:t>
            </a:r>
          </a:p>
          <a:p>
            <a:pPr>
              <a:lnSpc>
                <a:spcPct val="114000"/>
              </a:lnSpc>
            </a:pPr>
            <a:r>
              <a:rPr lang="en-US" altLang="zh-CN" sz="2200" dirty="0">
                <a:solidFill>
                  <a:schemeClr val="tx1">
                    <a:lumMod val="50000"/>
                  </a:schemeClr>
                </a:solidFill>
              </a:rPr>
              <a:t>    grade = 'D'</a:t>
            </a:r>
          </a:p>
          <a:p>
            <a:pPr>
              <a:lnSpc>
                <a:spcPct val="114000"/>
              </a:lnSpc>
            </a:pPr>
            <a:r>
              <a:rPr lang="en-US" altLang="zh-CN" sz="2200" dirty="0" err="1">
                <a:solidFill>
                  <a:schemeClr val="tx1">
                    <a:lumMod val="50000"/>
                  </a:schemeClr>
                </a:solidFill>
              </a:rPr>
              <a:t>elif</a:t>
            </a:r>
            <a:r>
              <a:rPr lang="en-US" altLang="zh-CN" sz="2200" dirty="0">
                <a:solidFill>
                  <a:schemeClr val="tx1">
                    <a:lumMod val="50000"/>
                  </a:schemeClr>
                </a:solidFill>
              </a:rPr>
              <a:t> score &gt;= 70:</a:t>
            </a:r>
          </a:p>
          <a:p>
            <a:pPr>
              <a:lnSpc>
                <a:spcPct val="114000"/>
              </a:lnSpc>
            </a:pPr>
            <a:r>
              <a:rPr lang="en-US" altLang="zh-CN" sz="2200" dirty="0">
                <a:solidFill>
                  <a:schemeClr val="tx1">
                    <a:lumMod val="50000"/>
                  </a:schemeClr>
                </a:solidFill>
              </a:rPr>
              <a:t>    grade = 'C'</a:t>
            </a:r>
          </a:p>
          <a:p>
            <a:pPr>
              <a:lnSpc>
                <a:spcPct val="114000"/>
              </a:lnSpc>
            </a:pPr>
            <a:r>
              <a:rPr lang="en-US" altLang="zh-CN" sz="2200" dirty="0" err="1">
                <a:solidFill>
                  <a:schemeClr val="tx1">
                    <a:lumMod val="50000"/>
                  </a:schemeClr>
                </a:solidFill>
              </a:rPr>
              <a:t>elif</a:t>
            </a:r>
            <a:r>
              <a:rPr lang="en-US" altLang="zh-CN" sz="2200" dirty="0">
                <a:solidFill>
                  <a:schemeClr val="tx1">
                    <a:lumMod val="50000"/>
                  </a:schemeClr>
                </a:solidFill>
              </a:rPr>
              <a:t> score &gt;= 80:</a:t>
            </a:r>
          </a:p>
          <a:p>
            <a:pPr>
              <a:lnSpc>
                <a:spcPct val="114000"/>
              </a:lnSpc>
            </a:pPr>
            <a:r>
              <a:rPr lang="en-US" altLang="zh-CN" sz="2200" dirty="0">
                <a:solidFill>
                  <a:schemeClr val="tx1">
                    <a:lumMod val="50000"/>
                  </a:schemeClr>
                </a:solidFill>
              </a:rPr>
              <a:t>    grade = 'B'</a:t>
            </a:r>
          </a:p>
          <a:p>
            <a:pPr>
              <a:lnSpc>
                <a:spcPct val="114000"/>
              </a:lnSpc>
            </a:pPr>
            <a:r>
              <a:rPr lang="en-US" altLang="zh-CN" sz="2200" dirty="0" err="1">
                <a:solidFill>
                  <a:schemeClr val="tx1">
                    <a:lumMod val="50000"/>
                  </a:schemeClr>
                </a:solidFill>
              </a:rPr>
              <a:t>elif</a:t>
            </a:r>
            <a:r>
              <a:rPr lang="en-US" altLang="zh-CN" sz="2200" dirty="0">
                <a:solidFill>
                  <a:schemeClr val="tx1">
                    <a:lumMod val="50000"/>
                  </a:schemeClr>
                </a:solidFill>
              </a:rPr>
              <a:t> score &gt;= 90:</a:t>
            </a:r>
          </a:p>
          <a:p>
            <a:pPr>
              <a:lnSpc>
                <a:spcPct val="114000"/>
              </a:lnSpc>
            </a:pPr>
            <a:r>
              <a:rPr lang="en-US" altLang="zh-CN" sz="2200" dirty="0">
                <a:solidFill>
                  <a:schemeClr val="tx1">
                    <a:lumMod val="50000"/>
                  </a:schemeClr>
                </a:solidFill>
              </a:rPr>
              <a:t>    grade = 'A'</a:t>
            </a:r>
          </a:p>
          <a:p>
            <a:pPr>
              <a:lnSpc>
                <a:spcPct val="114000"/>
              </a:lnSpc>
            </a:pPr>
            <a:r>
              <a:rPr lang="en-US" altLang="zh-CN" sz="2200" dirty="0">
                <a:solidFill>
                  <a:schemeClr val="tx1">
                    <a:lumMod val="50000"/>
                  </a:schemeClr>
                </a:solidFill>
              </a:rPr>
              <a:t>print("</a:t>
            </a:r>
            <a:r>
              <a:rPr lang="zh-CN" altLang="en-US" sz="2200" dirty="0">
                <a:solidFill>
                  <a:schemeClr val="tx1">
                    <a:lumMod val="50000"/>
                  </a:schemeClr>
                </a:solidFill>
              </a:rPr>
              <a:t>输入成绩属于级别：</a:t>
            </a:r>
            <a:r>
              <a:rPr lang="en-US" altLang="zh-CN" sz="2200" dirty="0">
                <a:solidFill>
                  <a:schemeClr val="tx1">
                    <a:lumMod val="50000"/>
                  </a:schemeClr>
                </a:solidFill>
              </a:rPr>
              <a:t>{}".format(grade))</a:t>
            </a:r>
            <a:endParaRPr lang="zh-CN" altLang="en-US" sz="2200" dirty="0">
              <a:solidFill>
                <a:schemeClr val="tx1">
                  <a:lumMod val="50000"/>
                </a:schemeClr>
              </a:solidFill>
            </a:endParaRPr>
          </a:p>
        </p:txBody>
      </p:sp>
      <p:sp>
        <p:nvSpPr>
          <p:cNvPr id="4" name="矩形 3"/>
          <p:cNvSpPr/>
          <p:nvPr/>
        </p:nvSpPr>
        <p:spPr>
          <a:xfrm>
            <a:off x="7000875" y="3777347"/>
            <a:ext cx="4609321" cy="830997"/>
          </a:xfrm>
          <a:prstGeom prst="rect">
            <a:avLst/>
          </a:prstGeom>
        </p:spPr>
        <p:txBody>
          <a:bodyPr wrap="square">
            <a:spAutoFit/>
          </a:bodyPr>
          <a:lstStyle/>
          <a:p>
            <a:r>
              <a:rPr lang="zh-CN" altLang="en-US" sz="2400" dirty="0"/>
              <a:t>- 注意多条件之间的包含关系</a:t>
            </a:r>
          </a:p>
          <a:p>
            <a:r>
              <a:rPr lang="zh-CN" altLang="en-US" sz="2400" dirty="0"/>
              <a:t>- 注意变量取值范围的覆盖</a:t>
            </a:r>
          </a:p>
        </p:txBody>
      </p:sp>
    </p:spTree>
    <p:custDataLst>
      <p:tags r:id="rId1"/>
    </p:custDataLst>
    <p:extLst>
      <p:ext uri="{BB962C8B-B14F-4D97-AF65-F5344CB8AC3E}">
        <p14:creationId xmlns:p14="http://schemas.microsoft.com/office/powerpoint/2010/main" val="206406550"/>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gn="just"/>
            <a:r>
              <a:rPr lang="en-US" altLang="zh-CN" dirty="0">
                <a:solidFill>
                  <a:schemeClr val="tx1"/>
                </a:solidFill>
                <a:latin typeface="+mj-lt"/>
                <a:ea typeface="+mj-ea"/>
              </a:rPr>
              <a:t>Python</a:t>
            </a:r>
            <a:r>
              <a:rPr lang="zh-CN" altLang="en-US" dirty="0">
                <a:solidFill>
                  <a:schemeClr val="tx1"/>
                </a:solidFill>
                <a:latin typeface="+mj-lt"/>
                <a:ea typeface="+mj-ea"/>
              </a:rPr>
              <a:t>分支结构</a:t>
            </a:r>
            <a:endParaRPr lang="en-US" altLang="zh-CN" dirty="0">
              <a:solidFill>
                <a:schemeClr val="tx1"/>
              </a:solidFill>
              <a:latin typeface="+mj-lt"/>
              <a:ea typeface="+mj-ea"/>
            </a:endParaRPr>
          </a:p>
        </p:txBody>
      </p:sp>
      <p:sp>
        <p:nvSpPr>
          <p:cNvPr id="9" name="文本框 8"/>
          <p:cNvSpPr txBox="1"/>
          <p:nvPr/>
        </p:nvSpPr>
        <p:spPr>
          <a:xfrm>
            <a:off x="4197950" y="1185291"/>
            <a:ext cx="3786614"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条件判断及组合</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pic>
        <p:nvPicPr>
          <p:cNvPr id="2" name="图片 1"/>
          <p:cNvPicPr>
            <a:picLocks noChangeAspect="1"/>
          </p:cNvPicPr>
          <p:nvPr/>
        </p:nvPicPr>
        <p:blipFill>
          <a:blip r:embed="rId5" cstate="print"/>
          <a:stretch>
            <a:fillRect/>
          </a:stretch>
        </p:blipFill>
        <p:spPr>
          <a:xfrm>
            <a:off x="1538774" y="2504978"/>
            <a:ext cx="9413577" cy="3781522"/>
          </a:xfrm>
          <a:prstGeom prst="rect">
            <a:avLst/>
          </a:prstGeom>
        </p:spPr>
      </p:pic>
    </p:spTree>
    <p:custDataLst>
      <p:tags r:id="rId1"/>
    </p:custDataLst>
    <p:extLst>
      <p:ext uri="{BB962C8B-B14F-4D97-AF65-F5344CB8AC3E}">
        <p14:creationId xmlns:p14="http://schemas.microsoft.com/office/powerpoint/2010/main" val="698419804"/>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gn="just"/>
            <a:r>
              <a:rPr lang="en-US" altLang="zh-CN" dirty="0">
                <a:solidFill>
                  <a:schemeClr val="tx1"/>
                </a:solidFill>
                <a:latin typeface="+mj-lt"/>
                <a:ea typeface="+mj-ea"/>
              </a:rPr>
              <a:t>Python</a:t>
            </a:r>
            <a:r>
              <a:rPr lang="zh-CN" altLang="en-US" dirty="0">
                <a:solidFill>
                  <a:schemeClr val="tx1"/>
                </a:solidFill>
                <a:latin typeface="+mj-lt"/>
                <a:ea typeface="+mj-ea"/>
              </a:rPr>
              <a:t>分支结构</a:t>
            </a:r>
            <a:endParaRPr lang="en-US" altLang="zh-CN" dirty="0">
              <a:solidFill>
                <a:schemeClr val="tx1"/>
              </a:solidFill>
              <a:latin typeface="+mj-lt"/>
              <a:ea typeface="+mj-ea"/>
            </a:endParaRPr>
          </a:p>
        </p:txBody>
      </p:sp>
      <p:sp>
        <p:nvSpPr>
          <p:cNvPr id="9" name="文本框 8"/>
          <p:cNvSpPr txBox="1"/>
          <p:nvPr/>
        </p:nvSpPr>
        <p:spPr>
          <a:xfrm>
            <a:off x="4197950" y="1185291"/>
            <a:ext cx="3786614"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条件判断及组合</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pic>
        <p:nvPicPr>
          <p:cNvPr id="4" name="图片 3"/>
          <p:cNvPicPr>
            <a:picLocks noChangeAspect="1"/>
          </p:cNvPicPr>
          <p:nvPr/>
        </p:nvPicPr>
        <p:blipFill>
          <a:blip r:embed="rId5" cstate="print"/>
          <a:stretch>
            <a:fillRect/>
          </a:stretch>
        </p:blipFill>
        <p:spPr>
          <a:xfrm>
            <a:off x="1124449" y="3162419"/>
            <a:ext cx="10144414" cy="2423994"/>
          </a:xfrm>
          <a:prstGeom prst="rect">
            <a:avLst/>
          </a:prstGeom>
        </p:spPr>
      </p:pic>
      <p:sp>
        <p:nvSpPr>
          <p:cNvPr id="5" name="矩形 4"/>
          <p:cNvSpPr/>
          <p:nvPr/>
        </p:nvSpPr>
        <p:spPr>
          <a:xfrm>
            <a:off x="1124449" y="2301774"/>
            <a:ext cx="4493538" cy="523220"/>
          </a:xfrm>
          <a:prstGeom prst="rect">
            <a:avLst/>
          </a:prstGeom>
        </p:spPr>
        <p:txBody>
          <a:bodyPr wrap="none">
            <a:spAutoFit/>
          </a:bodyPr>
          <a:lstStyle/>
          <a:p>
            <a:r>
              <a:rPr lang="zh-CN" altLang="en-US" sz="2800" dirty="0">
                <a:solidFill>
                  <a:schemeClr val="tx1">
                    <a:lumMod val="50000"/>
                  </a:schemeClr>
                </a:solidFill>
              </a:rPr>
              <a:t>用于条件组合的三个保留字</a:t>
            </a:r>
          </a:p>
        </p:txBody>
      </p:sp>
    </p:spTree>
    <p:custDataLst>
      <p:tags r:id="rId1"/>
    </p:custDataLst>
    <p:extLst>
      <p:ext uri="{BB962C8B-B14F-4D97-AF65-F5344CB8AC3E}">
        <p14:creationId xmlns:p14="http://schemas.microsoft.com/office/powerpoint/2010/main" val="2804626932"/>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gn="just"/>
            <a:r>
              <a:rPr lang="en-US" altLang="zh-CN" dirty="0">
                <a:solidFill>
                  <a:schemeClr val="tx1"/>
                </a:solidFill>
                <a:latin typeface="+mj-lt"/>
                <a:ea typeface="+mj-ea"/>
              </a:rPr>
              <a:t>Python</a:t>
            </a:r>
            <a:r>
              <a:rPr lang="zh-CN" altLang="en-US" dirty="0">
                <a:solidFill>
                  <a:schemeClr val="tx1"/>
                </a:solidFill>
                <a:latin typeface="+mj-lt"/>
                <a:ea typeface="+mj-ea"/>
              </a:rPr>
              <a:t>分支结构</a:t>
            </a:r>
            <a:endParaRPr lang="en-US" altLang="zh-CN" dirty="0">
              <a:solidFill>
                <a:schemeClr val="tx1"/>
              </a:solidFill>
              <a:latin typeface="+mj-lt"/>
              <a:ea typeface="+mj-ea"/>
            </a:endParaRPr>
          </a:p>
        </p:txBody>
      </p:sp>
      <p:sp>
        <p:nvSpPr>
          <p:cNvPr id="9" name="文本框 8"/>
          <p:cNvSpPr txBox="1"/>
          <p:nvPr/>
        </p:nvSpPr>
        <p:spPr>
          <a:xfrm>
            <a:off x="4197950" y="1185291"/>
            <a:ext cx="3786614"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条件判断及组合</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pic>
        <p:nvPicPr>
          <p:cNvPr id="4" name="图片 3"/>
          <p:cNvPicPr>
            <a:picLocks noChangeAspect="1"/>
          </p:cNvPicPr>
          <p:nvPr/>
        </p:nvPicPr>
        <p:blipFill>
          <a:blip r:embed="rId5" cstate="print"/>
          <a:stretch>
            <a:fillRect/>
          </a:stretch>
        </p:blipFill>
        <p:spPr>
          <a:xfrm>
            <a:off x="1124449" y="3162419"/>
            <a:ext cx="10144414" cy="2423994"/>
          </a:xfrm>
          <a:prstGeom prst="rect">
            <a:avLst/>
          </a:prstGeom>
        </p:spPr>
      </p:pic>
      <p:sp>
        <p:nvSpPr>
          <p:cNvPr id="5" name="矩形 4"/>
          <p:cNvSpPr/>
          <p:nvPr/>
        </p:nvSpPr>
        <p:spPr>
          <a:xfrm>
            <a:off x="1124449" y="2301774"/>
            <a:ext cx="4493538" cy="523220"/>
          </a:xfrm>
          <a:prstGeom prst="rect">
            <a:avLst/>
          </a:prstGeom>
        </p:spPr>
        <p:txBody>
          <a:bodyPr wrap="none">
            <a:spAutoFit/>
          </a:bodyPr>
          <a:lstStyle/>
          <a:p>
            <a:r>
              <a:rPr lang="zh-CN" altLang="en-US" sz="2800" dirty="0">
                <a:solidFill>
                  <a:schemeClr val="tx1">
                    <a:lumMod val="50000"/>
                  </a:schemeClr>
                </a:solidFill>
              </a:rPr>
              <a:t>用于条件组合的三个保留字</a:t>
            </a:r>
          </a:p>
        </p:txBody>
      </p:sp>
    </p:spTree>
    <p:custDataLst>
      <p:tags r:id="rId1"/>
    </p:custDataLst>
    <p:extLst>
      <p:ext uri="{BB962C8B-B14F-4D97-AF65-F5344CB8AC3E}">
        <p14:creationId xmlns:p14="http://schemas.microsoft.com/office/powerpoint/2010/main" val="638493202"/>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gn="just"/>
            <a:r>
              <a:rPr lang="en-US" altLang="zh-CN" dirty="0">
                <a:solidFill>
                  <a:schemeClr val="tx1"/>
                </a:solidFill>
                <a:latin typeface="+mj-lt"/>
                <a:ea typeface="+mj-ea"/>
              </a:rPr>
              <a:t>Python</a:t>
            </a:r>
            <a:r>
              <a:rPr lang="zh-CN" altLang="en-US" dirty="0">
                <a:solidFill>
                  <a:schemeClr val="tx1"/>
                </a:solidFill>
                <a:latin typeface="+mj-lt"/>
                <a:ea typeface="+mj-ea"/>
              </a:rPr>
              <a:t>分支结构</a:t>
            </a:r>
            <a:endParaRPr lang="en-US" altLang="zh-CN" dirty="0">
              <a:solidFill>
                <a:schemeClr val="tx1"/>
              </a:solidFill>
              <a:latin typeface="+mj-lt"/>
              <a:ea typeface="+mj-ea"/>
            </a:endParaRPr>
          </a:p>
        </p:txBody>
      </p:sp>
      <p:sp>
        <p:nvSpPr>
          <p:cNvPr id="9" name="文本框 8"/>
          <p:cNvSpPr txBox="1"/>
          <p:nvPr/>
        </p:nvSpPr>
        <p:spPr>
          <a:xfrm>
            <a:off x="4197950" y="1185291"/>
            <a:ext cx="3786614"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条件判断及组合</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5" name="矩形 4"/>
          <p:cNvSpPr/>
          <p:nvPr/>
        </p:nvSpPr>
        <p:spPr>
          <a:xfrm>
            <a:off x="1224462" y="1939844"/>
            <a:ext cx="902811" cy="523220"/>
          </a:xfrm>
          <a:prstGeom prst="rect">
            <a:avLst/>
          </a:prstGeom>
        </p:spPr>
        <p:txBody>
          <a:bodyPr wrap="none">
            <a:spAutoFit/>
          </a:bodyPr>
          <a:lstStyle/>
          <a:p>
            <a:r>
              <a:rPr lang="zh-CN" altLang="en-US" sz="2800" dirty="0">
                <a:solidFill>
                  <a:schemeClr val="tx1">
                    <a:lumMod val="50000"/>
                  </a:schemeClr>
                </a:solidFill>
              </a:rPr>
              <a:t>示例</a:t>
            </a:r>
            <a:endParaRPr lang="en-US" altLang="zh-CN" sz="2800" dirty="0">
              <a:solidFill>
                <a:schemeClr val="tx1">
                  <a:lumMod val="50000"/>
                </a:schemeClr>
              </a:solidFill>
            </a:endParaRPr>
          </a:p>
        </p:txBody>
      </p:sp>
      <p:sp>
        <p:nvSpPr>
          <p:cNvPr id="2" name="矩形 1"/>
          <p:cNvSpPr/>
          <p:nvPr/>
        </p:nvSpPr>
        <p:spPr>
          <a:xfrm>
            <a:off x="1149950" y="2463064"/>
            <a:ext cx="6096000" cy="3539430"/>
          </a:xfrm>
          <a:prstGeom prst="rect">
            <a:avLst/>
          </a:prstGeom>
        </p:spPr>
        <p:txBody>
          <a:bodyPr>
            <a:spAutoFit/>
          </a:bodyPr>
          <a:lstStyle/>
          <a:p>
            <a:r>
              <a:rPr lang="zh-CN" altLang="en-US" sz="2800" dirty="0">
                <a:solidFill>
                  <a:schemeClr val="tx1">
                    <a:lumMod val="50000"/>
                  </a:schemeClr>
                </a:solidFill>
              </a:rPr>
              <a:t>guess = eval(input())</a:t>
            </a:r>
          </a:p>
          <a:p>
            <a:endParaRPr lang="en-US" altLang="zh-CN" sz="2800" dirty="0">
              <a:solidFill>
                <a:schemeClr val="tx1">
                  <a:lumMod val="50000"/>
                </a:schemeClr>
              </a:solidFill>
            </a:endParaRPr>
          </a:p>
          <a:p>
            <a:r>
              <a:rPr lang="zh-CN" altLang="en-US" sz="2800" dirty="0">
                <a:solidFill>
                  <a:schemeClr val="tx1">
                    <a:lumMod val="50000"/>
                  </a:schemeClr>
                </a:solidFill>
              </a:rPr>
              <a:t>if guess &gt; 99 or guess &lt; 99:</a:t>
            </a:r>
          </a:p>
          <a:p>
            <a:endParaRPr lang="en-US" altLang="zh-CN" sz="2800" dirty="0">
              <a:solidFill>
                <a:schemeClr val="tx1">
                  <a:lumMod val="50000"/>
                </a:schemeClr>
              </a:solidFill>
            </a:endParaRPr>
          </a:p>
          <a:p>
            <a:r>
              <a:rPr lang="en-US" altLang="zh-CN" sz="2800" dirty="0">
                <a:solidFill>
                  <a:schemeClr val="tx1">
                    <a:lumMod val="50000"/>
                  </a:schemeClr>
                </a:solidFill>
              </a:rPr>
              <a:t>    </a:t>
            </a:r>
            <a:r>
              <a:rPr lang="zh-CN" altLang="en-US" sz="2800" dirty="0">
                <a:solidFill>
                  <a:schemeClr val="tx1">
                    <a:lumMod val="50000"/>
                  </a:schemeClr>
                </a:solidFill>
              </a:rPr>
              <a:t>print("猜错了")</a:t>
            </a:r>
          </a:p>
          <a:p>
            <a:endParaRPr lang="en-US" altLang="zh-CN" sz="2800" dirty="0">
              <a:solidFill>
                <a:schemeClr val="tx1">
                  <a:lumMod val="50000"/>
                </a:schemeClr>
              </a:solidFill>
            </a:endParaRPr>
          </a:p>
          <a:p>
            <a:r>
              <a:rPr lang="zh-CN" altLang="en-US" sz="2800" dirty="0">
                <a:solidFill>
                  <a:schemeClr val="tx1">
                    <a:lumMod val="50000"/>
                  </a:schemeClr>
                </a:solidFill>
              </a:rPr>
              <a:t>else :</a:t>
            </a:r>
          </a:p>
          <a:p>
            <a:r>
              <a:rPr lang="zh-CN" altLang="en-US" sz="2800" dirty="0">
                <a:solidFill>
                  <a:schemeClr val="tx1">
                    <a:lumMod val="50000"/>
                  </a:schemeClr>
                </a:solidFill>
              </a:rPr>
              <a:t>    print("猜对了")</a:t>
            </a:r>
          </a:p>
        </p:txBody>
      </p:sp>
      <p:sp>
        <p:nvSpPr>
          <p:cNvPr id="6" name="矩形 5"/>
          <p:cNvSpPr/>
          <p:nvPr/>
        </p:nvSpPr>
        <p:spPr>
          <a:xfrm>
            <a:off x="6862763" y="2678507"/>
            <a:ext cx="3367088" cy="3108543"/>
          </a:xfrm>
          <a:prstGeom prst="rect">
            <a:avLst/>
          </a:prstGeom>
        </p:spPr>
        <p:txBody>
          <a:bodyPr wrap="square">
            <a:spAutoFit/>
          </a:bodyPr>
          <a:lstStyle/>
          <a:p>
            <a:r>
              <a:rPr lang="zh-CN" altLang="en-US" sz="2800" dirty="0">
                <a:solidFill>
                  <a:schemeClr val="tx1">
                    <a:lumMod val="50000"/>
                  </a:schemeClr>
                </a:solidFill>
              </a:rPr>
              <a:t>if not True:</a:t>
            </a:r>
            <a:endParaRPr lang="en-US" altLang="zh-CN" sz="2800" dirty="0">
              <a:solidFill>
                <a:schemeClr val="tx1">
                  <a:lumMod val="50000"/>
                </a:schemeClr>
              </a:solidFill>
            </a:endParaRPr>
          </a:p>
          <a:p>
            <a:endParaRPr lang="zh-CN" altLang="en-US" sz="2800" dirty="0">
              <a:solidFill>
                <a:schemeClr val="tx1">
                  <a:lumMod val="50000"/>
                </a:schemeClr>
              </a:solidFill>
            </a:endParaRPr>
          </a:p>
          <a:p>
            <a:r>
              <a:rPr lang="zh-CN" altLang="en-US" sz="2800" dirty="0">
                <a:solidFill>
                  <a:schemeClr val="tx1">
                    <a:lumMod val="50000"/>
                  </a:schemeClr>
                </a:solidFill>
              </a:rPr>
              <a:t>    print("语句块2")</a:t>
            </a:r>
          </a:p>
          <a:p>
            <a:endParaRPr lang="en-US" altLang="zh-CN" sz="2800" dirty="0">
              <a:solidFill>
                <a:schemeClr val="tx1">
                  <a:lumMod val="50000"/>
                </a:schemeClr>
              </a:solidFill>
            </a:endParaRPr>
          </a:p>
          <a:p>
            <a:r>
              <a:rPr lang="zh-CN" altLang="en-US" sz="2800" dirty="0">
                <a:solidFill>
                  <a:schemeClr val="tx1">
                    <a:lumMod val="50000"/>
                  </a:schemeClr>
                </a:solidFill>
              </a:rPr>
              <a:t>else :</a:t>
            </a:r>
          </a:p>
          <a:p>
            <a:r>
              <a:rPr lang="zh-CN" altLang="en-US" sz="2800" dirty="0">
                <a:solidFill>
                  <a:schemeClr val="tx1">
                    <a:lumMod val="50000"/>
                  </a:schemeClr>
                </a:solidFill>
              </a:rPr>
              <a:t>    </a:t>
            </a:r>
            <a:endParaRPr lang="en-US" altLang="zh-CN" sz="2800" dirty="0">
              <a:solidFill>
                <a:schemeClr val="tx1">
                  <a:lumMod val="50000"/>
                </a:schemeClr>
              </a:solidFill>
            </a:endParaRPr>
          </a:p>
          <a:p>
            <a:r>
              <a:rPr lang="en-US" altLang="zh-CN" sz="2800" dirty="0">
                <a:solidFill>
                  <a:schemeClr val="tx1">
                    <a:lumMod val="50000"/>
                  </a:schemeClr>
                </a:solidFill>
              </a:rPr>
              <a:t>    </a:t>
            </a:r>
            <a:r>
              <a:rPr lang="zh-CN" altLang="en-US" sz="2800" dirty="0">
                <a:solidFill>
                  <a:schemeClr val="tx1">
                    <a:lumMod val="50000"/>
                  </a:schemeClr>
                </a:solidFill>
              </a:rPr>
              <a:t>print("语句块1")</a:t>
            </a:r>
          </a:p>
        </p:txBody>
      </p:sp>
    </p:spTree>
    <p:custDataLst>
      <p:tags r:id="rId1"/>
    </p:custDataLst>
    <p:extLst>
      <p:ext uri="{BB962C8B-B14F-4D97-AF65-F5344CB8AC3E}">
        <p14:creationId xmlns:p14="http://schemas.microsoft.com/office/powerpoint/2010/main" val="334912730"/>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gn="just"/>
            <a:r>
              <a:rPr lang="en-US" altLang="zh-CN" dirty="0">
                <a:solidFill>
                  <a:schemeClr val="tx1"/>
                </a:solidFill>
                <a:latin typeface="+mj-lt"/>
                <a:ea typeface="+mj-ea"/>
              </a:rPr>
              <a:t>Python</a:t>
            </a:r>
            <a:r>
              <a:rPr lang="zh-CN" altLang="en-US" dirty="0">
                <a:solidFill>
                  <a:schemeClr val="tx1"/>
                </a:solidFill>
                <a:latin typeface="+mj-lt"/>
                <a:ea typeface="+mj-ea"/>
              </a:rPr>
              <a:t>分支结构</a:t>
            </a:r>
            <a:endParaRPr lang="en-US" altLang="zh-CN" dirty="0">
              <a:solidFill>
                <a:schemeClr val="tx1"/>
              </a:solidFill>
              <a:latin typeface="+mj-lt"/>
              <a:ea typeface="+mj-ea"/>
            </a:endParaRPr>
          </a:p>
        </p:txBody>
      </p:sp>
      <p:sp>
        <p:nvSpPr>
          <p:cNvPr id="9" name="文本框 8"/>
          <p:cNvSpPr txBox="1"/>
          <p:nvPr/>
        </p:nvSpPr>
        <p:spPr>
          <a:xfrm>
            <a:off x="3397850" y="1307209"/>
            <a:ext cx="5591595"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实例</a:t>
            </a:r>
            <a:r>
              <a:rPr lang="en-US" altLang="zh-CN" sz="4000" b="1" dirty="0">
                <a:solidFill>
                  <a:schemeClr val="tx1">
                    <a:lumMod val="50000"/>
                  </a:schemeClr>
                </a:solidFill>
                <a:latin typeface="宋体" panose="02010600030101010101" pitchFamily="2" charset="-122"/>
                <a:ea typeface="宋体" panose="02010600030101010101" pitchFamily="2" charset="-122"/>
              </a:rPr>
              <a:t>: </a:t>
            </a:r>
            <a:r>
              <a:rPr lang="zh-CN" altLang="en-US" sz="4000" b="1" dirty="0">
                <a:solidFill>
                  <a:schemeClr val="tx1">
                    <a:lumMod val="50000"/>
                  </a:schemeClr>
                </a:solidFill>
                <a:latin typeface="宋体" panose="02010600030101010101" pitchFamily="2" charset="-122"/>
                <a:ea typeface="宋体" panose="02010600030101010101" pitchFamily="2" charset="-122"/>
              </a:rPr>
              <a:t>身体质量指数</a:t>
            </a:r>
            <a:r>
              <a:rPr lang="en-US" altLang="zh-CN" sz="4000" b="1" dirty="0">
                <a:solidFill>
                  <a:schemeClr val="tx1">
                    <a:lumMod val="50000"/>
                  </a:schemeClr>
                </a:solidFill>
                <a:latin typeface="宋体" panose="02010600030101010101" pitchFamily="2" charset="-122"/>
                <a:ea typeface="宋体" panose="02010600030101010101" pitchFamily="2" charset="-122"/>
              </a:rPr>
              <a:t>BMI</a:t>
            </a:r>
          </a:p>
        </p:txBody>
      </p:sp>
      <p:sp>
        <p:nvSpPr>
          <p:cNvPr id="2" name="矩形 1"/>
          <p:cNvSpPr/>
          <p:nvPr/>
        </p:nvSpPr>
        <p:spPr>
          <a:xfrm>
            <a:off x="1682271" y="2563077"/>
            <a:ext cx="9022751" cy="2677656"/>
          </a:xfrm>
          <a:prstGeom prst="rect">
            <a:avLst/>
          </a:prstGeom>
        </p:spPr>
        <p:txBody>
          <a:bodyPr wrap="square">
            <a:spAutoFit/>
          </a:bodyPr>
          <a:lstStyle/>
          <a:p>
            <a:r>
              <a:rPr lang="en-US" altLang="zh-CN" sz="2800" dirty="0">
                <a:solidFill>
                  <a:schemeClr val="tx1">
                    <a:lumMod val="50000"/>
                  </a:schemeClr>
                </a:solidFill>
              </a:rPr>
              <a:t>- BMI</a:t>
            </a:r>
            <a:r>
              <a:rPr lang="zh-CN" altLang="en-US" sz="2800" dirty="0">
                <a:solidFill>
                  <a:schemeClr val="tx1">
                    <a:lumMod val="50000"/>
                  </a:schemeClr>
                </a:solidFill>
              </a:rPr>
              <a:t>：</a:t>
            </a:r>
            <a:r>
              <a:rPr lang="en-US" altLang="zh-CN" sz="2800" dirty="0">
                <a:solidFill>
                  <a:schemeClr val="tx1">
                    <a:lumMod val="50000"/>
                  </a:schemeClr>
                </a:solidFill>
              </a:rPr>
              <a:t>Body Mass Index</a:t>
            </a:r>
          </a:p>
          <a:p>
            <a:r>
              <a:rPr lang="zh-CN" altLang="en-US" sz="2800" dirty="0">
                <a:solidFill>
                  <a:schemeClr val="tx1">
                    <a:lumMod val="50000"/>
                  </a:schemeClr>
                </a:solidFill>
              </a:rPr>
              <a:t>国际上常用的衡量人体肥胖和健康程度的重要标准，主要用于统计分析</a:t>
            </a:r>
            <a:endParaRPr lang="en-US" altLang="zh-CN" sz="2800" dirty="0">
              <a:solidFill>
                <a:schemeClr val="tx1">
                  <a:lumMod val="50000"/>
                </a:schemeClr>
              </a:solidFill>
            </a:endParaRPr>
          </a:p>
          <a:p>
            <a:endParaRPr lang="zh-CN" altLang="en-US" sz="2800" dirty="0">
              <a:solidFill>
                <a:schemeClr val="tx1">
                  <a:lumMod val="50000"/>
                </a:schemeClr>
              </a:solidFill>
            </a:endParaRPr>
          </a:p>
          <a:p>
            <a:r>
              <a:rPr lang="en-US" altLang="zh-CN" sz="2800" dirty="0">
                <a:solidFill>
                  <a:schemeClr val="tx1">
                    <a:lumMod val="50000"/>
                  </a:schemeClr>
                </a:solidFill>
              </a:rPr>
              <a:t>- </a:t>
            </a:r>
            <a:r>
              <a:rPr lang="zh-CN" altLang="en-US" sz="2800" dirty="0">
                <a:solidFill>
                  <a:schemeClr val="tx1">
                    <a:lumMod val="50000"/>
                  </a:schemeClr>
                </a:solidFill>
              </a:rPr>
              <a:t>定义</a:t>
            </a:r>
          </a:p>
          <a:p>
            <a:r>
              <a:rPr lang="en-US" altLang="zh-CN" sz="2800" dirty="0">
                <a:solidFill>
                  <a:schemeClr val="tx1">
                    <a:lumMod val="50000"/>
                  </a:schemeClr>
                </a:solidFill>
              </a:rPr>
              <a:t>BMI = </a:t>
            </a:r>
            <a:r>
              <a:rPr lang="zh-CN" altLang="en-US" sz="2800" dirty="0">
                <a:solidFill>
                  <a:schemeClr val="tx1">
                    <a:lumMod val="50000"/>
                  </a:schemeClr>
                </a:solidFill>
              </a:rPr>
              <a:t>体重 </a:t>
            </a:r>
            <a:r>
              <a:rPr lang="en-US" altLang="zh-CN" sz="2800" dirty="0">
                <a:solidFill>
                  <a:schemeClr val="tx1">
                    <a:lumMod val="50000"/>
                  </a:schemeClr>
                </a:solidFill>
              </a:rPr>
              <a:t>(kg) / </a:t>
            </a:r>
            <a:r>
              <a:rPr lang="zh-CN" altLang="en-US" sz="2800" dirty="0">
                <a:solidFill>
                  <a:schemeClr val="tx1">
                    <a:lumMod val="50000"/>
                  </a:schemeClr>
                </a:solidFill>
              </a:rPr>
              <a:t>身高</a:t>
            </a:r>
            <a:r>
              <a:rPr lang="zh-CN" altLang="en-US" sz="2800" baseline="30000" dirty="0">
                <a:solidFill>
                  <a:schemeClr val="tx1">
                    <a:lumMod val="50000"/>
                  </a:schemeClr>
                </a:solidFill>
              </a:rPr>
              <a:t> </a:t>
            </a:r>
            <a:r>
              <a:rPr lang="en-US" altLang="zh-CN" sz="2800" baseline="30000" dirty="0">
                <a:solidFill>
                  <a:schemeClr val="tx1">
                    <a:lumMod val="50000"/>
                  </a:schemeClr>
                </a:solidFill>
              </a:rPr>
              <a:t>2 </a:t>
            </a:r>
            <a:r>
              <a:rPr lang="en-US" altLang="zh-CN" sz="2800" dirty="0">
                <a:solidFill>
                  <a:schemeClr val="tx1">
                    <a:lumMod val="50000"/>
                  </a:schemeClr>
                </a:solidFill>
              </a:rPr>
              <a:t>(m </a:t>
            </a:r>
            <a:r>
              <a:rPr lang="en-US" altLang="zh-CN" sz="2800" baseline="30000" dirty="0">
                <a:solidFill>
                  <a:schemeClr val="tx1">
                    <a:lumMod val="50000"/>
                  </a:schemeClr>
                </a:solidFill>
              </a:rPr>
              <a:t>2</a:t>
            </a:r>
            <a:r>
              <a:rPr lang="en-US" altLang="zh-CN" sz="2800" dirty="0">
                <a:solidFill>
                  <a:schemeClr val="tx1">
                    <a:lumMod val="50000"/>
                  </a:schemeClr>
                </a:solidFill>
              </a:rPr>
              <a:t> )</a:t>
            </a:r>
            <a:endParaRPr lang="zh-CN" altLang="en-US" sz="2800" dirty="0">
              <a:solidFill>
                <a:schemeClr val="tx1">
                  <a:lumMod val="50000"/>
                </a:schemeClr>
              </a:solidFill>
            </a:endParaRPr>
          </a:p>
        </p:txBody>
      </p:sp>
    </p:spTree>
    <p:custDataLst>
      <p:tags r:id="rId1"/>
    </p:custDataLst>
    <p:extLst>
      <p:ext uri="{BB962C8B-B14F-4D97-AF65-F5344CB8AC3E}">
        <p14:creationId xmlns:p14="http://schemas.microsoft.com/office/powerpoint/2010/main" val="964391094"/>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gn="just"/>
            <a:r>
              <a:rPr lang="en-US" altLang="zh-CN" dirty="0">
                <a:solidFill>
                  <a:schemeClr val="tx1"/>
                </a:solidFill>
                <a:latin typeface="+mj-lt"/>
                <a:ea typeface="+mj-ea"/>
              </a:rPr>
              <a:t>Python</a:t>
            </a:r>
            <a:r>
              <a:rPr lang="zh-CN" altLang="en-US" dirty="0">
                <a:solidFill>
                  <a:schemeClr val="tx1"/>
                </a:solidFill>
                <a:latin typeface="+mj-lt"/>
                <a:ea typeface="+mj-ea"/>
              </a:rPr>
              <a:t>分支结构</a:t>
            </a:r>
            <a:endParaRPr lang="en-US" altLang="zh-CN" dirty="0">
              <a:solidFill>
                <a:schemeClr val="tx1"/>
              </a:solidFill>
              <a:latin typeface="+mj-lt"/>
              <a:ea typeface="+mj-ea"/>
            </a:endParaRPr>
          </a:p>
        </p:txBody>
      </p:sp>
      <p:sp>
        <p:nvSpPr>
          <p:cNvPr id="9" name="文本框 8"/>
          <p:cNvSpPr txBox="1"/>
          <p:nvPr/>
        </p:nvSpPr>
        <p:spPr>
          <a:xfrm>
            <a:off x="3397850" y="1307209"/>
            <a:ext cx="5591595"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实例</a:t>
            </a:r>
            <a:r>
              <a:rPr lang="en-US" altLang="zh-CN" sz="4000" b="1" dirty="0">
                <a:solidFill>
                  <a:schemeClr val="tx1">
                    <a:lumMod val="50000"/>
                  </a:schemeClr>
                </a:solidFill>
                <a:latin typeface="宋体" panose="02010600030101010101" pitchFamily="2" charset="-122"/>
                <a:ea typeface="宋体" panose="02010600030101010101" pitchFamily="2" charset="-122"/>
              </a:rPr>
              <a:t>: </a:t>
            </a:r>
            <a:r>
              <a:rPr lang="zh-CN" altLang="en-US" sz="4000" b="1" dirty="0">
                <a:solidFill>
                  <a:schemeClr val="tx1">
                    <a:lumMod val="50000"/>
                  </a:schemeClr>
                </a:solidFill>
                <a:latin typeface="宋体" panose="02010600030101010101" pitchFamily="2" charset="-122"/>
                <a:ea typeface="宋体" panose="02010600030101010101" pitchFamily="2" charset="-122"/>
              </a:rPr>
              <a:t>身体质量指数</a:t>
            </a:r>
            <a:r>
              <a:rPr lang="en-US" altLang="zh-CN" sz="4000" b="1" dirty="0">
                <a:solidFill>
                  <a:schemeClr val="tx1">
                    <a:lumMod val="50000"/>
                  </a:schemeClr>
                </a:solidFill>
                <a:latin typeface="宋体" panose="02010600030101010101" pitchFamily="2" charset="-122"/>
                <a:ea typeface="宋体" panose="02010600030101010101" pitchFamily="2" charset="-122"/>
              </a:rPr>
              <a:t>BMI</a:t>
            </a:r>
          </a:p>
        </p:txBody>
      </p:sp>
      <p:sp>
        <p:nvSpPr>
          <p:cNvPr id="2" name="矩形 1"/>
          <p:cNvSpPr/>
          <p:nvPr/>
        </p:nvSpPr>
        <p:spPr>
          <a:xfrm>
            <a:off x="1682271" y="2563077"/>
            <a:ext cx="9022751" cy="2246769"/>
          </a:xfrm>
          <a:prstGeom prst="rect">
            <a:avLst/>
          </a:prstGeom>
        </p:spPr>
        <p:txBody>
          <a:bodyPr wrap="square">
            <a:spAutoFit/>
          </a:bodyPr>
          <a:lstStyle/>
          <a:p>
            <a:r>
              <a:rPr lang="en-US" altLang="zh-CN" sz="2800" dirty="0">
                <a:solidFill>
                  <a:schemeClr val="tx1">
                    <a:lumMod val="50000"/>
                  </a:schemeClr>
                </a:solidFill>
              </a:rPr>
              <a:t>- </a:t>
            </a:r>
            <a:r>
              <a:rPr lang="zh-CN" altLang="en-US" sz="2800" dirty="0">
                <a:solidFill>
                  <a:schemeClr val="tx1">
                    <a:lumMod val="50000"/>
                  </a:schemeClr>
                </a:solidFill>
              </a:rPr>
              <a:t>实例：体重 </a:t>
            </a:r>
            <a:r>
              <a:rPr lang="en-US" altLang="zh-CN" sz="2800" dirty="0">
                <a:solidFill>
                  <a:schemeClr val="tx1">
                    <a:lumMod val="50000"/>
                  </a:schemeClr>
                </a:solidFill>
              </a:rPr>
              <a:t>72 kg </a:t>
            </a:r>
            <a:r>
              <a:rPr lang="zh-CN" altLang="en-US" sz="2800" dirty="0">
                <a:solidFill>
                  <a:schemeClr val="tx1">
                    <a:lumMod val="50000"/>
                  </a:schemeClr>
                </a:solidFill>
              </a:rPr>
              <a:t>身高 </a:t>
            </a:r>
            <a:r>
              <a:rPr lang="en-US" altLang="zh-CN" sz="2800" dirty="0">
                <a:solidFill>
                  <a:schemeClr val="tx1">
                    <a:lumMod val="50000"/>
                  </a:schemeClr>
                </a:solidFill>
              </a:rPr>
              <a:t>1.72 m</a:t>
            </a:r>
          </a:p>
          <a:p>
            <a:endParaRPr lang="en-US" altLang="zh-CN" sz="2800" dirty="0">
              <a:solidFill>
                <a:schemeClr val="tx1">
                  <a:lumMod val="50000"/>
                </a:schemeClr>
              </a:solidFill>
            </a:endParaRPr>
          </a:p>
          <a:p>
            <a:r>
              <a:rPr lang="en-US" altLang="zh-CN" sz="2800" dirty="0">
                <a:solidFill>
                  <a:schemeClr val="tx1">
                    <a:lumMod val="50000"/>
                  </a:schemeClr>
                </a:solidFill>
              </a:rPr>
              <a:t>   BMI </a:t>
            </a:r>
            <a:r>
              <a:rPr lang="zh-CN" altLang="en-US" sz="2800" dirty="0">
                <a:solidFill>
                  <a:schemeClr val="tx1">
                    <a:lumMod val="50000"/>
                  </a:schemeClr>
                </a:solidFill>
              </a:rPr>
              <a:t>值是多少？</a:t>
            </a:r>
            <a:endParaRPr lang="en-US" altLang="zh-CN" sz="2800" dirty="0">
              <a:solidFill>
                <a:schemeClr val="tx1">
                  <a:lumMod val="50000"/>
                </a:schemeClr>
              </a:solidFill>
            </a:endParaRPr>
          </a:p>
          <a:p>
            <a:endParaRPr lang="en-US" altLang="zh-CN" sz="2800" dirty="0">
              <a:solidFill>
                <a:schemeClr val="tx1">
                  <a:lumMod val="50000"/>
                </a:schemeClr>
              </a:solidFill>
            </a:endParaRPr>
          </a:p>
          <a:p>
            <a:r>
              <a:rPr lang="en-US" altLang="zh-CN" sz="2800" dirty="0">
                <a:solidFill>
                  <a:schemeClr val="tx1">
                    <a:lumMod val="50000"/>
                  </a:schemeClr>
                </a:solidFill>
              </a:rPr>
              <a:t>- </a:t>
            </a:r>
            <a:r>
              <a:rPr lang="zh-CN" altLang="en-US" sz="2800" dirty="0">
                <a:solidFill>
                  <a:schemeClr val="tx1">
                    <a:lumMod val="50000"/>
                  </a:schemeClr>
                </a:solidFill>
              </a:rPr>
              <a:t>这个值是否健康呢？</a:t>
            </a:r>
          </a:p>
        </p:txBody>
      </p:sp>
    </p:spTree>
    <p:custDataLst>
      <p:tags r:id="rId1"/>
    </p:custDataLst>
    <p:extLst>
      <p:ext uri="{BB962C8B-B14F-4D97-AF65-F5344CB8AC3E}">
        <p14:creationId xmlns:p14="http://schemas.microsoft.com/office/powerpoint/2010/main" val="2489529384"/>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gn="just"/>
            <a:r>
              <a:rPr lang="en-US" altLang="zh-CN" dirty="0">
                <a:solidFill>
                  <a:schemeClr val="tx1"/>
                </a:solidFill>
                <a:latin typeface="+mj-lt"/>
                <a:ea typeface="+mj-ea"/>
              </a:rPr>
              <a:t>Python</a:t>
            </a:r>
            <a:r>
              <a:rPr lang="zh-CN" altLang="en-US" dirty="0">
                <a:solidFill>
                  <a:schemeClr val="tx1"/>
                </a:solidFill>
                <a:latin typeface="+mj-lt"/>
                <a:ea typeface="+mj-ea"/>
              </a:rPr>
              <a:t>分支结构</a:t>
            </a:r>
            <a:endParaRPr lang="en-US" altLang="zh-CN" dirty="0">
              <a:solidFill>
                <a:schemeClr val="tx1"/>
              </a:solidFill>
              <a:latin typeface="+mj-lt"/>
              <a:ea typeface="+mj-ea"/>
            </a:endParaRPr>
          </a:p>
        </p:txBody>
      </p:sp>
      <p:sp>
        <p:nvSpPr>
          <p:cNvPr id="9" name="文本框 8"/>
          <p:cNvSpPr txBox="1"/>
          <p:nvPr/>
        </p:nvSpPr>
        <p:spPr>
          <a:xfrm>
            <a:off x="3397850" y="1307209"/>
            <a:ext cx="5591595"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实例</a:t>
            </a:r>
            <a:r>
              <a:rPr lang="en-US" altLang="zh-CN" sz="4000" b="1" dirty="0">
                <a:solidFill>
                  <a:schemeClr val="tx1">
                    <a:lumMod val="50000"/>
                  </a:schemeClr>
                </a:solidFill>
                <a:latin typeface="宋体" panose="02010600030101010101" pitchFamily="2" charset="-122"/>
                <a:ea typeface="宋体" panose="02010600030101010101" pitchFamily="2" charset="-122"/>
              </a:rPr>
              <a:t>: </a:t>
            </a:r>
            <a:r>
              <a:rPr lang="zh-CN" altLang="en-US" sz="4000" b="1" dirty="0">
                <a:solidFill>
                  <a:schemeClr val="tx1">
                    <a:lumMod val="50000"/>
                  </a:schemeClr>
                </a:solidFill>
                <a:latin typeface="宋体" panose="02010600030101010101" pitchFamily="2" charset="-122"/>
                <a:ea typeface="宋体" panose="02010600030101010101" pitchFamily="2" charset="-122"/>
              </a:rPr>
              <a:t>身体质量指数</a:t>
            </a:r>
            <a:r>
              <a:rPr lang="en-US" altLang="zh-CN" sz="4000" b="1" dirty="0">
                <a:solidFill>
                  <a:schemeClr val="tx1">
                    <a:lumMod val="50000"/>
                  </a:schemeClr>
                </a:solidFill>
                <a:latin typeface="宋体" panose="02010600030101010101" pitchFamily="2" charset="-122"/>
                <a:ea typeface="宋体" panose="02010600030101010101" pitchFamily="2" charset="-122"/>
              </a:rPr>
              <a:t>BMI</a:t>
            </a:r>
          </a:p>
        </p:txBody>
      </p:sp>
      <p:pic>
        <p:nvPicPr>
          <p:cNvPr id="4" name="图片 3"/>
          <p:cNvPicPr>
            <a:picLocks noChangeAspect="1"/>
          </p:cNvPicPr>
          <p:nvPr/>
        </p:nvPicPr>
        <p:blipFill>
          <a:blip r:embed="rId5" cstate="print"/>
          <a:stretch>
            <a:fillRect/>
          </a:stretch>
        </p:blipFill>
        <p:spPr>
          <a:xfrm>
            <a:off x="979703" y="3052910"/>
            <a:ext cx="10223107" cy="2947839"/>
          </a:xfrm>
          <a:prstGeom prst="rect">
            <a:avLst/>
          </a:prstGeom>
        </p:spPr>
      </p:pic>
      <p:sp>
        <p:nvSpPr>
          <p:cNvPr id="5" name="矩形 4"/>
          <p:cNvSpPr/>
          <p:nvPr/>
        </p:nvSpPr>
        <p:spPr>
          <a:xfrm>
            <a:off x="1976240" y="2329958"/>
            <a:ext cx="7824578" cy="523220"/>
          </a:xfrm>
          <a:prstGeom prst="rect">
            <a:avLst/>
          </a:prstGeom>
        </p:spPr>
        <p:txBody>
          <a:bodyPr wrap="none">
            <a:spAutoFit/>
          </a:bodyPr>
          <a:lstStyle/>
          <a:p>
            <a:r>
              <a:rPr lang="zh-CN" altLang="en-US" sz="2800" dirty="0">
                <a:solidFill>
                  <a:schemeClr val="tx1">
                    <a:lumMod val="50000"/>
                  </a:schemeClr>
                </a:solidFill>
              </a:rPr>
              <a:t>国际：世界卫生组织 国内：国家卫生健康委员会</a:t>
            </a:r>
          </a:p>
        </p:txBody>
      </p:sp>
    </p:spTree>
    <p:custDataLst>
      <p:tags r:id="rId1"/>
    </p:custDataLst>
    <p:extLst>
      <p:ext uri="{BB962C8B-B14F-4D97-AF65-F5344CB8AC3E}">
        <p14:creationId xmlns:p14="http://schemas.microsoft.com/office/powerpoint/2010/main" val="1648387267"/>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gn="just"/>
            <a:r>
              <a:rPr lang="en-US" altLang="zh-CN" dirty="0">
                <a:solidFill>
                  <a:schemeClr val="tx1"/>
                </a:solidFill>
                <a:latin typeface="+mj-lt"/>
                <a:ea typeface="+mj-ea"/>
              </a:rPr>
              <a:t>Python</a:t>
            </a:r>
            <a:r>
              <a:rPr lang="zh-CN" altLang="en-US" dirty="0">
                <a:solidFill>
                  <a:schemeClr val="tx1"/>
                </a:solidFill>
                <a:latin typeface="+mj-lt"/>
                <a:ea typeface="+mj-ea"/>
              </a:rPr>
              <a:t>分支结构</a:t>
            </a:r>
            <a:endParaRPr lang="en-US" altLang="zh-CN" dirty="0">
              <a:solidFill>
                <a:schemeClr val="tx1"/>
              </a:solidFill>
              <a:latin typeface="+mj-lt"/>
              <a:ea typeface="+mj-ea"/>
            </a:endParaRPr>
          </a:p>
        </p:txBody>
      </p:sp>
      <p:sp>
        <p:nvSpPr>
          <p:cNvPr id="9" name="文本框 8"/>
          <p:cNvSpPr txBox="1"/>
          <p:nvPr/>
        </p:nvSpPr>
        <p:spPr>
          <a:xfrm>
            <a:off x="3397850" y="1307209"/>
            <a:ext cx="5591595"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实例</a:t>
            </a:r>
            <a:r>
              <a:rPr lang="en-US" altLang="zh-CN" sz="4000" b="1" dirty="0">
                <a:solidFill>
                  <a:schemeClr val="tx1">
                    <a:lumMod val="50000"/>
                  </a:schemeClr>
                </a:solidFill>
                <a:latin typeface="宋体" panose="02010600030101010101" pitchFamily="2" charset="-122"/>
                <a:ea typeface="宋体" panose="02010600030101010101" pitchFamily="2" charset="-122"/>
              </a:rPr>
              <a:t>: </a:t>
            </a:r>
            <a:r>
              <a:rPr lang="zh-CN" altLang="en-US" sz="4000" b="1" dirty="0">
                <a:solidFill>
                  <a:schemeClr val="tx1">
                    <a:lumMod val="50000"/>
                  </a:schemeClr>
                </a:solidFill>
                <a:latin typeface="宋体" panose="02010600030101010101" pitchFamily="2" charset="-122"/>
                <a:ea typeface="宋体" panose="02010600030101010101" pitchFamily="2" charset="-122"/>
              </a:rPr>
              <a:t>身体质量指数</a:t>
            </a:r>
            <a:r>
              <a:rPr lang="en-US" altLang="zh-CN" sz="4000" b="1" dirty="0">
                <a:solidFill>
                  <a:schemeClr val="tx1">
                    <a:lumMod val="50000"/>
                  </a:schemeClr>
                </a:solidFill>
                <a:latin typeface="宋体" panose="02010600030101010101" pitchFamily="2" charset="-122"/>
                <a:ea typeface="宋体" panose="02010600030101010101" pitchFamily="2" charset="-122"/>
              </a:rPr>
              <a:t>BMI</a:t>
            </a:r>
          </a:p>
        </p:txBody>
      </p:sp>
      <p:sp>
        <p:nvSpPr>
          <p:cNvPr id="5" name="矩形 4"/>
          <p:cNvSpPr/>
          <p:nvPr/>
        </p:nvSpPr>
        <p:spPr>
          <a:xfrm>
            <a:off x="957262" y="2371089"/>
            <a:ext cx="1620957" cy="523220"/>
          </a:xfrm>
          <a:prstGeom prst="rect">
            <a:avLst/>
          </a:prstGeom>
        </p:spPr>
        <p:txBody>
          <a:bodyPr wrap="none">
            <a:spAutoFit/>
          </a:bodyPr>
          <a:lstStyle/>
          <a:p>
            <a:r>
              <a:rPr lang="zh-CN" altLang="en-US" sz="2800" dirty="0">
                <a:solidFill>
                  <a:schemeClr val="tx1">
                    <a:lumMod val="50000"/>
                  </a:schemeClr>
                </a:solidFill>
              </a:rPr>
              <a:t>问题需求</a:t>
            </a:r>
          </a:p>
        </p:txBody>
      </p:sp>
      <p:sp>
        <p:nvSpPr>
          <p:cNvPr id="2" name="矩形 1"/>
          <p:cNvSpPr/>
          <p:nvPr/>
        </p:nvSpPr>
        <p:spPr>
          <a:xfrm>
            <a:off x="2786063" y="2371089"/>
            <a:ext cx="8172450" cy="1384995"/>
          </a:xfrm>
          <a:prstGeom prst="rect">
            <a:avLst/>
          </a:prstGeom>
        </p:spPr>
        <p:txBody>
          <a:bodyPr wrap="square">
            <a:spAutoFit/>
          </a:bodyPr>
          <a:lstStyle/>
          <a:p>
            <a:pPr marL="457200" indent="-457200">
              <a:buFontTx/>
              <a:buChar char="-"/>
            </a:pPr>
            <a:r>
              <a:rPr lang="zh-CN" altLang="en-US" sz="2800" dirty="0">
                <a:solidFill>
                  <a:schemeClr val="tx1">
                    <a:lumMod val="50000"/>
                  </a:schemeClr>
                </a:solidFill>
              </a:rPr>
              <a:t>输入：给定体重和身高值</a:t>
            </a:r>
            <a:endParaRPr lang="en-US" altLang="zh-CN" sz="2800" dirty="0">
              <a:solidFill>
                <a:schemeClr val="tx1">
                  <a:lumMod val="50000"/>
                </a:schemeClr>
              </a:solidFill>
            </a:endParaRPr>
          </a:p>
          <a:p>
            <a:pPr marL="457200" indent="-457200">
              <a:buFontTx/>
              <a:buChar char="-"/>
            </a:pPr>
            <a:endParaRPr lang="en-US" altLang="zh-CN" sz="2800" dirty="0">
              <a:solidFill>
                <a:schemeClr val="tx1">
                  <a:lumMod val="50000"/>
                </a:schemeClr>
              </a:solidFill>
            </a:endParaRPr>
          </a:p>
          <a:p>
            <a:pPr marL="457200" indent="-457200">
              <a:buFontTx/>
              <a:buChar char="-"/>
            </a:pPr>
            <a:r>
              <a:rPr lang="zh-CN" altLang="en-US" sz="2800" dirty="0">
                <a:solidFill>
                  <a:schemeClr val="tx1">
                    <a:lumMod val="50000"/>
                  </a:schemeClr>
                </a:solidFill>
              </a:rPr>
              <a:t>输出：BMI指标分类信息(国际和国内)</a:t>
            </a:r>
          </a:p>
        </p:txBody>
      </p:sp>
      <p:sp>
        <p:nvSpPr>
          <p:cNvPr id="6" name="矩形 5"/>
          <p:cNvSpPr/>
          <p:nvPr/>
        </p:nvSpPr>
        <p:spPr>
          <a:xfrm>
            <a:off x="957261" y="4073375"/>
            <a:ext cx="1620957" cy="523220"/>
          </a:xfrm>
          <a:prstGeom prst="rect">
            <a:avLst/>
          </a:prstGeom>
        </p:spPr>
        <p:txBody>
          <a:bodyPr wrap="none">
            <a:spAutoFit/>
          </a:bodyPr>
          <a:lstStyle/>
          <a:p>
            <a:r>
              <a:rPr lang="zh-CN" altLang="en-US" sz="2800" dirty="0">
                <a:solidFill>
                  <a:schemeClr val="tx1">
                    <a:lumMod val="50000"/>
                  </a:schemeClr>
                </a:solidFill>
              </a:rPr>
              <a:t>思路方法</a:t>
            </a:r>
          </a:p>
        </p:txBody>
      </p:sp>
      <p:sp>
        <p:nvSpPr>
          <p:cNvPr id="7" name="矩形 6"/>
          <p:cNvSpPr/>
          <p:nvPr/>
        </p:nvSpPr>
        <p:spPr>
          <a:xfrm>
            <a:off x="2786063" y="4022097"/>
            <a:ext cx="8536555" cy="2246769"/>
          </a:xfrm>
          <a:prstGeom prst="rect">
            <a:avLst/>
          </a:prstGeom>
        </p:spPr>
        <p:txBody>
          <a:bodyPr wrap="square">
            <a:spAutoFit/>
          </a:bodyPr>
          <a:lstStyle/>
          <a:p>
            <a:pPr marL="457200" indent="-457200">
              <a:buFontTx/>
              <a:buChar char="-"/>
            </a:pPr>
            <a:r>
              <a:rPr lang="zh-CN" altLang="en-US" sz="2800" dirty="0">
                <a:solidFill>
                  <a:schemeClr val="tx1">
                    <a:lumMod val="50000"/>
                  </a:schemeClr>
                </a:solidFill>
              </a:rPr>
              <a:t>难点在于同时输出国际和国内对应的分类</a:t>
            </a:r>
            <a:endParaRPr lang="en-US" altLang="zh-CN" sz="2800" dirty="0">
              <a:solidFill>
                <a:schemeClr val="tx1">
                  <a:lumMod val="50000"/>
                </a:schemeClr>
              </a:solidFill>
            </a:endParaRPr>
          </a:p>
          <a:p>
            <a:pPr marL="457200" indent="-457200">
              <a:buFontTx/>
              <a:buChar char="-"/>
            </a:pPr>
            <a:endParaRPr lang="zh-CN" altLang="en-US" sz="2800" dirty="0">
              <a:solidFill>
                <a:schemeClr val="tx1">
                  <a:lumMod val="50000"/>
                </a:schemeClr>
              </a:solidFill>
            </a:endParaRPr>
          </a:p>
          <a:p>
            <a:pPr marL="457200" indent="-457200">
              <a:buFontTx/>
              <a:buChar char="-"/>
            </a:pPr>
            <a:r>
              <a:rPr lang="zh-CN" altLang="en-US" sz="2800" dirty="0">
                <a:solidFill>
                  <a:schemeClr val="tx1">
                    <a:lumMod val="50000"/>
                  </a:schemeClr>
                </a:solidFill>
              </a:rPr>
              <a:t>思路1：分别计算并给出国际和国内BMI分类</a:t>
            </a:r>
            <a:endParaRPr lang="en-US" altLang="zh-CN" sz="2800" dirty="0">
              <a:solidFill>
                <a:schemeClr val="tx1">
                  <a:lumMod val="50000"/>
                </a:schemeClr>
              </a:solidFill>
            </a:endParaRPr>
          </a:p>
          <a:p>
            <a:pPr marL="457200" indent="-457200">
              <a:buFontTx/>
              <a:buChar char="-"/>
            </a:pPr>
            <a:endParaRPr lang="zh-CN" altLang="en-US" sz="2800" dirty="0">
              <a:solidFill>
                <a:schemeClr val="tx1">
                  <a:lumMod val="50000"/>
                </a:schemeClr>
              </a:solidFill>
            </a:endParaRPr>
          </a:p>
          <a:p>
            <a:r>
              <a:rPr lang="zh-CN" altLang="en-US" sz="2800" dirty="0">
                <a:solidFill>
                  <a:schemeClr val="tx1">
                    <a:lumMod val="50000"/>
                  </a:schemeClr>
                </a:solidFill>
              </a:rPr>
              <a:t>-  思路2：混合计算并给出国际和国内BMI分类</a:t>
            </a:r>
          </a:p>
        </p:txBody>
      </p:sp>
    </p:spTree>
    <p:custDataLst>
      <p:tags r:id="rId1"/>
    </p:custDataLst>
    <p:extLst>
      <p:ext uri="{BB962C8B-B14F-4D97-AF65-F5344CB8AC3E}">
        <p14:creationId xmlns:p14="http://schemas.microsoft.com/office/powerpoint/2010/main" val="3354604498"/>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gn="just"/>
            <a:r>
              <a:rPr lang="en-US" altLang="zh-CN" dirty="0">
                <a:solidFill>
                  <a:schemeClr val="tx1"/>
                </a:solidFill>
                <a:latin typeface="+mj-lt"/>
                <a:ea typeface="+mj-ea"/>
              </a:rPr>
              <a:t>Python</a:t>
            </a:r>
            <a:r>
              <a:rPr lang="zh-CN" altLang="en-US" dirty="0">
                <a:solidFill>
                  <a:schemeClr val="tx1"/>
                </a:solidFill>
                <a:latin typeface="+mj-lt"/>
                <a:ea typeface="+mj-ea"/>
              </a:rPr>
              <a:t>分支结构</a:t>
            </a:r>
            <a:endParaRPr lang="en-US" altLang="zh-CN" dirty="0">
              <a:solidFill>
                <a:schemeClr val="tx1"/>
              </a:solidFill>
              <a:latin typeface="+mj-lt"/>
              <a:ea typeface="+mj-ea"/>
            </a:endParaRPr>
          </a:p>
        </p:txBody>
      </p:sp>
      <p:pic>
        <p:nvPicPr>
          <p:cNvPr id="8" name="图片 7"/>
          <p:cNvPicPr>
            <a:picLocks noChangeAspect="1"/>
          </p:cNvPicPr>
          <p:nvPr/>
        </p:nvPicPr>
        <p:blipFill>
          <a:blip r:embed="rId5" cstate="print"/>
          <a:stretch>
            <a:fillRect/>
          </a:stretch>
        </p:blipFill>
        <p:spPr>
          <a:xfrm>
            <a:off x="732824" y="1434915"/>
            <a:ext cx="10726351" cy="4239376"/>
          </a:xfrm>
          <a:prstGeom prst="rect">
            <a:avLst/>
          </a:prstGeom>
        </p:spPr>
      </p:pic>
    </p:spTree>
    <p:custDataLst>
      <p:tags r:id="rId1"/>
    </p:custDataLst>
    <p:extLst>
      <p:ext uri="{BB962C8B-B14F-4D97-AF65-F5344CB8AC3E}">
        <p14:creationId xmlns:p14="http://schemas.microsoft.com/office/powerpoint/2010/main" val="3414737020"/>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pPr algn="just"/>
            <a:r>
              <a:rPr lang="en-US" altLang="zh-CN" dirty="0">
                <a:solidFill>
                  <a:schemeClr val="tx1"/>
                </a:solidFill>
                <a:latin typeface="+mj-lt"/>
                <a:ea typeface="+mj-ea"/>
              </a:rPr>
              <a:t>Python</a:t>
            </a:r>
            <a:r>
              <a:rPr lang="zh-CN" altLang="en-US" dirty="0">
                <a:solidFill>
                  <a:schemeClr val="tx1"/>
                </a:solidFill>
                <a:latin typeface="+mj-lt"/>
                <a:ea typeface="+mj-ea"/>
              </a:rPr>
              <a:t>分支结构</a:t>
            </a:r>
            <a:endParaRPr lang="en-US" altLang="zh-CN" dirty="0">
              <a:solidFill>
                <a:schemeClr val="tx1"/>
              </a:solidFill>
              <a:latin typeface="+mj-lt"/>
              <a:ea typeface="+mj-ea"/>
            </a:endParaRPr>
          </a:p>
        </p:txBody>
      </p:sp>
      <p:pic>
        <p:nvPicPr>
          <p:cNvPr id="2" name="图片 1"/>
          <p:cNvPicPr>
            <a:picLocks noChangeAspect="1"/>
          </p:cNvPicPr>
          <p:nvPr/>
        </p:nvPicPr>
        <p:blipFill>
          <a:blip r:embed="rId5" cstate="print"/>
          <a:stretch>
            <a:fillRect/>
          </a:stretch>
        </p:blipFill>
        <p:spPr>
          <a:xfrm>
            <a:off x="806182" y="1086534"/>
            <a:ext cx="9925903" cy="5126376"/>
          </a:xfrm>
          <a:prstGeom prst="rect">
            <a:avLst/>
          </a:prstGeom>
        </p:spPr>
      </p:pic>
    </p:spTree>
    <p:custDataLst>
      <p:tags r:id="rId1"/>
    </p:custDataLst>
    <p:extLst>
      <p:ext uri="{BB962C8B-B14F-4D97-AF65-F5344CB8AC3E}">
        <p14:creationId xmlns:p14="http://schemas.microsoft.com/office/powerpoint/2010/main" val="4103417930"/>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lvl1pPr>
              <a:lnSpc>
                <a:spcPct val="90000"/>
              </a:lnSpc>
              <a:spcBef>
                <a:spcPct val="0"/>
              </a:spcBef>
              <a:buNone/>
              <a:defRPr sz="3600" b="1" i="0" baseline="0">
                <a:solidFill>
                  <a:schemeClr val="bg1"/>
                </a:solidFill>
                <a:effectLst/>
                <a:latin typeface="Arial" pitchFamily="34" charset="0"/>
                <a:ea typeface="黑体" pitchFamily="49" charset="-122"/>
                <a:cs typeface="+mj-cs"/>
              </a:defRPr>
            </a:lvl1pPr>
          </a:lstStyle>
          <a:p>
            <a:r>
              <a:rPr lang="en-US" altLang="zh-CN" dirty="0">
                <a:solidFill>
                  <a:schemeClr val="tx1"/>
                </a:solidFill>
                <a:latin typeface="+mj-lt"/>
                <a:ea typeface="+mj-ea"/>
              </a:rPr>
              <a:t>Python</a:t>
            </a:r>
            <a:r>
              <a:rPr lang="zh-CN" altLang="en-US" dirty="0">
                <a:solidFill>
                  <a:schemeClr val="tx1"/>
                </a:solidFill>
                <a:latin typeface="+mj-lt"/>
                <a:ea typeface="+mj-ea"/>
              </a:rPr>
              <a:t>程序设计</a:t>
            </a:r>
            <a:endParaRPr lang="en-US" altLang="zh-CN" dirty="0">
              <a:solidFill>
                <a:schemeClr val="tx1"/>
              </a:solidFill>
              <a:latin typeface="+mj-lt"/>
              <a:ea typeface="+mj-ea"/>
            </a:endParaRPr>
          </a:p>
        </p:txBody>
      </p:sp>
      <p:sp>
        <p:nvSpPr>
          <p:cNvPr id="2" name="文本框 1"/>
          <p:cNvSpPr txBox="1"/>
          <p:nvPr/>
        </p:nvSpPr>
        <p:spPr>
          <a:xfrm>
            <a:off x="2882686" y="1994977"/>
            <a:ext cx="4823756" cy="2492990"/>
          </a:xfrm>
          <a:prstGeom prst="rect">
            <a:avLst/>
          </a:prstGeom>
          <a:noFill/>
        </p:spPr>
        <p:txBody>
          <a:bodyPr wrap="none" rtlCol="0">
            <a:spAutoFit/>
          </a:bodyPr>
          <a:lstStyle/>
          <a:p>
            <a:pPr>
              <a:lnSpc>
                <a:spcPct val="130000"/>
              </a:lnSpc>
            </a:pPr>
            <a:r>
              <a:rPr lang="en-US" altLang="zh-CN" sz="4000" b="1" dirty="0">
                <a:solidFill>
                  <a:schemeClr val="tx1">
                    <a:lumMod val="50000"/>
                  </a:schemeClr>
                </a:solidFill>
                <a:latin typeface="宋体" panose="02010600030101010101" pitchFamily="2" charset="-122"/>
                <a:ea typeface="宋体" panose="02010600030101010101" pitchFamily="2" charset="-122"/>
              </a:rPr>
              <a:t>3.1 </a:t>
            </a:r>
            <a:r>
              <a:rPr lang="zh-CN" altLang="en-US" sz="4000" b="1" dirty="0">
                <a:solidFill>
                  <a:schemeClr val="tx1">
                    <a:lumMod val="50000"/>
                  </a:schemeClr>
                </a:solidFill>
                <a:latin typeface="宋体" panose="02010600030101010101" pitchFamily="2" charset="-122"/>
                <a:ea typeface="宋体" panose="02010600030101010101" pitchFamily="2" charset="-122"/>
              </a:rPr>
              <a:t>程序的流程图</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a:p>
            <a:pPr>
              <a:lnSpc>
                <a:spcPct val="130000"/>
              </a:lnSpc>
            </a:pPr>
            <a:r>
              <a:rPr lang="en-US" altLang="zh-CN" sz="4000" b="1" dirty="0">
                <a:solidFill>
                  <a:schemeClr val="tx1">
                    <a:lumMod val="50000"/>
                  </a:schemeClr>
                </a:solidFill>
                <a:latin typeface="宋体" panose="02010600030101010101" pitchFamily="2" charset="-122"/>
                <a:ea typeface="宋体" panose="02010600030101010101" pitchFamily="2" charset="-122"/>
              </a:rPr>
              <a:t>3.2 Python</a:t>
            </a:r>
            <a:r>
              <a:rPr lang="zh-CN" altLang="en-US" sz="4000" b="1" dirty="0">
                <a:solidFill>
                  <a:schemeClr val="tx1">
                    <a:lumMod val="50000"/>
                  </a:schemeClr>
                </a:solidFill>
                <a:latin typeface="宋体" panose="02010600030101010101" pitchFamily="2" charset="-122"/>
                <a:ea typeface="宋体" panose="02010600030101010101" pitchFamily="2" charset="-122"/>
              </a:rPr>
              <a:t>分支结构</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a:p>
            <a:pPr>
              <a:lnSpc>
                <a:spcPct val="130000"/>
              </a:lnSpc>
            </a:pPr>
            <a:r>
              <a:rPr lang="en-US" altLang="zh-CN" sz="4000" b="1" dirty="0">
                <a:solidFill>
                  <a:srgbClr val="00B0F0"/>
                </a:solidFill>
                <a:latin typeface="宋体" panose="02010600030101010101" pitchFamily="2" charset="-122"/>
                <a:ea typeface="宋体" panose="02010600030101010101" pitchFamily="2" charset="-122"/>
              </a:rPr>
              <a:t>3.3 Python</a:t>
            </a:r>
            <a:r>
              <a:rPr lang="zh-CN" altLang="en-US" sz="4000" b="1" dirty="0">
                <a:solidFill>
                  <a:srgbClr val="00B0F0"/>
                </a:solidFill>
                <a:latin typeface="宋体" panose="02010600030101010101" pitchFamily="2" charset="-122"/>
                <a:ea typeface="宋体" panose="02010600030101010101" pitchFamily="2" charset="-122"/>
              </a:rPr>
              <a:t>循环结构</a:t>
            </a:r>
            <a:endParaRPr lang="en-US" altLang="zh-CN" sz="4000" b="1" dirty="0">
              <a:solidFill>
                <a:srgbClr val="00B0F0"/>
              </a:solidFill>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3646718515"/>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defPPr>
              <a:defRPr lang="zh-CN"/>
            </a:defPPr>
            <a:lvl1pPr>
              <a:lnSpc>
                <a:spcPct val="90000"/>
              </a:lnSpc>
              <a:spcBef>
                <a:spcPct val="0"/>
              </a:spcBef>
              <a:buNone/>
              <a:defRPr sz="3600" b="1" i="0" baseline="0">
                <a:effectLst/>
                <a:latin typeface="+mj-lt"/>
                <a:ea typeface="+mj-ea"/>
                <a:cs typeface="+mj-cs"/>
              </a:defRPr>
            </a:lvl1pPr>
          </a:lstStyle>
          <a:p>
            <a:r>
              <a:rPr lang="en-US" altLang="zh-CN" dirty="0"/>
              <a:t>Python</a:t>
            </a:r>
            <a:r>
              <a:rPr lang="zh-CN" altLang="en-US" dirty="0"/>
              <a:t>程序设计</a:t>
            </a:r>
            <a:endParaRPr lang="en-US" altLang="zh-CN" dirty="0"/>
          </a:p>
        </p:txBody>
      </p:sp>
      <p:sp>
        <p:nvSpPr>
          <p:cNvPr id="2" name="文本框 1"/>
          <p:cNvSpPr txBox="1"/>
          <p:nvPr/>
        </p:nvSpPr>
        <p:spPr>
          <a:xfrm>
            <a:off x="5398658" y="2432915"/>
            <a:ext cx="4004622" cy="2973122"/>
          </a:xfrm>
          <a:prstGeom prst="rect">
            <a:avLst/>
          </a:prstGeom>
          <a:noFill/>
        </p:spPr>
        <p:txBody>
          <a:bodyPr wrap="none" rtlCol="0">
            <a:spAutoFit/>
          </a:bodyPr>
          <a:lstStyle/>
          <a:p>
            <a:pPr marL="571500" indent="-571500">
              <a:lnSpc>
                <a:spcPct val="130000"/>
              </a:lnSpc>
              <a:buFont typeface="Wingdings" panose="05000000000000000000" pitchFamily="2" charset="2"/>
              <a:buChar char="Ø"/>
            </a:pPr>
            <a:r>
              <a:rPr lang="zh-CN" altLang="en-US" sz="3600" b="1" dirty="0">
                <a:solidFill>
                  <a:schemeClr val="tx1">
                    <a:lumMod val="50000"/>
                  </a:schemeClr>
                </a:solidFill>
                <a:latin typeface="宋体" panose="02010600030101010101" pitchFamily="2" charset="-122"/>
                <a:ea typeface="宋体" panose="02010600030101010101" pitchFamily="2" charset="-122"/>
              </a:rPr>
              <a:t>遍历循环</a:t>
            </a:r>
          </a:p>
          <a:p>
            <a:pPr marL="571500" indent="-571500">
              <a:lnSpc>
                <a:spcPct val="130000"/>
              </a:lnSpc>
              <a:buFont typeface="Wingdings" panose="05000000000000000000" pitchFamily="2" charset="2"/>
              <a:buChar char="Ø"/>
            </a:pPr>
            <a:r>
              <a:rPr lang="zh-CN" altLang="en-US" sz="3600" b="1" dirty="0">
                <a:solidFill>
                  <a:schemeClr val="tx1">
                    <a:lumMod val="50000"/>
                  </a:schemeClr>
                </a:solidFill>
                <a:latin typeface="宋体" panose="02010600030101010101" pitchFamily="2" charset="-122"/>
                <a:ea typeface="宋体" panose="02010600030101010101" pitchFamily="2" charset="-122"/>
              </a:rPr>
              <a:t>无限循环</a:t>
            </a:r>
          </a:p>
          <a:p>
            <a:pPr marL="571500" indent="-571500">
              <a:lnSpc>
                <a:spcPct val="130000"/>
              </a:lnSpc>
              <a:buFont typeface="Wingdings" panose="05000000000000000000" pitchFamily="2" charset="2"/>
              <a:buChar char="Ø"/>
            </a:pPr>
            <a:r>
              <a:rPr lang="zh-CN" altLang="en-US" sz="3600" b="1" dirty="0">
                <a:solidFill>
                  <a:schemeClr val="tx1">
                    <a:lumMod val="50000"/>
                  </a:schemeClr>
                </a:solidFill>
                <a:latin typeface="宋体" panose="02010600030101010101" pitchFamily="2" charset="-122"/>
                <a:ea typeface="宋体" panose="02010600030101010101" pitchFamily="2" charset="-122"/>
              </a:rPr>
              <a:t>循环控制保留字</a:t>
            </a:r>
          </a:p>
          <a:p>
            <a:pPr marL="571500" indent="-571500">
              <a:lnSpc>
                <a:spcPct val="130000"/>
              </a:lnSpc>
              <a:buFont typeface="Wingdings" panose="05000000000000000000" pitchFamily="2" charset="2"/>
              <a:buChar char="Ø"/>
            </a:pPr>
            <a:r>
              <a:rPr lang="zh-CN" altLang="en-US" sz="3600" b="1" dirty="0">
                <a:solidFill>
                  <a:schemeClr val="tx1">
                    <a:lumMod val="50000"/>
                  </a:schemeClr>
                </a:solidFill>
                <a:latin typeface="宋体" panose="02010600030101010101" pitchFamily="2" charset="-122"/>
                <a:ea typeface="宋体" panose="02010600030101010101" pitchFamily="2" charset="-122"/>
              </a:rPr>
              <a:t>循环的高级用法</a:t>
            </a:r>
            <a:endParaRPr lang="en-US" altLang="zh-CN" sz="3600" b="1" dirty="0">
              <a:solidFill>
                <a:schemeClr val="tx1">
                  <a:lumMod val="50000"/>
                </a:schemeClr>
              </a:solidFill>
              <a:latin typeface="宋体" panose="02010600030101010101" pitchFamily="2" charset="-122"/>
              <a:ea typeface="宋体" panose="02010600030101010101" pitchFamily="2" charset="-122"/>
            </a:endParaRPr>
          </a:p>
        </p:txBody>
      </p:sp>
      <p:pic>
        <p:nvPicPr>
          <p:cNvPr id="7" name="图片 6"/>
          <p:cNvPicPr>
            <a:picLocks noChangeAspect="1"/>
          </p:cNvPicPr>
          <p:nvPr/>
        </p:nvPicPr>
        <p:blipFill>
          <a:blip r:embed="rId5" cstate="print"/>
          <a:stretch>
            <a:fillRect/>
          </a:stretch>
        </p:blipFill>
        <p:spPr>
          <a:xfrm>
            <a:off x="827210" y="2448995"/>
            <a:ext cx="3523809" cy="2009524"/>
          </a:xfrm>
          <a:prstGeom prst="rect">
            <a:avLst/>
          </a:prstGeom>
        </p:spPr>
      </p:pic>
      <p:sp>
        <p:nvSpPr>
          <p:cNvPr id="9" name="文本框 8"/>
          <p:cNvSpPr txBox="1"/>
          <p:nvPr/>
        </p:nvSpPr>
        <p:spPr>
          <a:xfrm>
            <a:off x="5482015" y="1235388"/>
            <a:ext cx="3791423" cy="779059"/>
          </a:xfrm>
          <a:prstGeom prst="rect">
            <a:avLst/>
          </a:prstGeom>
          <a:noFill/>
        </p:spPr>
        <p:txBody>
          <a:bodyPr wrap="none" rtlCol="0">
            <a:spAutoFit/>
          </a:bodyPr>
          <a:lstStyle/>
          <a:p>
            <a:pPr>
              <a:lnSpc>
                <a:spcPct val="130000"/>
              </a:lnSpc>
            </a:pPr>
            <a:r>
              <a:rPr lang="en-US" altLang="zh-CN" sz="4000" b="1" dirty="0">
                <a:solidFill>
                  <a:schemeClr val="tx1">
                    <a:lumMod val="50000"/>
                  </a:schemeClr>
                </a:solidFill>
                <a:latin typeface="宋体" panose="02010600030101010101" pitchFamily="2" charset="-122"/>
                <a:ea typeface="宋体" panose="02010600030101010101" pitchFamily="2" charset="-122"/>
              </a:rPr>
              <a:t>Python</a:t>
            </a:r>
            <a:r>
              <a:rPr lang="zh-CN" altLang="en-US" sz="4000" b="1" dirty="0">
                <a:solidFill>
                  <a:schemeClr val="tx1">
                    <a:lumMod val="50000"/>
                  </a:schemeClr>
                </a:solidFill>
                <a:latin typeface="宋体" panose="02010600030101010101" pitchFamily="2" charset="-122"/>
                <a:ea typeface="宋体" panose="02010600030101010101" pitchFamily="2" charset="-122"/>
              </a:rPr>
              <a:t>循环结构</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Tree>
    <p:custDataLst>
      <p:tags r:id="rId1"/>
    </p:custDataLst>
    <p:extLst>
      <p:ext uri="{BB962C8B-B14F-4D97-AF65-F5344CB8AC3E}">
        <p14:creationId xmlns:p14="http://schemas.microsoft.com/office/powerpoint/2010/main" val="2239307311"/>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defPPr>
              <a:defRPr lang="zh-CN"/>
            </a:defPPr>
            <a:lvl1pPr>
              <a:lnSpc>
                <a:spcPct val="90000"/>
              </a:lnSpc>
              <a:spcBef>
                <a:spcPct val="0"/>
              </a:spcBef>
              <a:buNone/>
              <a:defRPr sz="3600" b="1" i="0" baseline="0">
                <a:effectLst/>
                <a:latin typeface="+mj-lt"/>
                <a:ea typeface="+mj-ea"/>
                <a:cs typeface="+mj-cs"/>
              </a:defRPr>
            </a:lvl1pPr>
          </a:lstStyle>
          <a:p>
            <a:r>
              <a:rPr lang="en-US" altLang="zh-CN" dirty="0"/>
              <a:t>Python</a:t>
            </a:r>
            <a:r>
              <a:rPr lang="zh-CN" altLang="en-US" dirty="0"/>
              <a:t>循环结构</a:t>
            </a:r>
            <a:endParaRPr lang="en-US" altLang="zh-CN" dirty="0"/>
          </a:p>
        </p:txBody>
      </p:sp>
      <p:sp>
        <p:nvSpPr>
          <p:cNvPr id="9" name="文本框 8"/>
          <p:cNvSpPr txBox="1"/>
          <p:nvPr/>
        </p:nvSpPr>
        <p:spPr>
          <a:xfrm>
            <a:off x="5155533" y="1254688"/>
            <a:ext cx="1213794"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循环</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4" name="矩形 3"/>
          <p:cNvSpPr/>
          <p:nvPr/>
        </p:nvSpPr>
        <p:spPr>
          <a:xfrm>
            <a:off x="1414834" y="2358023"/>
            <a:ext cx="9352846" cy="954107"/>
          </a:xfrm>
          <a:prstGeom prst="rect">
            <a:avLst/>
          </a:prstGeom>
        </p:spPr>
        <p:txBody>
          <a:bodyPr wrap="square">
            <a:spAutoFit/>
          </a:bodyPr>
          <a:lstStyle/>
          <a:p>
            <a:r>
              <a:rPr lang="zh-CN" altLang="en-US" sz="2800" dirty="0">
                <a:solidFill>
                  <a:schemeClr val="tx1">
                    <a:lumMod val="50000"/>
                  </a:schemeClr>
                </a:solidFill>
              </a:rPr>
              <a:t>根据循环执行次数的确定性，循环可以分为确定次数循环和非确定次数循环。</a:t>
            </a:r>
          </a:p>
        </p:txBody>
      </p:sp>
      <p:sp>
        <p:nvSpPr>
          <p:cNvPr id="5" name="矩形 4"/>
          <p:cNvSpPr/>
          <p:nvPr/>
        </p:nvSpPr>
        <p:spPr>
          <a:xfrm>
            <a:off x="1414833" y="3461357"/>
            <a:ext cx="9472241" cy="954107"/>
          </a:xfrm>
          <a:prstGeom prst="rect">
            <a:avLst/>
          </a:prstGeom>
        </p:spPr>
        <p:txBody>
          <a:bodyPr wrap="square">
            <a:spAutoFit/>
          </a:bodyPr>
          <a:lstStyle/>
          <a:p>
            <a:r>
              <a:rPr lang="zh-CN" altLang="en-US" sz="2800" dirty="0">
                <a:solidFill>
                  <a:schemeClr val="tx1">
                    <a:lumMod val="50000"/>
                  </a:schemeClr>
                </a:solidFill>
              </a:rPr>
              <a:t>确定次数循环指循环体对循环次数有明确的定义循环次数采用遍历结构中元素个数来体现。</a:t>
            </a:r>
          </a:p>
        </p:txBody>
      </p:sp>
      <p:sp>
        <p:nvSpPr>
          <p:cNvPr id="6" name="矩形 5"/>
          <p:cNvSpPr/>
          <p:nvPr/>
        </p:nvSpPr>
        <p:spPr>
          <a:xfrm>
            <a:off x="1414832" y="4821755"/>
            <a:ext cx="9472241" cy="954107"/>
          </a:xfrm>
          <a:prstGeom prst="rect">
            <a:avLst/>
          </a:prstGeom>
        </p:spPr>
        <p:txBody>
          <a:bodyPr wrap="square">
            <a:spAutoFit/>
          </a:bodyPr>
          <a:lstStyle/>
          <a:p>
            <a:r>
              <a:rPr lang="zh-CN" altLang="en-US" sz="2800" dirty="0">
                <a:solidFill>
                  <a:schemeClr val="tx1">
                    <a:lumMod val="50000"/>
                  </a:schemeClr>
                </a:solidFill>
              </a:rPr>
              <a:t>无限循环一直保持循环操作直到特定循环条件不被满足才</a:t>
            </a:r>
          </a:p>
          <a:p>
            <a:r>
              <a:rPr lang="zh-CN" altLang="en-US" sz="2800" dirty="0">
                <a:solidFill>
                  <a:schemeClr val="tx1">
                    <a:lumMod val="50000"/>
                  </a:schemeClr>
                </a:solidFill>
              </a:rPr>
              <a:t>结束，不需要提前知道确定循环次数。</a:t>
            </a:r>
          </a:p>
        </p:txBody>
      </p:sp>
    </p:spTree>
    <p:custDataLst>
      <p:tags r:id="rId1"/>
    </p:custDataLst>
    <p:extLst>
      <p:ext uri="{BB962C8B-B14F-4D97-AF65-F5344CB8AC3E}">
        <p14:creationId xmlns:p14="http://schemas.microsoft.com/office/powerpoint/2010/main" val="4143144110"/>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defPPr>
              <a:defRPr lang="zh-CN"/>
            </a:defPPr>
            <a:lvl1pPr>
              <a:lnSpc>
                <a:spcPct val="90000"/>
              </a:lnSpc>
              <a:spcBef>
                <a:spcPct val="0"/>
              </a:spcBef>
              <a:buNone/>
              <a:defRPr sz="3600" b="1" i="0" baseline="0">
                <a:effectLst/>
                <a:latin typeface="+mj-lt"/>
                <a:ea typeface="+mj-ea"/>
                <a:cs typeface="+mj-cs"/>
              </a:defRPr>
            </a:lvl1pPr>
          </a:lstStyle>
          <a:p>
            <a:r>
              <a:rPr lang="en-US" altLang="zh-CN" dirty="0"/>
              <a:t>Python</a:t>
            </a:r>
            <a:r>
              <a:rPr lang="zh-CN" altLang="en-US" dirty="0"/>
              <a:t>循环结构</a:t>
            </a:r>
            <a:endParaRPr lang="en-US" altLang="zh-CN" dirty="0"/>
          </a:p>
        </p:txBody>
      </p:sp>
      <p:sp>
        <p:nvSpPr>
          <p:cNvPr id="9" name="文本框 8"/>
          <p:cNvSpPr txBox="1"/>
          <p:nvPr/>
        </p:nvSpPr>
        <p:spPr>
          <a:xfrm>
            <a:off x="4969796" y="1254688"/>
            <a:ext cx="2242922"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遍历循环</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4" name="矩形 3"/>
          <p:cNvSpPr/>
          <p:nvPr/>
        </p:nvSpPr>
        <p:spPr>
          <a:xfrm>
            <a:off x="2414957" y="2396144"/>
            <a:ext cx="7243391" cy="523220"/>
          </a:xfrm>
          <a:prstGeom prst="rect">
            <a:avLst/>
          </a:prstGeom>
        </p:spPr>
        <p:txBody>
          <a:bodyPr wrap="square">
            <a:spAutoFit/>
          </a:bodyPr>
          <a:lstStyle/>
          <a:p>
            <a:r>
              <a:rPr lang="zh-CN" altLang="en-US" sz="2800" dirty="0">
                <a:solidFill>
                  <a:schemeClr val="tx1">
                    <a:lumMod val="50000"/>
                  </a:schemeClr>
                </a:solidFill>
              </a:rPr>
              <a:t>遍历某个结构形成的循环运行方式</a:t>
            </a:r>
          </a:p>
        </p:txBody>
      </p:sp>
      <p:sp>
        <p:nvSpPr>
          <p:cNvPr id="5" name="矩形 4"/>
          <p:cNvSpPr/>
          <p:nvPr/>
        </p:nvSpPr>
        <p:spPr>
          <a:xfrm>
            <a:off x="2414957" y="3281762"/>
            <a:ext cx="8472116" cy="954107"/>
          </a:xfrm>
          <a:prstGeom prst="rect">
            <a:avLst/>
          </a:prstGeom>
        </p:spPr>
        <p:txBody>
          <a:bodyPr wrap="square">
            <a:spAutoFit/>
          </a:bodyPr>
          <a:lstStyle/>
          <a:p>
            <a:r>
              <a:rPr lang="en-US" altLang="zh-CN" sz="2800" dirty="0">
                <a:solidFill>
                  <a:schemeClr val="tx1">
                    <a:lumMod val="50000"/>
                  </a:schemeClr>
                </a:solidFill>
              </a:rPr>
              <a:t>for &lt;</a:t>
            </a:r>
            <a:r>
              <a:rPr lang="zh-CN" altLang="en-US" sz="2800" dirty="0">
                <a:solidFill>
                  <a:schemeClr val="tx1">
                    <a:lumMod val="50000"/>
                  </a:schemeClr>
                </a:solidFill>
              </a:rPr>
              <a:t>循环变量</a:t>
            </a:r>
            <a:r>
              <a:rPr lang="en-US" altLang="zh-CN" sz="2800" dirty="0">
                <a:solidFill>
                  <a:schemeClr val="tx1">
                    <a:lumMod val="50000"/>
                  </a:schemeClr>
                </a:solidFill>
              </a:rPr>
              <a:t>&gt; in &lt;</a:t>
            </a:r>
            <a:r>
              <a:rPr lang="zh-CN" altLang="en-US" sz="2800" dirty="0">
                <a:solidFill>
                  <a:schemeClr val="tx1">
                    <a:lumMod val="50000"/>
                  </a:schemeClr>
                </a:solidFill>
              </a:rPr>
              <a:t>遍历结构</a:t>
            </a:r>
            <a:r>
              <a:rPr lang="en-US" altLang="zh-CN" sz="2800" dirty="0">
                <a:solidFill>
                  <a:schemeClr val="tx1">
                    <a:lumMod val="50000"/>
                  </a:schemeClr>
                </a:solidFill>
              </a:rPr>
              <a:t>&gt; :</a:t>
            </a:r>
          </a:p>
          <a:p>
            <a:r>
              <a:rPr lang="en-US" altLang="zh-CN" sz="2800" dirty="0">
                <a:solidFill>
                  <a:schemeClr val="tx1">
                    <a:lumMod val="50000"/>
                  </a:schemeClr>
                </a:solidFill>
              </a:rPr>
              <a:t>    &lt;</a:t>
            </a:r>
            <a:r>
              <a:rPr lang="zh-CN" altLang="en-US" sz="2800" dirty="0">
                <a:solidFill>
                  <a:schemeClr val="tx1">
                    <a:lumMod val="50000"/>
                  </a:schemeClr>
                </a:solidFill>
              </a:rPr>
              <a:t>语句块</a:t>
            </a:r>
            <a:r>
              <a:rPr lang="en-US" altLang="zh-CN" sz="2800" dirty="0">
                <a:solidFill>
                  <a:schemeClr val="tx1">
                    <a:lumMod val="50000"/>
                  </a:schemeClr>
                </a:solidFill>
              </a:rPr>
              <a:t>&gt;</a:t>
            </a:r>
            <a:endParaRPr lang="zh-CN" altLang="en-US" sz="2800" dirty="0">
              <a:solidFill>
                <a:schemeClr val="tx1">
                  <a:lumMod val="50000"/>
                </a:schemeClr>
              </a:solidFill>
            </a:endParaRPr>
          </a:p>
        </p:txBody>
      </p:sp>
      <p:sp>
        <p:nvSpPr>
          <p:cNvPr id="6" name="矩形 5"/>
          <p:cNvSpPr/>
          <p:nvPr/>
        </p:nvSpPr>
        <p:spPr>
          <a:xfrm>
            <a:off x="2414957" y="4598267"/>
            <a:ext cx="7986343" cy="523220"/>
          </a:xfrm>
          <a:prstGeom prst="rect">
            <a:avLst/>
          </a:prstGeom>
        </p:spPr>
        <p:txBody>
          <a:bodyPr wrap="square">
            <a:spAutoFit/>
          </a:bodyPr>
          <a:lstStyle/>
          <a:p>
            <a:r>
              <a:rPr lang="en-US" altLang="zh-CN" sz="2800" dirty="0">
                <a:solidFill>
                  <a:schemeClr val="tx1">
                    <a:lumMod val="50000"/>
                  </a:schemeClr>
                </a:solidFill>
              </a:rPr>
              <a:t>- </a:t>
            </a:r>
            <a:r>
              <a:rPr lang="zh-CN" altLang="en-US" sz="2800" dirty="0">
                <a:solidFill>
                  <a:schemeClr val="tx1">
                    <a:lumMod val="50000"/>
                  </a:schemeClr>
                </a:solidFill>
              </a:rPr>
              <a:t>从遍历结构中逐一提取元素，放在循环变量中</a:t>
            </a:r>
          </a:p>
        </p:txBody>
      </p:sp>
    </p:spTree>
    <p:custDataLst>
      <p:tags r:id="rId1"/>
    </p:custDataLst>
    <p:extLst>
      <p:ext uri="{BB962C8B-B14F-4D97-AF65-F5344CB8AC3E}">
        <p14:creationId xmlns:p14="http://schemas.microsoft.com/office/powerpoint/2010/main" val="1830720122"/>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defPPr>
              <a:defRPr lang="zh-CN"/>
            </a:defPPr>
            <a:lvl1pPr>
              <a:lnSpc>
                <a:spcPct val="90000"/>
              </a:lnSpc>
              <a:spcBef>
                <a:spcPct val="0"/>
              </a:spcBef>
              <a:buNone/>
              <a:defRPr sz="3600" b="1" i="0" baseline="0">
                <a:effectLst/>
                <a:latin typeface="+mj-lt"/>
                <a:ea typeface="+mj-ea"/>
                <a:cs typeface="+mj-cs"/>
              </a:defRPr>
            </a:lvl1pPr>
          </a:lstStyle>
          <a:p>
            <a:r>
              <a:rPr lang="en-US" altLang="zh-CN" dirty="0"/>
              <a:t>Python</a:t>
            </a:r>
            <a:r>
              <a:rPr lang="zh-CN" altLang="en-US" dirty="0"/>
              <a:t>循环结构</a:t>
            </a:r>
            <a:endParaRPr lang="en-US" altLang="zh-CN" dirty="0"/>
          </a:p>
        </p:txBody>
      </p:sp>
      <p:sp>
        <p:nvSpPr>
          <p:cNvPr id="9" name="文本框 8"/>
          <p:cNvSpPr txBox="1"/>
          <p:nvPr/>
        </p:nvSpPr>
        <p:spPr>
          <a:xfrm>
            <a:off x="4969796" y="1254688"/>
            <a:ext cx="2242922"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遍历循环</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6" name="矩形 5"/>
          <p:cNvSpPr/>
          <p:nvPr/>
        </p:nvSpPr>
        <p:spPr>
          <a:xfrm>
            <a:off x="1457326" y="4824252"/>
            <a:ext cx="9886949" cy="954107"/>
          </a:xfrm>
          <a:prstGeom prst="rect">
            <a:avLst/>
          </a:prstGeom>
        </p:spPr>
        <p:txBody>
          <a:bodyPr wrap="square">
            <a:spAutoFit/>
          </a:bodyPr>
          <a:lstStyle/>
          <a:p>
            <a:r>
              <a:rPr lang="en-US" altLang="zh-CN" sz="2800" dirty="0">
                <a:solidFill>
                  <a:schemeClr val="tx1">
                    <a:lumMod val="50000"/>
                  </a:schemeClr>
                </a:solidFill>
              </a:rPr>
              <a:t>- </a:t>
            </a:r>
            <a:r>
              <a:rPr lang="zh-CN" altLang="en-US" sz="2800" dirty="0">
                <a:solidFill>
                  <a:schemeClr val="tx1">
                    <a:lumMod val="50000"/>
                  </a:schemeClr>
                </a:solidFill>
              </a:rPr>
              <a:t>由保留字</a:t>
            </a:r>
            <a:r>
              <a:rPr lang="en-US" altLang="zh-CN" sz="2800" dirty="0">
                <a:solidFill>
                  <a:schemeClr val="tx1">
                    <a:lumMod val="50000"/>
                  </a:schemeClr>
                </a:solidFill>
              </a:rPr>
              <a:t>for</a:t>
            </a:r>
            <a:r>
              <a:rPr lang="zh-CN" altLang="en-US" sz="2800" dirty="0">
                <a:solidFill>
                  <a:schemeClr val="tx1">
                    <a:lumMod val="50000"/>
                  </a:schemeClr>
                </a:solidFill>
              </a:rPr>
              <a:t>和</a:t>
            </a:r>
            <a:r>
              <a:rPr lang="en-US" altLang="zh-CN" sz="2800" dirty="0">
                <a:solidFill>
                  <a:schemeClr val="tx1">
                    <a:lumMod val="50000"/>
                  </a:schemeClr>
                </a:solidFill>
              </a:rPr>
              <a:t>in</a:t>
            </a:r>
            <a:r>
              <a:rPr lang="zh-CN" altLang="en-US" sz="2800" dirty="0">
                <a:solidFill>
                  <a:schemeClr val="tx1">
                    <a:lumMod val="50000"/>
                  </a:schemeClr>
                </a:solidFill>
              </a:rPr>
              <a:t>组成，完整遍历所有元素后结束</a:t>
            </a:r>
          </a:p>
          <a:p>
            <a:r>
              <a:rPr lang="en-US" altLang="zh-CN" sz="2800" dirty="0">
                <a:solidFill>
                  <a:schemeClr val="tx1">
                    <a:lumMod val="50000"/>
                  </a:schemeClr>
                </a:solidFill>
              </a:rPr>
              <a:t>- </a:t>
            </a:r>
            <a:r>
              <a:rPr lang="zh-CN" altLang="en-US" sz="2800" dirty="0">
                <a:solidFill>
                  <a:schemeClr val="tx1">
                    <a:lumMod val="50000"/>
                  </a:schemeClr>
                </a:solidFill>
              </a:rPr>
              <a:t>每次循环，所获得元素放入循环变量，并执行一次语句块</a:t>
            </a:r>
          </a:p>
        </p:txBody>
      </p:sp>
      <p:pic>
        <p:nvPicPr>
          <p:cNvPr id="2" name="图片 1"/>
          <p:cNvPicPr>
            <a:picLocks noChangeAspect="1"/>
          </p:cNvPicPr>
          <p:nvPr/>
        </p:nvPicPr>
        <p:blipFill>
          <a:blip r:embed="rId5" cstate="print"/>
          <a:stretch>
            <a:fillRect/>
          </a:stretch>
        </p:blipFill>
        <p:spPr>
          <a:xfrm>
            <a:off x="3176952" y="2448047"/>
            <a:ext cx="5838095" cy="1961905"/>
          </a:xfrm>
          <a:prstGeom prst="rect">
            <a:avLst/>
          </a:prstGeom>
        </p:spPr>
      </p:pic>
    </p:spTree>
    <p:custDataLst>
      <p:tags r:id="rId1"/>
    </p:custDataLst>
    <p:extLst>
      <p:ext uri="{BB962C8B-B14F-4D97-AF65-F5344CB8AC3E}">
        <p14:creationId xmlns:p14="http://schemas.microsoft.com/office/powerpoint/2010/main" val="1342073284"/>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defPPr>
              <a:defRPr lang="zh-CN"/>
            </a:defPPr>
            <a:lvl1pPr>
              <a:lnSpc>
                <a:spcPct val="90000"/>
              </a:lnSpc>
              <a:spcBef>
                <a:spcPct val="0"/>
              </a:spcBef>
              <a:buNone/>
              <a:defRPr sz="3600" b="1" i="0" baseline="0">
                <a:effectLst/>
                <a:latin typeface="+mj-lt"/>
                <a:ea typeface="+mj-ea"/>
                <a:cs typeface="+mj-cs"/>
              </a:defRPr>
            </a:lvl1pPr>
          </a:lstStyle>
          <a:p>
            <a:r>
              <a:rPr lang="en-US" altLang="zh-CN" dirty="0"/>
              <a:t>Python</a:t>
            </a:r>
            <a:r>
              <a:rPr lang="zh-CN" altLang="en-US" dirty="0"/>
              <a:t>循环结构</a:t>
            </a:r>
            <a:endParaRPr lang="en-US" altLang="zh-CN" dirty="0"/>
          </a:p>
        </p:txBody>
      </p:sp>
      <p:sp>
        <p:nvSpPr>
          <p:cNvPr id="9" name="文本框 8"/>
          <p:cNvSpPr txBox="1"/>
          <p:nvPr/>
        </p:nvSpPr>
        <p:spPr>
          <a:xfrm>
            <a:off x="4764775" y="1254688"/>
            <a:ext cx="3272050"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遍历循环应用</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4" name="矩形 3"/>
          <p:cNvSpPr/>
          <p:nvPr/>
        </p:nvSpPr>
        <p:spPr>
          <a:xfrm>
            <a:off x="1267533" y="2172371"/>
            <a:ext cx="2480166" cy="523220"/>
          </a:xfrm>
          <a:prstGeom prst="rect">
            <a:avLst/>
          </a:prstGeom>
        </p:spPr>
        <p:txBody>
          <a:bodyPr wrap="none">
            <a:spAutoFit/>
          </a:bodyPr>
          <a:lstStyle/>
          <a:p>
            <a:r>
              <a:rPr lang="zh-CN" altLang="en-US" sz="2800" dirty="0">
                <a:solidFill>
                  <a:schemeClr val="tx1">
                    <a:lumMod val="50000"/>
                  </a:schemeClr>
                </a:solidFill>
              </a:rPr>
              <a:t>计数循环(N次)</a:t>
            </a:r>
          </a:p>
        </p:txBody>
      </p:sp>
      <p:sp>
        <p:nvSpPr>
          <p:cNvPr id="5" name="矩形 4"/>
          <p:cNvSpPr/>
          <p:nvPr/>
        </p:nvSpPr>
        <p:spPr>
          <a:xfrm>
            <a:off x="1765848" y="2829123"/>
            <a:ext cx="7930376" cy="523220"/>
          </a:xfrm>
          <a:prstGeom prst="rect">
            <a:avLst/>
          </a:prstGeom>
        </p:spPr>
        <p:txBody>
          <a:bodyPr wrap="none">
            <a:spAutoFit/>
          </a:bodyPr>
          <a:lstStyle/>
          <a:p>
            <a:r>
              <a:rPr lang="zh-CN" altLang="en-US" sz="2800" dirty="0">
                <a:solidFill>
                  <a:schemeClr val="tx1">
                    <a:lumMod val="50000"/>
                  </a:schemeClr>
                </a:solidFill>
              </a:rPr>
              <a:t>- 遍历由range(</a:t>
            </a:r>
            <a:r>
              <a:rPr lang="en-US" altLang="zh-CN" sz="2800" dirty="0">
                <a:solidFill>
                  <a:schemeClr val="tx1">
                    <a:lumMod val="50000"/>
                  </a:schemeClr>
                </a:solidFill>
              </a:rPr>
              <a:t>N</a:t>
            </a:r>
            <a:r>
              <a:rPr lang="zh-CN" altLang="en-US" sz="2800" dirty="0">
                <a:solidFill>
                  <a:schemeClr val="tx1">
                    <a:lumMod val="50000"/>
                  </a:schemeClr>
                </a:solidFill>
              </a:rPr>
              <a:t>)函数产生的数字序列，产生循环</a:t>
            </a:r>
          </a:p>
        </p:txBody>
      </p:sp>
      <p:pic>
        <p:nvPicPr>
          <p:cNvPr id="12" name="图片 11"/>
          <p:cNvPicPr>
            <a:picLocks noChangeAspect="1"/>
          </p:cNvPicPr>
          <p:nvPr/>
        </p:nvPicPr>
        <p:blipFill>
          <a:blip r:embed="rId5" cstate="print"/>
          <a:stretch>
            <a:fillRect/>
          </a:stretch>
        </p:blipFill>
        <p:spPr>
          <a:xfrm>
            <a:off x="2273143" y="3485875"/>
            <a:ext cx="7359373" cy="2640923"/>
          </a:xfrm>
          <a:prstGeom prst="rect">
            <a:avLst/>
          </a:prstGeom>
        </p:spPr>
      </p:pic>
    </p:spTree>
    <p:custDataLst>
      <p:tags r:id="rId1"/>
    </p:custDataLst>
    <p:extLst>
      <p:ext uri="{BB962C8B-B14F-4D97-AF65-F5344CB8AC3E}">
        <p14:creationId xmlns:p14="http://schemas.microsoft.com/office/powerpoint/2010/main" val="383462843"/>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defPPr>
              <a:defRPr lang="zh-CN"/>
            </a:defPPr>
            <a:lvl1pPr>
              <a:lnSpc>
                <a:spcPct val="90000"/>
              </a:lnSpc>
              <a:spcBef>
                <a:spcPct val="0"/>
              </a:spcBef>
              <a:buNone/>
              <a:defRPr sz="3600" b="1" i="0" baseline="0">
                <a:effectLst/>
                <a:latin typeface="+mj-lt"/>
                <a:ea typeface="+mj-ea"/>
                <a:cs typeface="+mj-cs"/>
              </a:defRPr>
            </a:lvl1pPr>
          </a:lstStyle>
          <a:p>
            <a:r>
              <a:rPr lang="en-US" altLang="zh-CN" dirty="0"/>
              <a:t>Python</a:t>
            </a:r>
            <a:r>
              <a:rPr lang="zh-CN" altLang="en-US" dirty="0"/>
              <a:t>循环结构</a:t>
            </a:r>
            <a:endParaRPr lang="en-US" altLang="zh-CN" dirty="0"/>
          </a:p>
        </p:txBody>
      </p:sp>
      <p:sp>
        <p:nvSpPr>
          <p:cNvPr id="9" name="文本框 8"/>
          <p:cNvSpPr txBox="1"/>
          <p:nvPr/>
        </p:nvSpPr>
        <p:spPr>
          <a:xfrm>
            <a:off x="4764775" y="1254688"/>
            <a:ext cx="3272050"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遍历循环应用</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7" name="矩形 6"/>
          <p:cNvSpPr/>
          <p:nvPr/>
        </p:nvSpPr>
        <p:spPr>
          <a:xfrm>
            <a:off x="1410408" y="2231218"/>
            <a:ext cx="2938625" cy="523220"/>
          </a:xfrm>
          <a:prstGeom prst="rect">
            <a:avLst/>
          </a:prstGeom>
        </p:spPr>
        <p:txBody>
          <a:bodyPr wrap="none">
            <a:spAutoFit/>
          </a:bodyPr>
          <a:lstStyle/>
          <a:p>
            <a:r>
              <a:rPr lang="zh-CN" altLang="en-US" sz="2800" dirty="0">
                <a:solidFill>
                  <a:schemeClr val="tx1">
                    <a:lumMod val="50000"/>
                  </a:schemeClr>
                </a:solidFill>
              </a:rPr>
              <a:t>计数循环(特定次)</a:t>
            </a:r>
          </a:p>
        </p:txBody>
      </p:sp>
      <p:sp>
        <p:nvSpPr>
          <p:cNvPr id="8" name="矩形 7"/>
          <p:cNvSpPr/>
          <p:nvPr/>
        </p:nvSpPr>
        <p:spPr>
          <a:xfrm>
            <a:off x="1908723" y="2841496"/>
            <a:ext cx="8667757" cy="523220"/>
          </a:xfrm>
          <a:prstGeom prst="rect">
            <a:avLst/>
          </a:prstGeom>
        </p:spPr>
        <p:txBody>
          <a:bodyPr wrap="none">
            <a:spAutoFit/>
          </a:bodyPr>
          <a:lstStyle/>
          <a:p>
            <a:r>
              <a:rPr lang="zh-CN" altLang="en-US" sz="2800" dirty="0">
                <a:solidFill>
                  <a:schemeClr val="tx1">
                    <a:lumMod val="50000"/>
                  </a:schemeClr>
                </a:solidFill>
              </a:rPr>
              <a:t>- 遍历由range(</a:t>
            </a:r>
            <a:r>
              <a:rPr lang="en-US" altLang="zh-CN" sz="2800" dirty="0">
                <a:solidFill>
                  <a:schemeClr val="tx1">
                    <a:lumMod val="50000"/>
                  </a:schemeClr>
                </a:solidFill>
              </a:rPr>
              <a:t>M,N,K</a:t>
            </a:r>
            <a:r>
              <a:rPr lang="zh-CN" altLang="en-US" sz="2800" dirty="0">
                <a:solidFill>
                  <a:schemeClr val="tx1">
                    <a:lumMod val="50000"/>
                  </a:schemeClr>
                </a:solidFill>
              </a:rPr>
              <a:t>)函数产生的数字序列，产生循环</a:t>
            </a:r>
          </a:p>
        </p:txBody>
      </p:sp>
      <p:pic>
        <p:nvPicPr>
          <p:cNvPr id="12" name="图片 11"/>
          <p:cNvPicPr>
            <a:picLocks noChangeAspect="1"/>
          </p:cNvPicPr>
          <p:nvPr/>
        </p:nvPicPr>
        <p:blipFill>
          <a:blip r:embed="rId5" cstate="print"/>
          <a:stretch>
            <a:fillRect/>
          </a:stretch>
        </p:blipFill>
        <p:spPr>
          <a:xfrm>
            <a:off x="2156789" y="3451774"/>
            <a:ext cx="7868935" cy="2702648"/>
          </a:xfrm>
          <a:prstGeom prst="rect">
            <a:avLst/>
          </a:prstGeom>
        </p:spPr>
      </p:pic>
    </p:spTree>
    <p:custDataLst>
      <p:tags r:id="rId1"/>
    </p:custDataLst>
    <p:extLst>
      <p:ext uri="{BB962C8B-B14F-4D97-AF65-F5344CB8AC3E}">
        <p14:creationId xmlns:p14="http://schemas.microsoft.com/office/powerpoint/2010/main" val="301373678"/>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defPPr>
              <a:defRPr lang="zh-CN"/>
            </a:defPPr>
            <a:lvl1pPr>
              <a:lnSpc>
                <a:spcPct val="90000"/>
              </a:lnSpc>
              <a:spcBef>
                <a:spcPct val="0"/>
              </a:spcBef>
              <a:buNone/>
              <a:defRPr sz="3600" b="1" i="0" baseline="0">
                <a:effectLst/>
                <a:latin typeface="+mj-lt"/>
                <a:ea typeface="+mj-ea"/>
                <a:cs typeface="+mj-cs"/>
              </a:defRPr>
            </a:lvl1pPr>
          </a:lstStyle>
          <a:p>
            <a:r>
              <a:rPr lang="en-US" altLang="zh-CN" dirty="0"/>
              <a:t>Python</a:t>
            </a:r>
            <a:r>
              <a:rPr lang="zh-CN" altLang="en-US" dirty="0"/>
              <a:t>循环结构</a:t>
            </a:r>
            <a:endParaRPr lang="en-US" altLang="zh-CN" dirty="0"/>
          </a:p>
        </p:txBody>
      </p:sp>
      <p:sp>
        <p:nvSpPr>
          <p:cNvPr id="9" name="文本框 8"/>
          <p:cNvSpPr txBox="1"/>
          <p:nvPr/>
        </p:nvSpPr>
        <p:spPr>
          <a:xfrm>
            <a:off x="4764775" y="1254688"/>
            <a:ext cx="3272050"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遍历循环应用</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10" name="矩形 9"/>
          <p:cNvSpPr/>
          <p:nvPr/>
        </p:nvSpPr>
        <p:spPr>
          <a:xfrm>
            <a:off x="1381833" y="2033747"/>
            <a:ext cx="2698175" cy="523220"/>
          </a:xfrm>
          <a:prstGeom prst="rect">
            <a:avLst/>
          </a:prstGeom>
        </p:spPr>
        <p:txBody>
          <a:bodyPr wrap="none">
            <a:spAutoFit/>
          </a:bodyPr>
          <a:lstStyle/>
          <a:p>
            <a:r>
              <a:rPr lang="zh-CN" altLang="en-US" sz="2800" dirty="0">
                <a:solidFill>
                  <a:schemeClr val="tx1">
                    <a:lumMod val="50000"/>
                  </a:schemeClr>
                </a:solidFill>
              </a:rPr>
              <a:t>字符串遍历循环</a:t>
            </a:r>
          </a:p>
        </p:txBody>
      </p:sp>
      <p:sp>
        <p:nvSpPr>
          <p:cNvPr id="11" name="矩形 10"/>
          <p:cNvSpPr/>
          <p:nvPr/>
        </p:nvSpPr>
        <p:spPr>
          <a:xfrm>
            <a:off x="1967621" y="2609234"/>
            <a:ext cx="7406195" cy="523220"/>
          </a:xfrm>
          <a:prstGeom prst="rect">
            <a:avLst/>
          </a:prstGeom>
        </p:spPr>
        <p:txBody>
          <a:bodyPr wrap="none">
            <a:spAutoFit/>
          </a:bodyPr>
          <a:lstStyle/>
          <a:p>
            <a:r>
              <a:rPr lang="zh-CN" altLang="en-US" sz="2800" dirty="0">
                <a:solidFill>
                  <a:schemeClr val="tx1">
                    <a:lumMod val="50000"/>
                  </a:schemeClr>
                </a:solidFill>
              </a:rPr>
              <a:t>- s是字符串，遍历字符串每个字符，产生循环</a:t>
            </a:r>
          </a:p>
        </p:txBody>
      </p:sp>
      <p:pic>
        <p:nvPicPr>
          <p:cNvPr id="12" name="图片 11"/>
          <p:cNvPicPr>
            <a:picLocks noChangeAspect="1"/>
          </p:cNvPicPr>
          <p:nvPr/>
        </p:nvPicPr>
        <p:blipFill>
          <a:blip r:embed="rId5" cstate="print"/>
          <a:stretch>
            <a:fillRect/>
          </a:stretch>
        </p:blipFill>
        <p:spPr>
          <a:xfrm>
            <a:off x="2365900" y="3350559"/>
            <a:ext cx="7450714" cy="2733541"/>
          </a:xfrm>
          <a:prstGeom prst="rect">
            <a:avLst/>
          </a:prstGeom>
        </p:spPr>
      </p:pic>
    </p:spTree>
    <p:custDataLst>
      <p:tags r:id="rId1"/>
    </p:custDataLst>
    <p:extLst>
      <p:ext uri="{BB962C8B-B14F-4D97-AF65-F5344CB8AC3E}">
        <p14:creationId xmlns:p14="http://schemas.microsoft.com/office/powerpoint/2010/main" val="3290019062"/>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defPPr>
              <a:defRPr lang="zh-CN"/>
            </a:defPPr>
            <a:lvl1pPr>
              <a:lnSpc>
                <a:spcPct val="90000"/>
              </a:lnSpc>
              <a:spcBef>
                <a:spcPct val="0"/>
              </a:spcBef>
              <a:buNone/>
              <a:defRPr sz="3600" b="1" i="0" baseline="0">
                <a:effectLst/>
                <a:latin typeface="+mj-lt"/>
                <a:ea typeface="+mj-ea"/>
                <a:cs typeface="+mj-cs"/>
              </a:defRPr>
            </a:lvl1pPr>
          </a:lstStyle>
          <a:p>
            <a:r>
              <a:rPr lang="en-US" altLang="zh-CN" dirty="0"/>
              <a:t>Python</a:t>
            </a:r>
            <a:r>
              <a:rPr lang="zh-CN" altLang="en-US" dirty="0"/>
              <a:t>循环结构</a:t>
            </a:r>
            <a:endParaRPr lang="en-US" altLang="zh-CN" dirty="0"/>
          </a:p>
        </p:txBody>
      </p:sp>
      <p:sp>
        <p:nvSpPr>
          <p:cNvPr id="9" name="文本框 8"/>
          <p:cNvSpPr txBox="1"/>
          <p:nvPr/>
        </p:nvSpPr>
        <p:spPr>
          <a:xfrm>
            <a:off x="4764775" y="1254688"/>
            <a:ext cx="3272050"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遍历循环应用</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4" name="矩形 3"/>
          <p:cNvSpPr/>
          <p:nvPr/>
        </p:nvSpPr>
        <p:spPr>
          <a:xfrm>
            <a:off x="1267533" y="2172371"/>
            <a:ext cx="2339102" cy="523220"/>
          </a:xfrm>
          <a:prstGeom prst="rect">
            <a:avLst/>
          </a:prstGeom>
        </p:spPr>
        <p:txBody>
          <a:bodyPr wrap="none">
            <a:spAutoFit/>
          </a:bodyPr>
          <a:lstStyle/>
          <a:p>
            <a:r>
              <a:rPr lang="zh-CN" altLang="en-US" sz="2800" dirty="0">
                <a:solidFill>
                  <a:schemeClr val="tx1">
                    <a:lumMod val="50000"/>
                  </a:schemeClr>
                </a:solidFill>
              </a:rPr>
              <a:t>列表遍历循环</a:t>
            </a:r>
          </a:p>
        </p:txBody>
      </p:sp>
      <p:sp>
        <p:nvSpPr>
          <p:cNvPr id="5" name="矩形 4"/>
          <p:cNvSpPr/>
          <p:nvPr/>
        </p:nvSpPr>
        <p:spPr>
          <a:xfrm>
            <a:off x="1765848" y="2829123"/>
            <a:ext cx="7127272" cy="523220"/>
          </a:xfrm>
          <a:prstGeom prst="rect">
            <a:avLst/>
          </a:prstGeom>
        </p:spPr>
        <p:txBody>
          <a:bodyPr wrap="none">
            <a:spAutoFit/>
          </a:bodyPr>
          <a:lstStyle/>
          <a:p>
            <a:r>
              <a:rPr lang="en-US" altLang="zh-CN" sz="2800" dirty="0">
                <a:solidFill>
                  <a:schemeClr val="tx1">
                    <a:lumMod val="50000"/>
                  </a:schemeClr>
                </a:solidFill>
              </a:rPr>
              <a:t>- </a:t>
            </a:r>
            <a:r>
              <a:rPr lang="en-US" altLang="zh-CN" sz="2800" dirty="0" err="1">
                <a:solidFill>
                  <a:schemeClr val="tx1">
                    <a:lumMod val="50000"/>
                  </a:schemeClr>
                </a:solidFill>
              </a:rPr>
              <a:t>ls</a:t>
            </a:r>
            <a:r>
              <a:rPr lang="zh-CN" altLang="en-US" sz="2800" dirty="0">
                <a:solidFill>
                  <a:schemeClr val="tx1">
                    <a:lumMod val="50000"/>
                  </a:schemeClr>
                </a:solidFill>
              </a:rPr>
              <a:t>是一个列表，遍历其每个元素，产生循环</a:t>
            </a:r>
          </a:p>
        </p:txBody>
      </p:sp>
      <p:pic>
        <p:nvPicPr>
          <p:cNvPr id="2" name="图片 1"/>
          <p:cNvPicPr>
            <a:picLocks noChangeAspect="1"/>
          </p:cNvPicPr>
          <p:nvPr/>
        </p:nvPicPr>
        <p:blipFill>
          <a:blip r:embed="rId5" cstate="print"/>
          <a:stretch>
            <a:fillRect/>
          </a:stretch>
        </p:blipFill>
        <p:spPr>
          <a:xfrm>
            <a:off x="2581119" y="3733264"/>
            <a:ext cx="7020275" cy="2300563"/>
          </a:xfrm>
          <a:prstGeom prst="rect">
            <a:avLst/>
          </a:prstGeom>
        </p:spPr>
      </p:pic>
    </p:spTree>
    <p:custDataLst>
      <p:tags r:id="rId1"/>
    </p:custDataLst>
    <p:extLst>
      <p:ext uri="{BB962C8B-B14F-4D97-AF65-F5344CB8AC3E}">
        <p14:creationId xmlns:p14="http://schemas.microsoft.com/office/powerpoint/2010/main" val="1866331691"/>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defPPr>
              <a:defRPr lang="zh-CN"/>
            </a:defPPr>
            <a:lvl1pPr>
              <a:lnSpc>
                <a:spcPct val="90000"/>
              </a:lnSpc>
              <a:spcBef>
                <a:spcPct val="0"/>
              </a:spcBef>
              <a:buNone/>
              <a:defRPr sz="3600" b="1" i="0" baseline="0">
                <a:effectLst/>
                <a:latin typeface="+mj-lt"/>
                <a:ea typeface="+mj-ea"/>
                <a:cs typeface="+mj-cs"/>
              </a:defRPr>
            </a:lvl1pPr>
          </a:lstStyle>
          <a:p>
            <a:r>
              <a:rPr lang="en-US" altLang="zh-CN" dirty="0"/>
              <a:t>Python</a:t>
            </a:r>
            <a:r>
              <a:rPr lang="zh-CN" altLang="en-US" dirty="0"/>
              <a:t>循环结构</a:t>
            </a:r>
            <a:endParaRPr lang="en-US" altLang="zh-CN" dirty="0"/>
          </a:p>
        </p:txBody>
      </p:sp>
      <p:sp>
        <p:nvSpPr>
          <p:cNvPr id="9" name="文本框 8"/>
          <p:cNvSpPr txBox="1"/>
          <p:nvPr/>
        </p:nvSpPr>
        <p:spPr>
          <a:xfrm>
            <a:off x="4764775" y="1254688"/>
            <a:ext cx="3272050"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遍历循环应用</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4" name="矩形 3"/>
          <p:cNvSpPr/>
          <p:nvPr/>
        </p:nvSpPr>
        <p:spPr>
          <a:xfrm>
            <a:off x="1267533" y="2172371"/>
            <a:ext cx="2339102" cy="523220"/>
          </a:xfrm>
          <a:prstGeom prst="rect">
            <a:avLst/>
          </a:prstGeom>
        </p:spPr>
        <p:txBody>
          <a:bodyPr wrap="none">
            <a:spAutoFit/>
          </a:bodyPr>
          <a:lstStyle/>
          <a:p>
            <a:r>
              <a:rPr lang="zh-CN" altLang="en-US" sz="2800" dirty="0">
                <a:solidFill>
                  <a:schemeClr val="tx1">
                    <a:lumMod val="50000"/>
                  </a:schemeClr>
                </a:solidFill>
              </a:rPr>
              <a:t>文件遍历循环</a:t>
            </a:r>
          </a:p>
        </p:txBody>
      </p:sp>
      <p:sp>
        <p:nvSpPr>
          <p:cNvPr id="5" name="矩形 4"/>
          <p:cNvSpPr/>
          <p:nvPr/>
        </p:nvSpPr>
        <p:spPr>
          <a:xfrm>
            <a:off x="1765848" y="2829123"/>
            <a:ext cx="7406195" cy="523220"/>
          </a:xfrm>
          <a:prstGeom prst="rect">
            <a:avLst/>
          </a:prstGeom>
        </p:spPr>
        <p:txBody>
          <a:bodyPr wrap="none">
            <a:spAutoFit/>
          </a:bodyPr>
          <a:lstStyle/>
          <a:p>
            <a:r>
              <a:rPr lang="en-US" altLang="zh-CN" sz="2800" dirty="0">
                <a:solidFill>
                  <a:schemeClr val="tx1">
                    <a:lumMod val="50000"/>
                  </a:schemeClr>
                </a:solidFill>
              </a:rPr>
              <a:t>- fi</a:t>
            </a:r>
            <a:r>
              <a:rPr lang="zh-CN" altLang="en-US" sz="2800" dirty="0">
                <a:solidFill>
                  <a:schemeClr val="tx1">
                    <a:lumMod val="50000"/>
                  </a:schemeClr>
                </a:solidFill>
              </a:rPr>
              <a:t>是一个文件标识符，遍历其每行，产生循环</a:t>
            </a:r>
          </a:p>
        </p:txBody>
      </p:sp>
      <p:pic>
        <p:nvPicPr>
          <p:cNvPr id="6" name="图片 5"/>
          <p:cNvPicPr>
            <a:picLocks noChangeAspect="1"/>
          </p:cNvPicPr>
          <p:nvPr/>
        </p:nvPicPr>
        <p:blipFill>
          <a:blip r:embed="rId5" cstate="print"/>
          <a:stretch>
            <a:fillRect/>
          </a:stretch>
        </p:blipFill>
        <p:spPr>
          <a:xfrm>
            <a:off x="3453125" y="3882847"/>
            <a:ext cx="6251150" cy="2011572"/>
          </a:xfrm>
          <a:prstGeom prst="rect">
            <a:avLst/>
          </a:prstGeom>
        </p:spPr>
      </p:pic>
    </p:spTree>
    <p:custDataLst>
      <p:tags r:id="rId1"/>
    </p:custDataLst>
    <p:extLst>
      <p:ext uri="{BB962C8B-B14F-4D97-AF65-F5344CB8AC3E}">
        <p14:creationId xmlns:p14="http://schemas.microsoft.com/office/powerpoint/2010/main" val="1329558818"/>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defPPr>
              <a:defRPr lang="zh-CN"/>
            </a:defPPr>
            <a:lvl1pPr>
              <a:lnSpc>
                <a:spcPct val="90000"/>
              </a:lnSpc>
              <a:spcBef>
                <a:spcPct val="0"/>
              </a:spcBef>
              <a:buNone/>
              <a:defRPr sz="3600" b="1" i="0" baseline="0">
                <a:effectLst/>
                <a:latin typeface="+mj-lt"/>
                <a:ea typeface="+mj-ea"/>
                <a:cs typeface="+mj-cs"/>
              </a:defRPr>
            </a:lvl1pPr>
          </a:lstStyle>
          <a:p>
            <a:r>
              <a:rPr lang="en-US" altLang="zh-CN" dirty="0"/>
              <a:t>Python</a:t>
            </a:r>
            <a:r>
              <a:rPr lang="zh-CN" altLang="en-US" dirty="0"/>
              <a:t>循环结构</a:t>
            </a:r>
            <a:endParaRPr lang="en-US" altLang="zh-CN" dirty="0"/>
          </a:p>
        </p:txBody>
      </p:sp>
      <p:sp>
        <p:nvSpPr>
          <p:cNvPr id="9" name="文本框 8"/>
          <p:cNvSpPr txBox="1"/>
          <p:nvPr/>
        </p:nvSpPr>
        <p:spPr>
          <a:xfrm>
            <a:off x="5079100" y="1238041"/>
            <a:ext cx="2242922"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无限循环</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5" name="矩形 4"/>
          <p:cNvSpPr/>
          <p:nvPr/>
        </p:nvSpPr>
        <p:spPr>
          <a:xfrm>
            <a:off x="1645307" y="2257476"/>
            <a:ext cx="6867586" cy="1384995"/>
          </a:xfrm>
          <a:prstGeom prst="rect">
            <a:avLst/>
          </a:prstGeom>
        </p:spPr>
        <p:txBody>
          <a:bodyPr wrap="none">
            <a:spAutoFit/>
          </a:bodyPr>
          <a:lstStyle/>
          <a:p>
            <a:r>
              <a:rPr lang="zh-CN" altLang="en-US" sz="2800" dirty="0">
                <a:solidFill>
                  <a:schemeClr val="tx1">
                    <a:lumMod val="50000"/>
                  </a:schemeClr>
                </a:solidFill>
              </a:rPr>
              <a:t>由条件控制的循环运行方式</a:t>
            </a:r>
            <a:endParaRPr lang="en-US" altLang="zh-CN" sz="2800" dirty="0">
              <a:solidFill>
                <a:schemeClr val="tx1">
                  <a:lumMod val="50000"/>
                </a:schemeClr>
              </a:solidFill>
            </a:endParaRPr>
          </a:p>
          <a:p>
            <a:endParaRPr lang="en-US" altLang="zh-CN" sz="2800" dirty="0">
              <a:solidFill>
                <a:schemeClr val="tx1">
                  <a:lumMod val="50000"/>
                </a:schemeClr>
              </a:solidFill>
            </a:endParaRPr>
          </a:p>
          <a:p>
            <a:r>
              <a:rPr lang="en-US" altLang="zh-CN" sz="2800" dirty="0">
                <a:solidFill>
                  <a:schemeClr val="tx1">
                    <a:lumMod val="50000"/>
                  </a:schemeClr>
                </a:solidFill>
              </a:rPr>
              <a:t>- </a:t>
            </a:r>
            <a:r>
              <a:rPr lang="zh-CN" altLang="en-US" sz="2800" dirty="0">
                <a:solidFill>
                  <a:schemeClr val="tx1">
                    <a:lumMod val="50000"/>
                  </a:schemeClr>
                </a:solidFill>
              </a:rPr>
              <a:t>反复执行语句块，直到条件不满足时结束</a:t>
            </a:r>
          </a:p>
        </p:txBody>
      </p:sp>
      <p:pic>
        <p:nvPicPr>
          <p:cNvPr id="2" name="图片 1"/>
          <p:cNvPicPr>
            <a:picLocks noChangeAspect="1"/>
          </p:cNvPicPr>
          <p:nvPr/>
        </p:nvPicPr>
        <p:blipFill>
          <a:blip r:embed="rId5" cstate="print"/>
          <a:stretch>
            <a:fillRect/>
          </a:stretch>
        </p:blipFill>
        <p:spPr>
          <a:xfrm>
            <a:off x="3376971" y="4188581"/>
            <a:ext cx="5428571" cy="1561905"/>
          </a:xfrm>
          <a:prstGeom prst="rect">
            <a:avLst/>
          </a:prstGeom>
        </p:spPr>
      </p:pic>
    </p:spTree>
    <p:custDataLst>
      <p:tags r:id="rId1"/>
    </p:custDataLst>
    <p:extLst>
      <p:ext uri="{BB962C8B-B14F-4D97-AF65-F5344CB8AC3E}">
        <p14:creationId xmlns:p14="http://schemas.microsoft.com/office/powerpoint/2010/main" val="2737492008"/>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defPPr>
              <a:defRPr lang="zh-CN"/>
            </a:defPPr>
            <a:lvl1pPr>
              <a:lnSpc>
                <a:spcPct val="90000"/>
              </a:lnSpc>
              <a:spcBef>
                <a:spcPct val="0"/>
              </a:spcBef>
              <a:buNone/>
              <a:defRPr sz="3600" b="1" i="0" baseline="0">
                <a:effectLst/>
                <a:latin typeface="+mj-lt"/>
                <a:ea typeface="+mj-ea"/>
                <a:cs typeface="+mj-cs"/>
              </a:defRPr>
            </a:lvl1pPr>
          </a:lstStyle>
          <a:p>
            <a:r>
              <a:rPr lang="en-US" altLang="zh-CN" dirty="0"/>
              <a:t>Python</a:t>
            </a:r>
            <a:r>
              <a:rPr lang="zh-CN" altLang="en-US" dirty="0"/>
              <a:t>循环结构</a:t>
            </a:r>
            <a:endParaRPr lang="en-US" altLang="zh-CN" dirty="0"/>
          </a:p>
        </p:txBody>
      </p:sp>
      <p:sp>
        <p:nvSpPr>
          <p:cNvPr id="9" name="文本框 8"/>
          <p:cNvSpPr txBox="1"/>
          <p:nvPr/>
        </p:nvSpPr>
        <p:spPr>
          <a:xfrm>
            <a:off x="4197949" y="1205362"/>
            <a:ext cx="3786614"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无限循环的应用</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pic>
        <p:nvPicPr>
          <p:cNvPr id="4" name="图片 3"/>
          <p:cNvPicPr>
            <a:picLocks noChangeAspect="1"/>
          </p:cNvPicPr>
          <p:nvPr/>
        </p:nvPicPr>
        <p:blipFill>
          <a:blip r:embed="rId5" cstate="print"/>
          <a:stretch>
            <a:fillRect/>
          </a:stretch>
        </p:blipFill>
        <p:spPr>
          <a:xfrm>
            <a:off x="1666135" y="2259370"/>
            <a:ext cx="8572941" cy="3457400"/>
          </a:xfrm>
          <a:prstGeom prst="rect">
            <a:avLst/>
          </a:prstGeom>
        </p:spPr>
      </p:pic>
    </p:spTree>
    <p:custDataLst>
      <p:tags r:id="rId1"/>
    </p:custDataLst>
    <p:extLst>
      <p:ext uri="{BB962C8B-B14F-4D97-AF65-F5344CB8AC3E}">
        <p14:creationId xmlns:p14="http://schemas.microsoft.com/office/powerpoint/2010/main" val="2708146647"/>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defPPr>
              <a:defRPr lang="zh-CN"/>
            </a:defPPr>
            <a:lvl1pPr>
              <a:lnSpc>
                <a:spcPct val="90000"/>
              </a:lnSpc>
              <a:spcBef>
                <a:spcPct val="0"/>
              </a:spcBef>
              <a:buNone/>
              <a:defRPr sz="3600" b="1" i="0" baseline="0">
                <a:effectLst/>
                <a:latin typeface="+mj-lt"/>
                <a:ea typeface="+mj-ea"/>
                <a:cs typeface="+mj-cs"/>
              </a:defRPr>
            </a:lvl1pPr>
          </a:lstStyle>
          <a:p>
            <a:r>
              <a:rPr lang="en-US" altLang="zh-CN" dirty="0"/>
              <a:t>Python</a:t>
            </a:r>
            <a:r>
              <a:rPr lang="zh-CN" altLang="en-US" dirty="0"/>
              <a:t>循环结构</a:t>
            </a:r>
            <a:endParaRPr lang="en-US" altLang="zh-CN" dirty="0"/>
          </a:p>
        </p:txBody>
      </p:sp>
      <p:sp>
        <p:nvSpPr>
          <p:cNvPr id="9" name="文本框 8"/>
          <p:cNvSpPr txBox="1"/>
          <p:nvPr/>
        </p:nvSpPr>
        <p:spPr>
          <a:xfrm>
            <a:off x="4197949" y="1205362"/>
            <a:ext cx="3786614"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循环控制保留字</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2" name="矩形 1"/>
          <p:cNvSpPr/>
          <p:nvPr/>
        </p:nvSpPr>
        <p:spPr>
          <a:xfrm>
            <a:off x="4428060" y="2090269"/>
            <a:ext cx="3004349" cy="523220"/>
          </a:xfrm>
          <a:prstGeom prst="rect">
            <a:avLst/>
          </a:prstGeom>
        </p:spPr>
        <p:txBody>
          <a:bodyPr wrap="none">
            <a:spAutoFit/>
          </a:bodyPr>
          <a:lstStyle/>
          <a:p>
            <a:r>
              <a:rPr lang="zh-CN" altLang="en-US" sz="2800" dirty="0">
                <a:solidFill>
                  <a:schemeClr val="tx1">
                    <a:lumMod val="50000"/>
                  </a:schemeClr>
                </a:solidFill>
              </a:rPr>
              <a:t>break 和 continue</a:t>
            </a:r>
          </a:p>
        </p:txBody>
      </p:sp>
      <p:sp>
        <p:nvSpPr>
          <p:cNvPr id="5" name="矩形 4"/>
          <p:cNvSpPr/>
          <p:nvPr/>
        </p:nvSpPr>
        <p:spPr>
          <a:xfrm>
            <a:off x="1436425" y="2826832"/>
            <a:ext cx="10040810" cy="954107"/>
          </a:xfrm>
          <a:prstGeom prst="rect">
            <a:avLst/>
          </a:prstGeom>
        </p:spPr>
        <p:txBody>
          <a:bodyPr wrap="square">
            <a:spAutoFit/>
          </a:bodyPr>
          <a:lstStyle/>
          <a:p>
            <a:r>
              <a:rPr lang="zh-CN" altLang="en-US" sz="2800" dirty="0">
                <a:solidFill>
                  <a:schemeClr val="tx1">
                    <a:lumMod val="50000"/>
                  </a:schemeClr>
                </a:solidFill>
              </a:rPr>
              <a:t>break用来跳出最内层for或while循环，脱离该循环后程序从循环后代码继续续执行</a:t>
            </a:r>
          </a:p>
        </p:txBody>
      </p:sp>
      <p:sp>
        <p:nvSpPr>
          <p:cNvPr id="6" name="矩形 5"/>
          <p:cNvSpPr/>
          <p:nvPr/>
        </p:nvSpPr>
        <p:spPr>
          <a:xfrm>
            <a:off x="1436425" y="4684059"/>
            <a:ext cx="9774889" cy="954107"/>
          </a:xfrm>
          <a:prstGeom prst="rect">
            <a:avLst/>
          </a:prstGeom>
        </p:spPr>
        <p:txBody>
          <a:bodyPr wrap="square">
            <a:spAutoFit/>
          </a:bodyPr>
          <a:lstStyle/>
          <a:p>
            <a:r>
              <a:rPr lang="zh-CN" altLang="en-US" sz="2800" dirty="0">
                <a:solidFill>
                  <a:schemeClr val="tx1">
                    <a:lumMod val="50000"/>
                  </a:schemeClr>
                </a:solidFill>
              </a:rPr>
              <a:t>continue用来结束当前当次循环，即跳出循环体中下面尚未执行的语句，但不跳出当前循环。</a:t>
            </a:r>
          </a:p>
        </p:txBody>
      </p:sp>
      <p:sp>
        <p:nvSpPr>
          <p:cNvPr id="7" name="矩形 6"/>
          <p:cNvSpPr/>
          <p:nvPr/>
        </p:nvSpPr>
        <p:spPr>
          <a:xfrm>
            <a:off x="1912949" y="3809857"/>
            <a:ext cx="8486619" cy="523220"/>
          </a:xfrm>
          <a:prstGeom prst="rect">
            <a:avLst/>
          </a:prstGeom>
        </p:spPr>
        <p:txBody>
          <a:bodyPr wrap="none">
            <a:spAutoFit/>
          </a:bodyPr>
          <a:lstStyle/>
          <a:p>
            <a:r>
              <a:rPr lang="zh-CN" altLang="en-US" sz="2800" dirty="0">
                <a:solidFill>
                  <a:schemeClr val="tx1">
                    <a:lumMod val="50000"/>
                  </a:schemeClr>
                </a:solidFill>
              </a:rPr>
              <a:t>- break跳出并结束当前整个循环，执行循环后的语句</a:t>
            </a:r>
          </a:p>
        </p:txBody>
      </p:sp>
      <p:sp>
        <p:nvSpPr>
          <p:cNvPr id="8" name="矩形 7"/>
          <p:cNvSpPr/>
          <p:nvPr/>
        </p:nvSpPr>
        <p:spPr>
          <a:xfrm>
            <a:off x="1912949" y="5661741"/>
            <a:ext cx="7869462" cy="523220"/>
          </a:xfrm>
          <a:prstGeom prst="rect">
            <a:avLst/>
          </a:prstGeom>
        </p:spPr>
        <p:txBody>
          <a:bodyPr wrap="none">
            <a:spAutoFit/>
          </a:bodyPr>
          <a:lstStyle/>
          <a:p>
            <a:r>
              <a:rPr lang="zh-CN" altLang="en-US" sz="2800" dirty="0">
                <a:solidFill>
                  <a:schemeClr val="tx1">
                    <a:lumMod val="50000"/>
                  </a:schemeClr>
                </a:solidFill>
              </a:rPr>
              <a:t>- continue结束当次循环，继续执行后续次数循环</a:t>
            </a:r>
          </a:p>
        </p:txBody>
      </p:sp>
    </p:spTree>
    <p:custDataLst>
      <p:tags r:id="rId1"/>
    </p:custDataLst>
    <p:extLst>
      <p:ext uri="{BB962C8B-B14F-4D97-AF65-F5344CB8AC3E}">
        <p14:creationId xmlns:p14="http://schemas.microsoft.com/office/powerpoint/2010/main" val="4102673654"/>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defPPr>
              <a:defRPr lang="zh-CN"/>
            </a:defPPr>
            <a:lvl1pPr>
              <a:lnSpc>
                <a:spcPct val="90000"/>
              </a:lnSpc>
              <a:spcBef>
                <a:spcPct val="0"/>
              </a:spcBef>
              <a:buNone/>
              <a:defRPr sz="3600" b="1" i="0" baseline="0">
                <a:effectLst/>
                <a:latin typeface="+mj-lt"/>
                <a:ea typeface="+mj-ea"/>
                <a:cs typeface="+mj-cs"/>
              </a:defRPr>
            </a:lvl1pPr>
          </a:lstStyle>
          <a:p>
            <a:r>
              <a:rPr lang="en-US" altLang="zh-CN" dirty="0"/>
              <a:t>Python</a:t>
            </a:r>
            <a:r>
              <a:rPr lang="zh-CN" altLang="en-US" dirty="0"/>
              <a:t>循环结构</a:t>
            </a:r>
            <a:endParaRPr lang="en-US" altLang="zh-CN" dirty="0"/>
          </a:p>
        </p:txBody>
      </p:sp>
      <p:sp>
        <p:nvSpPr>
          <p:cNvPr id="2" name="矩形 1"/>
          <p:cNvSpPr/>
          <p:nvPr/>
        </p:nvSpPr>
        <p:spPr>
          <a:xfrm>
            <a:off x="4593825" y="1434034"/>
            <a:ext cx="3004349" cy="523220"/>
          </a:xfrm>
          <a:prstGeom prst="rect">
            <a:avLst/>
          </a:prstGeom>
        </p:spPr>
        <p:txBody>
          <a:bodyPr wrap="none">
            <a:spAutoFit/>
          </a:bodyPr>
          <a:lstStyle/>
          <a:p>
            <a:r>
              <a:rPr lang="zh-CN" altLang="en-US" sz="2800" dirty="0">
                <a:solidFill>
                  <a:schemeClr val="tx1">
                    <a:lumMod val="50000"/>
                  </a:schemeClr>
                </a:solidFill>
              </a:rPr>
              <a:t>break 和 continue</a:t>
            </a:r>
          </a:p>
        </p:txBody>
      </p:sp>
      <p:pic>
        <p:nvPicPr>
          <p:cNvPr id="4" name="图片 3"/>
          <p:cNvPicPr>
            <a:picLocks noChangeAspect="1"/>
          </p:cNvPicPr>
          <p:nvPr/>
        </p:nvPicPr>
        <p:blipFill>
          <a:blip r:embed="rId5" cstate="print"/>
          <a:stretch>
            <a:fillRect/>
          </a:stretch>
        </p:blipFill>
        <p:spPr>
          <a:xfrm>
            <a:off x="1146853" y="2637916"/>
            <a:ext cx="4639669" cy="2786049"/>
          </a:xfrm>
          <a:prstGeom prst="rect">
            <a:avLst/>
          </a:prstGeom>
        </p:spPr>
      </p:pic>
      <p:pic>
        <p:nvPicPr>
          <p:cNvPr id="10" name="图片 9"/>
          <p:cNvPicPr>
            <a:picLocks noChangeAspect="1"/>
          </p:cNvPicPr>
          <p:nvPr/>
        </p:nvPicPr>
        <p:blipFill>
          <a:blip r:embed="rId6" cstate="print"/>
          <a:stretch>
            <a:fillRect/>
          </a:stretch>
        </p:blipFill>
        <p:spPr>
          <a:xfrm>
            <a:off x="6129907" y="2637917"/>
            <a:ext cx="4796236" cy="2786049"/>
          </a:xfrm>
          <a:prstGeom prst="rect">
            <a:avLst/>
          </a:prstGeom>
        </p:spPr>
      </p:pic>
    </p:spTree>
    <p:custDataLst>
      <p:tags r:id="rId1"/>
    </p:custDataLst>
    <p:extLst>
      <p:ext uri="{BB962C8B-B14F-4D97-AF65-F5344CB8AC3E}">
        <p14:creationId xmlns:p14="http://schemas.microsoft.com/office/powerpoint/2010/main" val="1109376690"/>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defPPr>
              <a:defRPr lang="zh-CN"/>
            </a:defPPr>
            <a:lvl1pPr>
              <a:lnSpc>
                <a:spcPct val="90000"/>
              </a:lnSpc>
              <a:spcBef>
                <a:spcPct val="0"/>
              </a:spcBef>
              <a:buNone/>
              <a:defRPr sz="3600" b="1" i="0" baseline="0">
                <a:effectLst/>
                <a:latin typeface="+mj-lt"/>
                <a:ea typeface="+mj-ea"/>
                <a:cs typeface="+mj-cs"/>
              </a:defRPr>
            </a:lvl1pPr>
          </a:lstStyle>
          <a:p>
            <a:r>
              <a:rPr lang="en-US" altLang="zh-CN" dirty="0"/>
              <a:t>Python</a:t>
            </a:r>
            <a:r>
              <a:rPr lang="zh-CN" altLang="en-US" dirty="0"/>
              <a:t>循环结构</a:t>
            </a:r>
            <a:endParaRPr lang="en-US" altLang="zh-CN" dirty="0"/>
          </a:p>
        </p:txBody>
      </p:sp>
      <p:sp>
        <p:nvSpPr>
          <p:cNvPr id="2" name="矩形 1"/>
          <p:cNvSpPr/>
          <p:nvPr/>
        </p:nvSpPr>
        <p:spPr>
          <a:xfrm>
            <a:off x="4396745" y="1031819"/>
            <a:ext cx="3004349" cy="523220"/>
          </a:xfrm>
          <a:prstGeom prst="rect">
            <a:avLst/>
          </a:prstGeom>
        </p:spPr>
        <p:txBody>
          <a:bodyPr wrap="none">
            <a:spAutoFit/>
          </a:bodyPr>
          <a:lstStyle/>
          <a:p>
            <a:r>
              <a:rPr lang="zh-CN" altLang="en-US" sz="2800" dirty="0">
                <a:solidFill>
                  <a:schemeClr val="tx1">
                    <a:lumMod val="50000"/>
                  </a:schemeClr>
                </a:solidFill>
              </a:rPr>
              <a:t>break 和 continue</a:t>
            </a:r>
          </a:p>
        </p:txBody>
      </p:sp>
      <p:pic>
        <p:nvPicPr>
          <p:cNvPr id="5" name="图片 4"/>
          <p:cNvPicPr>
            <a:picLocks noChangeAspect="1"/>
          </p:cNvPicPr>
          <p:nvPr/>
        </p:nvPicPr>
        <p:blipFill>
          <a:blip r:embed="rId5" cstate="print"/>
          <a:stretch>
            <a:fillRect/>
          </a:stretch>
        </p:blipFill>
        <p:spPr>
          <a:xfrm>
            <a:off x="796527" y="1769179"/>
            <a:ext cx="4893149" cy="4399889"/>
          </a:xfrm>
          <a:prstGeom prst="rect">
            <a:avLst/>
          </a:prstGeom>
        </p:spPr>
      </p:pic>
      <p:pic>
        <p:nvPicPr>
          <p:cNvPr id="6" name="图片 5"/>
          <p:cNvPicPr>
            <a:picLocks noChangeAspect="1"/>
          </p:cNvPicPr>
          <p:nvPr/>
        </p:nvPicPr>
        <p:blipFill>
          <a:blip r:embed="rId6" cstate="print"/>
          <a:stretch>
            <a:fillRect/>
          </a:stretch>
        </p:blipFill>
        <p:spPr>
          <a:xfrm>
            <a:off x="6305236" y="1775442"/>
            <a:ext cx="4574614" cy="4399889"/>
          </a:xfrm>
          <a:prstGeom prst="rect">
            <a:avLst/>
          </a:prstGeom>
        </p:spPr>
      </p:pic>
    </p:spTree>
    <p:custDataLst>
      <p:tags r:id="rId1"/>
    </p:custDataLst>
    <p:extLst>
      <p:ext uri="{BB962C8B-B14F-4D97-AF65-F5344CB8AC3E}">
        <p14:creationId xmlns:p14="http://schemas.microsoft.com/office/powerpoint/2010/main" val="1010080234"/>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defPPr>
              <a:defRPr lang="zh-CN"/>
            </a:defPPr>
            <a:lvl1pPr>
              <a:lnSpc>
                <a:spcPct val="90000"/>
              </a:lnSpc>
              <a:spcBef>
                <a:spcPct val="0"/>
              </a:spcBef>
              <a:buNone/>
              <a:defRPr sz="3600" b="1" i="0" baseline="0">
                <a:effectLst/>
                <a:latin typeface="+mj-lt"/>
                <a:ea typeface="+mj-ea"/>
                <a:cs typeface="+mj-cs"/>
              </a:defRPr>
            </a:lvl1pPr>
          </a:lstStyle>
          <a:p>
            <a:r>
              <a:rPr lang="en-US" altLang="zh-CN" dirty="0"/>
              <a:t>Python</a:t>
            </a:r>
            <a:r>
              <a:rPr lang="zh-CN" altLang="en-US" dirty="0"/>
              <a:t>循环结构</a:t>
            </a:r>
            <a:endParaRPr lang="en-US" altLang="zh-CN" dirty="0"/>
          </a:p>
        </p:txBody>
      </p:sp>
      <p:sp>
        <p:nvSpPr>
          <p:cNvPr id="9" name="文本框 8"/>
          <p:cNvSpPr txBox="1"/>
          <p:nvPr/>
        </p:nvSpPr>
        <p:spPr>
          <a:xfrm>
            <a:off x="4197949" y="1205362"/>
            <a:ext cx="3786614"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循环的高级用法</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2" name="矩形 1"/>
          <p:cNvSpPr/>
          <p:nvPr/>
        </p:nvSpPr>
        <p:spPr>
          <a:xfrm>
            <a:off x="5130095" y="2145070"/>
            <a:ext cx="1922321" cy="523220"/>
          </a:xfrm>
          <a:prstGeom prst="rect">
            <a:avLst/>
          </a:prstGeom>
        </p:spPr>
        <p:txBody>
          <a:bodyPr wrap="none">
            <a:spAutoFit/>
          </a:bodyPr>
          <a:lstStyle/>
          <a:p>
            <a:r>
              <a:rPr lang="zh-CN" altLang="en-US" sz="2800" dirty="0">
                <a:solidFill>
                  <a:schemeClr val="tx1">
                    <a:lumMod val="50000"/>
                  </a:schemeClr>
                </a:solidFill>
              </a:rPr>
              <a:t>循环与</a:t>
            </a:r>
            <a:r>
              <a:rPr lang="en-US" altLang="zh-CN" sz="2800" dirty="0">
                <a:solidFill>
                  <a:schemeClr val="tx1">
                    <a:lumMod val="50000"/>
                  </a:schemeClr>
                </a:solidFill>
              </a:rPr>
              <a:t>else</a:t>
            </a:r>
            <a:endParaRPr lang="zh-CN" altLang="en-US" sz="2800" dirty="0">
              <a:solidFill>
                <a:schemeClr val="tx1">
                  <a:lumMod val="50000"/>
                </a:schemeClr>
              </a:solidFill>
            </a:endParaRPr>
          </a:p>
        </p:txBody>
      </p:sp>
      <p:pic>
        <p:nvPicPr>
          <p:cNvPr id="4" name="图片 3"/>
          <p:cNvPicPr>
            <a:picLocks noChangeAspect="1"/>
          </p:cNvPicPr>
          <p:nvPr/>
        </p:nvPicPr>
        <p:blipFill>
          <a:blip r:embed="rId5" cstate="print"/>
          <a:stretch>
            <a:fillRect/>
          </a:stretch>
        </p:blipFill>
        <p:spPr>
          <a:xfrm>
            <a:off x="1350898" y="2871642"/>
            <a:ext cx="9480713" cy="3303885"/>
          </a:xfrm>
          <a:prstGeom prst="rect">
            <a:avLst/>
          </a:prstGeom>
        </p:spPr>
      </p:pic>
    </p:spTree>
    <p:custDataLst>
      <p:tags r:id="rId1"/>
    </p:custDataLst>
    <p:extLst>
      <p:ext uri="{BB962C8B-B14F-4D97-AF65-F5344CB8AC3E}">
        <p14:creationId xmlns:p14="http://schemas.microsoft.com/office/powerpoint/2010/main" val="819662674"/>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defPPr>
              <a:defRPr lang="zh-CN"/>
            </a:defPPr>
            <a:lvl1pPr>
              <a:lnSpc>
                <a:spcPct val="90000"/>
              </a:lnSpc>
              <a:spcBef>
                <a:spcPct val="0"/>
              </a:spcBef>
              <a:buNone/>
              <a:defRPr sz="3600" b="1" i="0" baseline="0">
                <a:effectLst/>
                <a:latin typeface="+mj-lt"/>
                <a:ea typeface="+mj-ea"/>
                <a:cs typeface="+mj-cs"/>
              </a:defRPr>
            </a:lvl1pPr>
          </a:lstStyle>
          <a:p>
            <a:r>
              <a:rPr lang="en-US" altLang="zh-CN" dirty="0"/>
              <a:t>Python</a:t>
            </a:r>
            <a:r>
              <a:rPr lang="zh-CN" altLang="en-US" dirty="0"/>
              <a:t>循环结构</a:t>
            </a:r>
            <a:endParaRPr lang="en-US" altLang="zh-CN" dirty="0"/>
          </a:p>
        </p:txBody>
      </p:sp>
      <p:sp>
        <p:nvSpPr>
          <p:cNvPr id="5" name="矩形 4"/>
          <p:cNvSpPr/>
          <p:nvPr/>
        </p:nvSpPr>
        <p:spPr>
          <a:xfrm>
            <a:off x="1069201" y="1296644"/>
            <a:ext cx="10044112" cy="1515351"/>
          </a:xfrm>
          <a:prstGeom prst="rect">
            <a:avLst/>
          </a:prstGeom>
        </p:spPr>
        <p:txBody>
          <a:bodyPr wrap="square">
            <a:spAutoFit/>
          </a:bodyPr>
          <a:lstStyle/>
          <a:p>
            <a:pPr>
              <a:lnSpc>
                <a:spcPct val="114000"/>
              </a:lnSpc>
            </a:pPr>
            <a:r>
              <a:rPr lang="zh-CN" altLang="en-US" sz="2800" dirty="0">
                <a:solidFill>
                  <a:schemeClr val="tx1">
                    <a:lumMod val="50000"/>
                  </a:schemeClr>
                </a:solidFill>
              </a:rPr>
              <a:t>for循环和while循环中都存在一个else扩展用法。</a:t>
            </a:r>
          </a:p>
          <a:p>
            <a:pPr>
              <a:lnSpc>
                <a:spcPct val="114000"/>
              </a:lnSpc>
            </a:pPr>
            <a:r>
              <a:rPr lang="zh-CN" altLang="en-US" sz="2800" dirty="0">
                <a:solidFill>
                  <a:schemeClr val="tx1">
                    <a:lumMod val="50000"/>
                  </a:schemeClr>
                </a:solidFill>
              </a:rPr>
              <a:t>• else中的语句块只在一种条件下执行，即for循环正常遍历了</a:t>
            </a:r>
          </a:p>
          <a:p>
            <a:pPr>
              <a:lnSpc>
                <a:spcPct val="114000"/>
              </a:lnSpc>
            </a:pPr>
            <a:r>
              <a:rPr lang="zh-CN" altLang="en-US" sz="2800" dirty="0">
                <a:solidFill>
                  <a:schemeClr val="tx1">
                    <a:lumMod val="50000"/>
                  </a:schemeClr>
                </a:solidFill>
              </a:rPr>
              <a:t>所有内容没有因为break或return而退出。</a:t>
            </a:r>
          </a:p>
        </p:txBody>
      </p:sp>
      <p:pic>
        <p:nvPicPr>
          <p:cNvPr id="6" name="图片 5"/>
          <p:cNvPicPr>
            <a:picLocks noChangeAspect="1"/>
          </p:cNvPicPr>
          <p:nvPr/>
        </p:nvPicPr>
        <p:blipFill>
          <a:blip r:embed="rId5" cstate="print"/>
          <a:stretch>
            <a:fillRect/>
          </a:stretch>
        </p:blipFill>
        <p:spPr>
          <a:xfrm>
            <a:off x="2086462" y="2947445"/>
            <a:ext cx="8009589" cy="3020815"/>
          </a:xfrm>
          <a:prstGeom prst="rect">
            <a:avLst/>
          </a:prstGeom>
        </p:spPr>
      </p:pic>
    </p:spTree>
    <p:custDataLst>
      <p:tags r:id="rId1"/>
    </p:custDataLst>
    <p:extLst>
      <p:ext uri="{BB962C8B-B14F-4D97-AF65-F5344CB8AC3E}">
        <p14:creationId xmlns:p14="http://schemas.microsoft.com/office/powerpoint/2010/main" val="3577431946"/>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lnSpcReduction="10000"/>
          </a:bodyPr>
          <a:lstStyle>
            <a:defPPr>
              <a:defRPr lang="zh-CN"/>
            </a:defPPr>
            <a:lvl1pPr>
              <a:lnSpc>
                <a:spcPct val="90000"/>
              </a:lnSpc>
              <a:spcBef>
                <a:spcPct val="0"/>
              </a:spcBef>
              <a:buNone/>
              <a:defRPr sz="3600" b="1" i="0" baseline="0">
                <a:effectLst/>
                <a:latin typeface="+mj-lt"/>
                <a:ea typeface="+mj-ea"/>
                <a:cs typeface="+mj-cs"/>
              </a:defRPr>
            </a:lvl1pPr>
          </a:lstStyle>
          <a:p>
            <a:pPr>
              <a:lnSpc>
                <a:spcPct val="130000"/>
              </a:lnSpc>
            </a:pPr>
            <a:r>
              <a:rPr lang="en-US" altLang="zh-CN" dirty="0">
                <a:solidFill>
                  <a:schemeClr val="tx1">
                    <a:lumMod val="50000"/>
                  </a:schemeClr>
                </a:solidFill>
                <a:latin typeface="宋体" panose="02010600030101010101" pitchFamily="2" charset="-122"/>
                <a:ea typeface="宋体" panose="02010600030101010101" pitchFamily="2" charset="-122"/>
              </a:rPr>
              <a:t>random</a:t>
            </a:r>
            <a:r>
              <a:rPr lang="zh-CN" altLang="en-US" dirty="0">
                <a:solidFill>
                  <a:schemeClr val="tx1">
                    <a:lumMod val="50000"/>
                  </a:schemeClr>
                </a:solidFill>
                <a:latin typeface="宋体" panose="02010600030101010101" pitchFamily="2" charset="-122"/>
                <a:ea typeface="宋体" panose="02010600030101010101" pitchFamily="2" charset="-122"/>
              </a:rPr>
              <a:t>库的使用</a:t>
            </a:r>
            <a:endParaRPr lang="en-US" altLang="zh-CN" dirty="0">
              <a:solidFill>
                <a:schemeClr val="tx1">
                  <a:lumMod val="50000"/>
                </a:schemeClr>
              </a:solidFill>
              <a:latin typeface="宋体" panose="02010600030101010101" pitchFamily="2" charset="-122"/>
              <a:ea typeface="宋体" panose="02010600030101010101" pitchFamily="2" charset="-122"/>
            </a:endParaRPr>
          </a:p>
        </p:txBody>
      </p:sp>
      <p:sp>
        <p:nvSpPr>
          <p:cNvPr id="9" name="文本框 8"/>
          <p:cNvSpPr txBox="1"/>
          <p:nvPr/>
        </p:nvSpPr>
        <p:spPr>
          <a:xfrm>
            <a:off x="3730973" y="1262512"/>
            <a:ext cx="3791423" cy="779059"/>
          </a:xfrm>
          <a:prstGeom prst="rect">
            <a:avLst/>
          </a:prstGeom>
          <a:noFill/>
        </p:spPr>
        <p:txBody>
          <a:bodyPr wrap="none" rtlCol="0">
            <a:spAutoFit/>
          </a:bodyPr>
          <a:lstStyle/>
          <a:p>
            <a:pPr>
              <a:lnSpc>
                <a:spcPct val="130000"/>
              </a:lnSpc>
            </a:pPr>
            <a:r>
              <a:rPr lang="en-US" altLang="zh-CN" sz="4000" b="1" dirty="0">
                <a:solidFill>
                  <a:schemeClr val="tx1">
                    <a:lumMod val="50000"/>
                  </a:schemeClr>
                </a:solidFill>
                <a:latin typeface="宋体" panose="02010600030101010101" pitchFamily="2" charset="-122"/>
                <a:ea typeface="宋体" panose="02010600030101010101" pitchFamily="2" charset="-122"/>
              </a:rPr>
              <a:t>random</a:t>
            </a:r>
            <a:r>
              <a:rPr lang="zh-CN" altLang="en-US" sz="4000" b="1" dirty="0">
                <a:solidFill>
                  <a:schemeClr val="tx1">
                    <a:lumMod val="50000"/>
                  </a:schemeClr>
                </a:solidFill>
                <a:latin typeface="宋体" panose="02010600030101010101" pitchFamily="2" charset="-122"/>
                <a:ea typeface="宋体" panose="02010600030101010101" pitchFamily="2" charset="-122"/>
              </a:rPr>
              <a:t>库的使用</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5" name="矩形 4"/>
          <p:cNvSpPr/>
          <p:nvPr/>
        </p:nvSpPr>
        <p:spPr>
          <a:xfrm>
            <a:off x="1218990" y="2245009"/>
            <a:ext cx="10044112" cy="523220"/>
          </a:xfrm>
          <a:prstGeom prst="rect">
            <a:avLst/>
          </a:prstGeom>
        </p:spPr>
        <p:txBody>
          <a:bodyPr wrap="square">
            <a:spAutoFit/>
          </a:bodyPr>
          <a:lstStyle/>
          <a:p>
            <a:r>
              <a:rPr lang="en-US" altLang="zh-CN" sz="2800" dirty="0">
                <a:solidFill>
                  <a:schemeClr val="tx1">
                    <a:lumMod val="50000"/>
                  </a:schemeClr>
                </a:solidFill>
              </a:rPr>
              <a:t>random</a:t>
            </a:r>
            <a:r>
              <a:rPr lang="zh-CN" altLang="en-US" sz="2800" dirty="0">
                <a:solidFill>
                  <a:schemeClr val="tx1">
                    <a:lumMod val="50000"/>
                  </a:schemeClr>
                </a:solidFill>
              </a:rPr>
              <a:t>库是生成及使用随机数的</a:t>
            </a:r>
            <a:r>
              <a:rPr lang="en-US" altLang="zh-CN" sz="2800" dirty="0">
                <a:solidFill>
                  <a:schemeClr val="tx1">
                    <a:lumMod val="50000"/>
                  </a:schemeClr>
                </a:solidFill>
              </a:rPr>
              <a:t>Python</a:t>
            </a:r>
            <a:r>
              <a:rPr lang="zh-CN" altLang="en-US" sz="2800" dirty="0">
                <a:solidFill>
                  <a:schemeClr val="tx1">
                    <a:lumMod val="50000"/>
                  </a:schemeClr>
                </a:solidFill>
              </a:rPr>
              <a:t>标准库</a:t>
            </a:r>
          </a:p>
        </p:txBody>
      </p:sp>
      <p:sp>
        <p:nvSpPr>
          <p:cNvPr id="2" name="矩形 1"/>
          <p:cNvSpPr/>
          <p:nvPr/>
        </p:nvSpPr>
        <p:spPr>
          <a:xfrm>
            <a:off x="1218989" y="2971667"/>
            <a:ext cx="9910385" cy="1384995"/>
          </a:xfrm>
          <a:prstGeom prst="rect">
            <a:avLst/>
          </a:prstGeom>
        </p:spPr>
        <p:txBody>
          <a:bodyPr wrap="square">
            <a:spAutoFit/>
          </a:bodyPr>
          <a:lstStyle/>
          <a:p>
            <a:r>
              <a:rPr lang="zh-CN" altLang="en-US" sz="2800" dirty="0">
                <a:solidFill>
                  <a:schemeClr val="tx1">
                    <a:lumMod val="50000"/>
                  </a:schemeClr>
                </a:solidFill>
              </a:rPr>
              <a:t>random库采用梅森旋转算法（Mersenne twister）生成伪随机数序列，可用于除随机性要求更高的加解密算法外的大多数工程应用。</a:t>
            </a:r>
          </a:p>
        </p:txBody>
      </p:sp>
      <p:sp>
        <p:nvSpPr>
          <p:cNvPr id="4" name="矩形 3"/>
          <p:cNvSpPr/>
          <p:nvPr/>
        </p:nvSpPr>
        <p:spPr>
          <a:xfrm>
            <a:off x="1237753" y="4815959"/>
            <a:ext cx="5003293" cy="523220"/>
          </a:xfrm>
          <a:prstGeom prst="rect">
            <a:avLst/>
          </a:prstGeom>
        </p:spPr>
        <p:txBody>
          <a:bodyPr wrap="none">
            <a:spAutoFit/>
          </a:bodyPr>
          <a:lstStyle/>
          <a:p>
            <a:r>
              <a:rPr lang="zh-CN" altLang="en-US" sz="2800" dirty="0">
                <a:solidFill>
                  <a:schemeClr val="tx1">
                    <a:lumMod val="50000"/>
                  </a:schemeClr>
                </a:solidFill>
              </a:rPr>
              <a:t>使用random库: import random</a:t>
            </a:r>
          </a:p>
        </p:txBody>
      </p:sp>
    </p:spTree>
    <p:custDataLst>
      <p:tags r:id="rId1"/>
    </p:custDataLst>
    <p:extLst>
      <p:ext uri="{BB962C8B-B14F-4D97-AF65-F5344CB8AC3E}">
        <p14:creationId xmlns:p14="http://schemas.microsoft.com/office/powerpoint/2010/main" val="785047976"/>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lnSpcReduction="10000"/>
          </a:bodyPr>
          <a:lstStyle>
            <a:defPPr>
              <a:defRPr lang="zh-CN"/>
            </a:defPPr>
            <a:lvl1pPr>
              <a:lnSpc>
                <a:spcPct val="90000"/>
              </a:lnSpc>
              <a:spcBef>
                <a:spcPct val="0"/>
              </a:spcBef>
              <a:buNone/>
              <a:defRPr sz="3600" b="1" i="0" baseline="0">
                <a:effectLst/>
                <a:latin typeface="+mj-lt"/>
                <a:ea typeface="+mj-ea"/>
                <a:cs typeface="+mj-cs"/>
              </a:defRPr>
            </a:lvl1pPr>
          </a:lstStyle>
          <a:p>
            <a:pPr>
              <a:lnSpc>
                <a:spcPct val="130000"/>
              </a:lnSpc>
            </a:pPr>
            <a:r>
              <a:rPr lang="en-US" altLang="zh-CN" dirty="0">
                <a:solidFill>
                  <a:schemeClr val="tx1">
                    <a:lumMod val="50000"/>
                  </a:schemeClr>
                </a:solidFill>
                <a:latin typeface="宋体" panose="02010600030101010101" pitchFamily="2" charset="-122"/>
                <a:ea typeface="宋体" panose="02010600030101010101" pitchFamily="2" charset="-122"/>
              </a:rPr>
              <a:t>random</a:t>
            </a:r>
            <a:r>
              <a:rPr lang="zh-CN" altLang="en-US" dirty="0">
                <a:solidFill>
                  <a:schemeClr val="tx1">
                    <a:lumMod val="50000"/>
                  </a:schemeClr>
                </a:solidFill>
                <a:latin typeface="宋体" panose="02010600030101010101" pitchFamily="2" charset="-122"/>
                <a:ea typeface="宋体" panose="02010600030101010101" pitchFamily="2" charset="-122"/>
              </a:rPr>
              <a:t>库的使用</a:t>
            </a:r>
            <a:endParaRPr lang="en-US" altLang="zh-CN" dirty="0">
              <a:solidFill>
                <a:schemeClr val="tx1">
                  <a:lumMod val="50000"/>
                </a:schemeClr>
              </a:solidFill>
              <a:latin typeface="宋体" panose="02010600030101010101" pitchFamily="2" charset="-122"/>
              <a:ea typeface="宋体" panose="02010600030101010101" pitchFamily="2" charset="-122"/>
            </a:endParaRPr>
          </a:p>
        </p:txBody>
      </p:sp>
      <p:pic>
        <p:nvPicPr>
          <p:cNvPr id="6" name="图片 5"/>
          <p:cNvPicPr>
            <a:picLocks noChangeAspect="1"/>
          </p:cNvPicPr>
          <p:nvPr/>
        </p:nvPicPr>
        <p:blipFill>
          <a:blip r:embed="rId5" cstate="print"/>
          <a:stretch>
            <a:fillRect/>
          </a:stretch>
        </p:blipFill>
        <p:spPr>
          <a:xfrm>
            <a:off x="1557828" y="1531936"/>
            <a:ext cx="9066857" cy="4208507"/>
          </a:xfrm>
          <a:prstGeom prst="rect">
            <a:avLst/>
          </a:prstGeom>
        </p:spPr>
      </p:pic>
    </p:spTree>
    <p:custDataLst>
      <p:tags r:id="rId1"/>
    </p:custDataLst>
    <p:extLst>
      <p:ext uri="{BB962C8B-B14F-4D97-AF65-F5344CB8AC3E}">
        <p14:creationId xmlns:p14="http://schemas.microsoft.com/office/powerpoint/2010/main" val="3952639925"/>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lnSpcReduction="10000"/>
          </a:bodyPr>
          <a:lstStyle>
            <a:defPPr>
              <a:defRPr lang="zh-CN"/>
            </a:defPPr>
            <a:lvl1pPr>
              <a:lnSpc>
                <a:spcPct val="90000"/>
              </a:lnSpc>
              <a:spcBef>
                <a:spcPct val="0"/>
              </a:spcBef>
              <a:buNone/>
              <a:defRPr sz="3600" b="1" i="0" baseline="0">
                <a:effectLst/>
                <a:latin typeface="+mj-lt"/>
                <a:ea typeface="+mj-ea"/>
                <a:cs typeface="+mj-cs"/>
              </a:defRPr>
            </a:lvl1pPr>
          </a:lstStyle>
          <a:p>
            <a:pPr>
              <a:lnSpc>
                <a:spcPct val="130000"/>
              </a:lnSpc>
            </a:pPr>
            <a:r>
              <a:rPr lang="en-US" altLang="zh-CN" dirty="0">
                <a:solidFill>
                  <a:schemeClr val="tx1">
                    <a:lumMod val="50000"/>
                  </a:schemeClr>
                </a:solidFill>
                <a:latin typeface="宋体" panose="02010600030101010101" pitchFamily="2" charset="-122"/>
                <a:ea typeface="宋体" panose="02010600030101010101" pitchFamily="2" charset="-122"/>
              </a:rPr>
              <a:t>random</a:t>
            </a:r>
            <a:r>
              <a:rPr lang="zh-CN" altLang="en-US" dirty="0">
                <a:solidFill>
                  <a:schemeClr val="tx1">
                    <a:lumMod val="50000"/>
                  </a:schemeClr>
                </a:solidFill>
                <a:latin typeface="宋体" panose="02010600030101010101" pitchFamily="2" charset="-122"/>
                <a:ea typeface="宋体" panose="02010600030101010101" pitchFamily="2" charset="-122"/>
              </a:rPr>
              <a:t>库的使用</a:t>
            </a:r>
            <a:endParaRPr lang="en-US" altLang="zh-CN" dirty="0">
              <a:solidFill>
                <a:schemeClr val="tx1">
                  <a:lumMod val="50000"/>
                </a:schemeClr>
              </a:solidFill>
              <a:latin typeface="宋体" panose="02010600030101010101" pitchFamily="2" charset="-122"/>
              <a:ea typeface="宋体" panose="02010600030101010101" pitchFamily="2" charset="-122"/>
            </a:endParaRPr>
          </a:p>
        </p:txBody>
      </p:sp>
      <p:sp>
        <p:nvSpPr>
          <p:cNvPr id="2" name="矩形 1"/>
          <p:cNvSpPr/>
          <p:nvPr/>
        </p:nvSpPr>
        <p:spPr>
          <a:xfrm>
            <a:off x="1324809" y="1685961"/>
            <a:ext cx="9785777" cy="3970318"/>
          </a:xfrm>
          <a:prstGeom prst="rect">
            <a:avLst/>
          </a:prstGeom>
        </p:spPr>
        <p:txBody>
          <a:bodyPr wrap="square">
            <a:spAutoFit/>
          </a:bodyPr>
          <a:lstStyle/>
          <a:p>
            <a:pPr marL="457200" indent="-457200">
              <a:buFontTx/>
              <a:buChar char="-"/>
            </a:pPr>
            <a:r>
              <a:rPr lang="zh-CN" altLang="en-US" sz="2800" dirty="0">
                <a:solidFill>
                  <a:schemeClr val="tx1">
                    <a:lumMod val="50000"/>
                  </a:schemeClr>
                </a:solidFill>
              </a:rPr>
              <a:t>基本随机数函数： seed() </a:t>
            </a:r>
            <a:endParaRPr lang="en-US" altLang="zh-CN" sz="2800" dirty="0">
              <a:solidFill>
                <a:schemeClr val="tx1">
                  <a:lumMod val="50000"/>
                </a:schemeClr>
              </a:solidFill>
            </a:endParaRPr>
          </a:p>
          <a:p>
            <a:r>
              <a:rPr lang="en-US" altLang="zh-CN" sz="2800" dirty="0">
                <a:solidFill>
                  <a:schemeClr val="tx1">
                    <a:lumMod val="50000"/>
                  </a:schemeClr>
                </a:solidFill>
              </a:rPr>
              <a:t>                           </a:t>
            </a:r>
            <a:r>
              <a:rPr lang="zh-CN" altLang="en-US" sz="2800" dirty="0">
                <a:solidFill>
                  <a:schemeClr val="tx1">
                    <a:lumMod val="50000"/>
                  </a:schemeClr>
                </a:solidFill>
              </a:rPr>
              <a:t>random()</a:t>
            </a:r>
            <a:endParaRPr lang="en-US" altLang="zh-CN" sz="2800" dirty="0">
              <a:solidFill>
                <a:schemeClr val="tx1">
                  <a:lumMod val="50000"/>
                </a:schemeClr>
              </a:solidFill>
            </a:endParaRPr>
          </a:p>
          <a:p>
            <a:pPr marL="457200" indent="-457200">
              <a:buFontTx/>
              <a:buChar char="-"/>
            </a:pPr>
            <a:endParaRPr lang="en-US" altLang="zh-CN" sz="2800" dirty="0">
              <a:solidFill>
                <a:schemeClr val="tx1">
                  <a:lumMod val="50000"/>
                </a:schemeClr>
              </a:solidFill>
            </a:endParaRPr>
          </a:p>
          <a:p>
            <a:pPr marL="457200" indent="-457200">
              <a:buFontTx/>
              <a:buChar char="-"/>
            </a:pPr>
            <a:r>
              <a:rPr lang="zh-CN" altLang="en-US" sz="2800" dirty="0">
                <a:solidFill>
                  <a:schemeClr val="tx1">
                    <a:lumMod val="50000"/>
                  </a:schemeClr>
                </a:solidFill>
              </a:rPr>
              <a:t>扩展随机数函数： randint()</a:t>
            </a:r>
            <a:endParaRPr lang="en-US" altLang="zh-CN" sz="2800" dirty="0">
              <a:solidFill>
                <a:schemeClr val="tx1">
                  <a:lumMod val="50000"/>
                </a:schemeClr>
              </a:solidFill>
            </a:endParaRPr>
          </a:p>
          <a:p>
            <a:r>
              <a:rPr lang="zh-CN" altLang="en-US" sz="2800" dirty="0">
                <a:solidFill>
                  <a:schemeClr val="tx1">
                    <a:lumMod val="50000"/>
                  </a:schemeClr>
                </a:solidFill>
              </a:rPr>
              <a:t>                           getrandbits()</a:t>
            </a:r>
            <a:endParaRPr lang="en-US" altLang="zh-CN" sz="2800" dirty="0">
              <a:solidFill>
                <a:schemeClr val="tx1">
                  <a:lumMod val="50000"/>
                </a:schemeClr>
              </a:solidFill>
            </a:endParaRPr>
          </a:p>
          <a:p>
            <a:r>
              <a:rPr lang="en-US" altLang="zh-CN" sz="2800" dirty="0">
                <a:solidFill>
                  <a:schemeClr val="tx1">
                    <a:lumMod val="50000"/>
                  </a:schemeClr>
                </a:solidFill>
              </a:rPr>
              <a:t>                          </a:t>
            </a:r>
            <a:r>
              <a:rPr lang="zh-CN" altLang="en-US" sz="2800" dirty="0">
                <a:solidFill>
                  <a:schemeClr val="tx1">
                    <a:lumMod val="50000"/>
                  </a:schemeClr>
                </a:solidFill>
              </a:rPr>
              <a:t> uniform()</a:t>
            </a:r>
            <a:endParaRPr lang="en-US" altLang="zh-CN" sz="2800" dirty="0">
              <a:solidFill>
                <a:schemeClr val="tx1">
                  <a:lumMod val="50000"/>
                </a:schemeClr>
              </a:solidFill>
            </a:endParaRPr>
          </a:p>
          <a:p>
            <a:r>
              <a:rPr lang="en-US" altLang="zh-CN" sz="2800" dirty="0">
                <a:solidFill>
                  <a:schemeClr val="tx1">
                    <a:lumMod val="50000"/>
                  </a:schemeClr>
                </a:solidFill>
              </a:rPr>
              <a:t>                           </a:t>
            </a:r>
            <a:r>
              <a:rPr lang="zh-CN" altLang="en-US" sz="2800" dirty="0">
                <a:solidFill>
                  <a:schemeClr val="tx1">
                    <a:lumMod val="50000"/>
                  </a:schemeClr>
                </a:solidFill>
              </a:rPr>
              <a:t>randrange()</a:t>
            </a:r>
            <a:endParaRPr lang="en-US" altLang="zh-CN" sz="2800" dirty="0">
              <a:solidFill>
                <a:schemeClr val="tx1">
                  <a:lumMod val="50000"/>
                </a:schemeClr>
              </a:solidFill>
            </a:endParaRPr>
          </a:p>
          <a:p>
            <a:r>
              <a:rPr lang="en-US" altLang="zh-CN" sz="2800" dirty="0">
                <a:solidFill>
                  <a:schemeClr val="tx1">
                    <a:lumMod val="50000"/>
                  </a:schemeClr>
                </a:solidFill>
              </a:rPr>
              <a:t>                           </a:t>
            </a:r>
            <a:r>
              <a:rPr lang="zh-CN" altLang="en-US" sz="2800" dirty="0">
                <a:solidFill>
                  <a:schemeClr val="tx1">
                    <a:lumMod val="50000"/>
                  </a:schemeClr>
                </a:solidFill>
              </a:rPr>
              <a:t>choice()</a:t>
            </a:r>
            <a:endParaRPr lang="en-US" altLang="zh-CN" sz="2800" dirty="0">
              <a:solidFill>
                <a:schemeClr val="tx1">
                  <a:lumMod val="50000"/>
                </a:schemeClr>
              </a:solidFill>
            </a:endParaRPr>
          </a:p>
          <a:p>
            <a:r>
              <a:rPr lang="en-US" altLang="zh-CN" sz="2800" dirty="0">
                <a:solidFill>
                  <a:schemeClr val="tx1">
                    <a:lumMod val="50000"/>
                  </a:schemeClr>
                </a:solidFill>
              </a:rPr>
              <a:t>                           </a:t>
            </a:r>
            <a:r>
              <a:rPr lang="zh-CN" altLang="en-US" sz="2800" dirty="0">
                <a:solidFill>
                  <a:schemeClr val="tx1">
                    <a:lumMod val="50000"/>
                  </a:schemeClr>
                </a:solidFill>
              </a:rPr>
              <a:t>shuffle()</a:t>
            </a:r>
          </a:p>
        </p:txBody>
      </p:sp>
    </p:spTree>
    <p:custDataLst>
      <p:tags r:id="rId1"/>
    </p:custDataLst>
    <p:extLst>
      <p:ext uri="{BB962C8B-B14F-4D97-AF65-F5344CB8AC3E}">
        <p14:creationId xmlns:p14="http://schemas.microsoft.com/office/powerpoint/2010/main" val="3585112161"/>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lnSpcReduction="10000"/>
          </a:bodyPr>
          <a:lstStyle>
            <a:defPPr>
              <a:defRPr lang="zh-CN"/>
            </a:defPPr>
            <a:lvl1pPr>
              <a:lnSpc>
                <a:spcPct val="90000"/>
              </a:lnSpc>
              <a:spcBef>
                <a:spcPct val="0"/>
              </a:spcBef>
              <a:buNone/>
              <a:defRPr sz="3600" b="1" i="0" baseline="0">
                <a:effectLst/>
                <a:latin typeface="+mj-lt"/>
                <a:ea typeface="+mj-ea"/>
                <a:cs typeface="+mj-cs"/>
              </a:defRPr>
            </a:lvl1pPr>
          </a:lstStyle>
          <a:p>
            <a:pPr>
              <a:lnSpc>
                <a:spcPct val="130000"/>
              </a:lnSpc>
            </a:pPr>
            <a:r>
              <a:rPr lang="en-US" altLang="zh-CN" dirty="0">
                <a:solidFill>
                  <a:schemeClr val="tx1">
                    <a:lumMod val="50000"/>
                  </a:schemeClr>
                </a:solidFill>
                <a:latin typeface="宋体" panose="02010600030101010101" pitchFamily="2" charset="-122"/>
                <a:ea typeface="宋体" panose="02010600030101010101" pitchFamily="2" charset="-122"/>
              </a:rPr>
              <a:t>random</a:t>
            </a:r>
            <a:r>
              <a:rPr lang="zh-CN" altLang="en-US" dirty="0">
                <a:solidFill>
                  <a:schemeClr val="tx1">
                    <a:lumMod val="50000"/>
                  </a:schemeClr>
                </a:solidFill>
                <a:latin typeface="宋体" panose="02010600030101010101" pitchFamily="2" charset="-122"/>
                <a:ea typeface="宋体" panose="02010600030101010101" pitchFamily="2" charset="-122"/>
              </a:rPr>
              <a:t>库的使用</a:t>
            </a:r>
            <a:endParaRPr lang="en-US" altLang="zh-CN" dirty="0">
              <a:solidFill>
                <a:schemeClr val="tx1">
                  <a:lumMod val="50000"/>
                </a:schemeClr>
              </a:solidFill>
              <a:latin typeface="宋体" panose="02010600030101010101" pitchFamily="2" charset="-122"/>
              <a:ea typeface="宋体" panose="02010600030101010101" pitchFamily="2" charset="-122"/>
            </a:endParaRPr>
          </a:p>
        </p:txBody>
      </p:sp>
      <p:sp>
        <p:nvSpPr>
          <p:cNvPr id="9" name="文本框 8"/>
          <p:cNvSpPr txBox="1"/>
          <p:nvPr/>
        </p:nvSpPr>
        <p:spPr>
          <a:xfrm>
            <a:off x="3730973" y="1262512"/>
            <a:ext cx="3791423"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基本随机数函数</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pic>
        <p:nvPicPr>
          <p:cNvPr id="4" name="图片 3"/>
          <p:cNvPicPr>
            <a:picLocks noChangeAspect="1"/>
          </p:cNvPicPr>
          <p:nvPr/>
        </p:nvPicPr>
        <p:blipFill>
          <a:blip r:embed="rId5" cstate="print"/>
          <a:stretch>
            <a:fillRect/>
          </a:stretch>
        </p:blipFill>
        <p:spPr>
          <a:xfrm>
            <a:off x="1572171" y="2373670"/>
            <a:ext cx="9128862" cy="3812818"/>
          </a:xfrm>
          <a:prstGeom prst="rect">
            <a:avLst/>
          </a:prstGeom>
        </p:spPr>
      </p:pic>
    </p:spTree>
    <p:custDataLst>
      <p:tags r:id="rId1"/>
    </p:custDataLst>
    <p:extLst>
      <p:ext uri="{BB962C8B-B14F-4D97-AF65-F5344CB8AC3E}">
        <p14:creationId xmlns:p14="http://schemas.microsoft.com/office/powerpoint/2010/main" val="3041169373"/>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lnSpcReduction="10000"/>
          </a:bodyPr>
          <a:lstStyle>
            <a:defPPr>
              <a:defRPr lang="zh-CN"/>
            </a:defPPr>
            <a:lvl1pPr>
              <a:lnSpc>
                <a:spcPct val="90000"/>
              </a:lnSpc>
              <a:spcBef>
                <a:spcPct val="0"/>
              </a:spcBef>
              <a:buNone/>
              <a:defRPr sz="3600" b="1" i="0" baseline="0">
                <a:effectLst/>
                <a:latin typeface="+mj-lt"/>
                <a:ea typeface="+mj-ea"/>
                <a:cs typeface="+mj-cs"/>
              </a:defRPr>
            </a:lvl1pPr>
          </a:lstStyle>
          <a:p>
            <a:pPr>
              <a:lnSpc>
                <a:spcPct val="130000"/>
              </a:lnSpc>
            </a:pPr>
            <a:r>
              <a:rPr lang="en-US" altLang="zh-CN" dirty="0">
                <a:solidFill>
                  <a:schemeClr val="tx1">
                    <a:lumMod val="50000"/>
                  </a:schemeClr>
                </a:solidFill>
                <a:latin typeface="宋体" panose="02010600030101010101" pitchFamily="2" charset="-122"/>
                <a:ea typeface="宋体" panose="02010600030101010101" pitchFamily="2" charset="-122"/>
              </a:rPr>
              <a:t>random</a:t>
            </a:r>
            <a:r>
              <a:rPr lang="zh-CN" altLang="en-US" dirty="0">
                <a:solidFill>
                  <a:schemeClr val="tx1">
                    <a:lumMod val="50000"/>
                  </a:schemeClr>
                </a:solidFill>
                <a:latin typeface="宋体" panose="02010600030101010101" pitchFamily="2" charset="-122"/>
                <a:ea typeface="宋体" panose="02010600030101010101" pitchFamily="2" charset="-122"/>
              </a:rPr>
              <a:t>库的使用</a:t>
            </a:r>
            <a:endParaRPr lang="en-US" altLang="zh-CN" dirty="0">
              <a:solidFill>
                <a:schemeClr val="tx1">
                  <a:lumMod val="50000"/>
                </a:schemeClr>
              </a:solidFill>
              <a:latin typeface="宋体" panose="02010600030101010101" pitchFamily="2" charset="-122"/>
              <a:ea typeface="宋体" panose="02010600030101010101" pitchFamily="2" charset="-122"/>
            </a:endParaRPr>
          </a:p>
        </p:txBody>
      </p:sp>
      <p:sp>
        <p:nvSpPr>
          <p:cNvPr id="9" name="文本框 8"/>
          <p:cNvSpPr txBox="1"/>
          <p:nvPr/>
        </p:nvSpPr>
        <p:spPr>
          <a:xfrm>
            <a:off x="4195545" y="1033799"/>
            <a:ext cx="3791423"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基本随机数函数</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pic>
        <p:nvPicPr>
          <p:cNvPr id="2" name="图片 1"/>
          <p:cNvPicPr>
            <a:picLocks noChangeAspect="1"/>
          </p:cNvPicPr>
          <p:nvPr/>
        </p:nvPicPr>
        <p:blipFill>
          <a:blip r:embed="rId5" cstate="print"/>
          <a:stretch>
            <a:fillRect/>
          </a:stretch>
        </p:blipFill>
        <p:spPr>
          <a:xfrm>
            <a:off x="2065569" y="1908870"/>
            <a:ext cx="8051376" cy="3058779"/>
          </a:xfrm>
          <a:prstGeom prst="rect">
            <a:avLst/>
          </a:prstGeom>
        </p:spPr>
      </p:pic>
      <p:sp>
        <p:nvSpPr>
          <p:cNvPr id="6" name="矩形 5"/>
          <p:cNvSpPr/>
          <p:nvPr/>
        </p:nvSpPr>
        <p:spPr>
          <a:xfrm>
            <a:off x="838504" y="5159673"/>
            <a:ext cx="10505506" cy="1200329"/>
          </a:xfrm>
          <a:prstGeom prst="rect">
            <a:avLst/>
          </a:prstGeom>
        </p:spPr>
        <p:txBody>
          <a:bodyPr wrap="square">
            <a:spAutoFit/>
          </a:bodyPr>
          <a:lstStyle/>
          <a:p>
            <a:r>
              <a:rPr lang="zh-CN" altLang="en-US" sz="2400" dirty="0">
                <a:solidFill>
                  <a:schemeClr val="tx1">
                    <a:lumMod val="50000"/>
                  </a:schemeClr>
                </a:solidFill>
              </a:rPr>
              <a:t>生成随机数之前可以通过seed()函数指定随机数种子，随机种子一般是一个整数，只要种子相同，每次生成的随机数序列也相同。这种情况便于测试和同步数据</a:t>
            </a:r>
          </a:p>
        </p:txBody>
      </p:sp>
    </p:spTree>
    <p:custDataLst>
      <p:tags r:id="rId1"/>
    </p:custDataLst>
    <p:extLst>
      <p:ext uri="{BB962C8B-B14F-4D97-AF65-F5344CB8AC3E}">
        <p14:creationId xmlns:p14="http://schemas.microsoft.com/office/powerpoint/2010/main" val="658933690"/>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lnSpcReduction="10000"/>
          </a:bodyPr>
          <a:lstStyle>
            <a:defPPr>
              <a:defRPr lang="zh-CN"/>
            </a:defPPr>
            <a:lvl1pPr>
              <a:lnSpc>
                <a:spcPct val="90000"/>
              </a:lnSpc>
              <a:spcBef>
                <a:spcPct val="0"/>
              </a:spcBef>
              <a:buNone/>
              <a:defRPr sz="3600" b="1" i="0" baseline="0">
                <a:effectLst/>
                <a:latin typeface="+mj-lt"/>
                <a:ea typeface="+mj-ea"/>
                <a:cs typeface="+mj-cs"/>
              </a:defRPr>
            </a:lvl1pPr>
          </a:lstStyle>
          <a:p>
            <a:pPr>
              <a:lnSpc>
                <a:spcPct val="130000"/>
              </a:lnSpc>
            </a:pPr>
            <a:r>
              <a:rPr lang="en-US" altLang="zh-CN" dirty="0">
                <a:solidFill>
                  <a:schemeClr val="tx1">
                    <a:lumMod val="50000"/>
                  </a:schemeClr>
                </a:solidFill>
                <a:latin typeface="宋体" panose="02010600030101010101" pitchFamily="2" charset="-122"/>
                <a:ea typeface="宋体" panose="02010600030101010101" pitchFamily="2" charset="-122"/>
              </a:rPr>
              <a:t>random</a:t>
            </a:r>
            <a:r>
              <a:rPr lang="zh-CN" altLang="en-US" dirty="0">
                <a:solidFill>
                  <a:schemeClr val="tx1">
                    <a:lumMod val="50000"/>
                  </a:schemeClr>
                </a:solidFill>
                <a:latin typeface="宋体" panose="02010600030101010101" pitchFamily="2" charset="-122"/>
                <a:ea typeface="宋体" panose="02010600030101010101" pitchFamily="2" charset="-122"/>
              </a:rPr>
              <a:t>库的使用</a:t>
            </a:r>
            <a:endParaRPr lang="en-US" altLang="zh-CN" dirty="0">
              <a:solidFill>
                <a:schemeClr val="tx1">
                  <a:lumMod val="50000"/>
                </a:schemeClr>
              </a:solidFill>
              <a:latin typeface="宋体" panose="02010600030101010101" pitchFamily="2" charset="-122"/>
              <a:ea typeface="宋体" panose="02010600030101010101" pitchFamily="2" charset="-122"/>
            </a:endParaRPr>
          </a:p>
        </p:txBody>
      </p:sp>
      <p:sp>
        <p:nvSpPr>
          <p:cNvPr id="9" name="文本框 8"/>
          <p:cNvSpPr txBox="1"/>
          <p:nvPr/>
        </p:nvSpPr>
        <p:spPr>
          <a:xfrm>
            <a:off x="4195545" y="979304"/>
            <a:ext cx="3791423"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基本随机数函数</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pic>
        <p:nvPicPr>
          <p:cNvPr id="4" name="图片 3"/>
          <p:cNvPicPr>
            <a:picLocks noChangeAspect="1"/>
          </p:cNvPicPr>
          <p:nvPr/>
        </p:nvPicPr>
        <p:blipFill>
          <a:blip r:embed="rId5" cstate="print"/>
          <a:stretch>
            <a:fillRect/>
          </a:stretch>
        </p:blipFill>
        <p:spPr>
          <a:xfrm>
            <a:off x="2286818" y="2440948"/>
            <a:ext cx="8001734" cy="3712805"/>
          </a:xfrm>
          <a:prstGeom prst="rect">
            <a:avLst/>
          </a:prstGeom>
        </p:spPr>
      </p:pic>
      <p:sp>
        <p:nvSpPr>
          <p:cNvPr id="5" name="矩形 4"/>
          <p:cNvSpPr/>
          <p:nvPr/>
        </p:nvSpPr>
        <p:spPr>
          <a:xfrm>
            <a:off x="2453872" y="1758363"/>
            <a:ext cx="7667626" cy="523220"/>
          </a:xfrm>
          <a:prstGeom prst="rect">
            <a:avLst/>
          </a:prstGeom>
        </p:spPr>
        <p:txBody>
          <a:bodyPr wrap="square">
            <a:spAutoFit/>
          </a:bodyPr>
          <a:lstStyle/>
          <a:p>
            <a:r>
              <a:rPr lang="zh-CN" altLang="en-US" sz="2800" dirty="0">
                <a:solidFill>
                  <a:schemeClr val="tx1">
                    <a:lumMod val="50000"/>
                  </a:schemeClr>
                </a:solidFill>
              </a:rPr>
              <a:t>import random 或 from random import *</a:t>
            </a:r>
          </a:p>
        </p:txBody>
      </p:sp>
    </p:spTree>
    <p:custDataLst>
      <p:tags r:id="rId1"/>
    </p:custDataLst>
    <p:extLst>
      <p:ext uri="{BB962C8B-B14F-4D97-AF65-F5344CB8AC3E}">
        <p14:creationId xmlns:p14="http://schemas.microsoft.com/office/powerpoint/2010/main" val="1905533191"/>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lnSpcReduction="10000"/>
          </a:bodyPr>
          <a:lstStyle>
            <a:defPPr>
              <a:defRPr lang="zh-CN"/>
            </a:defPPr>
            <a:lvl1pPr>
              <a:lnSpc>
                <a:spcPct val="90000"/>
              </a:lnSpc>
              <a:spcBef>
                <a:spcPct val="0"/>
              </a:spcBef>
              <a:buNone/>
              <a:defRPr sz="3600" b="1" i="0" baseline="0">
                <a:effectLst/>
                <a:latin typeface="+mj-lt"/>
                <a:ea typeface="+mj-ea"/>
                <a:cs typeface="+mj-cs"/>
              </a:defRPr>
            </a:lvl1pPr>
          </a:lstStyle>
          <a:p>
            <a:pPr>
              <a:lnSpc>
                <a:spcPct val="130000"/>
              </a:lnSpc>
            </a:pPr>
            <a:r>
              <a:rPr lang="en-US" altLang="zh-CN" dirty="0">
                <a:solidFill>
                  <a:schemeClr val="tx1">
                    <a:lumMod val="50000"/>
                  </a:schemeClr>
                </a:solidFill>
                <a:latin typeface="宋体" panose="02010600030101010101" pitchFamily="2" charset="-122"/>
                <a:ea typeface="宋体" panose="02010600030101010101" pitchFamily="2" charset="-122"/>
              </a:rPr>
              <a:t>random</a:t>
            </a:r>
            <a:r>
              <a:rPr lang="zh-CN" altLang="en-US" dirty="0">
                <a:solidFill>
                  <a:schemeClr val="tx1">
                    <a:lumMod val="50000"/>
                  </a:schemeClr>
                </a:solidFill>
                <a:latin typeface="宋体" panose="02010600030101010101" pitchFamily="2" charset="-122"/>
                <a:ea typeface="宋体" panose="02010600030101010101" pitchFamily="2" charset="-122"/>
              </a:rPr>
              <a:t>库的使用</a:t>
            </a:r>
            <a:endParaRPr lang="en-US" altLang="zh-CN" dirty="0">
              <a:solidFill>
                <a:schemeClr val="tx1">
                  <a:lumMod val="50000"/>
                </a:schemeClr>
              </a:solidFill>
              <a:latin typeface="宋体" panose="02010600030101010101" pitchFamily="2" charset="-122"/>
              <a:ea typeface="宋体" panose="02010600030101010101" pitchFamily="2" charset="-122"/>
            </a:endParaRPr>
          </a:p>
        </p:txBody>
      </p:sp>
      <p:sp>
        <p:nvSpPr>
          <p:cNvPr id="9" name="文本框 8"/>
          <p:cNvSpPr txBox="1"/>
          <p:nvPr/>
        </p:nvSpPr>
        <p:spPr>
          <a:xfrm>
            <a:off x="4195545" y="1074621"/>
            <a:ext cx="3791423"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扩展随机数函数</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pic>
        <p:nvPicPr>
          <p:cNvPr id="6" name="图片 5"/>
          <p:cNvPicPr>
            <a:picLocks noChangeAspect="1"/>
          </p:cNvPicPr>
          <p:nvPr/>
        </p:nvPicPr>
        <p:blipFill>
          <a:blip r:embed="rId5" cstate="print"/>
          <a:stretch>
            <a:fillRect/>
          </a:stretch>
        </p:blipFill>
        <p:spPr>
          <a:xfrm>
            <a:off x="1237084" y="2204568"/>
            <a:ext cx="9708343" cy="3657406"/>
          </a:xfrm>
          <a:prstGeom prst="rect">
            <a:avLst/>
          </a:prstGeom>
        </p:spPr>
      </p:pic>
    </p:spTree>
    <p:custDataLst>
      <p:tags r:id="rId1"/>
    </p:custDataLst>
    <p:extLst>
      <p:ext uri="{BB962C8B-B14F-4D97-AF65-F5344CB8AC3E}">
        <p14:creationId xmlns:p14="http://schemas.microsoft.com/office/powerpoint/2010/main" val="1936174742"/>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lnSpcReduction="10000"/>
          </a:bodyPr>
          <a:lstStyle>
            <a:defPPr>
              <a:defRPr lang="zh-CN"/>
            </a:defPPr>
            <a:lvl1pPr>
              <a:lnSpc>
                <a:spcPct val="90000"/>
              </a:lnSpc>
              <a:spcBef>
                <a:spcPct val="0"/>
              </a:spcBef>
              <a:buNone/>
              <a:defRPr sz="3600" b="1" i="0" baseline="0">
                <a:effectLst/>
                <a:latin typeface="+mj-lt"/>
                <a:ea typeface="+mj-ea"/>
                <a:cs typeface="+mj-cs"/>
              </a:defRPr>
            </a:lvl1pPr>
          </a:lstStyle>
          <a:p>
            <a:pPr>
              <a:lnSpc>
                <a:spcPct val="130000"/>
              </a:lnSpc>
            </a:pPr>
            <a:r>
              <a:rPr lang="en-US" altLang="zh-CN" dirty="0">
                <a:solidFill>
                  <a:schemeClr val="tx1">
                    <a:lumMod val="50000"/>
                  </a:schemeClr>
                </a:solidFill>
                <a:latin typeface="宋体" panose="02010600030101010101" pitchFamily="2" charset="-122"/>
                <a:ea typeface="宋体" panose="02010600030101010101" pitchFamily="2" charset="-122"/>
              </a:rPr>
              <a:t>random</a:t>
            </a:r>
            <a:r>
              <a:rPr lang="zh-CN" altLang="en-US" dirty="0">
                <a:solidFill>
                  <a:schemeClr val="tx1">
                    <a:lumMod val="50000"/>
                  </a:schemeClr>
                </a:solidFill>
                <a:latin typeface="宋体" panose="02010600030101010101" pitchFamily="2" charset="-122"/>
                <a:ea typeface="宋体" panose="02010600030101010101" pitchFamily="2" charset="-122"/>
              </a:rPr>
              <a:t>库的使用</a:t>
            </a:r>
            <a:endParaRPr lang="en-US" altLang="zh-CN" dirty="0">
              <a:solidFill>
                <a:schemeClr val="tx1">
                  <a:lumMod val="50000"/>
                </a:schemeClr>
              </a:solidFill>
              <a:latin typeface="宋体" panose="02010600030101010101" pitchFamily="2" charset="-122"/>
              <a:ea typeface="宋体" panose="02010600030101010101" pitchFamily="2" charset="-122"/>
            </a:endParaRPr>
          </a:p>
        </p:txBody>
      </p:sp>
      <p:sp>
        <p:nvSpPr>
          <p:cNvPr id="9" name="文本框 8"/>
          <p:cNvSpPr txBox="1"/>
          <p:nvPr/>
        </p:nvSpPr>
        <p:spPr>
          <a:xfrm>
            <a:off x="4147849" y="1105936"/>
            <a:ext cx="3791423"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扩展随机数函数</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pic>
        <p:nvPicPr>
          <p:cNvPr id="2" name="图片 1"/>
          <p:cNvPicPr>
            <a:picLocks noChangeAspect="1"/>
          </p:cNvPicPr>
          <p:nvPr/>
        </p:nvPicPr>
        <p:blipFill>
          <a:blip r:embed="rId5" cstate="print"/>
          <a:stretch>
            <a:fillRect/>
          </a:stretch>
        </p:blipFill>
        <p:spPr>
          <a:xfrm>
            <a:off x="1138819" y="2306354"/>
            <a:ext cx="9904875" cy="3757418"/>
          </a:xfrm>
          <a:prstGeom prst="rect">
            <a:avLst/>
          </a:prstGeom>
        </p:spPr>
      </p:pic>
    </p:spTree>
    <p:custDataLst>
      <p:tags r:id="rId1"/>
    </p:custDataLst>
    <p:extLst>
      <p:ext uri="{BB962C8B-B14F-4D97-AF65-F5344CB8AC3E}">
        <p14:creationId xmlns:p14="http://schemas.microsoft.com/office/powerpoint/2010/main" val="622332476"/>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lnSpcReduction="10000"/>
          </a:bodyPr>
          <a:lstStyle>
            <a:defPPr>
              <a:defRPr lang="zh-CN"/>
            </a:defPPr>
            <a:lvl1pPr>
              <a:lnSpc>
                <a:spcPct val="90000"/>
              </a:lnSpc>
              <a:spcBef>
                <a:spcPct val="0"/>
              </a:spcBef>
              <a:buNone/>
              <a:defRPr sz="3600" b="1" i="0" baseline="0">
                <a:effectLst/>
                <a:latin typeface="+mj-lt"/>
                <a:ea typeface="+mj-ea"/>
                <a:cs typeface="+mj-cs"/>
              </a:defRPr>
            </a:lvl1pPr>
          </a:lstStyle>
          <a:p>
            <a:pPr>
              <a:lnSpc>
                <a:spcPct val="130000"/>
              </a:lnSpc>
            </a:pPr>
            <a:r>
              <a:rPr lang="en-US" altLang="zh-CN" dirty="0">
                <a:solidFill>
                  <a:schemeClr val="tx1">
                    <a:lumMod val="50000"/>
                  </a:schemeClr>
                </a:solidFill>
                <a:latin typeface="宋体" panose="02010600030101010101" pitchFamily="2" charset="-122"/>
                <a:ea typeface="宋体" panose="02010600030101010101" pitchFamily="2" charset="-122"/>
              </a:rPr>
              <a:t>random</a:t>
            </a:r>
            <a:r>
              <a:rPr lang="zh-CN" altLang="en-US" dirty="0">
                <a:solidFill>
                  <a:schemeClr val="tx1">
                    <a:lumMod val="50000"/>
                  </a:schemeClr>
                </a:solidFill>
                <a:latin typeface="宋体" panose="02010600030101010101" pitchFamily="2" charset="-122"/>
                <a:ea typeface="宋体" panose="02010600030101010101" pitchFamily="2" charset="-122"/>
              </a:rPr>
              <a:t>库的使用</a:t>
            </a:r>
            <a:endParaRPr lang="en-US" altLang="zh-CN" dirty="0">
              <a:solidFill>
                <a:schemeClr val="tx1">
                  <a:lumMod val="50000"/>
                </a:schemeClr>
              </a:solidFill>
              <a:latin typeface="宋体" panose="02010600030101010101" pitchFamily="2" charset="-122"/>
              <a:ea typeface="宋体" panose="02010600030101010101" pitchFamily="2" charset="-122"/>
            </a:endParaRPr>
          </a:p>
        </p:txBody>
      </p:sp>
      <p:sp>
        <p:nvSpPr>
          <p:cNvPr id="9" name="文本框 8"/>
          <p:cNvSpPr txBox="1"/>
          <p:nvPr/>
        </p:nvSpPr>
        <p:spPr>
          <a:xfrm>
            <a:off x="3730973" y="1262512"/>
            <a:ext cx="3791423" cy="779059"/>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扩展随机数函数</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pic>
        <p:nvPicPr>
          <p:cNvPr id="4" name="图片 3"/>
          <p:cNvPicPr>
            <a:picLocks noChangeAspect="1"/>
          </p:cNvPicPr>
          <p:nvPr/>
        </p:nvPicPr>
        <p:blipFill>
          <a:blip r:embed="rId5" cstate="print"/>
          <a:stretch>
            <a:fillRect/>
          </a:stretch>
        </p:blipFill>
        <p:spPr>
          <a:xfrm>
            <a:off x="1129228" y="2373670"/>
            <a:ext cx="10028242" cy="3809805"/>
          </a:xfrm>
          <a:prstGeom prst="rect">
            <a:avLst/>
          </a:prstGeom>
        </p:spPr>
      </p:pic>
    </p:spTree>
    <p:custDataLst>
      <p:tags r:id="rId1"/>
    </p:custDataLst>
    <p:extLst>
      <p:ext uri="{BB962C8B-B14F-4D97-AF65-F5344CB8AC3E}">
        <p14:creationId xmlns:p14="http://schemas.microsoft.com/office/powerpoint/2010/main" val="3957511082"/>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lnSpcReduction="10000"/>
          </a:bodyPr>
          <a:lstStyle>
            <a:defPPr>
              <a:defRPr lang="zh-CN"/>
            </a:defPPr>
            <a:lvl1pPr>
              <a:lnSpc>
                <a:spcPct val="90000"/>
              </a:lnSpc>
              <a:spcBef>
                <a:spcPct val="0"/>
              </a:spcBef>
              <a:buNone/>
              <a:defRPr sz="3600" b="1" i="0" baseline="0">
                <a:effectLst/>
                <a:latin typeface="+mj-lt"/>
                <a:ea typeface="+mj-ea"/>
                <a:cs typeface="+mj-cs"/>
              </a:defRPr>
            </a:lvl1pPr>
          </a:lstStyle>
          <a:p>
            <a:pPr>
              <a:lnSpc>
                <a:spcPct val="130000"/>
              </a:lnSpc>
            </a:pPr>
            <a:r>
              <a:rPr lang="en-US" altLang="zh-CN" dirty="0">
                <a:solidFill>
                  <a:schemeClr val="tx1">
                    <a:lumMod val="50000"/>
                  </a:schemeClr>
                </a:solidFill>
                <a:latin typeface="宋体" panose="02010600030101010101" pitchFamily="2" charset="-122"/>
                <a:ea typeface="宋体" panose="02010600030101010101" pitchFamily="2" charset="-122"/>
              </a:rPr>
              <a:t>random</a:t>
            </a:r>
            <a:r>
              <a:rPr lang="zh-CN" altLang="en-US" dirty="0">
                <a:solidFill>
                  <a:schemeClr val="tx1">
                    <a:lumMod val="50000"/>
                  </a:schemeClr>
                </a:solidFill>
                <a:latin typeface="宋体" panose="02010600030101010101" pitchFamily="2" charset="-122"/>
                <a:ea typeface="宋体" panose="02010600030101010101" pitchFamily="2" charset="-122"/>
              </a:rPr>
              <a:t>库的使用</a:t>
            </a:r>
            <a:endParaRPr lang="en-US" altLang="zh-CN" dirty="0">
              <a:solidFill>
                <a:schemeClr val="tx1">
                  <a:lumMod val="50000"/>
                </a:schemeClr>
              </a:solidFill>
              <a:latin typeface="宋体" panose="02010600030101010101" pitchFamily="2" charset="-122"/>
              <a:ea typeface="宋体" panose="02010600030101010101" pitchFamily="2" charset="-122"/>
            </a:endParaRPr>
          </a:p>
        </p:txBody>
      </p:sp>
      <p:sp>
        <p:nvSpPr>
          <p:cNvPr id="9" name="文本框 8"/>
          <p:cNvSpPr txBox="1"/>
          <p:nvPr/>
        </p:nvSpPr>
        <p:spPr>
          <a:xfrm>
            <a:off x="3730973" y="1262512"/>
            <a:ext cx="4815742" cy="892552"/>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实例：圆周率的计算</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5" name="矩形 4"/>
          <p:cNvSpPr/>
          <p:nvPr/>
        </p:nvSpPr>
        <p:spPr>
          <a:xfrm>
            <a:off x="996946" y="2650042"/>
            <a:ext cx="10613250" cy="3108543"/>
          </a:xfrm>
          <a:prstGeom prst="rect">
            <a:avLst/>
          </a:prstGeom>
        </p:spPr>
        <p:txBody>
          <a:bodyPr wrap="square">
            <a:spAutoFit/>
          </a:bodyPr>
          <a:lstStyle/>
          <a:p>
            <a:r>
              <a:rPr lang="zh-CN" altLang="en-US" sz="2800" dirty="0">
                <a:solidFill>
                  <a:schemeClr val="tx1">
                    <a:lumMod val="50000"/>
                  </a:schemeClr>
                </a:solidFill>
              </a:rPr>
              <a:t> </a:t>
            </a:r>
            <a:r>
              <a:rPr lang="en-US" altLang="zh-CN" sz="2800" dirty="0">
                <a:solidFill>
                  <a:schemeClr val="tx1">
                    <a:lumMod val="50000"/>
                  </a:schemeClr>
                </a:solidFill>
              </a:rPr>
              <a:t>π</a:t>
            </a:r>
            <a:r>
              <a:rPr lang="zh-CN" altLang="en-US" sz="2800" dirty="0">
                <a:solidFill>
                  <a:schemeClr val="tx1">
                    <a:lumMod val="50000"/>
                  </a:schemeClr>
                </a:solidFill>
              </a:rPr>
              <a:t>（圆周率）是一个无理数，即无限不循环小数。精确求</a:t>
            </a:r>
          </a:p>
          <a:p>
            <a:r>
              <a:rPr lang="zh-CN" altLang="en-US" sz="2800" dirty="0">
                <a:solidFill>
                  <a:schemeClr val="tx1">
                    <a:lumMod val="50000"/>
                  </a:schemeClr>
                </a:solidFill>
              </a:rPr>
              <a:t>解圆周率</a:t>
            </a:r>
            <a:r>
              <a:rPr lang="en-US" altLang="zh-CN" sz="2800" dirty="0">
                <a:solidFill>
                  <a:schemeClr val="tx1">
                    <a:lumMod val="50000"/>
                  </a:schemeClr>
                </a:solidFill>
              </a:rPr>
              <a:t>π</a:t>
            </a:r>
            <a:r>
              <a:rPr lang="zh-CN" altLang="en-US" sz="2800" dirty="0">
                <a:solidFill>
                  <a:schemeClr val="tx1">
                    <a:lumMod val="50000"/>
                  </a:schemeClr>
                </a:solidFill>
              </a:rPr>
              <a:t>是几何学、物理学和很多工程学科的关键。</a:t>
            </a:r>
            <a:endParaRPr lang="en-US" altLang="zh-CN" sz="2800" dirty="0">
              <a:solidFill>
                <a:schemeClr val="tx1">
                  <a:lumMod val="50000"/>
                </a:schemeClr>
              </a:solidFill>
            </a:endParaRPr>
          </a:p>
          <a:p>
            <a:endParaRPr lang="zh-CN" altLang="en-US" sz="2800" dirty="0">
              <a:solidFill>
                <a:schemeClr val="tx1">
                  <a:lumMod val="50000"/>
                </a:schemeClr>
              </a:solidFill>
            </a:endParaRPr>
          </a:p>
          <a:p>
            <a:r>
              <a:rPr lang="en-US" altLang="zh-CN" sz="2800" dirty="0">
                <a:solidFill>
                  <a:schemeClr val="tx1">
                    <a:lumMod val="50000"/>
                  </a:schemeClr>
                </a:solidFill>
              </a:rPr>
              <a:t>• </a:t>
            </a:r>
            <a:r>
              <a:rPr lang="zh-CN" altLang="en-US" sz="2800" dirty="0">
                <a:solidFill>
                  <a:schemeClr val="tx1">
                    <a:lumMod val="50000"/>
                  </a:schemeClr>
                </a:solidFill>
              </a:rPr>
              <a:t>对</a:t>
            </a:r>
            <a:r>
              <a:rPr lang="en-US" altLang="zh-CN" sz="2800" dirty="0">
                <a:solidFill>
                  <a:schemeClr val="tx1">
                    <a:lumMod val="50000"/>
                  </a:schemeClr>
                </a:solidFill>
              </a:rPr>
              <a:t>π</a:t>
            </a:r>
            <a:r>
              <a:rPr lang="zh-CN" altLang="en-US" sz="2800" dirty="0">
                <a:solidFill>
                  <a:schemeClr val="tx1">
                    <a:lumMod val="50000"/>
                  </a:schemeClr>
                </a:solidFill>
              </a:rPr>
              <a:t>的精确求解曾经是数学历史上一直难以解决的问题之</a:t>
            </a:r>
          </a:p>
          <a:p>
            <a:r>
              <a:rPr lang="zh-CN" altLang="en-US" sz="2800" dirty="0">
                <a:solidFill>
                  <a:schemeClr val="tx1">
                    <a:lumMod val="50000"/>
                  </a:schemeClr>
                </a:solidFill>
              </a:rPr>
              <a:t>一，因为</a:t>
            </a:r>
            <a:r>
              <a:rPr lang="en-US" altLang="zh-CN" sz="2800" dirty="0">
                <a:solidFill>
                  <a:schemeClr val="tx1">
                    <a:lumMod val="50000"/>
                  </a:schemeClr>
                </a:solidFill>
              </a:rPr>
              <a:t>π</a:t>
            </a:r>
            <a:r>
              <a:rPr lang="zh-CN" altLang="en-US" sz="2800" dirty="0">
                <a:solidFill>
                  <a:schemeClr val="tx1">
                    <a:lumMod val="50000"/>
                  </a:schemeClr>
                </a:solidFill>
              </a:rPr>
              <a:t>无法用任何精确公式表示，在电子计算机出现</a:t>
            </a:r>
          </a:p>
          <a:p>
            <a:r>
              <a:rPr lang="zh-CN" altLang="en-US" sz="2800" dirty="0">
                <a:solidFill>
                  <a:schemeClr val="tx1">
                    <a:lumMod val="50000"/>
                  </a:schemeClr>
                </a:solidFill>
              </a:rPr>
              <a:t>以前，</a:t>
            </a:r>
            <a:r>
              <a:rPr lang="en-US" altLang="zh-CN" sz="2800" dirty="0">
                <a:solidFill>
                  <a:schemeClr val="tx1">
                    <a:lumMod val="50000"/>
                  </a:schemeClr>
                </a:solidFill>
              </a:rPr>
              <a:t>π</a:t>
            </a:r>
            <a:r>
              <a:rPr lang="zh-CN" altLang="en-US" sz="2800" dirty="0">
                <a:solidFill>
                  <a:schemeClr val="tx1">
                    <a:lumMod val="50000"/>
                  </a:schemeClr>
                </a:solidFill>
              </a:rPr>
              <a:t>只能通过一些近似公式的求解得到，直到</a:t>
            </a:r>
            <a:r>
              <a:rPr lang="en-US" altLang="zh-CN" sz="2800" dirty="0">
                <a:solidFill>
                  <a:schemeClr val="tx1">
                    <a:lumMod val="50000"/>
                  </a:schemeClr>
                </a:solidFill>
              </a:rPr>
              <a:t>1948</a:t>
            </a:r>
            <a:r>
              <a:rPr lang="zh-CN" altLang="en-US" sz="2800" dirty="0">
                <a:solidFill>
                  <a:schemeClr val="tx1">
                    <a:lumMod val="50000"/>
                  </a:schemeClr>
                </a:solidFill>
              </a:rPr>
              <a:t>年</a:t>
            </a:r>
          </a:p>
          <a:p>
            <a:r>
              <a:rPr lang="zh-CN" altLang="en-US" sz="2800" dirty="0">
                <a:solidFill>
                  <a:schemeClr val="tx1">
                    <a:lumMod val="50000"/>
                  </a:schemeClr>
                </a:solidFill>
              </a:rPr>
              <a:t>，人类才以人工计算方式得到</a:t>
            </a:r>
            <a:r>
              <a:rPr lang="en-US" altLang="zh-CN" sz="2800" dirty="0">
                <a:solidFill>
                  <a:schemeClr val="tx1">
                    <a:lumMod val="50000"/>
                  </a:schemeClr>
                </a:solidFill>
              </a:rPr>
              <a:t>π</a:t>
            </a:r>
            <a:r>
              <a:rPr lang="zh-CN" altLang="en-US" sz="2800" dirty="0">
                <a:solidFill>
                  <a:schemeClr val="tx1">
                    <a:lumMod val="50000"/>
                  </a:schemeClr>
                </a:solidFill>
              </a:rPr>
              <a:t>的</a:t>
            </a:r>
            <a:r>
              <a:rPr lang="en-US" altLang="zh-CN" sz="2800" dirty="0">
                <a:solidFill>
                  <a:schemeClr val="tx1">
                    <a:lumMod val="50000"/>
                  </a:schemeClr>
                </a:solidFill>
              </a:rPr>
              <a:t>808</a:t>
            </a:r>
            <a:r>
              <a:rPr lang="zh-CN" altLang="en-US" sz="2800" dirty="0">
                <a:solidFill>
                  <a:schemeClr val="tx1">
                    <a:lumMod val="50000"/>
                  </a:schemeClr>
                </a:solidFill>
              </a:rPr>
              <a:t>位精确小数。</a:t>
            </a:r>
          </a:p>
        </p:txBody>
      </p:sp>
    </p:spTree>
    <p:custDataLst>
      <p:tags r:id="rId1"/>
    </p:custDataLst>
    <p:extLst>
      <p:ext uri="{BB962C8B-B14F-4D97-AF65-F5344CB8AC3E}">
        <p14:creationId xmlns:p14="http://schemas.microsoft.com/office/powerpoint/2010/main" val="4173415999"/>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defPPr>
              <a:defRPr lang="zh-CN"/>
            </a:defPPr>
            <a:lvl1pPr>
              <a:lnSpc>
                <a:spcPct val="90000"/>
              </a:lnSpc>
              <a:spcBef>
                <a:spcPct val="0"/>
              </a:spcBef>
              <a:buNone/>
              <a:defRPr sz="3600" b="1" i="0" baseline="0">
                <a:effectLst/>
                <a:latin typeface="+mj-lt"/>
                <a:ea typeface="+mj-ea"/>
                <a:cs typeface="+mj-cs"/>
              </a:defRPr>
            </a:lvl1pPr>
          </a:lstStyle>
          <a:p>
            <a:r>
              <a:rPr lang="en-US" altLang="zh-CN" dirty="0"/>
              <a:t>Python</a:t>
            </a:r>
            <a:r>
              <a:rPr lang="zh-CN" altLang="en-US" dirty="0"/>
              <a:t>循环结构</a:t>
            </a:r>
            <a:endParaRPr lang="en-US" altLang="zh-CN" dirty="0"/>
          </a:p>
        </p:txBody>
      </p:sp>
      <p:sp>
        <p:nvSpPr>
          <p:cNvPr id="9" name="文本框 8"/>
          <p:cNvSpPr txBox="1"/>
          <p:nvPr/>
        </p:nvSpPr>
        <p:spPr>
          <a:xfrm>
            <a:off x="3730973" y="1262512"/>
            <a:ext cx="4815742" cy="892552"/>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实例：圆周率的计算</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5" name="矩形 4"/>
          <p:cNvSpPr/>
          <p:nvPr/>
        </p:nvSpPr>
        <p:spPr>
          <a:xfrm>
            <a:off x="1209801" y="2487163"/>
            <a:ext cx="9762911" cy="3108543"/>
          </a:xfrm>
          <a:prstGeom prst="rect">
            <a:avLst/>
          </a:prstGeom>
        </p:spPr>
        <p:txBody>
          <a:bodyPr wrap="square">
            <a:spAutoFit/>
          </a:bodyPr>
          <a:lstStyle/>
          <a:p>
            <a:r>
              <a:rPr lang="zh-CN" altLang="en-US" sz="2800" dirty="0">
                <a:solidFill>
                  <a:schemeClr val="tx1">
                    <a:lumMod val="50000"/>
                  </a:schemeClr>
                </a:solidFill>
              </a:rPr>
              <a:t>蒙特卡罗（</a:t>
            </a:r>
            <a:r>
              <a:rPr lang="en-US" altLang="zh-CN" sz="2800" dirty="0">
                <a:solidFill>
                  <a:schemeClr val="tx1">
                    <a:lumMod val="50000"/>
                  </a:schemeClr>
                </a:solidFill>
              </a:rPr>
              <a:t>Monte Carlo</a:t>
            </a:r>
            <a:r>
              <a:rPr lang="zh-CN" altLang="en-US" sz="2800" dirty="0">
                <a:solidFill>
                  <a:schemeClr val="tx1">
                    <a:lumMod val="50000"/>
                  </a:schemeClr>
                </a:solidFill>
              </a:rPr>
              <a:t>）方法，又称随机抽样或统计试验方法。</a:t>
            </a:r>
            <a:endParaRPr lang="en-US" altLang="zh-CN" sz="2800" dirty="0">
              <a:solidFill>
                <a:schemeClr val="tx1">
                  <a:lumMod val="50000"/>
                </a:schemeClr>
              </a:solidFill>
            </a:endParaRPr>
          </a:p>
          <a:p>
            <a:endParaRPr lang="en-US" altLang="zh-CN" sz="2800" dirty="0">
              <a:solidFill>
                <a:schemeClr val="tx1">
                  <a:lumMod val="50000"/>
                </a:schemeClr>
              </a:solidFill>
            </a:endParaRPr>
          </a:p>
          <a:p>
            <a:r>
              <a:rPr lang="zh-CN" altLang="en-US" sz="2800" dirty="0">
                <a:solidFill>
                  <a:schemeClr val="tx1">
                    <a:lumMod val="50000"/>
                  </a:schemeClr>
                </a:solidFill>
              </a:rPr>
              <a:t>当所要求解的问题是某种事件出现的概率，或者是某个随机变量的期望值时，它们可以通过某种“试验”的方法，得到这种事件出现的频率，或者这个随机变数的平均值，并用它们作为问题的解。</a:t>
            </a:r>
          </a:p>
        </p:txBody>
      </p:sp>
    </p:spTree>
    <p:custDataLst>
      <p:tags r:id="rId1"/>
    </p:custDataLst>
    <p:extLst>
      <p:ext uri="{BB962C8B-B14F-4D97-AF65-F5344CB8AC3E}">
        <p14:creationId xmlns:p14="http://schemas.microsoft.com/office/powerpoint/2010/main" val="1613100262"/>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defPPr>
              <a:defRPr lang="zh-CN"/>
            </a:defPPr>
            <a:lvl1pPr>
              <a:lnSpc>
                <a:spcPct val="90000"/>
              </a:lnSpc>
              <a:spcBef>
                <a:spcPct val="0"/>
              </a:spcBef>
              <a:buNone/>
              <a:defRPr sz="3600" b="1" i="0" baseline="0">
                <a:effectLst/>
                <a:latin typeface="+mj-lt"/>
                <a:ea typeface="+mj-ea"/>
                <a:cs typeface="+mj-cs"/>
              </a:defRPr>
            </a:lvl1pPr>
          </a:lstStyle>
          <a:p>
            <a:r>
              <a:rPr lang="en-US" altLang="zh-CN" dirty="0"/>
              <a:t>Python</a:t>
            </a:r>
            <a:r>
              <a:rPr lang="zh-CN" altLang="en-US" dirty="0"/>
              <a:t>循环结构</a:t>
            </a:r>
            <a:endParaRPr lang="en-US" altLang="zh-CN" dirty="0"/>
          </a:p>
        </p:txBody>
      </p:sp>
      <p:sp>
        <p:nvSpPr>
          <p:cNvPr id="9" name="文本框 8"/>
          <p:cNvSpPr txBox="1"/>
          <p:nvPr/>
        </p:nvSpPr>
        <p:spPr>
          <a:xfrm>
            <a:off x="3730973" y="1262512"/>
            <a:ext cx="4815742" cy="892552"/>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实例：圆周率的计算</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5" name="矩形 4"/>
          <p:cNvSpPr/>
          <p:nvPr/>
        </p:nvSpPr>
        <p:spPr>
          <a:xfrm>
            <a:off x="996946" y="2487163"/>
            <a:ext cx="10061579" cy="3539430"/>
          </a:xfrm>
          <a:prstGeom prst="rect">
            <a:avLst/>
          </a:prstGeom>
        </p:spPr>
        <p:txBody>
          <a:bodyPr wrap="square">
            <a:spAutoFit/>
          </a:bodyPr>
          <a:lstStyle/>
          <a:p>
            <a:r>
              <a:rPr lang="zh-CN" altLang="en-US" sz="2800" dirty="0">
                <a:solidFill>
                  <a:schemeClr val="tx1">
                    <a:lumMod val="50000"/>
                  </a:schemeClr>
                </a:solidFill>
              </a:rPr>
              <a:t>应用蒙特卡罗方法求解</a:t>
            </a:r>
            <a:r>
              <a:rPr lang="en-US" altLang="zh-CN" sz="2800" dirty="0">
                <a:solidFill>
                  <a:schemeClr val="tx1">
                    <a:lumMod val="50000"/>
                  </a:schemeClr>
                </a:solidFill>
              </a:rPr>
              <a:t>π</a:t>
            </a:r>
            <a:r>
              <a:rPr lang="zh-CN" altLang="en-US" sz="2800" dirty="0">
                <a:solidFill>
                  <a:schemeClr val="tx1">
                    <a:lumMod val="50000"/>
                  </a:schemeClr>
                </a:solidFill>
              </a:rPr>
              <a:t>的基本步骤如下：</a:t>
            </a:r>
          </a:p>
          <a:p>
            <a:r>
              <a:rPr lang="en-US" altLang="zh-CN" sz="2800" dirty="0">
                <a:solidFill>
                  <a:schemeClr val="tx1">
                    <a:lumMod val="50000"/>
                  </a:schemeClr>
                </a:solidFill>
              </a:rPr>
              <a:t>    • </a:t>
            </a:r>
            <a:r>
              <a:rPr lang="zh-CN" altLang="en-US" sz="2800" dirty="0">
                <a:solidFill>
                  <a:schemeClr val="tx1">
                    <a:lumMod val="50000"/>
                  </a:schemeClr>
                </a:solidFill>
              </a:rPr>
              <a:t>随机向单位正方形和圆结构，抛洒大量“飞镖”点</a:t>
            </a:r>
          </a:p>
          <a:p>
            <a:r>
              <a:rPr lang="en-US" altLang="zh-CN" sz="2800" dirty="0">
                <a:solidFill>
                  <a:schemeClr val="tx1">
                    <a:lumMod val="50000"/>
                  </a:schemeClr>
                </a:solidFill>
              </a:rPr>
              <a:t>    • </a:t>
            </a:r>
            <a:r>
              <a:rPr lang="zh-CN" altLang="en-US" sz="2800" dirty="0">
                <a:solidFill>
                  <a:schemeClr val="tx1">
                    <a:lumMod val="50000"/>
                  </a:schemeClr>
                </a:solidFill>
              </a:rPr>
              <a:t>计算每个点到圆心的距离从而判断该点在圆内或者圆外</a:t>
            </a:r>
          </a:p>
          <a:p>
            <a:r>
              <a:rPr lang="en-US" altLang="zh-CN" sz="2800" dirty="0">
                <a:solidFill>
                  <a:schemeClr val="tx1">
                    <a:lumMod val="50000"/>
                  </a:schemeClr>
                </a:solidFill>
              </a:rPr>
              <a:t>    • </a:t>
            </a:r>
            <a:r>
              <a:rPr lang="zh-CN" altLang="en-US" sz="2800" dirty="0">
                <a:solidFill>
                  <a:schemeClr val="tx1">
                    <a:lumMod val="50000"/>
                  </a:schemeClr>
                </a:solidFill>
              </a:rPr>
              <a:t>用圆内的点数除以总点数就是</a:t>
            </a:r>
            <a:r>
              <a:rPr lang="en-US" altLang="zh-CN" sz="2800" dirty="0">
                <a:solidFill>
                  <a:schemeClr val="tx1">
                    <a:lumMod val="50000"/>
                  </a:schemeClr>
                </a:solidFill>
              </a:rPr>
              <a:t>π/4</a:t>
            </a:r>
            <a:r>
              <a:rPr lang="zh-CN" altLang="en-US" sz="2800" dirty="0">
                <a:solidFill>
                  <a:schemeClr val="tx1">
                    <a:lumMod val="50000"/>
                  </a:schemeClr>
                </a:solidFill>
              </a:rPr>
              <a:t>值。</a:t>
            </a:r>
          </a:p>
          <a:p>
            <a:endParaRPr lang="en-US" altLang="zh-CN" sz="2800" dirty="0">
              <a:solidFill>
                <a:schemeClr val="tx1">
                  <a:lumMod val="50000"/>
                </a:schemeClr>
              </a:solidFill>
            </a:endParaRPr>
          </a:p>
          <a:p>
            <a:r>
              <a:rPr lang="zh-CN" altLang="en-US" sz="2800" dirty="0">
                <a:solidFill>
                  <a:schemeClr val="tx1">
                    <a:lumMod val="50000"/>
                  </a:schemeClr>
                </a:solidFill>
              </a:rPr>
              <a:t>随机点数量越大，越充分覆盖整个图形，计算得到的</a:t>
            </a:r>
            <a:r>
              <a:rPr lang="en-US" altLang="zh-CN" sz="2800" dirty="0">
                <a:solidFill>
                  <a:schemeClr val="tx1">
                    <a:lumMod val="50000"/>
                  </a:schemeClr>
                </a:solidFill>
              </a:rPr>
              <a:t>π</a:t>
            </a:r>
            <a:r>
              <a:rPr lang="zh-CN" altLang="en-US" sz="2800" dirty="0">
                <a:solidFill>
                  <a:schemeClr val="tx1">
                    <a:lumMod val="50000"/>
                  </a:schemeClr>
                </a:solidFill>
              </a:rPr>
              <a:t>值越精</a:t>
            </a:r>
          </a:p>
          <a:p>
            <a:r>
              <a:rPr lang="zh-CN" altLang="en-US" sz="2800" dirty="0">
                <a:solidFill>
                  <a:schemeClr val="tx1">
                    <a:lumMod val="50000"/>
                  </a:schemeClr>
                </a:solidFill>
              </a:rPr>
              <a:t>确。实际上，这个方法的思想是利用离散点值表示图形的面</a:t>
            </a:r>
          </a:p>
          <a:p>
            <a:r>
              <a:rPr lang="zh-CN" altLang="en-US" sz="2800" dirty="0">
                <a:solidFill>
                  <a:schemeClr val="tx1">
                    <a:lumMod val="50000"/>
                  </a:schemeClr>
                </a:solidFill>
              </a:rPr>
              <a:t>积，通过面积比例来求解</a:t>
            </a:r>
            <a:r>
              <a:rPr lang="en-US" altLang="zh-CN" sz="2800" dirty="0">
                <a:solidFill>
                  <a:schemeClr val="tx1">
                    <a:lumMod val="50000"/>
                  </a:schemeClr>
                </a:solidFill>
              </a:rPr>
              <a:t>π</a:t>
            </a:r>
            <a:r>
              <a:rPr lang="zh-CN" altLang="en-US" sz="2800" dirty="0">
                <a:solidFill>
                  <a:schemeClr val="tx1">
                    <a:lumMod val="50000"/>
                  </a:schemeClr>
                </a:solidFill>
              </a:rPr>
              <a:t>值。</a:t>
            </a:r>
          </a:p>
        </p:txBody>
      </p:sp>
    </p:spTree>
    <p:custDataLst>
      <p:tags r:id="rId1"/>
    </p:custDataLst>
    <p:extLst>
      <p:ext uri="{BB962C8B-B14F-4D97-AF65-F5344CB8AC3E}">
        <p14:creationId xmlns:p14="http://schemas.microsoft.com/office/powerpoint/2010/main" val="2362428131"/>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defPPr>
              <a:defRPr lang="zh-CN"/>
            </a:defPPr>
            <a:lvl1pPr>
              <a:lnSpc>
                <a:spcPct val="90000"/>
              </a:lnSpc>
              <a:spcBef>
                <a:spcPct val="0"/>
              </a:spcBef>
              <a:buNone/>
              <a:defRPr sz="3600" b="1" i="0" baseline="0">
                <a:effectLst/>
                <a:latin typeface="+mj-lt"/>
                <a:ea typeface="+mj-ea"/>
                <a:cs typeface="+mj-cs"/>
              </a:defRPr>
            </a:lvl1pPr>
          </a:lstStyle>
          <a:p>
            <a:r>
              <a:rPr lang="en-US" altLang="zh-CN" dirty="0"/>
              <a:t>Python</a:t>
            </a:r>
            <a:r>
              <a:rPr lang="zh-CN" altLang="en-US" dirty="0"/>
              <a:t>循环结构</a:t>
            </a:r>
            <a:endParaRPr lang="en-US" altLang="zh-CN" dirty="0"/>
          </a:p>
        </p:txBody>
      </p:sp>
      <p:sp>
        <p:nvSpPr>
          <p:cNvPr id="9" name="文本框 8"/>
          <p:cNvSpPr txBox="1"/>
          <p:nvPr/>
        </p:nvSpPr>
        <p:spPr>
          <a:xfrm>
            <a:off x="3730973" y="999466"/>
            <a:ext cx="4815742" cy="892552"/>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实例：圆周率的计算</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pic>
        <p:nvPicPr>
          <p:cNvPr id="2" name="图片 1"/>
          <p:cNvPicPr>
            <a:picLocks noChangeAspect="1"/>
          </p:cNvPicPr>
          <p:nvPr/>
        </p:nvPicPr>
        <p:blipFill>
          <a:blip r:embed="rId5" cstate="print"/>
          <a:stretch>
            <a:fillRect/>
          </a:stretch>
        </p:blipFill>
        <p:spPr>
          <a:xfrm>
            <a:off x="2216893" y="1961071"/>
            <a:ext cx="7843901" cy="4034812"/>
          </a:xfrm>
          <a:prstGeom prst="rect">
            <a:avLst/>
          </a:prstGeom>
        </p:spPr>
      </p:pic>
    </p:spTree>
    <p:custDataLst>
      <p:tags r:id="rId1"/>
    </p:custDataLst>
    <p:extLst>
      <p:ext uri="{BB962C8B-B14F-4D97-AF65-F5344CB8AC3E}">
        <p14:creationId xmlns:p14="http://schemas.microsoft.com/office/powerpoint/2010/main" val="650088009"/>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2318" y="230819"/>
            <a:ext cx="11037878" cy="699594"/>
          </a:xfrm>
          <a:prstGeom prst="rect">
            <a:avLst/>
          </a:prstGeom>
        </p:spPr>
        <p:txBody>
          <a:bodyPr vert="horz" lIns="91440" tIns="45720" rIns="91440" bIns="45720" rtlCol="0" anchor="b">
            <a:normAutofit/>
          </a:bodyPr>
          <a:lstStyle>
            <a:defPPr>
              <a:defRPr lang="zh-CN"/>
            </a:defPPr>
            <a:lvl1pPr>
              <a:lnSpc>
                <a:spcPct val="90000"/>
              </a:lnSpc>
              <a:spcBef>
                <a:spcPct val="0"/>
              </a:spcBef>
              <a:buNone/>
              <a:defRPr sz="3600" b="1" i="0" baseline="0">
                <a:effectLst/>
                <a:latin typeface="+mj-lt"/>
                <a:ea typeface="+mj-ea"/>
                <a:cs typeface="+mj-cs"/>
              </a:defRPr>
            </a:lvl1pPr>
          </a:lstStyle>
          <a:p>
            <a:r>
              <a:rPr lang="en-US" altLang="zh-CN" dirty="0"/>
              <a:t>Python</a:t>
            </a:r>
            <a:r>
              <a:rPr lang="zh-CN" altLang="en-US" dirty="0"/>
              <a:t>循环结构</a:t>
            </a:r>
            <a:endParaRPr lang="en-US" altLang="zh-CN" dirty="0"/>
          </a:p>
        </p:txBody>
      </p:sp>
      <p:sp>
        <p:nvSpPr>
          <p:cNvPr id="9" name="文本框 8"/>
          <p:cNvSpPr txBox="1"/>
          <p:nvPr/>
        </p:nvSpPr>
        <p:spPr>
          <a:xfrm>
            <a:off x="3730973" y="918047"/>
            <a:ext cx="4815742" cy="892552"/>
          </a:xfrm>
          <a:prstGeom prst="rect">
            <a:avLst/>
          </a:prstGeom>
          <a:noFill/>
        </p:spPr>
        <p:txBody>
          <a:bodyPr wrap="none" rtlCol="0">
            <a:spAutoFit/>
          </a:bodyPr>
          <a:lstStyle/>
          <a:p>
            <a:pPr>
              <a:lnSpc>
                <a:spcPct val="130000"/>
              </a:lnSpc>
            </a:pPr>
            <a:r>
              <a:rPr lang="zh-CN" altLang="en-US" sz="4000" b="1" dirty="0">
                <a:solidFill>
                  <a:schemeClr val="tx1">
                    <a:lumMod val="50000"/>
                  </a:schemeClr>
                </a:solidFill>
                <a:latin typeface="宋体" panose="02010600030101010101" pitchFamily="2" charset="-122"/>
                <a:ea typeface="宋体" panose="02010600030101010101" pitchFamily="2" charset="-122"/>
              </a:rPr>
              <a:t>实例：圆周率的计算</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pic>
        <p:nvPicPr>
          <p:cNvPr id="4" name="图片 3"/>
          <p:cNvPicPr>
            <a:picLocks noChangeAspect="1"/>
          </p:cNvPicPr>
          <p:nvPr/>
        </p:nvPicPr>
        <p:blipFill>
          <a:blip r:embed="rId5" cstate="print"/>
          <a:stretch>
            <a:fillRect/>
          </a:stretch>
        </p:blipFill>
        <p:spPr>
          <a:xfrm>
            <a:off x="777519" y="1710390"/>
            <a:ext cx="5361325" cy="4502911"/>
          </a:xfrm>
          <a:prstGeom prst="rect">
            <a:avLst/>
          </a:prstGeom>
        </p:spPr>
      </p:pic>
      <p:pic>
        <p:nvPicPr>
          <p:cNvPr id="5" name="图片 4"/>
          <p:cNvPicPr>
            <a:picLocks noChangeAspect="1"/>
          </p:cNvPicPr>
          <p:nvPr/>
        </p:nvPicPr>
        <p:blipFill>
          <a:blip r:embed="rId6" cstate="print"/>
          <a:stretch>
            <a:fillRect/>
          </a:stretch>
        </p:blipFill>
        <p:spPr>
          <a:xfrm>
            <a:off x="6411781" y="1747968"/>
            <a:ext cx="5198415" cy="2056262"/>
          </a:xfrm>
          <a:prstGeom prst="rect">
            <a:avLst/>
          </a:prstGeom>
        </p:spPr>
      </p:pic>
    </p:spTree>
    <p:custDataLst>
      <p:tags r:id="rId1"/>
    </p:custDataLst>
    <p:extLst>
      <p:ext uri="{BB962C8B-B14F-4D97-AF65-F5344CB8AC3E}">
        <p14:creationId xmlns:p14="http://schemas.microsoft.com/office/powerpoint/2010/main" val="3729421656"/>
      </p:ext>
    </p:ext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p:nvPr/>
        </p:nvSpPr>
        <p:spPr>
          <a:xfrm>
            <a:off x="2882686" y="1994977"/>
            <a:ext cx="4307589" cy="2492990"/>
          </a:xfrm>
          <a:prstGeom prst="rect">
            <a:avLst/>
          </a:prstGeom>
          <a:noFill/>
        </p:spPr>
        <p:txBody>
          <a:bodyPr wrap="none" rtlCol="0">
            <a:spAutoFit/>
          </a:bodyPr>
          <a:lstStyle/>
          <a:p>
            <a:pPr>
              <a:lnSpc>
                <a:spcPct val="130000"/>
              </a:lnSpc>
            </a:pPr>
            <a:r>
              <a:rPr lang="en-US" altLang="zh-CN" sz="4000" b="1" dirty="0">
                <a:latin typeface="宋体" panose="02010600030101010101" pitchFamily="2" charset="-122"/>
                <a:ea typeface="宋体" panose="02010600030101010101" pitchFamily="2" charset="-122"/>
              </a:rPr>
              <a:t>1 </a:t>
            </a:r>
            <a:r>
              <a:rPr lang="zh-CN" altLang="en-US" sz="4000" b="1" dirty="0">
                <a:latin typeface="宋体" panose="02010600030101010101" pitchFamily="2" charset="-122"/>
                <a:ea typeface="宋体" panose="02010600030101010101" pitchFamily="2" charset="-122"/>
              </a:rPr>
              <a:t>程序的流程图</a:t>
            </a:r>
            <a:endParaRPr lang="en-US" altLang="zh-CN" sz="4000" b="1" dirty="0">
              <a:latin typeface="宋体" panose="02010600030101010101" pitchFamily="2" charset="-122"/>
              <a:ea typeface="宋体" panose="02010600030101010101" pitchFamily="2" charset="-122"/>
            </a:endParaRPr>
          </a:p>
          <a:p>
            <a:pPr>
              <a:lnSpc>
                <a:spcPct val="130000"/>
              </a:lnSpc>
            </a:pPr>
            <a:r>
              <a:rPr lang="en-US" altLang="zh-CN" sz="4000" b="1" dirty="0">
                <a:solidFill>
                  <a:schemeClr val="tx1">
                    <a:lumMod val="50000"/>
                  </a:schemeClr>
                </a:solidFill>
                <a:latin typeface="宋体" panose="02010600030101010101" pitchFamily="2" charset="-122"/>
                <a:ea typeface="宋体" panose="02010600030101010101" pitchFamily="2" charset="-122"/>
              </a:rPr>
              <a:t>2 Python</a:t>
            </a:r>
            <a:r>
              <a:rPr lang="zh-CN" altLang="en-US" sz="4000" b="1" dirty="0">
                <a:solidFill>
                  <a:schemeClr val="tx1">
                    <a:lumMod val="50000"/>
                  </a:schemeClr>
                </a:solidFill>
                <a:latin typeface="宋体" panose="02010600030101010101" pitchFamily="2" charset="-122"/>
                <a:ea typeface="宋体" panose="02010600030101010101" pitchFamily="2" charset="-122"/>
              </a:rPr>
              <a:t>分支结构</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a:p>
            <a:pPr>
              <a:lnSpc>
                <a:spcPct val="130000"/>
              </a:lnSpc>
            </a:pPr>
            <a:r>
              <a:rPr lang="en-US" altLang="zh-CN" sz="4000" b="1" dirty="0">
                <a:solidFill>
                  <a:schemeClr val="tx1">
                    <a:lumMod val="50000"/>
                  </a:schemeClr>
                </a:solidFill>
                <a:latin typeface="宋体" panose="02010600030101010101" pitchFamily="2" charset="-122"/>
                <a:ea typeface="宋体" panose="02010600030101010101" pitchFamily="2" charset="-122"/>
              </a:rPr>
              <a:t>3 Python</a:t>
            </a:r>
            <a:r>
              <a:rPr lang="zh-CN" altLang="en-US" sz="4000" b="1" dirty="0">
                <a:solidFill>
                  <a:schemeClr val="tx1">
                    <a:lumMod val="50000"/>
                  </a:schemeClr>
                </a:solidFill>
                <a:latin typeface="宋体" panose="02010600030101010101" pitchFamily="2" charset="-122"/>
                <a:ea typeface="宋体" panose="02010600030101010101" pitchFamily="2" charset="-122"/>
              </a:rPr>
              <a:t>循环结构</a:t>
            </a:r>
            <a:endParaRPr lang="en-US" altLang="zh-CN" sz="4000" b="1" dirty="0">
              <a:solidFill>
                <a:schemeClr val="tx1">
                  <a:lumMod val="50000"/>
                </a:schemeClr>
              </a:solidFill>
              <a:latin typeface="宋体" panose="02010600030101010101" pitchFamily="2" charset="-122"/>
              <a:ea typeface="宋体" panose="02010600030101010101" pitchFamily="2" charset="-122"/>
            </a:endParaRPr>
          </a:p>
        </p:txBody>
      </p:sp>
      <p:sp>
        <p:nvSpPr>
          <p:cNvPr id="6" name="标题 5"/>
          <p:cNvSpPr>
            <a:spLocks noGrp="1"/>
          </p:cNvSpPr>
          <p:nvPr>
            <p:ph type="title"/>
          </p:nvPr>
        </p:nvSpPr>
        <p:spPr>
          <a:xfrm>
            <a:off x="406400" y="88900"/>
            <a:ext cx="11582400" cy="838200"/>
          </a:xfrm>
        </p:spPr>
        <p:txBody>
          <a:bodyPr vert="horz" lIns="91440" tIns="45720" rIns="91440" bIns="45720" rtlCol="0" anchor="b">
            <a:normAutofit/>
          </a:bodyPr>
          <a:lstStyle/>
          <a:p>
            <a:pPr>
              <a:lnSpc>
                <a:spcPct val="90000"/>
              </a:lnSpc>
            </a:pPr>
            <a:r>
              <a:rPr lang="zh-CN" altLang="en-US" sz="3600" b="1" kern="1200" dirty="0"/>
              <a:t>小结</a:t>
            </a:r>
          </a:p>
        </p:txBody>
      </p:sp>
    </p:spTree>
    <p:custDataLst>
      <p:tags r:id="rId1"/>
    </p:custData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MH" val="20150923180313"/>
  <p:tag name="MH_LIBRARY" val="CONTENTS"/>
  <p:tag name="MH_TYPE" val="OTHERS"/>
  <p:tag name="ID" val="547126"/>
</p:tagLst>
</file>

<file path=ppt/tags/tag2.xml><?xml version="1.0" encoding="utf-8"?>
<p:tagLst xmlns:a="http://schemas.openxmlformats.org/drawingml/2006/main" xmlns:r="http://schemas.openxmlformats.org/officeDocument/2006/relationships" xmlns:p="http://schemas.openxmlformats.org/presentationml/2006/main">
  <p:tag name="MH" val="20150923180313"/>
  <p:tag name="MH_LIBRARY" val="CONTENTS"/>
  <p:tag name="MH_TYPE" val="NUMBER"/>
  <p:tag name="ID" val="547126"/>
  <p:tag name="MH_ORDER" val="NUMBER"/>
</p:tagLst>
</file>

<file path=ppt/tags/tag3.xml><?xml version="1.0" encoding="utf-8"?>
<p:tagLst xmlns:a="http://schemas.openxmlformats.org/drawingml/2006/main" xmlns:r="http://schemas.openxmlformats.org/officeDocument/2006/relationships" xmlns:p="http://schemas.openxmlformats.org/presentationml/2006/main">
  <p:tag name="MH" val="20150923180313"/>
  <p:tag name="MH_LIBRARY" val="CONTENTS"/>
  <p:tag name="MH_TYPE" val="OTHERS"/>
  <p:tag name="ID" val="547126"/>
</p:tagLst>
</file>

<file path=ppt/tags/tag4.xml><?xml version="1.0" encoding="utf-8"?>
<p:tagLst xmlns:a="http://schemas.openxmlformats.org/drawingml/2006/main" xmlns:r="http://schemas.openxmlformats.org/officeDocument/2006/relationships" xmlns:p="http://schemas.openxmlformats.org/presentationml/2006/main">
  <p:tag name="MH" val="20150923180313"/>
  <p:tag name="MH_LIBRARY" val="CONTENTS"/>
  <p:tag name="MH_TYPE" val="NUMBER"/>
  <p:tag name="ID" val="547126"/>
  <p:tag name="MH_ORDER" val="NUMBER"/>
</p:tagLst>
</file>

<file path=ppt/tags/tag5.xml><?xml version="1.0" encoding="utf-8"?>
<p:tagLst xmlns:a="http://schemas.openxmlformats.org/drawingml/2006/main" xmlns:r="http://schemas.openxmlformats.org/officeDocument/2006/relationships" xmlns:p="http://schemas.openxmlformats.org/presentationml/2006/main">
  <p:tag name="MH" val="20151014092127"/>
  <p:tag name="MH_LIBRARY" val="GRAPHIC"/>
  <p:tag name="MH_ORDER" val="Freeform 36"/>
</p:tagLst>
</file>

<file path=ppt/tags/tag6.xml><?xml version="1.0" encoding="utf-8"?>
<p:tagLst xmlns:a="http://schemas.openxmlformats.org/drawingml/2006/main" xmlns:r="http://schemas.openxmlformats.org/officeDocument/2006/relationships" xmlns:p="http://schemas.openxmlformats.org/presentationml/2006/main">
  <p:tag name="MH" val="20151014092127"/>
  <p:tag name="MH_LIBRARY" val="GRAPHIC"/>
  <p:tag name="MH_ORDER" val="Freeform 34"/>
</p:tagLst>
</file>

<file path=ppt/tags/tag7.xml><?xml version="1.0" encoding="utf-8"?>
<p:tagLst xmlns:a="http://schemas.openxmlformats.org/drawingml/2006/main" xmlns:r="http://schemas.openxmlformats.org/officeDocument/2006/relationships" xmlns:p="http://schemas.openxmlformats.org/presentationml/2006/main">
  <p:tag name="MH" val="20151014092127"/>
  <p:tag name="MH_LIBRARY" val="GRAPHIC"/>
  <p:tag name="MH_ORDER" val="Freeform 35"/>
</p:tagLst>
</file>

<file path=ppt/tags/tag8.xml><?xml version="1.0" encoding="utf-8"?>
<p:tagLst xmlns:a="http://schemas.openxmlformats.org/drawingml/2006/main" xmlns:r="http://schemas.openxmlformats.org/officeDocument/2006/relationships" xmlns:p="http://schemas.openxmlformats.org/presentationml/2006/main">
  <p:tag name="MH" val="20151014092127"/>
  <p:tag name="MH_LIBRARY" val="GRAPHIC"/>
  <p:tag name="MH_ORDER" val="Freeform 38"/>
</p:tagLst>
</file>

<file path=ppt/tags/tag9.xml><?xml version="1.0" encoding="utf-8"?>
<p:tagLst xmlns:a="http://schemas.openxmlformats.org/drawingml/2006/main" xmlns:r="http://schemas.openxmlformats.org/officeDocument/2006/relationships" xmlns:p="http://schemas.openxmlformats.org/presentationml/2006/main">
  <p:tag name="MH" val="20150923180313"/>
  <p:tag name="MH_LIBRARY" val="CONTENTS"/>
  <p:tag name="MH_TYPE" val="OTHERS"/>
  <p:tag name="ID" val="547126"/>
</p:tagLst>
</file>

<file path=ppt/tags/tag10.xml><?xml version="1.0" encoding="utf-8"?>
<p:tagLst xmlns:a="http://schemas.openxmlformats.org/drawingml/2006/main" xmlns:r="http://schemas.openxmlformats.org/officeDocument/2006/relationships" xmlns:p="http://schemas.openxmlformats.org/presentationml/2006/main">
  <p:tag name="MH" val="20150923180313"/>
  <p:tag name="MH_LIBRARY" val="CONTENTS"/>
  <p:tag name="MH_TYPE" val="NUMBER"/>
  <p:tag name="ID" val="547126"/>
  <p:tag name="MH_ORDER" val="NUMBER"/>
</p:tagLst>
</file>

<file path=ppt/tags/tag11.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13.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15.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17.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19.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21.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23.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25.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27.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29.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31.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33.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35.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37.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39.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41.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43.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45.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47.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49.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51.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53.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55.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57.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59.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61.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63.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65.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67.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69.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71.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73.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75.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77.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79.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81.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83.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85.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87.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89.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91.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93.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95.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97.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99.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1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101.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1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103.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1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105.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10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107.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10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109.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1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111.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1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113.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1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115.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1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117.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1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119.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1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121.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1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123.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1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125.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1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127.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1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129.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1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131.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1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133.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1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135.xml><?xml version="1.0" encoding="utf-8"?>
<p:tagLst xmlns:a="http://schemas.openxmlformats.org/drawingml/2006/main" xmlns:r="http://schemas.openxmlformats.org/officeDocument/2006/relationships" xmlns:p="http://schemas.openxmlformats.org/presentationml/2006/main">
  <p:tag name="MH_TYPE" val="#NeiR#"/>
  <p:tag name="MH_NUMBER" val="6"/>
  <p:tag name="MH_CATEGORY" val="#LiuChBZh#"/>
  <p:tag name="MH_LAYOUT" val="SubTitle"/>
  <p:tag name="MH" val="20150924172147"/>
  <p:tag name="MH_LIBRARY" val="GRAPHIC"/>
  <p:tag name="KSO_WM_TEMPLATE_CATEGORY" val="custom"/>
  <p:tag name="KSO_WM_TEMPLATE_INDEX" val="160107"/>
  <p:tag name="KSO_WM_TAG_VERSION" val="1.0"/>
  <p:tag name="KSO_WM_SLIDE_ID" val="custom160107_13"/>
  <p:tag name="KSO_WM_SLIDE_INDEX" val="13"/>
  <p:tag name="KSO_WM_SLIDE_ITEM_CNT" val="1"/>
  <p:tag name="KSO_WM_SLIDE_LAYOUT" val="a_m"/>
  <p:tag name="KSO_WM_SLIDE_LAYOUT_CNT" val="1_1"/>
  <p:tag name="KSO_WM_SLIDE_TYPE" val="text"/>
  <p:tag name="KSO_WM_BEAUTIFY_FLAG" val="#wm#"/>
  <p:tag name="KSO_WM_SLIDE_POSITION" val="371*202"/>
  <p:tag name="KSO_WM_SLIDE_SIZE" val="216*130"/>
  <p:tag name="KSO_WM_DIAGRAM_GROUP_CODE" val="m1-1"/>
</p:tagLst>
</file>

<file path=ppt/tags/tag1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107"/>
  <p:tag name="MH" val="20150924172147"/>
  <p:tag name="MH_LIBRARY" val="GRAPHIC"/>
  <p:tag name="MH_TYPE" val="PageTitle"/>
  <p:tag name="MH_ORDER" val="PageTitle"/>
  <p:tag name="KSO_WM_UNIT_TYPE" val="a"/>
  <p:tag name="KSO_WM_UNIT_INDEX" val="1"/>
  <p:tag name="KSO_WM_UNIT_ID" val="custom160107_13*a*1"/>
  <p:tag name="KSO_WM_UNIT_CLEAR" val="1"/>
  <p:tag name="KSO_WM_UNIT_LAYERLEVEL" val="1"/>
  <p:tag name="KSO_WM_UNIT_VALUE" val="26"/>
  <p:tag name="KSO_WM_UNIT_ISCONTENTSTITLE" val="0"/>
  <p:tag name="KSO_WM_UNIT_HIGHLIGHT" val="0"/>
  <p:tag name="KSO_WM_UNIT_COMPATIBLE" val="0"/>
  <p:tag name="KSO_WM_UNIT_PRESET_TEXT_INDEX" val="3"/>
  <p:tag name="KSO_WM_UNIT_PRESET_TEXT_LEN" val="17"/>
</p:tagLst>
</file>

<file path=ppt/tags/tag137.xml><?xml version="1.0" encoding="utf-8"?>
<p:tagLst xmlns:a="http://schemas.openxmlformats.org/drawingml/2006/main" xmlns:r="http://schemas.openxmlformats.org/officeDocument/2006/relationships" xmlns:p="http://schemas.openxmlformats.org/presentationml/2006/main">
  <p:tag name="MH" val="20151014092127"/>
  <p:tag name="MH_LIBRARY" val="GRAPHIC"/>
  <p:tag name="KSO_WM_TEMPLATE_CATEGORY" val="custom"/>
  <p:tag name="KSO_WM_TEMPLATE_INDEX" val="160107"/>
  <p:tag name="KSO_WM_TAG_VERSION" val="1.0"/>
  <p:tag name="KSO_WM_SLIDE_ID" val="custom160107_29"/>
  <p:tag name="KSO_WM_SLIDE_INDEX" val="29"/>
  <p:tag name="KSO_WM_SLIDE_ITEM_CNT" val="2"/>
  <p:tag name="KSO_WM_SLIDE_LAYOUT" val="a_b"/>
  <p:tag name="KSO_WM_SLIDE_LAYOUT_CNT" val="1_1"/>
  <p:tag name="KSO_WM_SLIDE_TYPE" val="endPage"/>
  <p:tag name="KSO_WM_BEAUTIFY_FLAG" val="#wm#"/>
</p:tagLst>
</file>

<file path=ppt/theme/theme1.xml><?xml version="1.0" encoding="utf-8"?>
<a:theme xmlns:a="http://schemas.openxmlformats.org/drawingml/2006/main" name="主题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2.1 Python基本数据类型</Template>
  <TotalTime>10298</TotalTime>
  <Words>2078</Words>
  <Application>Microsoft Office PowerPoint</Application>
  <PresentationFormat>宽屏</PresentationFormat>
  <Paragraphs>418</Paragraphs>
  <Slides>64</Slides>
  <Notes>64</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64</vt:i4>
      </vt:variant>
    </vt:vector>
  </HeadingPairs>
  <TitlesOfParts>
    <vt:vector size="71" baseType="lpstr">
      <vt:lpstr>宋体</vt:lpstr>
      <vt:lpstr>Arial</vt:lpstr>
      <vt:lpstr>Calibri</vt:lpstr>
      <vt:lpstr>Times New Roman</vt:lpstr>
      <vt:lpstr>Verdana</vt:lpstr>
      <vt:lpstr>Wingdings</vt:lpstr>
      <vt:lpstr>主题1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小结</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Mengqi Xue</cp:lastModifiedBy>
  <cp:revision>484</cp:revision>
  <dcterms:created xsi:type="dcterms:W3CDTF">2015-09-21T02:28:00Z</dcterms:created>
  <dcterms:modified xsi:type="dcterms:W3CDTF">2025-12-29T12:22:56Z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2052-10.1.0.5420</vt:lpwstr>
  </property>
</Properties>
</file>