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10" r:id="rId2"/>
    <p:sldId id="256" r:id="rId3"/>
    <p:sldId id="325" r:id="rId4"/>
    <p:sldId id="276" r:id="rId5"/>
    <p:sldId id="278" r:id="rId6"/>
    <p:sldId id="311" r:id="rId7"/>
    <p:sldId id="312" r:id="rId8"/>
    <p:sldId id="313" r:id="rId9"/>
    <p:sldId id="314" r:id="rId10"/>
    <p:sldId id="328" r:id="rId11"/>
    <p:sldId id="332" r:id="rId12"/>
    <p:sldId id="315" r:id="rId13"/>
    <p:sldId id="333" r:id="rId14"/>
    <p:sldId id="274" r:id="rId15"/>
    <p:sldId id="280" r:id="rId16"/>
    <p:sldId id="282" r:id="rId17"/>
    <p:sldId id="317" r:id="rId18"/>
    <p:sldId id="319" r:id="rId19"/>
    <p:sldId id="318" r:id="rId20"/>
    <p:sldId id="289" r:id="rId21"/>
    <p:sldId id="334" r:id="rId22"/>
    <p:sldId id="320" r:id="rId23"/>
    <p:sldId id="335" r:id="rId24"/>
    <p:sldId id="296" r:id="rId25"/>
    <p:sldId id="321" r:id="rId26"/>
    <p:sldId id="322" r:id="rId27"/>
    <p:sldId id="324" r:id="rId28"/>
    <p:sldId id="336" r:id="rId29"/>
    <p:sldId id="337" r:id="rId30"/>
    <p:sldId id="329" r:id="rId31"/>
    <p:sldId id="340" r:id="rId32"/>
    <p:sldId id="343" r:id="rId33"/>
    <p:sldId id="345" r:id="rId34"/>
    <p:sldId id="342" r:id="rId35"/>
    <p:sldId id="341" r:id="rId36"/>
    <p:sldId id="331" r:id="rId37"/>
    <p:sldId id="338" r:id="rId38"/>
    <p:sldId id="339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46" r:id="rId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2791" autoAdjust="0"/>
  </p:normalViewPr>
  <p:slideViewPr>
    <p:cSldViewPr>
      <p:cViewPr varScale="1">
        <p:scale>
          <a:sx n="102" d="100"/>
          <a:sy n="102" d="100"/>
        </p:scale>
        <p:origin x="1156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AEFB5-3559-4F55-BD69-23020FDD9EA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3A442-8CCC-4BE1-A6C1-CD054167CD0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0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34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05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80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15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69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3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40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86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56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70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42D1A-EF03-4242-9A58-83514B1E9234}" type="datetimeFigureOut">
              <a:rPr lang="zh-CN" altLang="en-US" smtClean="0"/>
              <a:pPr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6F85E-763C-4C23-8959-D0567E1CAB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96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268632" y="1484784"/>
            <a:ext cx="726380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r>
              <a:rPr lang="en-US" altLang="zh-CN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NumPy</a:t>
            </a: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003" y="4365104"/>
            <a:ext cx="4755063" cy="161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4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5465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407" y="1054448"/>
            <a:ext cx="82011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的一种开源的数值计算扩展库。它包含很多功能：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维数组（矩阵）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对数组进行函数运算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数值积分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线性代数运算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傅里叶变换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随机数产生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······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3321830"/>
            <a:ext cx="4521804" cy="303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8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889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407" y="1054448"/>
            <a:ext cx="82011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（列表）保存值，可以当做数组使用，但因为列表中的元素可以是任何对象，所以浪费了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运算时间和内存。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诞生为了弥补这些缺陷。它提供了两种基本的对象：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：全称（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n-dimensional array object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）是储存单一数据类型的多维数组。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：全称（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universal function object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）它是一种能够对数组进行处理的函数。</a:t>
            </a:r>
            <a:endParaRPr lang="en-US" altLang="zh-CN" sz="2400" dirty="0"/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的官方文档：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https://docs.scipy.org/doc/numpy/reference/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342" y="5445224"/>
            <a:ext cx="1030213" cy="103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2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71600" y="908720"/>
            <a:ext cx="65527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en-US" altLang="zh-CN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z="6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ndarray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的创建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ndarray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ndarray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结构数组</a:t>
            </a:r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6483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的创建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908720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中的核心对象是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可以看成数组，类似于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语言的向量或者矩阵。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里面所有的函数都是围绕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展开的。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2144971"/>
            <a:ext cx="8208912" cy="34163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np.array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([1, 2, 3, 4])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b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np.array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((5, 6, 7, 8))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c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np.array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([[1, 2, 3, 4],[5, 6, 7, 8], [9, 10, 11, 12]])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                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     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        </a:t>
            </a:r>
          </a:p>
          <a:p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</a:t>
            </a:r>
          </a:p>
          <a:p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[5, 6, 7, 8]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[[ 1,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2,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3,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4],</a:t>
            </a:r>
          </a:p>
          <a:p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5,   6,   7,   8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],</a:t>
            </a:r>
          </a:p>
          <a:p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[ 9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10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11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pl-PL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5589240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对维数没有限制。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 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从内到外分别为第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轴，第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轴，第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03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的创建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908720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专门用于生成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，提高创建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的速度。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2395" y="1752447"/>
            <a:ext cx="8079209" cy="489364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np.arange(0, 1, 0.1)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array([ 0. ,  0.1,  0.2,  0.3,  0.4,  0.5,  0.6,  0.7,  0.8,  0.9])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b = np.linspace(0, 1, 10)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array([ 0.     ,  0.11111111,  0.22222222,  0.33333333,  0.44444444,0.55555556,  0.66666667,  0.77777778,  0.88888889,  1.     ])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c = np.linspace(0, 1, 10, endpoint=False)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array([ 0. ,  0.1,  0.2,  0.3,  0.4,  0.5,  0.6,  0.7,  0.8,  0.9])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fr-F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d = np.logspace(0, 2, 5)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  1. ,    3.16227766,   10.,   31.6227766 ,  100.])</a:t>
            </a:r>
          </a:p>
        </p:txBody>
      </p:sp>
    </p:spTree>
    <p:extLst>
      <p:ext uri="{BB962C8B-B14F-4D97-AF65-F5344CB8AC3E}">
        <p14:creationId xmlns:p14="http://schemas.microsoft.com/office/powerpoint/2010/main" val="28978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的创建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442877"/>
              </p:ext>
            </p:extLst>
          </p:nvPr>
        </p:nvGraphicFramePr>
        <p:xfrm>
          <a:off x="426368" y="1052736"/>
          <a:ext cx="8291265" cy="2160240"/>
        </p:xfrm>
        <a:graphic>
          <a:graphicData uri="http://schemas.openxmlformats.org/drawingml/2006/table">
            <a:tbl>
              <a:tblPr/>
              <a:tblGrid>
                <a:gridCol w="486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5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932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np.empty((2,3), np.int)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的整形型空矩阵，只分配内存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932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np.zeros(4, np.int)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创建长度为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，值为全部为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的矩阵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376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np.full(4, np.pi)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创建长度为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，值为全部为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的矩阵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7544" y="3722256"/>
            <a:ext cx="8208912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def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% 4 + 1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np.fromfunction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(10,))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array([ 1.,  2.,  3.,  4.,  1.,  2.,  3.,  4.,  1.,  2.])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3284984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还可以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自定义函数产生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5661248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fromfunction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第一个参数接收计算函数，第二个参数接收数组的形状。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465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052736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的元素具有相同的元素类型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。常用的有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（整型），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float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（浮点型），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complex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（复数型）。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4694" y="1988840"/>
            <a:ext cx="8208912" cy="163121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a </a:t>
            </a:r>
            <a:r>
              <a:rPr lang="da-DK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= np.array([1, 2, 3, 4], dtype=float)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array([ 1.,  2.,  3.,  4.])</a:t>
            </a: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a.dtype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dtype('float64')</a:t>
            </a:r>
          </a:p>
        </p:txBody>
      </p:sp>
      <p:sp>
        <p:nvSpPr>
          <p:cNvPr id="7" name="矩形 6"/>
          <p:cNvSpPr/>
          <p:nvPr/>
        </p:nvSpPr>
        <p:spPr>
          <a:xfrm>
            <a:off x="553269" y="3717032"/>
            <a:ext cx="81517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  <a:r>
              <a:rPr lang="zh-CN" altLang="en-US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属性用来获得它的形状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，也可以自己指定。</a:t>
            </a: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8403" y="4178697"/>
            <a:ext cx="8118053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c = np.array([[1, 2, 3, 4], [4, 5, 6, 7], [7, 8, 9, 10]])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c.shape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(3, 4) </a:t>
            </a: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np.array([1, 2, 3, 4])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d = a.reshape((2,2))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array([[1, 2],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[3, 4]])</a:t>
            </a:r>
          </a:p>
        </p:txBody>
      </p:sp>
    </p:spTree>
    <p:extLst>
      <p:ext uri="{BB962C8B-B14F-4D97-AF65-F5344CB8AC3E}">
        <p14:creationId xmlns:p14="http://schemas.microsoft.com/office/powerpoint/2010/main" val="203324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052736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的切片和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是一样的。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2112" y="1514401"/>
            <a:ext cx="8208912" cy="347787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 =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np.arange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(10)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array([0, 1, 2, 3, 4, 5, 6, 7, 8, 9])</a:t>
            </a:r>
          </a:p>
          <a:p>
            <a:endParaRPr lang="pt-BR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a[5]    a[3:5]         a[:5]                    a[:-1]          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    ------    ---------------    ---------------------------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        [3, 4]    [0, 1, 2, 3, 4]         [0, 1, 2, 3, 4, 5, 6, 7, 8]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a[1:-1:2]                 a[::-1]                             a[5:1:-2]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    ------------------------------    ---------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[1, 3, 5, 7]       [9, 8, 7, 6, 5, 4, 3, 2, 1, 0]            [5, 3]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2112" y="4992276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可以通过切片的对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中的元素进行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更改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2112" y="5477679"/>
            <a:ext cx="8208912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a[2:4] = 100, 101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a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array([  0,   1, 100, 101,   4,   5,   6,   7,   8,   9])</a:t>
            </a:r>
          </a:p>
        </p:txBody>
      </p:sp>
    </p:spTree>
    <p:extLst>
      <p:ext uri="{BB962C8B-B14F-4D97-AF65-F5344CB8AC3E}">
        <p14:creationId xmlns:p14="http://schemas.microsoft.com/office/powerpoint/2010/main" val="1734177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052736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通过切片产生一个新的数组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共享同一块数据存储空间。</a:t>
            </a: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2112" y="1899122"/>
            <a:ext cx="8208912" cy="163121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b = a[3:7] 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b[2] = -10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                                    a                         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  --------------------------------------------------</a:t>
            </a:r>
          </a:p>
          <a:p>
            <a:r>
              <a:rPr lang="pt-BR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[101,   4, -10,   6]     [  0,   1, 100, 101,   4, -10,   6,   7,   8,   9]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2112" y="3530338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如果想改变这种情况，我们可以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用列表对数组元素切片。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1935" y="3992003"/>
            <a:ext cx="8208912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pt-BR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 = a[[3, 3, -3, 8]]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pt-BR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array([3, 3, 7, 8])</a:t>
            </a: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 b[2] = 100</a:t>
            </a:r>
          </a:p>
          <a:p>
            <a:r>
              <a:rPr lang="pt-BR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                                    a                         </a:t>
            </a:r>
          </a:p>
          <a:p>
            <a:r>
              <a:rPr lang="pt-BR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  --------------------------------------------------</a:t>
            </a:r>
          </a:p>
          <a:p>
            <a:r>
              <a:rPr lang="pt-BR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[3,   3, 100,   8]       [  0,   1,  2,  3,   4,  5,   6,   7,   8,   9]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459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052736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的多维数组和一维数组类似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。多维数组有多个轴。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我们前面已经提到从内到外分别是第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轴，第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528" y="1988840"/>
            <a:ext cx="8640960" cy="44627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np.arange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(0, 60, 10).reshape(-1, 1) +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np.arange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(0, 6)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array([[ 0,  1,  2,  3,  4,  5],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[10, 11, 12, 13, 14, 15],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[20, 21, 22, 23, 24, 25],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[30, 31, 32, 33, 34, 35],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[40, 41, 42, 43, 44, 45],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[50, 51, 52, 53, 54, 55]])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a[0, 3:5]       a[4:, 4:]      a[2::2, ::2] </a:t>
            </a: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---------    ----------    --------------</a:t>
            </a: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[3, 4]          [[44, 45],     [[20, 22, 24],</a:t>
            </a: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[54, 55]]      [40, 42, 44]]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38441" y="5013176"/>
            <a:ext cx="2938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上面方法对于数组的切片都是共享原数组的储存空间的。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076" y="2492896"/>
            <a:ext cx="4021083" cy="237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21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052736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如果我们想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创立原数组的副本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，我们可以用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整数元组，列表，整数数组，布尔数组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进行切片。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79" y="2132856"/>
            <a:ext cx="8646404" cy="342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5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4961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052736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语言中可以通过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struct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关键字定义结构类型。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中也有类似的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结构数组。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7247" y="1892861"/>
            <a:ext cx="8208912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persontype = np.dtype({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'names':['name', 'age', 'weight'],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'formats':['S30','i', 'f']})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np.array([("Zhang", 32, 75.5), ("Wang", 24, 65.2)],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dtype=persontype)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725" y="5350345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我们就创建了一个结构数组，并且可以通过索引得到每一行。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91905"/>
              </p:ext>
            </p:extLst>
          </p:nvPr>
        </p:nvGraphicFramePr>
        <p:xfrm>
          <a:off x="1524000" y="4201185"/>
          <a:ext cx="60960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name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age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weight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1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0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zhang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32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75.5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1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wang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24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65.2</a:t>
                      </a:r>
                      <a:endParaRPr lang="zh-CN" alt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2319" y="5812010"/>
            <a:ext cx="8208912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print a[0]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('Zhang', 32, 75.5)</a:t>
            </a:r>
          </a:p>
        </p:txBody>
      </p:sp>
    </p:spTree>
    <p:extLst>
      <p:ext uri="{BB962C8B-B14F-4D97-AF65-F5344CB8AC3E}">
        <p14:creationId xmlns:p14="http://schemas.microsoft.com/office/powerpoint/2010/main" val="7459828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71600" y="908720"/>
            <a:ext cx="6552728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6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ufunc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四则运算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比较运算和布尔运算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(broadcasting)</a:t>
            </a:r>
          </a:p>
          <a:p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983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universal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的简称，它是一种能对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数组每个元素进行运算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的许多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函数都是用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语言实现的，因此它们的运算速度非常快。</a:t>
            </a:r>
          </a:p>
        </p:txBody>
      </p:sp>
      <p:sp>
        <p:nvSpPr>
          <p:cNvPr id="2" name="矩形 1"/>
          <p:cNvSpPr/>
          <p:nvPr/>
        </p:nvSpPr>
        <p:spPr>
          <a:xfrm>
            <a:off x="395536" y="2282710"/>
            <a:ext cx="8136904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 = np.linspace(0, 2*np.pi, 10)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y = np.sin(x)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y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 0.00000000e+00,   6.42787610e-01,   9.84807753e-01,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. . . . . ,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-2.44929360e-16])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604" y="5229200"/>
            <a:ext cx="841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值得注意的是，对于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同等长度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np.sin()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math.sin()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但是对于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单个数值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math.sin()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的速度则更快。</a:t>
            </a:r>
          </a:p>
        </p:txBody>
      </p:sp>
    </p:spTree>
    <p:extLst>
      <p:ext uri="{BB962C8B-B14F-4D97-AF65-F5344CB8AC3E}">
        <p14:creationId xmlns:p14="http://schemas.microsoft.com/office/powerpoint/2010/main" val="643118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四则运算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提供了许多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函数，它们和相应的运算符运算结果相同。。</a:t>
            </a:r>
          </a:p>
        </p:txBody>
      </p:sp>
      <p:sp>
        <p:nvSpPr>
          <p:cNvPr id="7" name="矩形 6"/>
          <p:cNvSpPr/>
          <p:nvPr/>
        </p:nvSpPr>
        <p:spPr>
          <a:xfrm>
            <a:off x="309660" y="1932255"/>
            <a:ext cx="8414791" cy="452431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np.arange(0, 4)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b = np.arange(1, 5)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np.add(a, b)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array([1, 3, 5, 7])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a+b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array([1, 3, 5, 7])</a:t>
            </a:r>
          </a:p>
          <a:p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np.subtract(a, b)</a:t>
            </a:r>
            <a:r>
              <a:rPr lang="en-US" altLang="zh-CN" sz="2400">
                <a:solidFill>
                  <a:srgbClr val="9BBB5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 </a:t>
            </a:r>
            <a:r>
              <a:rPr lang="zh-CN" altLang="en-US" sz="2400">
                <a:solidFill>
                  <a:srgbClr val="9BBB5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</a:t>
            </a:r>
            <a:endParaRPr lang="en-US" altLang="zh-CN" sz="2400">
              <a:solidFill>
                <a:srgbClr val="9BBB59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np.multiply(a, b)</a:t>
            </a:r>
            <a:r>
              <a:rPr lang="en-US" altLang="zh-CN" sz="2400">
                <a:solidFill>
                  <a:srgbClr val="9BBB5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 </a:t>
            </a:r>
            <a:r>
              <a:rPr lang="zh-CN" altLang="en-US" sz="2400">
                <a:solidFill>
                  <a:srgbClr val="9BBB5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np.divide(a, b) 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如果两个数字都为整数，则为整数除法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np.power(a, b)</a:t>
            </a:r>
            <a:r>
              <a:rPr lang="en-US" altLang="zh-CN" sz="2400">
                <a:solidFill>
                  <a:srgbClr val="9BBB5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# </a:t>
            </a:r>
            <a:r>
              <a:rPr lang="zh-CN" altLang="en-US" sz="2400">
                <a:solidFill>
                  <a:srgbClr val="9BBB5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乘方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3929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比较运算和布尔运算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43" y="1040660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对两个数组进行比较，会返回一个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布尔数组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每一个元素都是对应元素的比较结果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309660" y="1932255"/>
            <a:ext cx="8414791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np.array([1, 2, 3]) &lt; np.array([3, 2, 1])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True, False, False], dtype=bool)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60" y="2774626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布尔运算在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中也有对应的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701039"/>
              </p:ext>
            </p:extLst>
          </p:nvPr>
        </p:nvGraphicFramePr>
        <p:xfrm>
          <a:off x="467544" y="3356992"/>
          <a:ext cx="8237090" cy="27736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11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/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/>
                        <a:t>ufunc</a:t>
                      </a:r>
                      <a:r>
                        <a:rPr lang="zh-CN" altLang="en-US" sz="2000"/>
                        <a:t>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/>
                        <a:t>y=x1==x2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/>
                        <a:t>equal(x1,x2[,y])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y=x1!=x2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not_equal(x1,x2[,y])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y=x1&lt;x2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less(x1,x2[,y])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y=x1&lt;=x2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not_equak(x1,x2[,y])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y=x1&gt;x2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greater(x1,x2[,y])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y=x1&gt;=x2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/>
                        <a:t>gerater_equal(x1,x2[,y])</a:t>
                      </a:r>
                      <a:endParaRPr lang="zh-CN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437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提供的标准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函数可以组合出复合的表达式，但是有些情况下，自己编写的则更为方便。我们可以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把自己编写的函数用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frompyfunc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转化成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309660" y="2333685"/>
            <a:ext cx="8414791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def num_judge(x, a): 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对于一个数字如果是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的倍数就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if x%3 == 0:           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，否则返回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r = 0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elif x%5 == 0: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r = 0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else: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r = a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r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x = np.linspace(0, 10, 11)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y = np.array([num_judge(t, 2) for t in x])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列表生成式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array([0, 2, 2, 0, 2, 0, 0, 2, 2, 0, 0])</a:t>
            </a:r>
          </a:p>
        </p:txBody>
      </p:sp>
    </p:spTree>
    <p:extLst>
      <p:ext uri="{BB962C8B-B14F-4D97-AF65-F5344CB8AC3E}">
        <p14:creationId xmlns:p14="http://schemas.microsoft.com/office/powerpoint/2010/main" val="71136878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frompyfunc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进行转化，调用格式如下：</a:t>
            </a:r>
          </a:p>
        </p:txBody>
      </p:sp>
      <p:sp>
        <p:nvSpPr>
          <p:cNvPr id="7" name="矩形 6"/>
          <p:cNvSpPr/>
          <p:nvPr/>
        </p:nvSpPr>
        <p:spPr>
          <a:xfrm>
            <a:off x="395186" y="3179755"/>
            <a:ext cx="8414791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numb_judge = np.frompyfunc(num_judge, 2, 1)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y = numb_judge(x,2)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array([0, 2, 2, 0, 2, 0, 0, 2, 2, 0, 0], dtype=object)</a:t>
            </a:r>
          </a:p>
        </p:txBody>
      </p:sp>
      <p:sp>
        <p:nvSpPr>
          <p:cNvPr id="9" name="矩形 8"/>
          <p:cNvSpPr/>
          <p:nvPr/>
        </p:nvSpPr>
        <p:spPr>
          <a:xfrm>
            <a:off x="395186" y="1502325"/>
            <a:ext cx="8414791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frompyfunc(func, nin, nout)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604" y="1979426"/>
            <a:ext cx="841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：计算函数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nin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func()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输入参数的个数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nout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func()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输出参数的个数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04" y="4756612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因为最后输出的元素类型是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object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，所以我们还需要把它转换成整型。</a:t>
            </a:r>
          </a:p>
        </p:txBody>
      </p:sp>
      <p:sp>
        <p:nvSpPr>
          <p:cNvPr id="12" name="矩形 11"/>
          <p:cNvSpPr/>
          <p:nvPr/>
        </p:nvSpPr>
        <p:spPr>
          <a:xfrm>
            <a:off x="403743" y="5587609"/>
            <a:ext cx="8414791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y.astype(np.int)</a:t>
            </a:r>
          </a:p>
        </p:txBody>
      </p:sp>
    </p:spTree>
    <p:extLst>
      <p:ext uri="{BB962C8B-B14F-4D97-AF65-F5344CB8AC3E}">
        <p14:creationId xmlns:p14="http://schemas.microsoft.com/office/powerpoint/2010/main" val="274771547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(broadcasting)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9936" y="908720"/>
            <a:ext cx="84147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对两个数组进行运算时，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ufunc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函数会对两个数组的对应元素进行运算。如果数组的形状不相同，就会进行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下广播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简而言之，就是向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两个数组每一维度上的最大值靠齐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59" y="2468185"/>
            <a:ext cx="6696743" cy="425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1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(broadcasting)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7" y="919735"/>
            <a:ext cx="7237326" cy="54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50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(broadcasting)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我们看一下具体的例子：</a:t>
            </a:r>
          </a:p>
        </p:txBody>
      </p:sp>
      <p:sp>
        <p:nvSpPr>
          <p:cNvPr id="7" name="矩形 6"/>
          <p:cNvSpPr/>
          <p:nvPr/>
        </p:nvSpPr>
        <p:spPr>
          <a:xfrm>
            <a:off x="364604" y="1516849"/>
            <a:ext cx="8414791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np.arange(0, 60, 10).reshape(-1, 1)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b = np.arange(0, 5)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c = a+b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                                  c.shape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----------------------    -------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[[ 0,  1,  2,  3,  4],            (6, 5)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[10, 11, 12, 13, 14],    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[20, 21, 22, 23, 24],    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[30, 31, 32, 33, 34],    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[40, 41, 42, 43, 44],    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[50, 51, 52, 53, 54]] </a:t>
            </a:r>
          </a:p>
        </p:txBody>
      </p:sp>
    </p:spTree>
    <p:extLst>
      <p:ext uri="{BB962C8B-B14F-4D97-AF65-F5344CB8AC3E}">
        <p14:creationId xmlns:p14="http://schemas.microsoft.com/office/powerpoint/2010/main" val="4144530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(broadcasting)</a:t>
            </a:r>
            <a:endParaRPr lang="zh-CN" altLang="en-US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ogrid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用来生成广播运算所用的数组。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0657" y="1506372"/>
            <a:ext cx="8285798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x, y = np.ogrid[:5, :5]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            y        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  -----------------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[[0],     [[0, 1, 2, 3, 4]]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[1],                   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[2],                   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[3],                   </a:t>
            </a:r>
          </a:p>
          <a:p>
            <a:r>
              <a:rPr lang="es-E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[4]]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657" y="45533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下面操作和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a.reshape(1,-1), a.reshape(-1,1)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2543" y="5015025"/>
            <a:ext cx="8213912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it-IT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np.arange(4)</a:t>
            </a:r>
          </a:p>
          <a:p>
            <a:r>
              <a:rPr lang="it-IT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a[None, :]    a[:, None]</a:t>
            </a:r>
          </a:p>
          <a:p>
            <a:r>
              <a:rPr lang="it-IT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  ----------</a:t>
            </a:r>
          </a:p>
          <a:p>
            <a:r>
              <a:rPr lang="it-IT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[[0, 1, 2, 3]]  [[0],[1],[2],3]] </a:t>
            </a:r>
          </a:p>
        </p:txBody>
      </p:sp>
    </p:spTree>
    <p:extLst>
      <p:ext uri="{BB962C8B-B14F-4D97-AF65-F5344CB8AC3E}">
        <p14:creationId xmlns:p14="http://schemas.microsoft.com/office/powerpoint/2010/main" val="147738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71600" y="908720"/>
            <a:ext cx="6768752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的函数库</a:t>
            </a:r>
            <a:endParaRPr lang="en-US" altLang="zh-CN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</a:p>
          <a:p>
            <a:pPr lvl="0"/>
            <a:r>
              <a:rPr lang="en-US" altLang="zh-CN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求和，平均值，方差</a:t>
            </a:r>
          </a:p>
          <a:p>
            <a:r>
              <a:rPr lang="en-US" altLang="zh-CN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大小与排序</a:t>
            </a:r>
            <a:endParaRPr lang="en-US" altLang="zh-CN" sz="2800" b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统计函数</a:t>
            </a:r>
          </a:p>
          <a:p>
            <a:pPr lvl="0"/>
            <a:r>
              <a:rPr lang="en-US" altLang="zh-CN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操作多维数组</a:t>
            </a:r>
          </a:p>
          <a:p>
            <a:pPr lvl="0"/>
            <a:r>
              <a:rPr lang="en-US" altLang="zh-CN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多项式函数</a:t>
            </a:r>
          </a:p>
          <a:p>
            <a:endParaRPr lang="en-US" altLang="zh-CN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8403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除了前面介绍的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ufunc()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函数之外，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还提供了大量对于数组运算的函数。它们能够简化逻辑，提高运算速度。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我们首先看随机数。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产生随机数的模块在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random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里面，其中有大量的分布。</a:t>
            </a:r>
          </a:p>
        </p:txBody>
      </p:sp>
      <p:sp>
        <p:nvSpPr>
          <p:cNvPr id="7" name="矩形 6"/>
          <p:cNvSpPr/>
          <p:nvPr/>
        </p:nvSpPr>
        <p:spPr>
          <a:xfrm>
            <a:off x="364604" y="2979652"/>
            <a:ext cx="8414791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from numpy import random as nr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np.set_printoptions(precision=2) 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显示小数点后两位数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r1 = nr.rand(4, 3)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[[ 0.87,  0.42,  0.34],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[ 0.25,  0.87,  0.42],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[ 0.49,  0.18,  0.44],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[ 0.53,  0.23,  0.81]]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69059" y="4087648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r2 = nr.poisson(2.0, (4, 3))</a:t>
            </a:r>
          </a:p>
          <a:p>
            <a:pPr lvl="0"/>
            <a:r>
              <a:rPr lang="pt-BR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[[3, 1, 5],</a:t>
            </a:r>
          </a:p>
          <a:p>
            <a:pPr lvl="0"/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[2, 2, 3],</a:t>
            </a:r>
          </a:p>
          <a:p>
            <a:pPr lvl="0"/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[2, 4, 4],</a:t>
            </a:r>
          </a:p>
          <a:p>
            <a:pPr lvl="0"/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[2, 2, 3]]</a:t>
            </a:r>
          </a:p>
        </p:txBody>
      </p:sp>
    </p:spTree>
    <p:extLst>
      <p:ext uri="{BB962C8B-B14F-4D97-AF65-F5344CB8AC3E}">
        <p14:creationId xmlns:p14="http://schemas.microsoft.com/office/powerpoint/2010/main" val="3476798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920325"/>
              </p:ext>
            </p:extLst>
          </p:nvPr>
        </p:nvGraphicFramePr>
        <p:xfrm>
          <a:off x="426368" y="1052736"/>
          <a:ext cx="8291267" cy="172819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21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7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538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rand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</a:t>
                      </a:r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之间的随机数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normal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正太分布的随机数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38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randint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制定范围内的随机整数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uniform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均匀分布</a:t>
                      </a:r>
                      <a:endParaRPr 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558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randn</a:t>
                      </a:r>
                      <a:endParaRPr lang="en-US" sz="20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标准正太的随机数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poisson</a:t>
                      </a:r>
                      <a:endParaRPr lang="en-US" sz="20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泊松分布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58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choice</a:t>
                      </a:r>
                      <a:endParaRPr lang="en-US" sz="20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随机抽取样本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shuffle</a:t>
                      </a:r>
                      <a:endParaRPr lang="en-US" sz="20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随机打乱顺序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52" y="3030408"/>
            <a:ext cx="5571936" cy="382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49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求和，平均值，方差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均值等方面常用的函数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</a:p>
        </p:txBody>
      </p:sp>
      <p:sp>
        <p:nvSpPr>
          <p:cNvPr id="7" name="矩形 6"/>
          <p:cNvSpPr/>
          <p:nvPr/>
        </p:nvSpPr>
        <p:spPr>
          <a:xfrm>
            <a:off x="361512" y="4365104"/>
            <a:ext cx="8414791" cy="19389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np.random.seed(42)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np.random.randint(0,10,size=(4,5))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np.sum(a)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96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809273"/>
              </p:ext>
            </p:extLst>
          </p:nvPr>
        </p:nvGraphicFramePr>
        <p:xfrm>
          <a:off x="392986" y="1502325"/>
          <a:ext cx="8237090" cy="27736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11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sum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average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加权平均数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var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mean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product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连乘积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279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求和，平均值，方差</a:t>
            </a:r>
          </a:p>
        </p:txBody>
      </p:sp>
      <p:sp>
        <p:nvSpPr>
          <p:cNvPr id="7" name="矩形 6"/>
          <p:cNvSpPr/>
          <p:nvPr/>
        </p:nvSpPr>
        <p:spPr>
          <a:xfrm>
            <a:off x="364605" y="1052736"/>
            <a:ext cx="4207396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                 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[[6, 3, 7, 4, 6],        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[9, 2, 6, 7, 4],          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[3, 7, 7, 2, 5],          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[4, 1, 7, 5, 1]] </a:t>
            </a:r>
          </a:p>
        </p:txBody>
      </p:sp>
      <p:sp>
        <p:nvSpPr>
          <p:cNvPr id="9" name="矩形 8"/>
          <p:cNvSpPr/>
          <p:nvPr/>
        </p:nvSpPr>
        <p:spPr>
          <a:xfrm>
            <a:off x="2699792" y="1048050"/>
            <a:ext cx="6108698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np.sum(a, axis=1)   np.sum(a, axis=0) 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       --------------------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[26, 28, 24, 18]        [22, 13, 27, 18, 16]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3699" y="33610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keepdims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可以保持原来数组的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维数。</a:t>
            </a:r>
          </a:p>
        </p:txBody>
      </p:sp>
      <p:sp>
        <p:nvSpPr>
          <p:cNvPr id="11" name="矩形 10"/>
          <p:cNvSpPr/>
          <p:nvPr/>
        </p:nvSpPr>
        <p:spPr>
          <a:xfrm>
            <a:off x="393698" y="3822725"/>
            <a:ext cx="8414792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np.sum(a,1,keepdims=True)  np.sum(a,0,keepdims=True)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---------------------------         ---------------------------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[[26],                                              [[22, 13, 27, 18, 16]]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[28],                                             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[24],                                             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[18]] </a:t>
            </a:r>
            <a:endParaRPr lang="pt-BR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281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大小与排序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排序等方面常用的函数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</a:p>
        </p:txBody>
      </p:sp>
      <p:sp>
        <p:nvSpPr>
          <p:cNvPr id="7" name="矩形 6"/>
          <p:cNvSpPr/>
          <p:nvPr/>
        </p:nvSpPr>
        <p:spPr>
          <a:xfrm>
            <a:off x="361512" y="4365104"/>
            <a:ext cx="8414791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np.array([1, 3, 5, 7])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b = np.array([2, 4, 6])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np.maximum(a[None, :], b[:, None])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#maxinum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返回两组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array([[2, 3, 5, 7],                                    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矩阵广播计算后的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[4, 4, 5, 7],                                        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[6, 6, 6, 7]])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9150"/>
              </p:ext>
            </p:extLst>
          </p:nvPr>
        </p:nvGraphicFramePr>
        <p:xfrm>
          <a:off x="392986" y="1502325"/>
          <a:ext cx="8237092" cy="23774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4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ptp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argmin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最小值的下标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mininum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二元最小值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maxinum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二元最大值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sort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数组排序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argsort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数组排序下标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percentile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median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中位数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8225" y="3903439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min,max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都有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axis,out,keepdims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等参数，我们来看其他函数。</a:t>
            </a:r>
          </a:p>
        </p:txBody>
      </p:sp>
    </p:spTree>
    <p:extLst>
      <p:ext uri="{BB962C8B-B14F-4D97-AF65-F5344CB8AC3E}">
        <p14:creationId xmlns:p14="http://schemas.microsoft.com/office/powerpoint/2010/main" val="1626165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大小与排序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sort()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对数组进行排序会改变数组的内容，返回一个新的数组。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的默认值都为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，即按最终轴进行排序。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axis=0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对每列上的值进行排序。</a:t>
            </a:r>
          </a:p>
        </p:txBody>
      </p:sp>
      <p:sp>
        <p:nvSpPr>
          <p:cNvPr id="7" name="矩形 6"/>
          <p:cNvSpPr/>
          <p:nvPr/>
        </p:nvSpPr>
        <p:spPr>
          <a:xfrm>
            <a:off x="383680" y="2276872"/>
            <a:ext cx="8414791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np.sort(a)          np.sort(a, axis=0)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  ------------------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[[3, 4, 6, 6, 7],      [[3, 1, 6, 2, 1],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[2, 4, 6, 7, 9],       [4, 2, 7, 4, 4],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[2, 3, 5, 7, 7],       [6, 3, 7, 5, 5],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[1, 1, 4, 5, 7]]       [9, 7, 7, 7, 6]]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604" y="4585196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percentile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计算处于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p%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上的值。</a:t>
            </a:r>
          </a:p>
        </p:txBody>
      </p:sp>
      <p:sp>
        <p:nvSpPr>
          <p:cNvPr id="10" name="矩形 9"/>
          <p:cNvSpPr/>
          <p:nvPr/>
        </p:nvSpPr>
        <p:spPr>
          <a:xfrm>
            <a:off x="387266" y="5046861"/>
            <a:ext cx="8414791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 = np.abs(np.random.randn(100000))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np.percentile(r, [68.3, 95.4, 99.7])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array([ 1.00029686,  1.99473003,  2.9614485 ])</a:t>
            </a:r>
          </a:p>
        </p:txBody>
      </p:sp>
    </p:spTree>
    <p:extLst>
      <p:ext uri="{BB962C8B-B14F-4D97-AF65-F5344CB8AC3E}">
        <p14:creationId xmlns:p14="http://schemas.microsoft.com/office/powerpoint/2010/main" val="3047316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中常用的统计函数有：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unique(), bicount(), histogram()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。我们来一个个介绍。首先看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unique():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4604" y="1879754"/>
            <a:ext cx="8414791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np.random.seed(42)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np.random.randint(0, 8, 10)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np.unique(a)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                                                 np.unique(a)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------------------------------  ------------------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[6, 3, 4, 6, 2, 7, 4, 4, 6, 1]          [1, 2, 3, 4, 6, 7]</a:t>
            </a:r>
          </a:p>
        </p:txBody>
      </p:sp>
      <p:sp>
        <p:nvSpPr>
          <p:cNvPr id="2" name="矩形 1"/>
          <p:cNvSpPr/>
          <p:nvPr/>
        </p:nvSpPr>
        <p:spPr>
          <a:xfrm>
            <a:off x="387019" y="4221015"/>
            <a:ext cx="8392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unique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有两个参数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return_index=True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同时返回原始数组中的下标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return_inverse=True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表示原始数据在新数组的下标。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87019" y="5052012"/>
            <a:ext cx="8414791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x, index = np.unique(a, return_index=True)]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                                index                    a[index]    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  ------------------  ------------------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[1, 2, 3, 4, 6, 7]       [9, 4, 1, 2, 0, 5]     [1, 2, 3, 4, 6, 7]</a:t>
            </a:r>
          </a:p>
        </p:txBody>
      </p:sp>
    </p:spTree>
    <p:extLst>
      <p:ext uri="{BB962C8B-B14F-4D97-AF65-F5344CB8AC3E}">
        <p14:creationId xmlns:p14="http://schemas.microsoft.com/office/powerpoint/2010/main" val="3478079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387019" y="1052736"/>
            <a:ext cx="8414791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x, rindex = np.unique(a, return_inverse=True)</a:t>
            </a:r>
          </a:p>
          <a:p>
            <a:r>
              <a:rPr lang="da-DK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rindex                                            x[rindex]           </a:t>
            </a:r>
          </a:p>
          <a:p>
            <a:r>
              <a:rPr lang="da-DK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------------------------------  ------------------------------</a:t>
            </a:r>
          </a:p>
          <a:p>
            <a:r>
              <a:rPr lang="da-DK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[4, 2, 3, 4, 1, 5, 3, 3, 4, 0]          [6, 3, 4, 6, 2, 7, 4, 4, 6, 1]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9434" y="2623103"/>
            <a:ext cx="8392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bincount()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非负整数数组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中的各个元素出现的次数进行统计，返回数组中的第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个元素是整数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出现的次数。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38745" y="3454100"/>
            <a:ext cx="8414791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np.array([6, 3, 4, 6, 2, 7, 4, 4, 6, 1])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np.bincount(a)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array([0, 1, 1, 1, 3, 0, 3, 1])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x = np.array([0  ,   1,   2,   2,   1,   1,   0])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w = np.array([0.1, 0.3, 0.2, 0.4, 0.5, 0.8, 1.2])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np.bincount(x, w)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array([ 1.3,  1.6,  0.6])</a:t>
            </a:r>
          </a:p>
        </p:txBody>
      </p:sp>
    </p:spTree>
    <p:extLst>
      <p:ext uri="{BB962C8B-B14F-4D97-AF65-F5344CB8AC3E}">
        <p14:creationId xmlns:p14="http://schemas.microsoft.com/office/powerpoint/2010/main" val="2467250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统计函数</a:t>
            </a:r>
          </a:p>
        </p:txBody>
      </p:sp>
      <p:sp>
        <p:nvSpPr>
          <p:cNvPr id="2" name="矩形 1"/>
          <p:cNvSpPr/>
          <p:nvPr/>
        </p:nvSpPr>
        <p:spPr>
          <a:xfrm>
            <a:off x="375812" y="1017573"/>
            <a:ext cx="83923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histogram()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对以为数组进行直方图统计，其参数为：</a:t>
            </a:r>
            <a:endParaRPr lang="en-US" altLang="zh-CN" sz="24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histogram(a, bins=10, range=None, weights=None)</a:t>
            </a:r>
          </a:p>
          <a:p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函数返回两个一维数组，</a:t>
            </a:r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是每个区间的统计结果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bin_edges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返回区间的边界值。</a:t>
            </a:r>
            <a:endParaRPr lang="en-US" altLang="zh-CN" sz="24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6616" y="2622884"/>
            <a:ext cx="8414791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np.random.rand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np.histogram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bins=5, range=(0, 1))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(array([28, 18, 17, 19, 18]),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array([ 0. ,  0.2,  0.4,  0.6,  0.8,  1. ]))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np.histogram(a, bins=[0, 0.4, 0.8, 1.0])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(array([46, 36, 18]), array([ 0. ,  0.4,  0.8,  1. ]))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170" y="5519470"/>
            <a:ext cx="1246237" cy="124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71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操作多维数组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多维数组可以进行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连接，分段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等多种操作。我们先来看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vstack(),hstack(),column_stack()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函数。</a:t>
            </a:r>
          </a:p>
        </p:txBody>
      </p:sp>
      <p:sp>
        <p:nvSpPr>
          <p:cNvPr id="7" name="矩形 6"/>
          <p:cNvSpPr/>
          <p:nvPr/>
        </p:nvSpPr>
        <p:spPr>
          <a:xfrm>
            <a:off x="364604" y="1879754"/>
            <a:ext cx="8414791" cy="452431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np.arange(3)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b = np.arange(10, 13)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v = np.vstack((a, b)) 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按第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轴连接数组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h = np.hstack((a, b)) 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按第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轴连接数组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c = np.column_stack((a, b)) </a:t>
            </a:r>
            <a:r>
              <a:rPr lang="en-US" altLang="zh-CN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按列连接多个一维数组</a:t>
            </a:r>
            <a:endParaRPr lang="en-US" altLang="zh-CN" sz="240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v                      h                                        c     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--------------  ------------------------  ----------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[[ 0,  1,  2],      [ 0,  1,  2, 10, 11, 12]       [[ 0, 10],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[10, 11, 12]]                                           [ 1, 11],</a:t>
            </a:r>
          </a:p>
          <a:p>
            <a:r>
              <a:rPr lang="pt-BR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[ 2, 12]]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3340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操作多维数组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split()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函数进行分段。</a:t>
            </a:r>
          </a:p>
        </p:txBody>
      </p:sp>
      <p:sp>
        <p:nvSpPr>
          <p:cNvPr id="7" name="矩形 6"/>
          <p:cNvSpPr/>
          <p:nvPr/>
        </p:nvSpPr>
        <p:spPr>
          <a:xfrm>
            <a:off x="364604" y="1502325"/>
            <a:ext cx="8414791" cy="489364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np.array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([6, 3, 7, 4, 6, 9, 2, 6, 7, 4, 3, 7])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b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np.array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([ 1,  3,  6,  9, 10]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np.split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idx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按元素位置进行分段</a:t>
            </a:r>
            <a:endParaRPr lang="en-US" altLang="zh-CN" sz="24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[array([6]),   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array([3, 7]),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array([4, 6, 9]),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array([2, 6, 7]),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array([4]),   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array([3, 7])] 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np.split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(a, 2)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按数组个数进行分段</a:t>
            </a:r>
            <a:endParaRPr lang="en-US" altLang="zh-CN" sz="24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[array([6, 3, 7, 4, 6, 9]),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array([2, 6, 7, 4, 3, 7])]</a:t>
            </a:r>
          </a:p>
        </p:txBody>
      </p:sp>
    </p:spTree>
    <p:extLst>
      <p:ext uri="{BB962C8B-B14F-4D97-AF65-F5344CB8AC3E}">
        <p14:creationId xmlns:p14="http://schemas.microsoft.com/office/powerpoint/2010/main" val="321716522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多项式函数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64" y="1040660"/>
            <a:ext cx="84147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多项式函数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是整数的次幂与系数的乘积，如：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(x)= an(x^n)+ an-1(x^(n-1))+…+ a1(x)+ a0</a:t>
            </a:r>
          </a:p>
          <a:p>
            <a:r>
              <a:rPr lang="pt-B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中多项式函数可以用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一维数组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为最高次，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a[-1]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为常数项。</a:t>
            </a:r>
            <a:endParaRPr lang="pt-BR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3216" y="2663892"/>
            <a:ext cx="8414791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a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np.array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([1.0, 0, -2, 1])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p = np.poly1d(a)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print type(p)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&lt;class 'numpy.lib.polynomial.poly1d'&gt;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p(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np.linspace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(0, 1, 5))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array([ 1.      ,  0.515625,  0.125   , -0.078125,  0.      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604" y="5352922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多项式函数可以进行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四则运算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运算的列表自动化成多项式函数。</a:t>
            </a:r>
            <a:endParaRPr lang="pt-BR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2289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多项式函数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364603" y="1124744"/>
            <a:ext cx="8414791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p + [-2, 1]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poly1d([ 1.,  0., -4.,  2.])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p * p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poly1d([ 1.,  0., -4.,  2.,  4., -4.,  1.])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p / [1, 1]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分别为商和余</a:t>
            </a:r>
            <a:endParaRPr lang="en-US" altLang="zh-CN" sz="2400" dirty="0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(poly1d([ 1., -1., -1.]), poly1d([ 2.]))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493" y="4192999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多项式也可以进行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积分和求导。</a:t>
            </a:r>
            <a:endParaRPr lang="pt-BR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4604" y="4665716"/>
            <a:ext cx="8414791" cy="19389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p.deriv()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poly1d([ 3.,  0., -2.])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p.integ() 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poly1d([ 0.25,  0.  , -1.  ,  1.  ,  0.  ])</a:t>
            </a:r>
          </a:p>
        </p:txBody>
      </p:sp>
    </p:spTree>
    <p:extLst>
      <p:ext uri="{BB962C8B-B14F-4D97-AF65-F5344CB8AC3E}">
        <p14:creationId xmlns:p14="http://schemas.microsoft.com/office/powerpoint/2010/main" val="2673340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400" y="32980"/>
            <a:ext cx="618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多项式函数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519" y="963576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Roots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可以求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多项式的根。</a:t>
            </a:r>
            <a:endParaRPr lang="pt-BR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0518" y="1434587"/>
            <a:ext cx="8414791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r = np.roots(p)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r</a:t>
            </a: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array([-1.61803399,  1.        ,  0.61803399])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604" y="2681747"/>
            <a:ext cx="8414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polyfit()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可以对数据进行多项式拟合。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x, y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为数据点，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deg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为多项式最高阶数。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4604" y="3512744"/>
            <a:ext cx="8414791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np.polyfit(x , y, deg)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781" y="4023153"/>
            <a:ext cx="8414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poly()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返回多项式系数构成的数组。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91781" y="4484818"/>
            <a:ext cx="8414791" cy="46166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 a = np.poly(x 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800" y="5301208"/>
            <a:ext cx="33242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99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40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609600" y="1052513"/>
            <a:ext cx="7958138" cy="49672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en-US" altLang="zh-CN" sz="2800" dirty="0" err="1"/>
              <a:t>numpy.linalg</a:t>
            </a:r>
            <a:r>
              <a:rPr lang="zh-CN" altLang="en-US" sz="2800" dirty="0"/>
              <a:t>模块包含线性代数的函数。使用这个模块，可以计算逆矩阵、求特征值、解线性方程组以及求解行列式等</a:t>
            </a:r>
            <a:r>
              <a:rPr lang="en-US" altLang="zh-CN" sz="2800" dirty="0"/>
              <a:t>.</a:t>
            </a:r>
          </a:p>
          <a:p>
            <a:r>
              <a:rPr lang="zh-CN" altLang="en-US" sz="2800" dirty="0"/>
              <a:t>计算逆矩阵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          在线性代数中，矩阵</a:t>
            </a:r>
            <a:r>
              <a:rPr lang="en-US" altLang="zh-CN" sz="2800" dirty="0"/>
              <a:t>A</a:t>
            </a:r>
            <a:r>
              <a:rPr lang="zh-CN" altLang="en-US" sz="2800" dirty="0"/>
              <a:t>与其逆矩阵</a:t>
            </a:r>
            <a:r>
              <a:rPr lang="en-US" altLang="zh-CN" sz="2800" dirty="0"/>
              <a:t>A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相乘后会得到一个单位矩阵</a:t>
            </a:r>
            <a:r>
              <a:rPr lang="en-US" altLang="zh-CN" sz="2800" dirty="0"/>
              <a:t>I</a:t>
            </a:r>
            <a:r>
              <a:rPr lang="zh-CN" altLang="en-US" sz="2800" dirty="0"/>
              <a:t>。该定义可以写为</a:t>
            </a:r>
            <a:r>
              <a:rPr lang="en-US" altLang="zh-CN" sz="2800" dirty="0"/>
              <a:t>A </a:t>
            </a:r>
            <a:r>
              <a:rPr lang="zh-CN" altLang="en-US" sz="2800" dirty="0"/>
              <a:t>*</a:t>
            </a:r>
            <a:r>
              <a:rPr lang="en-US" altLang="zh-CN" sz="2800" dirty="0"/>
              <a:t>A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=I</a:t>
            </a:r>
            <a:r>
              <a:rPr lang="zh-CN" altLang="en-US" sz="2800" dirty="0"/>
              <a:t>。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en-US" altLang="zh-CN" sz="2800" dirty="0" err="1"/>
              <a:t>numpy.linalg</a:t>
            </a:r>
            <a:r>
              <a:rPr lang="zh-CN" altLang="en-US" sz="2800" dirty="0"/>
              <a:t>模块中的</a:t>
            </a:r>
            <a:r>
              <a:rPr lang="en-US" altLang="zh-CN" sz="2800" dirty="0"/>
              <a:t>inv</a:t>
            </a:r>
            <a:r>
              <a:rPr lang="zh-CN" altLang="en-US" sz="2800" dirty="0"/>
              <a:t>函数可以计算逆矩阵。按如下步骤来对矩阵求逆。</a:t>
            </a:r>
            <a:endParaRPr lang="zh-CN" altLang="en-US" dirty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D423AB-DD68-441F-9728-7ABA2687F924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304800" y="1052513"/>
            <a:ext cx="8534400" cy="4967287"/>
          </a:xfrm>
        </p:spPr>
        <p:txBody>
          <a:bodyPr/>
          <a:lstStyle/>
          <a:p>
            <a:pPr lvl="1">
              <a:buFont typeface="Wingdings" pitchFamily="2" charset="2"/>
              <a:buNone/>
              <a:defRPr/>
            </a:pPr>
            <a:r>
              <a:rPr lang="zh-CN" altLang="en-US" sz="2800" dirty="0"/>
              <a:t>      </a:t>
            </a:r>
            <a:r>
              <a:rPr lang="en-US" altLang="zh-CN" sz="2800" dirty="0"/>
              <a:t>   </a:t>
            </a:r>
            <a:r>
              <a:rPr lang="zh-CN" altLang="en-US" sz="2800" dirty="0">
                <a:cs typeface="+mn-cs"/>
              </a:rPr>
              <a:t>使用</a:t>
            </a:r>
            <a:r>
              <a:rPr lang="en-US" altLang="zh-CN" sz="2800" dirty="0" err="1">
                <a:cs typeface="+mn-cs"/>
              </a:rPr>
              <a:t>numpy.linalg</a:t>
            </a:r>
            <a:r>
              <a:rPr lang="zh-CN" altLang="en-US" sz="2800" dirty="0">
                <a:cs typeface="+mn-cs"/>
              </a:rPr>
              <a:t>模块中的</a:t>
            </a:r>
            <a:r>
              <a:rPr lang="en-US" altLang="zh-CN" sz="2800" dirty="0">
                <a:cs typeface="+mn-cs"/>
              </a:rPr>
              <a:t>inv</a:t>
            </a:r>
            <a:r>
              <a:rPr lang="zh-CN" altLang="en-US" sz="2800" dirty="0">
                <a:cs typeface="+mn-cs"/>
              </a:rPr>
              <a:t>函数计算了逆矩阵，并检查了原矩阵与求得的逆矩阵相乘的结果确为单位矩阵。</a:t>
            </a:r>
            <a:r>
              <a:rPr lang="en-US" altLang="zh-CN" sz="2800" dirty="0">
                <a:cs typeface="+mn-cs"/>
              </a:rPr>
              <a:t>inversion.py</a:t>
            </a:r>
            <a:r>
              <a:rPr lang="zh-CN" altLang="en-US" sz="2800" dirty="0">
                <a:cs typeface="+mn-cs"/>
              </a:rPr>
              <a:t>文件。</a:t>
            </a: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r>
              <a:rPr lang="zh-CN" altLang="en-US" sz="2800" dirty="0"/>
              <a:t>        </a:t>
            </a: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dirty="0"/>
              <a:t>          </a:t>
            </a: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310C8D-9C0B-4F90-8838-E6D0DE181471}" type="slidenum">
              <a:rPr lang="en-US" altLang="zh-CN" smtClean="0"/>
              <a:pPr/>
              <a:t>40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355033-C1F7-96E3-E448-64458A929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852936"/>
            <a:ext cx="6761905" cy="26095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B1B5E7-063B-4170-AB20-99D6951EAB01}" type="slidenum">
              <a:rPr lang="en-US" altLang="zh-CN" smtClean="0"/>
              <a:pPr/>
              <a:t>41</a:t>
            </a:fld>
            <a:endParaRPr lang="en-US" altLang="zh-CN"/>
          </a:p>
        </p:txBody>
      </p:sp>
      <p:sp>
        <p:nvSpPr>
          <p:cNvPr id="63493" name="内容占位符 5"/>
          <p:cNvSpPr>
            <a:spLocks noGrp="1"/>
          </p:cNvSpPr>
          <p:nvPr>
            <p:ph idx="1"/>
          </p:nvPr>
        </p:nvSpPr>
        <p:spPr>
          <a:xfrm>
            <a:off x="533400" y="990600"/>
            <a:ext cx="8153400" cy="1981200"/>
          </a:xfrm>
        </p:spPr>
        <p:txBody>
          <a:bodyPr/>
          <a:lstStyle/>
          <a:p>
            <a:r>
              <a:rPr lang="zh-CN" altLang="en-US" sz="2800"/>
              <a:t>求解线性方程组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numpy.linalg</a:t>
            </a:r>
            <a:r>
              <a:rPr lang="zh-CN" altLang="en-US" sz="2800"/>
              <a:t>中的函数</a:t>
            </a:r>
            <a:r>
              <a:rPr lang="en-US" altLang="zh-CN" sz="2800"/>
              <a:t>solve</a:t>
            </a:r>
            <a:r>
              <a:rPr lang="zh-CN" altLang="en-US" sz="2800"/>
              <a:t>可以求解形如 </a:t>
            </a:r>
            <a:r>
              <a:rPr lang="en-US" altLang="zh-CN" sz="2800"/>
              <a:t>Ax = b </a:t>
            </a:r>
            <a:r>
              <a:rPr lang="zh-CN" altLang="en-US" sz="2800"/>
              <a:t>的线性方程组，其中 </a:t>
            </a:r>
            <a:r>
              <a:rPr lang="en-US" altLang="zh-CN" sz="2800"/>
              <a:t>A </a:t>
            </a:r>
            <a:r>
              <a:rPr lang="zh-CN" altLang="en-US" sz="2800"/>
              <a:t>为矩阵，</a:t>
            </a:r>
            <a:r>
              <a:rPr lang="en-US" altLang="zh-CN" sz="2800"/>
              <a:t>b </a:t>
            </a:r>
            <a:r>
              <a:rPr lang="zh-CN" altLang="en-US" sz="2800"/>
              <a:t>为一维或二维的数组，</a:t>
            </a:r>
            <a:r>
              <a:rPr lang="en-US" altLang="zh-CN" sz="2800"/>
              <a:t>x </a:t>
            </a:r>
            <a:r>
              <a:rPr lang="zh-CN" altLang="en-US" sz="2800"/>
              <a:t>是未知变量。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C1A8A8-3AEF-FC03-61F2-C294CE8A6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71800"/>
            <a:ext cx="5247619" cy="306666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195887"/>
          </a:xfrm>
        </p:spPr>
        <p:txBody>
          <a:bodyPr/>
          <a:lstStyle/>
          <a:p>
            <a:r>
              <a:rPr lang="zh-CN" altLang="en-US" sz="2800"/>
              <a:t>特征值和特征向量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</a:t>
            </a:r>
            <a:r>
              <a:rPr lang="zh-CN" altLang="en-US" sz="2800"/>
              <a:t>特征值（</a:t>
            </a:r>
            <a:r>
              <a:rPr lang="en-US" altLang="zh-CN" sz="2800"/>
              <a:t>eigenvalue</a:t>
            </a:r>
            <a:r>
              <a:rPr lang="zh-CN" altLang="en-US" sz="2800"/>
              <a:t>）即方程 </a:t>
            </a:r>
            <a:r>
              <a:rPr lang="en-US" altLang="zh-CN" sz="2800"/>
              <a:t>Ax = ax </a:t>
            </a:r>
            <a:r>
              <a:rPr lang="zh-CN" altLang="en-US" sz="2800"/>
              <a:t>的根，是一个标量。其中，</a:t>
            </a:r>
            <a:r>
              <a:rPr lang="en-US" altLang="zh-CN" sz="2800"/>
              <a:t>A </a:t>
            </a:r>
            <a:r>
              <a:rPr lang="zh-CN" altLang="en-US" sz="2800"/>
              <a:t>是一个二维矩阵，</a:t>
            </a:r>
            <a:r>
              <a:rPr lang="en-US" altLang="zh-CN" sz="2800"/>
              <a:t>x </a:t>
            </a:r>
            <a:r>
              <a:rPr lang="zh-CN" altLang="en-US" sz="2800"/>
              <a:t>是一个一维向量。特征向量（</a:t>
            </a:r>
            <a:r>
              <a:rPr lang="en-US" altLang="zh-CN" sz="2800"/>
              <a:t>eigenvector</a:t>
            </a:r>
            <a:r>
              <a:rPr lang="zh-CN" altLang="en-US" sz="2800"/>
              <a:t>）是关于特征值的向量。在</a:t>
            </a:r>
            <a:r>
              <a:rPr lang="en-US" altLang="zh-CN" sz="2800"/>
              <a:t>numpy.linalg</a:t>
            </a:r>
            <a:r>
              <a:rPr lang="zh-CN" altLang="en-US" sz="2800"/>
              <a:t>模块中，</a:t>
            </a:r>
            <a:r>
              <a:rPr lang="en-US" altLang="zh-CN" sz="2800"/>
              <a:t>eigvals</a:t>
            </a:r>
            <a:r>
              <a:rPr lang="zh-CN" altLang="en-US" sz="2800"/>
              <a:t>函数可以计算矩阵的特征值，而</a:t>
            </a:r>
            <a:r>
              <a:rPr lang="en-US" altLang="zh-CN" sz="2800"/>
              <a:t>eig</a:t>
            </a:r>
            <a:r>
              <a:rPr lang="zh-CN" altLang="en-US" sz="2800"/>
              <a:t>函数可以返回一个包含特征值和对应的特征向量的元组。</a:t>
            </a:r>
            <a:endParaRPr lang="en-US" altLang="zh-CN" sz="280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BBD3F9-F74C-43E1-A4F0-3828D2C70D2F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E8EF5E-04C3-4842-8C58-E90627BDF991}" type="slidenum">
              <a:rPr lang="en-US" altLang="zh-CN" smtClean="0"/>
              <a:pPr/>
              <a:t>43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213F56-13CD-6D34-D5E4-94558681B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28800"/>
            <a:ext cx="7723809" cy="421904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381000" y="1052513"/>
            <a:ext cx="82296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 dirty="0"/>
              <a:t>         在</a:t>
            </a:r>
            <a:r>
              <a:rPr lang="en-US" altLang="zh-CN" sz="2800" dirty="0" err="1"/>
              <a:t>numpy.linalg</a:t>
            </a:r>
            <a:r>
              <a:rPr lang="zh-CN" altLang="en-US" sz="2800" dirty="0"/>
              <a:t>模块中的</a:t>
            </a:r>
            <a:r>
              <a:rPr lang="en-US" altLang="zh-CN" sz="2800" dirty="0" err="1"/>
              <a:t>svd</a:t>
            </a:r>
            <a:r>
              <a:rPr lang="zh-CN" altLang="en-US" sz="2800" dirty="0"/>
              <a:t>函数可以对矩阵进行奇异值分解。该函数返回</a:t>
            </a:r>
            <a:r>
              <a:rPr lang="en-US" altLang="zh-CN" sz="2800" dirty="0"/>
              <a:t>3</a:t>
            </a:r>
            <a:r>
              <a:rPr lang="zh-CN" altLang="en-US" sz="2800" dirty="0"/>
              <a:t>个矩阵</a:t>
            </a:r>
            <a:r>
              <a:rPr lang="en-US" altLang="zh-CN" sz="2800" dirty="0"/>
              <a:t>——U</a:t>
            </a:r>
            <a:r>
              <a:rPr lang="zh-CN" altLang="en-US" sz="2800" dirty="0"/>
              <a:t>、</a:t>
            </a:r>
            <a:r>
              <a:rPr lang="en-US" altLang="zh-CN" sz="2800" dirty="0"/>
              <a:t>Sigma</a:t>
            </a:r>
            <a:r>
              <a:rPr lang="zh-CN" altLang="en-US" sz="2800" dirty="0"/>
              <a:t>和</a:t>
            </a:r>
            <a:r>
              <a:rPr lang="en-US" altLang="zh-CN" sz="2800" dirty="0"/>
              <a:t>V</a:t>
            </a:r>
            <a:r>
              <a:rPr lang="zh-CN" altLang="en-US" sz="2800" dirty="0"/>
              <a:t>，其中</a:t>
            </a:r>
            <a:r>
              <a:rPr lang="en-US" altLang="zh-CN" sz="2800" dirty="0"/>
              <a:t>U</a:t>
            </a:r>
            <a:r>
              <a:rPr lang="zh-CN" altLang="en-US" sz="2800" dirty="0"/>
              <a:t>和</a:t>
            </a:r>
            <a:r>
              <a:rPr lang="en-US" altLang="zh-CN" sz="2800" dirty="0"/>
              <a:t>V</a:t>
            </a:r>
            <a:r>
              <a:rPr lang="zh-CN" altLang="en-US" sz="2800" dirty="0"/>
              <a:t>是正交矩阵，</a:t>
            </a:r>
            <a:r>
              <a:rPr lang="en-US" altLang="zh-CN" sz="2800" dirty="0"/>
              <a:t>Sigma</a:t>
            </a:r>
            <a:r>
              <a:rPr lang="zh-CN" altLang="en-US" sz="2800" dirty="0"/>
              <a:t>包含输入矩阵的奇异值。</a:t>
            </a:r>
            <a:endParaRPr lang="en-US" altLang="zh-CN" sz="2800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950815-BF25-4509-84BE-C7BBE4C05533}" type="slidenum">
              <a:rPr lang="en-US" altLang="zh-CN" smtClean="0"/>
              <a:pPr/>
              <a:t>44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A59777-AF88-9798-8C41-F31848D64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918299"/>
            <a:ext cx="6266667" cy="379047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440978" y="1417638"/>
            <a:ext cx="8229600" cy="4525963"/>
          </a:xfrm>
        </p:spPr>
        <p:txBody>
          <a:bodyPr/>
          <a:lstStyle/>
          <a:p>
            <a:r>
              <a:rPr lang="zh-CN" altLang="en-US" sz="2800" dirty="0"/>
              <a:t>广义逆矩阵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</a:t>
            </a:r>
            <a:r>
              <a:rPr lang="zh-CN" altLang="en-US" sz="2800" dirty="0"/>
              <a:t>摩尔</a:t>
            </a:r>
            <a:r>
              <a:rPr lang="en-US" altLang="zh-CN" sz="2800" dirty="0"/>
              <a:t>·</a:t>
            </a:r>
            <a:r>
              <a:rPr lang="zh-CN" altLang="en-US" sz="2800" dirty="0"/>
              <a:t>彭罗斯广义逆矩阵（</a:t>
            </a:r>
            <a:r>
              <a:rPr lang="en-US" altLang="zh-CN" sz="2800" dirty="0"/>
              <a:t>Moore-Penrose pseudoinverse</a:t>
            </a:r>
            <a:r>
              <a:rPr lang="zh-CN" altLang="en-US" sz="2800" dirty="0"/>
              <a:t>）可以使用</a:t>
            </a:r>
            <a:r>
              <a:rPr lang="en-US" altLang="zh-CN" sz="2800" dirty="0" err="1"/>
              <a:t>numpy.linalg</a:t>
            </a:r>
            <a:r>
              <a:rPr lang="zh-CN" altLang="en-US" sz="2800" dirty="0"/>
              <a:t>模块中的</a:t>
            </a:r>
            <a:r>
              <a:rPr lang="en-US" altLang="zh-CN" sz="2800" dirty="0" err="1"/>
              <a:t>pinv</a:t>
            </a:r>
            <a:r>
              <a:rPr lang="zh-CN" altLang="en-US" sz="2800" dirty="0"/>
              <a:t>函数进行求解。计算广义逆矩阵需要用到奇异值分解。</a:t>
            </a:r>
            <a:r>
              <a:rPr lang="en-US" altLang="zh-CN" sz="2800" dirty="0"/>
              <a:t>inv</a:t>
            </a:r>
            <a:r>
              <a:rPr lang="zh-CN" altLang="en-US" sz="2800" dirty="0"/>
              <a:t>函数只接受方阵作为输入矩阵，而</a:t>
            </a:r>
            <a:r>
              <a:rPr lang="en-US" altLang="zh-CN" sz="2800" dirty="0" err="1"/>
              <a:t>pinv</a:t>
            </a:r>
            <a:r>
              <a:rPr lang="zh-CN" altLang="en-US" sz="2800" dirty="0"/>
              <a:t>函数则没有这个限制。</a:t>
            </a: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7BD923-F1BA-404A-A463-0DE21A052D2C}" type="slidenum">
              <a:rPr lang="en-US" altLang="zh-CN" smtClean="0"/>
              <a:pPr/>
              <a:t>45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4D5A01-CC6C-3305-B7E7-45998E6BA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365104"/>
            <a:ext cx="5114286" cy="24571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行列式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          </a:t>
            </a:r>
            <a:r>
              <a:rPr lang="en-US" altLang="zh-CN" sz="2800" dirty="0" err="1"/>
              <a:t>numpy.linalg</a:t>
            </a:r>
            <a:r>
              <a:rPr lang="zh-CN" altLang="en-US" sz="2800" dirty="0"/>
              <a:t>模块中的</a:t>
            </a:r>
            <a:r>
              <a:rPr lang="en-US" altLang="zh-CN" sz="2800" dirty="0"/>
              <a:t>det</a:t>
            </a:r>
            <a:r>
              <a:rPr lang="zh-CN" altLang="en-US" sz="2800" dirty="0"/>
              <a:t>函数可以计算矩阵的行列式。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8CF14B-7D8E-4D17-AAC5-5C916E2FE52A}" type="slidenum">
              <a:rPr lang="en-US" altLang="zh-CN" smtClean="0"/>
              <a:pPr/>
              <a:t>46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5A61BF-BA6E-7396-7528-FA3ACB1C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717032"/>
            <a:ext cx="4647619" cy="18380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solidFill>
                  <a:schemeClr val="tx1"/>
                </a:solidFill>
              </a:rPr>
              <a:t>numpy.linalg</a:t>
            </a:r>
            <a:r>
              <a:rPr lang="zh-CN" altLang="en-US" sz="3600">
                <a:solidFill>
                  <a:schemeClr val="tx1"/>
                </a:solidFill>
              </a:rPr>
              <a:t>模块</a:t>
            </a:r>
            <a:endParaRPr lang="zh-CN" altLang="en-US" sz="360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r>
              <a:rPr lang="zh-CN" altLang="en-US" sz="2800"/>
              <a:t>矩阵的秩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409A3E-4E01-4137-9212-6518CA3BA776}" type="slidenum">
              <a:rPr lang="en-US" altLang="zh-CN" smtClean="0"/>
              <a:pPr/>
              <a:t>47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D5AE8D-F692-BFC8-339B-C92C9DEB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72816"/>
            <a:ext cx="6276190" cy="43619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91680" y="4077072"/>
            <a:ext cx="60396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en-US" altLang="zh-CN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70" y="980729"/>
            <a:ext cx="321809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08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6491</TotalTime>
  <Words>4985</Words>
  <Application>Microsoft Office PowerPoint</Application>
  <PresentationFormat>全屏显示(4:3)</PresentationFormat>
  <Paragraphs>538</Paragraphs>
  <Slides>48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3" baseType="lpstr"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numpy.linalg模块</vt:lpstr>
      <vt:lpstr>numpy.linalg模块</vt:lpstr>
      <vt:lpstr>numpy.linalg模块</vt:lpstr>
      <vt:lpstr>numpy.linalg模块</vt:lpstr>
      <vt:lpstr>numpy.linalg模块</vt:lpstr>
      <vt:lpstr>numpy.linalg模块</vt:lpstr>
      <vt:lpstr>numpy.linalg模块</vt:lpstr>
      <vt:lpstr>numpy.linalg模块</vt:lpstr>
      <vt:lpstr>numpy.linalg模块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Mengqi Xue</cp:lastModifiedBy>
  <cp:revision>128</cp:revision>
  <dcterms:created xsi:type="dcterms:W3CDTF">2017-02-26T13:30:43Z</dcterms:created>
  <dcterms:modified xsi:type="dcterms:W3CDTF">2025-12-29T12:38:58Z</dcterms:modified>
</cp:coreProperties>
</file>